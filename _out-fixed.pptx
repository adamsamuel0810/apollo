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161" r:id="rId5"/>
    <p:sldId id="2265" r:id="rId6"/>
    <p:sldId id="2261" r:id="rId7"/>
    <p:sldId id="2172" r:id="rId8"/>
    <p:sldId id="2260" r:id="rId9"/>
    <p:sldId id="2206" r:id="rId10"/>
    <p:sldId id="2259" r:id="rId11"/>
    <p:sldId id="2183" r:id="rId12"/>
    <p:sldId id="2180" r:id="rId13"/>
    <p:sldId id="2184" r:id="rId14"/>
    <p:sldId id="2196" r:id="rId15"/>
    <p:sldId id="2186" r:id="rId16"/>
    <p:sldId id="2187" r:id="rId17"/>
    <p:sldId id="2188" r:id="rId18"/>
    <p:sldId id="2189" r:id="rId19"/>
    <p:sldId id="2190" r:id="rId20"/>
    <p:sldId id="2191" r:id="rId21"/>
    <p:sldId id="2192" r:id="rId22"/>
    <p:sldId id="2193" r:id="rId23"/>
    <p:sldId id="2207" r:id="rId24"/>
    <p:sldId id="2264" r:id="rId25"/>
    <p:sldId id="2208" r:id="rId26"/>
    <p:sldId id="2209" r:id="rId27"/>
    <p:sldId id="2210" r:id="rId28"/>
  </p:sldIdLst>
  <p:sldSz cx="9144000" cy="6858000" type="screen4x3"/>
  <p:notesSz cx="7010400" cy="9296400"/>
  <p:custDataLst>
    <p:tags r:id="rId31"/>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104175"/>
    <a:srgbClr val="086DB6"/>
    <a:srgbClr val="00FF00"/>
    <a:srgbClr val="BFBFBF"/>
    <a:srgbClr val="79C8FF"/>
    <a:srgbClr val="1EBAFF"/>
    <a:srgbClr val="7DD7FF"/>
    <a:srgbClr val="006EBE"/>
    <a:srgbClr val="75FD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06DE18-F818-4F12-949F-E701094B2F23}" v="4" dt="2026-03-30T17:03:24.196"/>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40"/>
    <p:restoredTop sz="69932" autoAdjust="0"/>
  </p:normalViewPr>
  <p:slideViewPr>
    <p:cSldViewPr snapToGrid="0">
      <p:cViewPr varScale="1">
        <p:scale>
          <a:sx n="87" d="100"/>
          <a:sy n="87" d="100"/>
        </p:scale>
        <p:origin x="32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Notice</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08471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Bullets not parallel in structure</a:t>
            </a:r>
          </a:p>
        </p:txBody>
      </p:sp>
      <p:sp>
        <p:nvSpPr>
          <p:cNvPr id="4" name="Slide Number Placeholder 3"/>
          <p:cNvSpPr>
            <a:spLocks noGrp="1"/>
          </p:cNvSpPr>
          <p:nvPr>
            <p:ph type="sldNum" sz="quarter" idx="5"/>
          </p:nvPr>
        </p:nvSpPr>
        <p:spPr/>
        <p:txBody>
          <a:bodyPr/>
          <a:lstStyle/>
          <a:p>
            <a:fld id="{095BBE4E-8AFD-45B3-8A52-6FC96354F416}" type="slidenum">
              <a:rPr lang="en-US" smtClean="0"/>
              <a:t>2</a:t>
            </a:fld>
            <a:endParaRPr lang="en-US"/>
          </a:p>
        </p:txBody>
      </p:sp>
    </p:spTree>
    <p:extLst>
      <p:ext uri="{BB962C8B-B14F-4D97-AF65-F5344CB8AC3E}">
        <p14:creationId xmlns:p14="http://schemas.microsoft.com/office/powerpoint/2010/main" val="3109332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a:t>
            </a:r>
          </a:p>
          <a:p>
            <a:pPr marL="285750" indent="-285750">
              <a:buFont typeface="Arial" panose="020B0604020202020204" pitchFamily="34" charset="0"/>
              <a:buChar char="•"/>
            </a:pPr>
            <a:r>
              <a:rPr lang="en-US" dirty="0"/>
              <a:t>Text and boxes not vertically spaced consistently in “key”</a:t>
            </a:r>
          </a:p>
          <a:p>
            <a:pPr marL="285750" indent="-285750">
              <a:buFont typeface="Arial" panose="020B0604020202020204" pitchFamily="34" charset="0"/>
              <a:buChar char="•"/>
            </a:pPr>
            <a:r>
              <a:rPr lang="en-US" dirty="0"/>
              <a:t>Box around key (inconsistency with other slides)</a:t>
            </a:r>
          </a:p>
          <a:p>
            <a:r>
              <a:rPr lang="en-US" dirty="0"/>
              <a:t>“How ACME Leveraged AI”: Bullets in not of parallel structure</a:t>
            </a:r>
          </a:p>
          <a:p>
            <a:r>
              <a:rPr lang="en-US" dirty="0"/>
              <a:t>Table:</a:t>
            </a:r>
          </a:p>
          <a:p>
            <a:pPr marL="285750" indent="-285750">
              <a:buFont typeface="Arial" panose="020B0604020202020204" pitchFamily="34" charset="0"/>
              <a:buChar char="•"/>
            </a:pPr>
            <a:r>
              <a:rPr lang="en-US" dirty="0"/>
              <a:t>Percentile spelled out</a:t>
            </a:r>
          </a:p>
          <a:p>
            <a:pPr marL="285750" indent="-285750">
              <a:buFont typeface="Arial" panose="020B0604020202020204" pitchFamily="34" charset="0"/>
              <a:buChar char="•"/>
            </a:pPr>
            <a:r>
              <a:rPr lang="en-US" dirty="0"/>
              <a:t>“Goofy Laboratories“ as client name (Other slides say just “Goofy”)</a:t>
            </a:r>
          </a:p>
          <a:p>
            <a:pPr marL="285750" indent="-285750">
              <a:buFont typeface="Arial" panose="020B0604020202020204" pitchFamily="34" charset="0"/>
              <a:buChar char="•"/>
            </a:pPr>
            <a:r>
              <a:rPr lang="en-US" dirty="0"/>
              <a:t>Title not centered over table</a:t>
            </a:r>
          </a:p>
          <a:p>
            <a:pPr marL="285750" indent="-285750">
              <a:buFont typeface="Arial" panose="020B0604020202020204" pitchFamily="34" charset="0"/>
              <a:buChar char="•"/>
            </a:pPr>
            <a:r>
              <a:rPr lang="en-US" dirty="0"/>
              <a:t>First column should be at .03 margin</a:t>
            </a:r>
          </a:p>
          <a:p>
            <a:r>
              <a:rPr lang="en-US" dirty="0"/>
              <a:t>Title</a:t>
            </a:r>
          </a:p>
          <a:p>
            <a:pPr marL="285750" indent="-285750">
              <a:buFont typeface="Arial" panose="020B0604020202020204" pitchFamily="34" charset="0"/>
              <a:buChar char="•"/>
            </a:pPr>
            <a:r>
              <a:rPr lang="en-US" dirty="0"/>
              <a:t>Moved from default</a:t>
            </a:r>
          </a:p>
          <a:p>
            <a:pPr marL="285750" indent="-285750">
              <a:buFont typeface="Arial" panose="020B0604020202020204" pitchFamily="34" charset="0"/>
              <a:buChar char="•"/>
            </a:pPr>
            <a:r>
              <a:rPr lang="en-US" dirty="0"/>
              <a:t>4 lines</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638372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Screening Criteria: “Characteristic” 8pt font where other headers are 10pt</a:t>
            </a:r>
          </a:p>
          <a:p>
            <a:r>
              <a:rPr lang="en-US" dirty="0"/>
              <a:t>Title: Moved from default</a:t>
            </a:r>
          </a:p>
        </p:txBody>
      </p:sp>
      <p:sp>
        <p:nvSpPr>
          <p:cNvPr id="4" name="Slide Number Placeholder 3"/>
          <p:cNvSpPr>
            <a:spLocks noGrp="1"/>
          </p:cNvSpPr>
          <p:nvPr>
            <p:ph type="sldNum" sz="quarter" idx="5"/>
          </p:nvPr>
        </p:nvSpPr>
        <p:spPr/>
        <p:txBody>
          <a:bodyPr/>
          <a:lstStyle/>
          <a:p>
            <a:fld id="{095BBE4E-8AFD-45B3-8A52-6FC96354F416}" type="slidenum">
              <a:rPr lang="en-US" smtClean="0"/>
              <a:t>4</a:t>
            </a:fld>
            <a:endParaRPr lang="en-US"/>
          </a:p>
        </p:txBody>
      </p:sp>
    </p:spTree>
    <p:extLst>
      <p:ext uri="{BB962C8B-B14F-4D97-AF65-F5344CB8AC3E}">
        <p14:creationId xmlns:p14="http://schemas.microsoft.com/office/powerpoint/2010/main" val="2058275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t>
            </a:r>
          </a:p>
          <a:p>
            <a:pPr marL="285750" indent="-285750">
              <a:buFont typeface="Arial" panose="020B0604020202020204" pitchFamily="34" charset="0"/>
              <a:buChar char="•"/>
            </a:pPr>
            <a:r>
              <a:rPr lang="en-US" dirty="0"/>
              <a:t>Percentile spelled out</a:t>
            </a:r>
          </a:p>
          <a:p>
            <a:pPr marL="285750" indent="-285750">
              <a:buFont typeface="Arial" panose="020B0604020202020204" pitchFamily="34" charset="0"/>
              <a:buChar char="•"/>
            </a:pPr>
            <a:r>
              <a:rPr lang="en-US" dirty="0"/>
              <a:t>First column should be .03 in from edge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Key</a:t>
            </a:r>
          </a:p>
          <a:p>
            <a:pPr marL="0" indent="0">
              <a:buFont typeface="Arial" panose="020B0604020202020204" pitchFamily="34" charset="0"/>
              <a:buNone/>
            </a:pPr>
            <a:r>
              <a:rPr lang="en-US" dirty="0"/>
              <a:t>* Different order than previous slides (LS is last here, 3</a:t>
            </a:r>
            <a:r>
              <a:rPr lang="en-US" baseline="30000" dirty="0"/>
              <a:t>rd</a:t>
            </a:r>
            <a:r>
              <a:rPr lang="en-US" dirty="0"/>
              <a:t> on slide 2)</a:t>
            </a:r>
          </a:p>
        </p:txBody>
      </p:sp>
      <p:sp>
        <p:nvSpPr>
          <p:cNvPr id="4" name="Slide Number Placeholder 3"/>
          <p:cNvSpPr>
            <a:spLocks noGrp="1"/>
          </p:cNvSpPr>
          <p:nvPr>
            <p:ph type="sldNum" sz="quarter" idx="5"/>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3818969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Table</a:t>
            </a:r>
          </a:p>
          <a:p>
            <a:pPr marL="285750" indent="-285750">
              <a:buFont typeface="Arial" panose="020B0604020202020204" pitchFamily="34" charset="0"/>
              <a:buChar char="•"/>
            </a:pPr>
            <a:r>
              <a:rPr lang="en-US" dirty="0"/>
              <a:t>Baxter Intl. and </a:t>
            </a:r>
            <a:r>
              <a:rPr lang="en-US" dirty="0" err="1"/>
              <a:t>Solventum</a:t>
            </a:r>
            <a:r>
              <a:rPr lang="en-US" dirty="0"/>
              <a:t> “Reason for Exclusion” has been merged. Not clear that that was intentional</a:t>
            </a:r>
          </a:p>
          <a:p>
            <a:pPr marL="285750" indent="-285750">
              <a:buFont typeface="Arial" panose="020B0604020202020204" pitchFamily="34" charset="0"/>
              <a:buChar char="•"/>
            </a:pPr>
            <a:r>
              <a:rPr lang="en-US" dirty="0"/>
              <a:t>First column should be .03 in from edge</a:t>
            </a:r>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6</a:t>
            </a:fld>
            <a:endParaRPr lang="en-US"/>
          </a:p>
        </p:txBody>
      </p:sp>
    </p:spTree>
    <p:extLst>
      <p:ext uri="{BB962C8B-B14F-4D97-AF65-F5344CB8AC3E}">
        <p14:creationId xmlns:p14="http://schemas.microsoft.com/office/powerpoint/2010/main" val="1105221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8</a:t>
            </a:fld>
            <a:endParaRPr lang="en-US"/>
          </a:p>
        </p:txBody>
      </p:sp>
    </p:spTree>
    <p:extLst>
      <p:ext uri="{BB962C8B-B14F-4D97-AF65-F5344CB8AC3E}">
        <p14:creationId xmlns:p14="http://schemas.microsoft.com/office/powerpoint/2010/main" val="907689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p>
          <a:p>
            <a:pPr marL="285750" indent="-285750">
              <a:buFont typeface="Arial" panose="020B0604020202020204" pitchFamily="34" charset="0"/>
              <a:buChar char="•"/>
            </a:pPr>
            <a:r>
              <a:rPr lang="en-US" dirty="0"/>
              <a:t>4 lines</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9</a:t>
            </a:fld>
            <a:endParaRPr lang="en-US"/>
          </a:p>
        </p:txBody>
      </p:sp>
    </p:spTree>
    <p:extLst>
      <p:ext uri="{BB962C8B-B14F-4D97-AF65-F5344CB8AC3E}">
        <p14:creationId xmlns:p14="http://schemas.microsoft.com/office/powerpoint/2010/main" val="1045343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statement removed</a:t>
            </a:r>
          </a:p>
          <a:p>
            <a:r>
              <a:rPr lang="en-US" dirty="0"/>
              <a:t>Legend:</a:t>
            </a:r>
          </a:p>
          <a:p>
            <a:pPr marL="285750" indent="-285750">
              <a:buFont typeface="Arial" panose="020B0604020202020204" pitchFamily="34" charset="0"/>
              <a:buChar char="•"/>
            </a:pPr>
            <a:r>
              <a:rPr lang="en-US" dirty="0"/>
              <a:t>Called “key” on other slides</a:t>
            </a:r>
          </a:p>
          <a:p>
            <a:pPr marL="285750" indent="-285750">
              <a:buFont typeface="Arial" panose="020B0604020202020204" pitchFamily="34" charset="0"/>
              <a:buChar char="•"/>
            </a:pPr>
            <a:r>
              <a:rPr lang="en-US" dirty="0"/>
              <a:t>Boxes and text are not evenly spaced vertically</a:t>
            </a:r>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10</a:t>
            </a:fld>
            <a:endParaRPr lang="en-US"/>
          </a:p>
        </p:txBody>
      </p:sp>
    </p:spTree>
    <p:extLst>
      <p:ext uri="{BB962C8B-B14F-4D97-AF65-F5344CB8AC3E}">
        <p14:creationId xmlns:p14="http://schemas.microsoft.com/office/powerpoint/2010/main" val="2585574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a:t>
            </a:r>
          </a:p>
          <a:p>
            <a:pPr marL="285750" indent="-285750">
              <a:buFont typeface="Arial" panose="020B0604020202020204" pitchFamily="34" charset="0"/>
              <a:buChar char="•"/>
            </a:pPr>
            <a:r>
              <a:rPr lang="en-US" dirty="0"/>
              <a:t>Items in different order than other slides</a:t>
            </a:r>
          </a:p>
          <a:p>
            <a:pPr marL="0" indent="0">
              <a:buFont typeface="Arial" panose="020B0604020202020204" pitchFamily="34" charset="0"/>
              <a:buNone/>
            </a:pPr>
            <a:r>
              <a:rPr lang="en-US" dirty="0"/>
              <a:t>Table</a:t>
            </a:r>
          </a:p>
          <a:p>
            <a:pPr marL="285750" indent="-285750">
              <a:buFont typeface="Arial" panose="020B0604020202020204" pitchFamily="34" charset="0"/>
              <a:buChar char="•"/>
            </a:pPr>
            <a:r>
              <a:rPr lang="en-US" dirty="0"/>
              <a:t>No scale on revenue ($MM)</a:t>
            </a:r>
          </a:p>
          <a:p>
            <a:pPr marL="285750" indent="-285750">
              <a:buFont typeface="Arial" panose="020B0604020202020204" pitchFamily="34" charset="0"/>
              <a:buChar char="•"/>
            </a:pPr>
            <a:r>
              <a:rPr lang="en-US" dirty="0"/>
              <a:t>C.R Bard missing “.” after “R”</a:t>
            </a:r>
          </a:p>
          <a:p>
            <a:pPr marL="0" indent="0">
              <a:buFont typeface="Arial" panose="020B0604020202020204" pitchFamily="34" charset="0"/>
              <a:buNone/>
            </a:pPr>
            <a:r>
              <a:rPr lang="en-US" dirty="0"/>
              <a:t>Footnote</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C.R Bard missing “.” after “R”</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indent="0">
              <a:buFont typeface="Arial" panose="020B0604020202020204" pitchFamily="34" charset="0"/>
              <a:buNone/>
            </a:pPr>
            <a:endParaRPr lang="en-US" dirty="0"/>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11</a:t>
            </a:fld>
            <a:endParaRPr lang="en-US"/>
          </a:p>
        </p:txBody>
      </p:sp>
    </p:spTree>
    <p:extLst>
      <p:ext uri="{BB962C8B-B14F-4D97-AF65-F5344CB8AC3E}">
        <p14:creationId xmlns:p14="http://schemas.microsoft.com/office/powerpoint/2010/main" val="3346436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statement</a:t>
            </a:r>
          </a:p>
          <a:p>
            <a:pPr marL="285750" indent="-285750">
              <a:buFont typeface="Arial" panose="020B0604020202020204" pitchFamily="34" charset="0"/>
              <a:buChar char="•"/>
            </a:pPr>
            <a:r>
              <a:rPr lang="en-US" dirty="0"/>
              <a:t>Overlapped by footnotes</a:t>
            </a:r>
          </a:p>
          <a:p>
            <a:pPr marL="0" indent="0">
              <a:buFont typeface="Arial" panose="020B0604020202020204" pitchFamily="34" charset="0"/>
              <a:buNone/>
            </a:pPr>
            <a:r>
              <a:rPr lang="en-US" dirty="0"/>
              <a:t>Table</a:t>
            </a:r>
          </a:p>
          <a:p>
            <a:pPr marL="285750" indent="-285750">
              <a:buFont typeface="Arial" panose="020B0604020202020204" pitchFamily="34" charset="0"/>
              <a:buChar char="•"/>
            </a:pPr>
            <a:r>
              <a:rPr lang="en-US" dirty="0"/>
              <a:t>Believe that we want to label column as “Company” not “Company Name”</a:t>
            </a:r>
          </a:p>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12</a:t>
            </a:fld>
            <a:endParaRPr lang="en-US"/>
          </a:p>
        </p:txBody>
      </p:sp>
    </p:spTree>
    <p:extLst>
      <p:ext uri="{BB962C8B-B14F-4D97-AF65-F5344CB8AC3E}">
        <p14:creationId xmlns:p14="http://schemas.microsoft.com/office/powerpoint/2010/main" val="4239336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statement removed</a:t>
            </a:r>
          </a:p>
          <a:p>
            <a:r>
              <a:rPr lang="en-US" dirty="0"/>
              <a:t>Table:</a:t>
            </a:r>
          </a:p>
          <a:p>
            <a:pPr marL="285750" indent="-285750">
              <a:buFont typeface="Arial" panose="020B0604020202020204" pitchFamily="34" charset="0"/>
              <a:buChar char="•"/>
            </a:pPr>
            <a:r>
              <a:rPr lang="en-US" dirty="0"/>
              <a:t>Count row should be yellow (green is reserved for clients)</a:t>
            </a:r>
          </a:p>
          <a:p>
            <a:pPr marL="0" indent="0">
              <a:buFont typeface="Arial" panose="020B0604020202020204" pitchFamily="34" charset="0"/>
              <a:buNone/>
            </a:pPr>
            <a:r>
              <a:rPr lang="en-US" dirty="0"/>
              <a:t>Legend:</a:t>
            </a:r>
          </a:p>
          <a:p>
            <a:pPr marL="285750" indent="-285750">
              <a:buFont typeface="Arial" panose="020B0604020202020204" pitchFamily="34" charset="0"/>
              <a:buChar char="•"/>
            </a:pPr>
            <a:r>
              <a:rPr lang="en-US" dirty="0"/>
              <a:t>Alternating between key and legend</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13</a:t>
            </a:fld>
            <a:endParaRPr lang="en-US"/>
          </a:p>
        </p:txBody>
      </p:sp>
    </p:spTree>
    <p:extLst>
      <p:ext uri="{BB962C8B-B14F-4D97-AF65-F5344CB8AC3E}">
        <p14:creationId xmlns:p14="http://schemas.microsoft.com/office/powerpoint/2010/main" val="4248056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statement removed</a:t>
            </a:r>
          </a:p>
          <a:p>
            <a:r>
              <a:rPr lang="en-US" dirty="0"/>
              <a:t>Table:</a:t>
            </a:r>
          </a:p>
          <a:p>
            <a:pPr marL="285750" indent="-285750">
              <a:buFont typeface="Arial" panose="020B0604020202020204" pitchFamily="34" charset="0"/>
              <a:buChar char="•"/>
            </a:pPr>
            <a:r>
              <a:rPr lang="en-US" dirty="0"/>
              <a:t>Count row should be yellow (green is reserved for clients)</a:t>
            </a:r>
          </a:p>
          <a:p>
            <a:pPr marL="0" indent="0">
              <a:buFont typeface="Arial" panose="020B0604020202020204" pitchFamily="34" charset="0"/>
              <a:buNone/>
            </a:pPr>
            <a:r>
              <a:rPr lang="en-US" dirty="0"/>
              <a:t>Legend:</a:t>
            </a:r>
          </a:p>
          <a:p>
            <a:pPr marL="285750" indent="-285750">
              <a:buFont typeface="Arial" panose="020B0604020202020204" pitchFamily="34" charset="0"/>
              <a:buChar char="•"/>
            </a:pPr>
            <a:r>
              <a:rPr lang="en-US" dirty="0"/>
              <a:t>Alternating between key and legend</a:t>
            </a:r>
          </a:p>
          <a:p>
            <a:pPr marL="285750" indent="-285750">
              <a:buFont typeface="Arial" panose="020B0604020202020204" pitchFamily="34" charset="0"/>
              <a:buChar char="•"/>
            </a:pPr>
            <a:r>
              <a:rPr lang="en-US" dirty="0"/>
              <a:t>Missing labels for green and red boxes</a:t>
            </a:r>
          </a:p>
          <a:p>
            <a:endParaRPr lang="en-US" dirty="0"/>
          </a:p>
        </p:txBody>
      </p:sp>
      <p:sp>
        <p:nvSpPr>
          <p:cNvPr id="4" name="Slide Number Placeholder 3"/>
          <p:cNvSpPr>
            <a:spLocks noGrp="1"/>
          </p:cNvSpPr>
          <p:nvPr>
            <p:ph type="sldNum" sz="quarter" idx="5"/>
          </p:nvPr>
        </p:nvSpPr>
        <p:spPr/>
        <p:txBody>
          <a:bodyPr/>
          <a:lstStyle/>
          <a:p>
            <a:fld id="{095BBE4E-8AFD-45B3-8A52-6FC96354F416}" type="slidenum">
              <a:rPr lang="en-US" smtClean="0"/>
              <a:t>14</a:t>
            </a:fld>
            <a:endParaRPr lang="en-US"/>
          </a:p>
        </p:txBody>
      </p:sp>
    </p:spTree>
    <p:extLst>
      <p:ext uri="{BB962C8B-B14F-4D97-AF65-F5344CB8AC3E}">
        <p14:creationId xmlns:p14="http://schemas.microsoft.com/office/powerpoint/2010/main" val="3138972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statement removed</a:t>
            </a:r>
          </a:p>
        </p:txBody>
      </p:sp>
      <p:sp>
        <p:nvSpPr>
          <p:cNvPr id="4" name="Slide Number Placeholder 3"/>
          <p:cNvSpPr>
            <a:spLocks noGrp="1"/>
          </p:cNvSpPr>
          <p:nvPr>
            <p:ph type="sldNum" sz="quarter" idx="5"/>
          </p:nvPr>
        </p:nvSpPr>
        <p:spPr/>
        <p:txBody>
          <a:bodyPr/>
          <a:lstStyle/>
          <a:p>
            <a:fld id="{095BBE4E-8AFD-45B3-8A52-6FC96354F416}" type="slidenum">
              <a:rPr lang="en-US" smtClean="0"/>
              <a:t>23</a:t>
            </a:fld>
            <a:endParaRPr lang="en-US"/>
          </a:p>
        </p:txBody>
      </p:sp>
    </p:spTree>
    <p:extLst>
      <p:ext uri="{BB962C8B-B14F-4D97-AF65-F5344CB8AC3E}">
        <p14:creationId xmlns:p14="http://schemas.microsoft.com/office/powerpoint/2010/main" val="3932853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statement moved</a:t>
            </a:r>
          </a:p>
        </p:txBody>
      </p:sp>
      <p:sp>
        <p:nvSpPr>
          <p:cNvPr id="4" name="Slide Number Placeholder 3"/>
          <p:cNvSpPr>
            <a:spLocks noGrp="1"/>
          </p:cNvSpPr>
          <p:nvPr>
            <p:ph type="sldNum" sz="quarter" idx="5"/>
          </p:nvPr>
        </p:nvSpPr>
        <p:spPr/>
        <p:txBody>
          <a:bodyPr/>
          <a:lstStyle/>
          <a:p>
            <a:fld id="{095BBE4E-8AFD-45B3-8A52-6FC96354F416}" type="slidenum">
              <a:rPr lang="en-US" smtClean="0"/>
              <a:t>24</a:t>
            </a:fld>
            <a:endParaRPr lang="en-US"/>
          </a:p>
        </p:txBody>
      </p:sp>
    </p:spTree>
    <p:extLst>
      <p:ext uri="{BB962C8B-B14F-4D97-AF65-F5344CB8AC3E}">
        <p14:creationId xmlns:p14="http://schemas.microsoft.com/office/powerpoint/2010/main" val="3543569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9" y="1766656"/>
            <a:ext cx="2924211" cy="203546"/>
          </a:xfrm>
        </p:spPr>
        <p:txBody>
          <a:bodyPr vert="horz" lIns="0" tIns="0" rIns="0" bIns="0" rtlCol="0" anchor="t">
            <a:noAutofit/>
          </a:bodyPr>
          <a:lstStyle/>
          <a:p>
            <a:r>
              <a:rPr lang="en-US" dirty="0"/>
              <a:t>May 11, 2026 –</a:t>
            </a:r>
            <a:r>
              <a:rPr lang="en-US" dirty="0">
                <a:solidFill>
                  <a:srgbClr val="FF0000"/>
                </a:solidFill>
              </a:rPr>
              <a:t> DRAFT 20260330</a:t>
            </a:r>
          </a:p>
        </p:txBody>
      </p:sp>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a:t>Peer Group Assessment</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a:xfrm>
            <a:off x="863745" y="6591503"/>
            <a:ext cx="7416510" cy="184151"/>
          </a:xfrm>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a:xfrm>
            <a:off x="3022769" y="4997683"/>
            <a:ext cx="5911292" cy="582985"/>
          </a:xfrm>
        </p:spPr>
        <p:txBody>
          <a:bodyPr/>
          <a:lstStyle/>
          <a:p>
            <a:r>
              <a:rPr lang="en-US" dirty="0"/>
              <a:t>Mickey Mouse, Chief Executive Officer, </a:t>
            </a:r>
            <a:r>
              <a:rPr lang="en-US" b="1" dirty="0"/>
              <a:t>ACME </a:t>
            </a:r>
            <a:r>
              <a:rPr lang="en-US" sz="800" dirty="0"/>
              <a:t>LLC</a:t>
            </a:r>
          </a:p>
          <a:p>
            <a:r>
              <a:rPr lang="en-US" dirty="0"/>
              <a:t>Minnie Mouse, Principal</a:t>
            </a:r>
            <a:r>
              <a:rPr lang="en-US"/>
              <a:t>, </a:t>
            </a:r>
            <a:r>
              <a:rPr lang="en-US" b="1"/>
              <a:t>ACME</a:t>
            </a:r>
            <a:r>
              <a:rPr lang="en-US" sz="80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EC137F75-F577-E1CC-B4CC-5E675C3B9BC7}"/>
              </a:ext>
            </a:extLst>
          </p:cNvPr>
          <p:cNvSpPr>
            <a:spLocks noGrp="1"/>
          </p:cNvSpPr>
          <p:nvPr>
            <p:ph idx="1"/>
          </p:nvPr>
        </p:nvSpPr>
        <p:spPr>
          <a:xfrm>
            <a:off x="771824" y="1567442"/>
            <a:ext cx="8074395" cy="4085530"/>
          </a:xfrm>
        </p:spPr>
        <p:txBody>
          <a:bodyPr/>
          <a:lstStyle/>
          <a:p>
            <a:pPr>
              <a:spcBef>
                <a:spcPts val="300"/>
              </a:spcBef>
              <a:spcAft>
                <a:spcPts val="600"/>
              </a:spcAft>
            </a:pPr>
            <a:r>
              <a:rPr lang="en-US" dirty="0"/>
              <a:t>ACME conducted its annual review of </a:t>
            </a:r>
            <a:r>
              <a:rPr lang="en-US" dirty="0" err="1"/>
              <a:t>Goofy’s</a:t>
            </a:r>
            <a:r>
              <a:rPr lang="en-US" dirty="0"/>
              <a:t> compensation peer group</a:t>
            </a:r>
          </a:p>
          <a:p>
            <a:pPr>
              <a:spcBef>
                <a:spcPts val="300"/>
              </a:spcBef>
              <a:spcAft>
                <a:spcPts val="600"/>
              </a:spcAft>
            </a:pPr>
            <a:r>
              <a:rPr lang="en-US" dirty="0"/>
              <a:t>We updated our peer screening criteria to align with </a:t>
            </a:r>
            <a:r>
              <a:rPr lang="en-US" dirty="0" err="1"/>
              <a:t>Goofy’s</a:t>
            </a:r>
            <a:r>
              <a:rPr lang="en-US" dirty="0"/>
              <a:t> evolving business model</a:t>
            </a:r>
          </a:p>
          <a:p>
            <a:pPr>
              <a:spcBef>
                <a:spcPts val="300"/>
              </a:spcBef>
              <a:spcAft>
                <a:spcPts val="600"/>
              </a:spcAft>
            </a:pPr>
            <a:r>
              <a:rPr lang="en-US" dirty="0"/>
              <a:t>We also used AI to assist us in identifying additional potential peers that had not been previously assessed, re-evaluated companies considered last year, and assessed the impact of M&amp;A activity among the existing peers</a:t>
            </a:r>
          </a:p>
          <a:p>
            <a:pPr>
              <a:spcBef>
                <a:spcPts val="300"/>
              </a:spcBef>
              <a:spcAft>
                <a:spcPts val="600"/>
              </a:spcAft>
            </a:pPr>
            <a:r>
              <a:rPr lang="en-US" dirty="0" err="1"/>
              <a:t>Goofy's</a:t>
            </a:r>
            <a:r>
              <a:rPr lang="en-US" dirty="0"/>
              <a:t> current peers still meet the screening criteria; however, Hologic has been acquired by Blackstone/TPG and will need to be removed from the peer group next year</a:t>
            </a:r>
          </a:p>
          <a:p>
            <a:pPr>
              <a:spcBef>
                <a:spcPts val="300"/>
              </a:spcBef>
              <a:spcAft>
                <a:spcPts val="600"/>
              </a:spcAft>
            </a:pPr>
            <a:r>
              <a:rPr lang="en-US" dirty="0"/>
              <a:t>None of the potential additional companies we identified sufficiently met the screening criteria to warrant inclusion in </a:t>
            </a:r>
            <a:r>
              <a:rPr lang="en-US" dirty="0" err="1"/>
              <a:t>Goofy’s</a:t>
            </a:r>
            <a:r>
              <a:rPr lang="en-US" dirty="0"/>
              <a:t> peer group</a:t>
            </a:r>
          </a:p>
          <a:p>
            <a:pPr>
              <a:spcBef>
                <a:spcPts val="300"/>
              </a:spcBef>
              <a:spcAft>
                <a:spcPts val="600"/>
              </a:spcAft>
            </a:pPr>
            <a:endParaRPr lang="en-US" dirty="0"/>
          </a:p>
          <a:p>
            <a:pPr>
              <a:spcAft>
                <a:spcPts val="600"/>
              </a:spcAft>
            </a:pPr>
            <a:endParaRPr lang="en-US" sz="1400" dirty="0"/>
          </a:p>
        </p:txBody>
      </p:sp>
      <p:sp>
        <p:nvSpPr>
          <p:cNvPr id="3" name="Footer Placeholder 2">
            <a:extLst>
              <a:ext uri="{FF2B5EF4-FFF2-40B4-BE49-F238E27FC236}">
                <a16:creationId xmlns:a16="http://schemas.microsoft.com/office/drawing/2014/main" id="{4EF4EF25-ADB1-4CC2-C52A-F31B5B8327F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7BDBFE6C-9558-B815-3616-C690C2C38EF0}"/>
              </a:ext>
            </a:extLst>
          </p:cNvPr>
          <p:cNvSpPr>
            <a:spLocks noGrp="1"/>
          </p:cNvSpPr>
          <p:nvPr>
            <p:ph type="title"/>
          </p:nvPr>
        </p:nvSpPr>
        <p:spPr>
          <a:xfrm>
            <a:off x="863988" y="307424"/>
            <a:ext cx="8074152" cy="957097"/>
          </a:xfrm>
        </p:spPr>
        <p:txBody>
          <a:bodyPr/>
          <a:lstStyle/>
          <a:p>
            <a:r>
              <a:rPr lang="en-US" dirty="0"/>
              <a:t>Executive Summary: ACME recommends no changes to </a:t>
            </a:r>
            <a:r>
              <a:rPr lang="en-US" dirty="0" err="1"/>
              <a:t>Goofy’s</a:t>
            </a:r>
            <a:r>
              <a:rPr lang="en-US" dirty="0"/>
              <a:t> peer group at this time. Hologic removal is expected next year due to their acquisition by Blackstone/TPG</a:t>
            </a:r>
          </a:p>
        </p:txBody>
      </p:sp>
    </p:spTree>
    <p:extLst>
      <p:ext uri="{BB962C8B-B14F-4D97-AF65-F5344CB8AC3E}">
        <p14:creationId xmlns:p14="http://schemas.microsoft.com/office/powerpoint/2010/main" val="5999392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a:xfrm>
            <a:off x="845852" y="182761"/>
            <a:ext cx="8074152" cy="1466171"/>
          </a:xfrm>
        </p:spPr>
        <p:txBody>
          <a:bodyPr/>
          <a:lstStyle/>
          <a:p>
            <a:r>
              <a:rPr lang="en-US" dirty="0"/>
              <a:t>Each year, ACME reviews </a:t>
            </a:r>
            <a:r>
              <a:rPr lang="en-US" dirty="0" err="1"/>
              <a:t>Goofy’s</a:t>
            </a:r>
            <a:r>
              <a:rPr lang="en-US" dirty="0"/>
              <a:t> Compensation Peer Group to ensure the best size, business, and strategic fit possible. Given the analytic work conducted by ACME in prior years, we took a more cursory approach this year, leveraging AI</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5265955" y="2015685"/>
            <a:ext cx="3517826" cy="2710716"/>
          </a:xfrm>
          <a:ln>
            <a:solidFill>
              <a:schemeClr val="tx1"/>
            </a:solidFill>
          </a:ln>
        </p:spPr>
        <p:txBody>
          <a:bodyPr vert="horz" lIns="91440" tIns="91440" rIns="91440" bIns="91440" rtlCol="0" anchor="t">
            <a:noAutofit/>
          </a:bodyPr>
          <a:lstStyle/>
          <a:p>
            <a:pPr marL="228600" indent="-128588"/>
            <a:r>
              <a:rPr lang="en-US" sz="1200" dirty="0"/>
              <a:t>Should, and if so, how should our screening criteria evolve given:</a:t>
            </a:r>
          </a:p>
          <a:p>
            <a:pPr marL="411480" lvl="1" indent="-128588"/>
            <a:r>
              <a:rPr lang="en-US" sz="1200" dirty="0" err="1"/>
              <a:t>Goofy’s</a:t>
            </a:r>
            <a:r>
              <a:rPr lang="en-US" sz="1200" dirty="0"/>
              <a:t> growth on the top line? In its mix of recurring revenue?</a:t>
            </a:r>
          </a:p>
          <a:p>
            <a:pPr marL="411480" lvl="1" indent="-128588"/>
            <a:r>
              <a:rPr lang="en-US" sz="1200" dirty="0" err="1"/>
              <a:t>Goofy’s</a:t>
            </a:r>
            <a:r>
              <a:rPr lang="en-US" sz="1200" dirty="0"/>
              <a:t> strategic thrusts into:</a:t>
            </a:r>
          </a:p>
          <a:p>
            <a:pPr marL="576263" lvl="2" indent="-128588"/>
            <a:r>
              <a:rPr lang="en-US" sz="1200" dirty="0"/>
              <a:t>New installations and diagnostic tests?</a:t>
            </a:r>
          </a:p>
          <a:p>
            <a:pPr marL="576263" lvl="2" indent="-128588"/>
            <a:r>
              <a:rPr lang="en-US" sz="1200" dirty="0"/>
              <a:t>Goofy’s engagement with the pet parent (B2B2C and B2C)?</a:t>
            </a:r>
          </a:p>
          <a:p>
            <a:pPr marL="576263" lvl="2" indent="-128588"/>
            <a:r>
              <a:rPr lang="en-US" sz="1200" dirty="0"/>
              <a:t>Goofy’s penetration of international markets, especially Europe</a:t>
            </a:r>
          </a:p>
          <a:p>
            <a:pPr marL="215583" indent="-166688"/>
            <a:r>
              <a:rPr lang="en-US" sz="1200" dirty="0"/>
              <a:t>How do our current peers perform against our updated screening criteria?</a:t>
            </a:r>
          </a:p>
          <a:p>
            <a:pPr marL="215583" indent="-166688"/>
            <a:r>
              <a:rPr lang="en-US" sz="1200" dirty="0"/>
              <a:t>Are there other companies, besides those we identified and evaluated in the past, that should be considered? </a:t>
            </a:r>
          </a:p>
        </p:txBody>
      </p:sp>
      <p:sp>
        <p:nvSpPr>
          <p:cNvPr id="12" name="TextBox 11">
            <a:extLst>
              <a:ext uri="{FF2B5EF4-FFF2-40B4-BE49-F238E27FC236}">
                <a16:creationId xmlns:a16="http://schemas.microsoft.com/office/drawing/2014/main" id="{DE19D66B-C281-5495-1796-D5E962950321}"/>
              </a:ext>
            </a:extLst>
          </p:cNvPr>
          <p:cNvSpPr txBox="1"/>
          <p:nvPr/>
        </p:nvSpPr>
        <p:spPr>
          <a:xfrm>
            <a:off x="5265955" y="1795446"/>
            <a:ext cx="3517826" cy="22860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a:solidFill>
                  <a:schemeClr val="bg1"/>
                </a:solidFill>
              </a:rPr>
              <a:t>Key Areas of Inquiry</a:t>
            </a:r>
          </a:p>
        </p:txBody>
      </p:sp>
      <p:graphicFrame>
        <p:nvGraphicFramePr>
          <p:cNvPr id="4" name="Table 3">
            <a:extLst>
              <a:ext uri="{FF2B5EF4-FFF2-40B4-BE49-F238E27FC236}">
                <a16:creationId xmlns:a16="http://schemas.microsoft.com/office/drawing/2014/main" id="{DBFCC1EC-B9CD-FC88-DC2E-8099781B8D5A}"/>
              </a:ext>
            </a:extLst>
          </p:cNvPr>
          <p:cNvGraphicFramePr>
            <a:graphicFrameLocks noGrp="1"/>
          </p:cNvGraphicFramePr>
          <p:nvPr>
            <p:extLst>
              <p:ext uri="{D42A27DB-BD31-4B8C-83A1-F6EECF244321}">
                <p14:modId xmlns:p14="http://schemas.microsoft.com/office/powerpoint/2010/main" val="3832118726"/>
              </p:ext>
            </p:extLst>
          </p:nvPr>
        </p:nvGraphicFramePr>
        <p:xfrm>
          <a:off x="345814" y="2076823"/>
          <a:ext cx="4619625" cy="3513328"/>
        </p:xfrm>
        <a:graphic>
          <a:graphicData uri="http://schemas.openxmlformats.org/drawingml/2006/table">
            <a:tbl>
              <a:tblPr/>
              <a:tblGrid>
                <a:gridCol w="1188720">
                  <a:extLst>
                    <a:ext uri="{9D8B030D-6E8A-4147-A177-3AD203B41FA5}">
                      <a16:colId xmlns:a16="http://schemas.microsoft.com/office/drawing/2014/main" val="1449894947"/>
                    </a:ext>
                  </a:extLst>
                </a:gridCol>
                <a:gridCol w="566928">
                  <a:extLst>
                    <a:ext uri="{9D8B030D-6E8A-4147-A177-3AD203B41FA5}">
                      <a16:colId xmlns:a16="http://schemas.microsoft.com/office/drawing/2014/main" val="3812266679"/>
                    </a:ext>
                  </a:extLst>
                </a:gridCol>
                <a:gridCol w="712089">
                  <a:extLst>
                    <a:ext uri="{9D8B030D-6E8A-4147-A177-3AD203B41FA5}">
                      <a16:colId xmlns:a16="http://schemas.microsoft.com/office/drawing/2014/main" val="2673404662"/>
                    </a:ext>
                  </a:extLst>
                </a:gridCol>
                <a:gridCol w="566928">
                  <a:extLst>
                    <a:ext uri="{9D8B030D-6E8A-4147-A177-3AD203B41FA5}">
                      <a16:colId xmlns:a16="http://schemas.microsoft.com/office/drawing/2014/main" val="1920127421"/>
                    </a:ext>
                  </a:extLst>
                </a:gridCol>
                <a:gridCol w="944880">
                  <a:extLst>
                    <a:ext uri="{9D8B030D-6E8A-4147-A177-3AD203B41FA5}">
                      <a16:colId xmlns:a16="http://schemas.microsoft.com/office/drawing/2014/main" val="3385852825"/>
                    </a:ext>
                  </a:extLst>
                </a:gridCol>
                <a:gridCol w="640080">
                  <a:extLst>
                    <a:ext uri="{9D8B030D-6E8A-4147-A177-3AD203B41FA5}">
                      <a16:colId xmlns:a16="http://schemas.microsoft.com/office/drawing/2014/main" val="2703639312"/>
                    </a:ext>
                  </a:extLst>
                </a:gridCol>
              </a:tblGrid>
              <a:tr h="130289">
                <a:tc>
                  <a:txBody>
                    <a:bodyPr/>
                    <a:lstStyle/>
                    <a:p>
                      <a:pPr algn="l" fontAlgn="b">
                        <a:lnSpc>
                          <a:spcPct val="90000"/>
                        </a:lnSpc>
                      </a:pPr>
                      <a:r>
                        <a:rPr lang="en-US" sz="1000" b="1" i="1" u="none" strike="noStrike" dirty="0">
                          <a:solidFill>
                            <a:srgbClr val="FFFFFF"/>
                          </a:solidFill>
                          <a:effectLst/>
                          <a:latin typeface="Calibri" panose="020F0502020204030204" pitchFamily="34" charset="0"/>
                        </a:rPr>
                        <a:t>($MM)</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 </a:t>
                      </a:r>
                    </a:p>
                    <a:p>
                      <a:pPr algn="ctr" fontAlgn="b">
                        <a:lnSpc>
                          <a:spcPct val="90000"/>
                        </a:lnSpc>
                      </a:pPr>
                      <a:r>
                        <a:rPr lang="en-US" sz="1000" b="1" i="0" u="none" strike="noStrike">
                          <a:solidFill>
                            <a:srgbClr val="FFFFFF"/>
                          </a:solidFill>
                          <a:effectLst/>
                          <a:latin typeface="Calibri" panose="020F0502020204030204" pitchFamily="34" charset="0"/>
                        </a:rPr>
                        <a:t>Industry</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 </a:t>
                      </a:r>
                    </a:p>
                    <a:p>
                      <a:pPr algn="ctr" fontAlgn="b">
                        <a:lnSpc>
                          <a:spcPct val="90000"/>
                        </a:lnSpc>
                      </a:pPr>
                      <a:r>
                        <a:rPr lang="en-US" sz="1000" b="1" i="0" u="none" strike="noStrike">
                          <a:solidFill>
                            <a:srgbClr val="FFFFFF"/>
                          </a:solidFill>
                          <a:effectLst/>
                          <a:latin typeface="Calibri" panose="020F0502020204030204" pitchFamily="34" charset="0"/>
                        </a:rPr>
                        <a:t>FYE</a:t>
                      </a:r>
                    </a:p>
                    <a:p>
                      <a:pPr algn="ctr" fontAlgn="b">
                        <a:lnSpc>
                          <a:spcPct val="90000"/>
                        </a:lnSpc>
                      </a:pPr>
                      <a:r>
                        <a:rPr lang="en-US" sz="1000" b="1" i="0" u="none" strike="noStrike">
                          <a:solidFill>
                            <a:srgbClr val="FFFFFF"/>
                          </a:solidFill>
                          <a:effectLst/>
                          <a:latin typeface="Calibri" panose="020F0502020204030204" pitchFamily="34" charset="0"/>
                        </a:rPr>
                        <a:t>MM/DD</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FYE</a:t>
                      </a:r>
                    </a:p>
                    <a:p>
                      <a:pPr algn="ctr" fontAlgn="b">
                        <a:lnSpc>
                          <a:spcPct val="90000"/>
                        </a:lnSpc>
                      </a:pPr>
                      <a:r>
                        <a:rPr lang="en-US" sz="1000" b="1" i="0" u="none" strike="noStrike">
                          <a:solidFill>
                            <a:srgbClr val="FFFFFF"/>
                          </a:solidFill>
                          <a:effectLst/>
                          <a:latin typeface="Calibri" panose="020F0502020204030204" pitchFamily="34" charset="0"/>
                        </a:rPr>
                        <a:t>Revenue</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Market Cap</a:t>
                      </a:r>
                    </a:p>
                    <a:p>
                      <a:pPr algn="ctr" fontAlgn="b">
                        <a:lnSpc>
                          <a:spcPct val="90000"/>
                        </a:lnSpc>
                      </a:pPr>
                      <a:r>
                        <a:rPr lang="en-US" sz="1000" b="1" i="0" u="none" strike="noStrike">
                          <a:solidFill>
                            <a:srgbClr val="FFFFFF"/>
                          </a:solidFill>
                          <a:effectLst/>
                          <a:latin typeface="Calibri" panose="020F0502020204030204" pitchFamily="34" charset="0"/>
                        </a:rPr>
                        <a:t>as of 3/1/2026</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fontAlgn="b">
                        <a:lnSpc>
                          <a:spcPct val="90000"/>
                        </a:lnSpc>
                      </a:pPr>
                      <a:r>
                        <a:rPr lang="en-US" sz="1000" b="1" i="0" u="none" strike="noStrike">
                          <a:solidFill>
                            <a:srgbClr val="FFFFFF"/>
                          </a:solidFill>
                          <a:effectLst/>
                          <a:latin typeface="Calibri" panose="020F0502020204030204" pitchFamily="34" charset="0"/>
                        </a:rPr>
                        <a:t>Market Cap to Revenue</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381089968"/>
                  </a:ext>
                </a:extLst>
              </a:tr>
              <a:tr h="130289">
                <a:tc>
                  <a:txBody>
                    <a:bodyPr/>
                    <a:lstStyle/>
                    <a:p>
                      <a:pPr algn="ctr" fontAlgn="b">
                        <a:lnSpc>
                          <a:spcPct val="90000"/>
                        </a:lnSpc>
                      </a:pPr>
                      <a:r>
                        <a:rPr lang="en-US" sz="1000" b="1" i="0" u="none" strike="noStrike">
                          <a:solidFill>
                            <a:srgbClr val="FFFFFF"/>
                          </a:solidFill>
                          <a:effectLst/>
                          <a:latin typeface="Calibri" panose="020F0502020204030204" pitchFamily="34" charset="0"/>
                        </a:rPr>
                        <a:t>Company</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pPr algn="ctr" fontAlgn="b">
                        <a:lnSpc>
                          <a:spcPct val="90000"/>
                        </a:lnSpc>
                      </a:pPr>
                      <a:endParaRPr lang="en-US" sz="1000" b="1" i="0" u="none" strike="noStrike">
                        <a:solidFill>
                          <a:srgbClr val="FFFFFF"/>
                        </a:solidFill>
                        <a:effectLst/>
                        <a:latin typeface="Calibri" panose="020F0502020204030204" pitchFamily="34" charset="0"/>
                      </a:endParaRPr>
                    </a:p>
                  </a:txBody>
                  <a:tcPr marL="27432" marR="27432" marT="0"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201369794"/>
                  </a:ext>
                </a:extLst>
              </a:tr>
              <a:tr h="112598">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Intuitive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$10,065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$178,812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17.8X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198767739"/>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Zoetis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P</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$9,467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$55,341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5.8X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4135396492"/>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Agilent</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$6,948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$34,314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4.9X</a:t>
                      </a:r>
                    </a:p>
                  </a:txBody>
                  <a:tcPr marL="0" marR="0" marT="0" marB="0" anchor="b">
                    <a:lnL>
                      <a:noFill/>
                    </a:lnL>
                    <a:lnR>
                      <a:noFill/>
                    </a:lnR>
                    <a:lnT>
                      <a:noFill/>
                    </a:lnT>
                    <a:lnB>
                      <a:noFill/>
                    </a:lnB>
                    <a:noFill/>
                  </a:tcPr>
                </a:tc>
                <a:extLst>
                  <a:ext uri="{0D108BD9-81ED-4DB2-BD59-A6C34878D82A}">
                    <a16:rowId xmlns:a16="http://schemas.microsoft.com/office/drawing/2014/main" val="2052522690"/>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Edwards Lifesciences</a:t>
                      </a:r>
                    </a:p>
                  </a:txBody>
                  <a:tcPr marL="0"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$6,068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$50,222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8.3X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115262930"/>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STERIS</a:t>
                      </a:r>
                    </a:p>
                  </a:txBody>
                  <a:tcPr marL="0"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$5,460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$24,749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4.5X</a:t>
                      </a:r>
                    </a:p>
                  </a:txBody>
                  <a:tcPr marL="0" marR="0" marT="0" marB="0" anchor="b">
                    <a:lnL>
                      <a:noFill/>
                    </a:lnL>
                    <a:lnR>
                      <a:noFill/>
                    </a:lnR>
                    <a:lnT>
                      <a:noFill/>
                    </a:lnT>
                    <a:lnB>
                      <a:noFill/>
                    </a:lnB>
                    <a:noFill/>
                  </a:tcPr>
                </a:tc>
                <a:extLst>
                  <a:ext uri="{0D108BD9-81ED-4DB2-BD59-A6C34878D82A}">
                    <a16:rowId xmlns:a16="http://schemas.microsoft.com/office/drawing/2014/main" val="2542735500"/>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ResMed</a:t>
                      </a:r>
                    </a:p>
                  </a:txBody>
                  <a:tcPr marL="0"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6/30</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$5,146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$37,332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7.3X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3643422171"/>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Elanco</a:t>
                      </a:r>
                    </a:p>
                  </a:txBody>
                  <a:tcPr marL="0"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P</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$4,715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$13,125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2.8X</a:t>
                      </a:r>
                    </a:p>
                  </a:txBody>
                  <a:tcPr marL="0" marR="0" marT="0" marB="0" anchor="b">
                    <a:lnL>
                      <a:noFill/>
                    </a:lnL>
                    <a:lnR>
                      <a:noFill/>
                    </a:lnR>
                    <a:lnT>
                      <a:noFill/>
                    </a:lnT>
                    <a:lnB>
                      <a:noFill/>
                    </a:lnB>
                    <a:noFill/>
                  </a:tcPr>
                </a:tc>
                <a:extLst>
                  <a:ext uri="{0D108BD9-81ED-4DB2-BD59-A6C34878D82A}">
                    <a16:rowId xmlns:a16="http://schemas.microsoft.com/office/drawing/2014/main" val="2458534029"/>
                  </a:ext>
                </a:extLst>
              </a:tr>
              <a:tr h="130289">
                <a:tc>
                  <a:txBody>
                    <a:bodyPr/>
                    <a:lstStyle/>
                    <a:p>
                      <a:pPr algn="l" rtl="0" fontAlgn="b">
                        <a:lnSpc>
                          <a:spcPct val="90000"/>
                        </a:lnSpc>
                        <a:buNone/>
                      </a:pPr>
                      <a:r>
                        <a:rPr lang="en-US" sz="1000" b="0" i="0" u="none" strike="noStrike" dirty="0" err="1">
                          <a:solidFill>
                            <a:srgbClr val="000000"/>
                          </a:solidFill>
                          <a:effectLst/>
                          <a:latin typeface="Calibri" panose="020F0502020204030204" pitchFamily="34" charset="0"/>
                        </a:rPr>
                        <a:t>DexCom</a:t>
                      </a:r>
                      <a:endParaRPr lang="en-US" sz="1000" b="0" i="0" u="none" strike="noStrike" dirty="0">
                        <a:solidFill>
                          <a:srgbClr val="000000"/>
                        </a:solidFill>
                        <a:effectLst/>
                        <a:latin typeface="Calibri" panose="020F0502020204030204" pitchFamily="34" charset="0"/>
                      </a:endParaRPr>
                    </a:p>
                  </a:txBody>
                  <a:tcPr marL="0"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$4,662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$28,261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6.1X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602556207"/>
                  </a:ext>
                </a:extLst>
              </a:tr>
              <a:tr h="130289">
                <a:tc>
                  <a:txBody>
                    <a:bodyPr/>
                    <a:lstStyle/>
                    <a:p>
                      <a:pPr algn="l" rtl="0" fontAlgn="b">
                        <a:lnSpc>
                          <a:spcPct val="90000"/>
                        </a:lnSpc>
                        <a:buNone/>
                      </a:pPr>
                      <a:r>
                        <a:rPr lang="en-US" sz="1000" b="0" i="0" u="none" strike="noStrike" dirty="0">
                          <a:solidFill>
                            <a:srgbClr val="000000"/>
                          </a:solidFill>
                          <a:effectLst/>
                          <a:latin typeface="Calibri" panose="020F0502020204030204" pitchFamily="34" charset="0"/>
                        </a:rPr>
                        <a:t>Illumina</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12/28</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$4,343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$20,559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4.7X</a:t>
                      </a:r>
                    </a:p>
                  </a:txBody>
                  <a:tcPr marL="0" marR="0" marT="0" marB="0" anchor="b">
                    <a:lnL>
                      <a:noFill/>
                    </a:lnL>
                    <a:lnR>
                      <a:noFill/>
                    </a:lnR>
                    <a:lnT>
                      <a:noFill/>
                    </a:lnT>
                    <a:lnB>
                      <a:noFill/>
                    </a:lnB>
                    <a:noFill/>
                  </a:tcPr>
                </a:tc>
                <a:extLst>
                  <a:ext uri="{0D108BD9-81ED-4DB2-BD59-A6C34878D82A}">
                    <a16:rowId xmlns:a16="http://schemas.microsoft.com/office/drawing/2014/main" val="2440778700"/>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Hologic</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HCE</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9/27</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$4,101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$16,824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4.1X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595089946"/>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Cooper</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$4,092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$16,325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4.0X</a:t>
                      </a:r>
                    </a:p>
                  </a:txBody>
                  <a:tcPr marL="0" marR="0" marT="0" marB="0" anchor="b">
                    <a:lnL>
                      <a:noFill/>
                    </a:lnL>
                    <a:lnR>
                      <a:noFill/>
                    </a:lnR>
                    <a:lnT>
                      <a:noFill/>
                    </a:lnT>
                    <a:lnB>
                      <a:noFill/>
                    </a:lnB>
                    <a:noFill/>
                  </a:tcPr>
                </a:tc>
                <a:extLst>
                  <a:ext uri="{0D108BD9-81ED-4DB2-BD59-A6C34878D82A}">
                    <a16:rowId xmlns:a16="http://schemas.microsoft.com/office/drawing/2014/main" val="2805947971"/>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Align</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HCS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$4,035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$13,551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3.4X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1278004396"/>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Mettler-Toldeo</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$4,026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$27,778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6.9X</a:t>
                      </a:r>
                    </a:p>
                  </a:txBody>
                  <a:tcPr marL="0" marR="0" marT="0" marB="0" anchor="b">
                    <a:lnL>
                      <a:noFill/>
                    </a:lnL>
                    <a:lnR>
                      <a:noFill/>
                    </a:lnR>
                    <a:lnT>
                      <a:noFill/>
                    </a:lnT>
                    <a:lnB>
                      <a:noFill/>
                    </a:lnB>
                    <a:noFill/>
                  </a:tcPr>
                </a:tc>
                <a:extLst>
                  <a:ext uri="{0D108BD9-81ED-4DB2-BD59-A6C34878D82A}">
                    <a16:rowId xmlns:a16="http://schemas.microsoft.com/office/drawing/2014/main" val="1567382614"/>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Waters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$3,165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$31,332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9.9X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2971183175"/>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Revvity</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12/28</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$2,856 </a:t>
                      </a:r>
                    </a:p>
                  </a:txBody>
                  <a:tcPr marL="27432" marR="27432" marT="0" marB="0" anchor="b">
                    <a:lnL>
                      <a:noFill/>
                    </a:lnL>
                    <a:lnR>
                      <a:noFill/>
                    </a:lnR>
                    <a:lnT>
                      <a:noFill/>
                    </a:lnT>
                    <a:lnB>
                      <a:noFill/>
                    </a:lnB>
                    <a:no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$10,991 </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chemeClr val="tx1"/>
                          </a:solidFill>
                          <a:effectLst/>
                          <a:latin typeface="Calibri" panose="020F0502020204030204" pitchFamily="34" charset="0"/>
                        </a:rPr>
                        <a:t>3.8X</a:t>
                      </a:r>
                    </a:p>
                  </a:txBody>
                  <a:tcPr marL="0" marR="0" marT="0" marB="0" anchor="b">
                    <a:lnL>
                      <a:noFill/>
                    </a:lnL>
                    <a:lnR>
                      <a:noFill/>
                    </a:lnR>
                    <a:lnT>
                      <a:noFill/>
                    </a:lnT>
                    <a:lnB>
                      <a:noFill/>
                    </a:lnB>
                    <a:noFill/>
                  </a:tcPr>
                </a:tc>
                <a:extLst>
                  <a:ext uri="{0D108BD9-81ED-4DB2-BD59-A6C34878D82A}">
                    <a16:rowId xmlns:a16="http://schemas.microsoft.com/office/drawing/2014/main" val="2095969620"/>
                  </a:ext>
                </a:extLst>
              </a:tr>
              <a:tr h="130289">
                <a:tc>
                  <a:txBody>
                    <a:bodyPr/>
                    <a:lstStyle/>
                    <a:p>
                      <a:pPr algn="l" rtl="0" fontAlgn="b">
                        <a:lnSpc>
                          <a:spcPct val="90000"/>
                        </a:lnSpc>
                        <a:buNone/>
                      </a:pPr>
                      <a:r>
                        <a:rPr lang="en-US" sz="1000" b="0" i="0" u="none" strike="noStrike">
                          <a:solidFill>
                            <a:srgbClr val="000000"/>
                          </a:solidFill>
                          <a:effectLst/>
                          <a:latin typeface="Calibri" panose="020F0502020204030204" pitchFamily="34" charset="0"/>
                        </a:rPr>
                        <a:t>Bio-Rad</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LS</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12/31</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$2,583 </a:t>
                      </a:r>
                    </a:p>
                  </a:txBody>
                  <a:tcPr marL="27432" marR="27432" marT="0" marB="0" anchor="b">
                    <a:lnL>
                      <a:noFill/>
                    </a:lnL>
                    <a:lnR>
                      <a:noFill/>
                    </a:lnR>
                    <a:lnT>
                      <a:noFill/>
                    </a:lnT>
                    <a:lnB>
                      <a:noFill/>
                    </a:lnB>
                    <a:solidFill>
                      <a:schemeClr val="bg1">
                        <a:lumMod val="95000"/>
                      </a:schemeClr>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$7,467 </a:t>
                      </a:r>
                    </a:p>
                  </a:txBody>
                  <a:tcPr marL="27432" marR="27432" marT="0" marB="0" anchor="b">
                    <a:lnL>
                      <a:noFill/>
                    </a:lnL>
                    <a:lnR>
                      <a:noFill/>
                    </a:lnR>
                    <a:lnT>
                      <a:noFill/>
                    </a:lnT>
                    <a:lnB>
                      <a:noFill/>
                    </a:lnB>
                    <a:solidFill>
                      <a:schemeClr val="bg1">
                        <a:lumMod val="95000"/>
                      </a:schemeClr>
                    </a:solidFill>
                  </a:tcPr>
                </a:tc>
                <a:tc>
                  <a:txBody>
                    <a:bodyPr/>
                    <a:lstStyle/>
                    <a:p>
                      <a:pPr algn="ctr" rtl="0" fontAlgn="b">
                        <a:buNone/>
                      </a:pPr>
                      <a:r>
                        <a:rPr lang="en-US" sz="1000" b="0" i="0" u="none" strike="noStrike">
                          <a:solidFill>
                            <a:schemeClr val="tx1"/>
                          </a:solidFill>
                          <a:effectLst/>
                          <a:latin typeface="Calibri" panose="020F0502020204030204" pitchFamily="34" charset="0"/>
                        </a:rPr>
                        <a:t>2.9X</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1709469471"/>
                  </a:ext>
                </a:extLst>
              </a:tr>
              <a:tr h="0">
                <a:tc>
                  <a:txBody>
                    <a:bodyPr/>
                    <a:lstStyle/>
                    <a:p>
                      <a:pPr algn="l"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accent4"/>
                        </a:solidFill>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0153196"/>
                  </a:ext>
                </a:extLst>
              </a:tr>
              <a:tr h="130289">
                <a:tc>
                  <a:txBody>
                    <a:bodyPr/>
                    <a:lstStyle/>
                    <a:p>
                      <a:pPr algn="l" fontAlgn="b">
                        <a:lnSpc>
                          <a:spcPct val="90000"/>
                        </a:lnSpc>
                      </a:pPr>
                      <a:r>
                        <a:rPr lang="en-US" sz="1000" b="0" i="0" u="none" strike="noStrike" dirty="0">
                          <a:effectLst/>
                          <a:latin typeface="Calibri" panose="020F0502020204030204" pitchFamily="34" charset="0"/>
                        </a:rPr>
                        <a:t>75th %ile</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$5,612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$35,068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1000" b="0" i="0" u="none" strike="noStrike">
                          <a:solidFill>
                            <a:schemeClr val="tx1"/>
                          </a:solidFill>
                          <a:effectLst/>
                          <a:latin typeface="Calibri" panose="020F0502020204030204" pitchFamily="34" charset="0"/>
                        </a:rPr>
                        <a:t>7.0x</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735866414"/>
                  </a:ext>
                </a:extLst>
              </a:tr>
              <a:tr h="130289">
                <a:tc>
                  <a:txBody>
                    <a:bodyPr/>
                    <a:lstStyle/>
                    <a:p>
                      <a:pPr algn="l" fontAlgn="b">
                        <a:lnSpc>
                          <a:spcPct val="90000"/>
                        </a:lnSpc>
                      </a:pPr>
                      <a:r>
                        <a:rPr lang="en-US" sz="1000" b="1" i="0" u="none" strike="noStrike">
                          <a:effectLst/>
                          <a:latin typeface="Calibri" panose="020F0502020204030204" pitchFamily="34" charset="0"/>
                        </a:rPr>
                        <a:t>Median</a:t>
                      </a:r>
                    </a:p>
                  </a:txBody>
                  <a:tcPr marL="27432" marR="27432" marT="0" marB="9144" anchor="b">
                    <a:lnL>
                      <a:noFill/>
                    </a:lnL>
                    <a:lnR>
                      <a:noFill/>
                    </a:lnR>
                    <a:lnT>
                      <a:noFill/>
                    </a:lnT>
                    <a:lnB>
                      <a:noFill/>
                    </a:lnB>
                    <a:solidFill>
                      <a:srgbClr val="FFFFDB"/>
                    </a:solidFill>
                  </a:tcPr>
                </a:tc>
                <a:tc>
                  <a:txBody>
                    <a:bodyPr/>
                    <a:lstStyle/>
                    <a:p>
                      <a:pPr algn="ctr" fontAlgn="b">
                        <a:lnSpc>
                          <a:spcPct val="90000"/>
                        </a:lnSpc>
                      </a:pPr>
                      <a:r>
                        <a:rPr lang="en-US" sz="1000" b="1" i="0" u="none" strike="noStrike">
                          <a:effectLst/>
                          <a:latin typeface="Calibri" panose="020F0502020204030204" pitchFamily="34" charset="0"/>
                        </a:rPr>
                        <a:t> </a:t>
                      </a:r>
                    </a:p>
                  </a:txBody>
                  <a:tcPr marL="27432" marR="27432" marT="0" marB="9144" anchor="b">
                    <a:lnL>
                      <a:noFill/>
                    </a:lnL>
                    <a:lnR>
                      <a:noFill/>
                    </a:lnR>
                    <a:lnT>
                      <a:noFill/>
                    </a:lnT>
                    <a:lnB>
                      <a:noFill/>
                    </a:lnB>
                    <a:solidFill>
                      <a:srgbClr val="FFFFDB"/>
                    </a:solidFill>
                  </a:tcPr>
                </a:tc>
                <a:tc>
                  <a:txBody>
                    <a:bodyPr/>
                    <a:lstStyle/>
                    <a:p>
                      <a:pPr algn="ctr" fontAlgn="b">
                        <a:lnSpc>
                          <a:spcPct val="90000"/>
                        </a:lnSpc>
                      </a:pPr>
                      <a:r>
                        <a:rPr lang="en-US" sz="1000" b="1" i="0" u="none" strike="noStrike">
                          <a:effectLst/>
                          <a:latin typeface="Calibri" panose="020F0502020204030204" pitchFamily="34" charset="0"/>
                        </a:rPr>
                        <a:t> </a:t>
                      </a:r>
                    </a:p>
                  </a:txBody>
                  <a:tcPr marL="27432" marR="27432" marT="0" marB="9144" anchor="b">
                    <a:lnL>
                      <a:noFill/>
                    </a:lnL>
                    <a:lnR>
                      <a:noFill/>
                    </a:lnR>
                    <a:lnT>
                      <a:noFill/>
                    </a:lnT>
                    <a:lnB>
                      <a:noFill/>
                    </a:lnB>
                    <a:solidFill>
                      <a:srgbClr val="FFFFDB"/>
                    </a:solidFill>
                  </a:tcPr>
                </a:tc>
                <a:tc>
                  <a:txBody>
                    <a:bodyPr/>
                    <a:lstStyle/>
                    <a:p>
                      <a:pPr algn="ctr" rtl="0" fontAlgn="b">
                        <a:lnSpc>
                          <a:spcPct val="90000"/>
                        </a:lnSpc>
                        <a:buNone/>
                      </a:pPr>
                      <a:r>
                        <a:rPr lang="en-US" sz="1000" b="1" i="0" u="none" strike="noStrike">
                          <a:solidFill>
                            <a:srgbClr val="000000"/>
                          </a:solidFill>
                          <a:effectLst/>
                          <a:latin typeface="Calibri" panose="020F0502020204030204" pitchFamily="34" charset="0"/>
                        </a:rPr>
                        <a:t>$4,503 </a:t>
                      </a:r>
                    </a:p>
                  </a:txBody>
                  <a:tcPr marL="27432" marR="27432" marT="0" marB="0" anchor="b">
                    <a:lnL>
                      <a:noFill/>
                    </a:lnL>
                    <a:lnR>
                      <a:noFill/>
                    </a:lnR>
                    <a:lnT>
                      <a:noFill/>
                    </a:lnT>
                    <a:lnB>
                      <a:noFill/>
                    </a:lnB>
                    <a:solidFill>
                      <a:srgbClr val="FFFFDB"/>
                    </a:solidFill>
                  </a:tcPr>
                </a:tc>
                <a:tc>
                  <a:txBody>
                    <a:bodyPr/>
                    <a:lstStyle/>
                    <a:p>
                      <a:pPr algn="ctr" rtl="0" fontAlgn="b">
                        <a:lnSpc>
                          <a:spcPct val="90000"/>
                        </a:lnSpc>
                        <a:buNone/>
                      </a:pPr>
                      <a:r>
                        <a:rPr lang="en-US" sz="1000" b="1" i="0" u="none" strike="noStrike">
                          <a:solidFill>
                            <a:srgbClr val="000000"/>
                          </a:solidFill>
                          <a:effectLst/>
                          <a:latin typeface="Calibri" panose="020F0502020204030204" pitchFamily="34" charset="0"/>
                        </a:rPr>
                        <a:t>$26,264 </a:t>
                      </a:r>
                    </a:p>
                  </a:txBody>
                  <a:tcPr marL="27432" marR="27432" marT="0" marB="0" anchor="b">
                    <a:lnL>
                      <a:noFill/>
                    </a:lnL>
                    <a:lnR>
                      <a:noFill/>
                    </a:lnR>
                    <a:lnT>
                      <a:noFill/>
                    </a:lnT>
                    <a:lnB>
                      <a:noFill/>
                    </a:lnB>
                    <a:solidFill>
                      <a:srgbClr val="FFFFDB"/>
                    </a:solidFill>
                  </a:tcPr>
                </a:tc>
                <a:tc>
                  <a:txBody>
                    <a:bodyPr/>
                    <a:lstStyle/>
                    <a:p>
                      <a:pPr algn="ctr" rtl="0" fontAlgn="b">
                        <a:lnSpc>
                          <a:spcPct val="90000"/>
                        </a:lnSpc>
                        <a:buNone/>
                      </a:pPr>
                      <a:r>
                        <a:rPr lang="en-US" sz="1000" b="1" i="0" u="none" strike="noStrike">
                          <a:solidFill>
                            <a:schemeClr val="tx1"/>
                          </a:solidFill>
                          <a:effectLst/>
                          <a:latin typeface="Calibri" panose="020F0502020204030204" pitchFamily="34" charset="0"/>
                        </a:rPr>
                        <a:t>4.8x</a:t>
                      </a:r>
                    </a:p>
                  </a:txBody>
                  <a:tcPr marL="27432" marR="27432" marT="0" marB="0" anchor="b">
                    <a:lnL>
                      <a:noFill/>
                    </a:lnL>
                    <a:lnR>
                      <a:noFill/>
                    </a:lnR>
                    <a:lnT>
                      <a:noFill/>
                    </a:lnT>
                    <a:lnB>
                      <a:noFill/>
                    </a:lnB>
                    <a:solidFill>
                      <a:srgbClr val="FFFFDB"/>
                    </a:solidFill>
                  </a:tcPr>
                </a:tc>
                <a:extLst>
                  <a:ext uri="{0D108BD9-81ED-4DB2-BD59-A6C34878D82A}">
                    <a16:rowId xmlns:a16="http://schemas.microsoft.com/office/drawing/2014/main" val="1717269857"/>
                  </a:ext>
                </a:extLst>
              </a:tr>
              <a:tr h="130289">
                <a:tc>
                  <a:txBody>
                    <a:bodyPr/>
                    <a:lstStyle/>
                    <a:p>
                      <a:pPr algn="l" fontAlgn="b">
                        <a:lnSpc>
                          <a:spcPct val="90000"/>
                        </a:lnSpc>
                      </a:pPr>
                      <a:r>
                        <a:rPr lang="en-US" sz="1000" b="0" i="0" u="none" strike="noStrike">
                          <a:effectLst/>
                          <a:latin typeface="Calibri" panose="020F0502020204030204" pitchFamily="34" charset="0"/>
                        </a:rPr>
                        <a:t>25th %ile</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pPr>
                      <a:r>
                        <a:rPr lang="en-US" sz="1000" b="0" i="0" u="none" strike="noStrike">
                          <a:effectLst/>
                          <a:latin typeface="Calibri" panose="020F0502020204030204" pitchFamily="34" charset="0"/>
                        </a:rPr>
                        <a:t> </a:t>
                      </a:r>
                    </a:p>
                  </a:txBody>
                  <a:tcPr marL="27432" marR="27432" marT="0"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$4,033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1000" b="0" i="0" u="none" strike="noStrike">
                          <a:solidFill>
                            <a:srgbClr val="000000"/>
                          </a:solidFill>
                          <a:effectLst/>
                          <a:latin typeface="Calibri" panose="020F0502020204030204" pitchFamily="34" charset="0"/>
                        </a:rPr>
                        <a:t>$15,632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1000" b="0" i="0" u="none" strike="noStrike">
                          <a:solidFill>
                            <a:schemeClr val="tx1"/>
                          </a:solidFill>
                          <a:effectLst/>
                          <a:latin typeface="Calibri" panose="020F0502020204030204" pitchFamily="34" charset="0"/>
                        </a:rPr>
                        <a:t>3.0x</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75364497"/>
                  </a:ext>
                </a:extLst>
              </a:tr>
              <a:tr h="0">
                <a:tc>
                  <a:txBody>
                    <a:bodyPr/>
                    <a:lstStyle/>
                    <a:p>
                      <a:pPr algn="l"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tx1"/>
                        </a:solidFill>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2851319"/>
                  </a:ext>
                </a:extLst>
              </a:tr>
              <a:tr h="130289">
                <a:tc>
                  <a:txBody>
                    <a:bodyPr/>
                    <a:lstStyle/>
                    <a:p>
                      <a:pPr algn="l" fontAlgn="b">
                        <a:lnSpc>
                          <a:spcPct val="90000"/>
                        </a:lnSpc>
                      </a:pPr>
                      <a:r>
                        <a:rPr lang="en-US" sz="1000" b="1" i="0" u="none" strike="noStrike" dirty="0">
                          <a:effectLst/>
                          <a:latin typeface="Calibri" panose="020F0502020204030204" pitchFamily="34" charset="0"/>
                        </a:rPr>
                        <a:t>Goofy Laboratories</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a:effectLst/>
                          <a:latin typeface="Calibri" panose="020F0502020204030204" pitchFamily="34" charset="0"/>
                        </a:rPr>
                        <a:t>HCE</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a:effectLst/>
                          <a:latin typeface="Calibri" panose="020F0502020204030204" pitchFamily="34" charset="0"/>
                        </a:rPr>
                        <a:t>12/31</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a:effectLst/>
                          <a:latin typeface="Calibri" panose="020F0502020204030204" pitchFamily="34" charset="0"/>
                        </a:rPr>
                        <a:t>$4,304</a:t>
                      </a:r>
                    </a:p>
                  </a:txBody>
                  <a:tcPr marL="27432" marR="27432" marT="0"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lnSpc>
                          <a:spcPct val="90000"/>
                        </a:lnSpc>
                        <a:buNone/>
                      </a:pPr>
                      <a:r>
                        <a:rPr lang="en-US" sz="1000" b="1" i="0" u="none" strike="noStrike">
                          <a:solidFill>
                            <a:srgbClr val="000000"/>
                          </a:solidFill>
                          <a:effectLst/>
                          <a:latin typeface="Calibri" panose="020F0502020204030204" pitchFamily="34" charset="0"/>
                        </a:rPr>
                        <a:t>$52,291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1000" b="1" i="0" u="none" strike="noStrike" dirty="0">
                          <a:solidFill>
                            <a:schemeClr val="tx1"/>
                          </a:solidFill>
                          <a:effectLst/>
                          <a:latin typeface="Calibri" panose="020F0502020204030204" pitchFamily="34" charset="0"/>
                        </a:rPr>
                        <a:t>12.2x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090368397"/>
                  </a:ext>
                </a:extLst>
              </a:tr>
            </a:tbl>
          </a:graphicData>
        </a:graphic>
      </p:graphicFrame>
      <p:sp>
        <p:nvSpPr>
          <p:cNvPr id="7" name="TextBox 6">
            <a:extLst>
              <a:ext uri="{FF2B5EF4-FFF2-40B4-BE49-F238E27FC236}">
                <a16:creationId xmlns:a16="http://schemas.microsoft.com/office/drawing/2014/main" id="{C84F21B9-8FCC-97BA-2D4A-339FC34EB5CA}"/>
              </a:ext>
            </a:extLst>
          </p:cNvPr>
          <p:cNvSpPr txBox="1"/>
          <p:nvPr/>
        </p:nvSpPr>
        <p:spPr>
          <a:xfrm>
            <a:off x="360219" y="1764498"/>
            <a:ext cx="4407051" cy="307777"/>
          </a:xfrm>
          <a:prstGeom prst="rect">
            <a:avLst/>
          </a:prstGeom>
          <a:noFill/>
        </p:spPr>
        <p:txBody>
          <a:bodyPr wrap="square" lIns="45720" tIns="45720" rIns="45720" bIns="45720" rtlCol="0" anchor="ctr">
            <a:spAutoFit/>
          </a:bodyPr>
          <a:lstStyle/>
          <a:p>
            <a:pPr algn="ctr">
              <a:defRPr/>
            </a:pPr>
            <a:r>
              <a:rPr lang="en-US" sz="1400" b="1" dirty="0">
                <a:solidFill>
                  <a:prstClr val="black"/>
                </a:solidFill>
                <a:cs typeface="Arial" panose="020B0604020202020204" pitchFamily="34" charset="0"/>
              </a:rPr>
              <a:t>Goofy Current Compensation Peer Group</a:t>
            </a:r>
            <a:endParaRPr lang="en-US" sz="1400" b="1" baseline="30000" dirty="0">
              <a:solidFill>
                <a:prstClr val="black"/>
              </a:solidFill>
              <a:cs typeface="Arial" panose="020B0604020202020204" pitchFamily="34" charset="0"/>
            </a:endParaRPr>
          </a:p>
        </p:txBody>
      </p:sp>
      <p:sp>
        <p:nvSpPr>
          <p:cNvPr id="8" name="TextBox 7">
            <a:extLst>
              <a:ext uri="{FF2B5EF4-FFF2-40B4-BE49-F238E27FC236}">
                <a16:creationId xmlns:a16="http://schemas.microsoft.com/office/drawing/2014/main" id="{BDE6FDD6-5988-BEEC-6845-21D25C011E2A}"/>
              </a:ext>
            </a:extLst>
          </p:cNvPr>
          <p:cNvSpPr txBox="1"/>
          <p:nvPr/>
        </p:nvSpPr>
        <p:spPr>
          <a:xfrm>
            <a:off x="432100" y="5653697"/>
            <a:ext cx="370417" cy="215444"/>
          </a:xfrm>
          <a:prstGeom prst="rect">
            <a:avLst/>
          </a:prstGeom>
          <a:noFill/>
          <a:ln>
            <a:noFill/>
          </a:ln>
        </p:spPr>
        <p:txBody>
          <a:bodyPr wrap="square" rtlCol="0" anchor="ctr">
            <a:spAutoFit/>
          </a:bodyPr>
          <a:lstStyle/>
          <a:p>
            <a:r>
              <a:rPr lang="en-US" sz="800" b="1" i="1"/>
              <a:t>Key:</a:t>
            </a:r>
          </a:p>
        </p:txBody>
      </p:sp>
      <p:graphicFrame>
        <p:nvGraphicFramePr>
          <p:cNvPr id="9" name="Table 14">
            <a:extLst>
              <a:ext uri="{FF2B5EF4-FFF2-40B4-BE49-F238E27FC236}">
                <a16:creationId xmlns:a16="http://schemas.microsoft.com/office/drawing/2014/main" id="{1EF47DC0-BE70-A535-1C3F-623EB62CFDBC}"/>
              </a:ext>
            </a:extLst>
          </p:cNvPr>
          <p:cNvGraphicFramePr>
            <a:graphicFrameLocks noGrp="1"/>
          </p:cNvGraphicFramePr>
          <p:nvPr/>
        </p:nvGraphicFramePr>
        <p:xfrm>
          <a:off x="516527" y="5841923"/>
          <a:ext cx="1479863" cy="13716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800" dirty="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dirty="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3" name="Table 14">
            <a:extLst>
              <a:ext uri="{FF2B5EF4-FFF2-40B4-BE49-F238E27FC236}">
                <a16:creationId xmlns:a16="http://schemas.microsoft.com/office/drawing/2014/main" id="{A9BE18DB-FC9F-D10B-4746-F392EAADE29A}"/>
              </a:ext>
            </a:extLst>
          </p:cNvPr>
          <p:cNvGraphicFramePr>
            <a:graphicFrameLocks noGrp="1"/>
          </p:cNvGraphicFramePr>
          <p:nvPr/>
        </p:nvGraphicFramePr>
        <p:xfrm>
          <a:off x="516527" y="6032248"/>
          <a:ext cx="1479863" cy="12192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0">
                <a:tc>
                  <a:txBody>
                    <a:bodyPr/>
                    <a:lstStyle/>
                    <a:p>
                      <a:pPr algn="ctr"/>
                      <a:r>
                        <a:rPr lang="en-US" sz="8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4" name="Table 14">
            <a:extLst>
              <a:ext uri="{FF2B5EF4-FFF2-40B4-BE49-F238E27FC236}">
                <a16:creationId xmlns:a16="http://schemas.microsoft.com/office/drawing/2014/main" id="{A5837B06-FBF5-CB7D-615B-E8A24C7BCAEC}"/>
              </a:ext>
            </a:extLst>
          </p:cNvPr>
          <p:cNvGraphicFramePr>
            <a:graphicFrameLocks noGrp="1"/>
          </p:cNvGraphicFramePr>
          <p:nvPr/>
        </p:nvGraphicFramePr>
        <p:xfrm>
          <a:off x="516528" y="6227602"/>
          <a:ext cx="1479863" cy="13716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8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5" name="Table 14">
            <a:extLst>
              <a:ext uri="{FF2B5EF4-FFF2-40B4-BE49-F238E27FC236}">
                <a16:creationId xmlns:a16="http://schemas.microsoft.com/office/drawing/2014/main" id="{2B1DA96D-EA11-2AE9-CD30-BF7872366D10}"/>
              </a:ext>
            </a:extLst>
          </p:cNvPr>
          <p:cNvGraphicFramePr>
            <a:graphicFrameLocks noGrp="1"/>
          </p:cNvGraphicFramePr>
          <p:nvPr/>
        </p:nvGraphicFramePr>
        <p:xfrm>
          <a:off x="516528" y="6422956"/>
          <a:ext cx="1479863" cy="13716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8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6" name="Rectangle 15">
            <a:extLst>
              <a:ext uri="{FF2B5EF4-FFF2-40B4-BE49-F238E27FC236}">
                <a16:creationId xmlns:a16="http://schemas.microsoft.com/office/drawing/2014/main" id="{407FFBB0-1D65-22F6-08CA-6CD758AC40E0}"/>
              </a:ext>
            </a:extLst>
          </p:cNvPr>
          <p:cNvSpPr/>
          <p:nvPr/>
        </p:nvSpPr>
        <p:spPr>
          <a:xfrm>
            <a:off x="360219" y="5687401"/>
            <a:ext cx="1636171" cy="952421"/>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noAutofit/>
          </a:bodyPr>
          <a:lstStyle/>
          <a:p>
            <a:pPr algn="ctr">
              <a:lnSpc>
                <a:spcPct val="85000"/>
              </a:lnSpc>
            </a:pPr>
            <a:endParaRPr lang="en-US" sz="1400" i="1">
              <a:solidFill>
                <a:schemeClr val="tx1"/>
              </a:solidFill>
            </a:endParaRPr>
          </a:p>
        </p:txBody>
      </p:sp>
      <p:sp>
        <p:nvSpPr>
          <p:cNvPr id="18" name="TextBox 17">
            <a:extLst>
              <a:ext uri="{FF2B5EF4-FFF2-40B4-BE49-F238E27FC236}">
                <a16:creationId xmlns:a16="http://schemas.microsoft.com/office/drawing/2014/main" id="{AE952F28-6433-9D50-1C7C-AFC92B8F9739}"/>
              </a:ext>
            </a:extLst>
          </p:cNvPr>
          <p:cNvSpPr txBox="1"/>
          <p:nvPr/>
        </p:nvSpPr>
        <p:spPr>
          <a:xfrm>
            <a:off x="5261336" y="4793882"/>
            <a:ext cx="3517826" cy="250646"/>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How ACME Leveraged AI</a:t>
            </a:r>
          </a:p>
        </p:txBody>
      </p:sp>
      <p:sp>
        <p:nvSpPr>
          <p:cNvPr id="21" name="Content Placeholder 2">
            <a:extLst>
              <a:ext uri="{FF2B5EF4-FFF2-40B4-BE49-F238E27FC236}">
                <a16:creationId xmlns:a16="http://schemas.microsoft.com/office/drawing/2014/main" id="{C7B6C1EE-E84B-7CCC-A89B-6A59C7044A5F}"/>
              </a:ext>
            </a:extLst>
          </p:cNvPr>
          <p:cNvSpPr txBox="1">
            <a:spLocks/>
          </p:cNvSpPr>
          <p:nvPr/>
        </p:nvSpPr>
        <p:spPr>
          <a:xfrm>
            <a:off x="5261336" y="5030204"/>
            <a:ext cx="3517826" cy="1254195"/>
          </a:xfrm>
          <a:prstGeom prst="rect">
            <a:avLst/>
          </a:prstGeom>
          <a:ln>
            <a:solidFill>
              <a:schemeClr val="tx1"/>
            </a:solidFill>
          </a:ln>
        </p:spPr>
        <p:txBody>
          <a:bodyPr vert="horz" lIns="91440" tIns="91440" rIns="91440" bIns="91440" rtlCol="0" anchor="t">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228600" indent="-128588"/>
            <a:r>
              <a:rPr lang="en-US" sz="1200" dirty="0"/>
              <a:t>Used AI to enhance the standard review process</a:t>
            </a:r>
          </a:p>
          <a:p>
            <a:pPr marL="228600" indent="-128588"/>
            <a:r>
              <a:rPr lang="en-US" sz="1200" dirty="0"/>
              <a:t>Specifically, pressure‑tested and refined the peer screening criteria based on </a:t>
            </a:r>
            <a:r>
              <a:rPr lang="en-US" sz="1200" dirty="0" err="1"/>
              <a:t>Goofy’s</a:t>
            </a:r>
            <a:r>
              <a:rPr lang="en-US" sz="1200" dirty="0"/>
              <a:t> evolving business model</a:t>
            </a:r>
          </a:p>
          <a:p>
            <a:pPr marL="228600" indent="-128588"/>
            <a:r>
              <a:rPr lang="en-US" sz="1200" dirty="0"/>
              <a:t>Also identified potential new peers beyond those previously evaluated</a:t>
            </a:r>
            <a:endParaRPr lang="en-US" sz="1200" strike="sngStrike" dirty="0">
              <a:solidFill>
                <a:srgbClr val="FF0000"/>
              </a:solidFill>
            </a:endParaRPr>
          </a:p>
        </p:txBody>
      </p:sp>
    </p:spTree>
    <p:extLst>
      <p:ext uri="{BB962C8B-B14F-4D97-AF65-F5344CB8AC3E}">
        <p14:creationId xmlns:p14="http://schemas.microsoft.com/office/powerpoint/2010/main" val="150241264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23173-24CB-D807-D5E8-F9A675C24C6B}"/>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22F46511-A1A2-9757-F323-32172921003F}"/>
              </a:ext>
            </a:extLst>
          </p:cNvPr>
          <p:cNvSpPr txBox="1"/>
          <p:nvPr/>
        </p:nvSpPr>
        <p:spPr>
          <a:xfrm>
            <a:off x="78306" y="1249888"/>
            <a:ext cx="4931877" cy="179749"/>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a:solidFill>
                  <a:schemeClr val="bg1"/>
                </a:solidFill>
              </a:rPr>
              <a:t>Goofy Business Profile</a:t>
            </a:r>
            <a:endParaRPr lang="en-US" sz="1100" b="1" baseline="30000" dirty="0">
              <a:solidFill>
                <a:schemeClr val="bg1"/>
              </a:solidFill>
            </a:endParaRPr>
          </a:p>
        </p:txBody>
      </p:sp>
      <p:pic>
        <p:nvPicPr>
          <p:cNvPr id="7" name="Picture 6">
            <a:extLst>
              <a:ext uri="{FF2B5EF4-FFF2-40B4-BE49-F238E27FC236}">
                <a16:creationId xmlns:a16="http://schemas.microsoft.com/office/drawing/2014/main" id="{7B0BE844-1F67-98F4-B286-4A1C401D0ED4}"/>
              </a:ext>
            </a:extLst>
          </p:cNvPr>
          <p:cNvPicPr>
            <a:picLocks noChangeAspect="1"/>
          </p:cNvPicPr>
          <p:nvPr/>
        </p:nvPicPr>
        <p:blipFill>
          <a:blip r:embed="rId3"/>
          <a:stretch>
            <a:fillRect/>
          </a:stretch>
        </p:blipFill>
        <p:spPr>
          <a:xfrm>
            <a:off x="2632651" y="3388652"/>
            <a:ext cx="2098815" cy="1247664"/>
          </a:xfrm>
          <a:prstGeom prst="rect">
            <a:avLst/>
          </a:prstGeom>
        </p:spPr>
      </p:pic>
      <p:pic>
        <p:nvPicPr>
          <p:cNvPr id="3" name="Picture 2">
            <a:extLst>
              <a:ext uri="{FF2B5EF4-FFF2-40B4-BE49-F238E27FC236}">
                <a16:creationId xmlns:a16="http://schemas.microsoft.com/office/drawing/2014/main" id="{A85B62A4-FC07-9697-954E-F0819C048FDE}"/>
              </a:ext>
            </a:extLst>
          </p:cNvPr>
          <p:cNvPicPr>
            <a:picLocks noChangeAspect="1"/>
          </p:cNvPicPr>
          <p:nvPr/>
        </p:nvPicPr>
        <p:blipFill>
          <a:blip r:embed="rId4"/>
          <a:stretch>
            <a:fillRect/>
          </a:stretch>
        </p:blipFill>
        <p:spPr>
          <a:xfrm>
            <a:off x="2506856" y="5043449"/>
            <a:ext cx="2263884" cy="1358330"/>
          </a:xfrm>
          <a:prstGeom prst="rect">
            <a:avLst/>
          </a:prstGeom>
        </p:spPr>
      </p:pic>
      <p:pic>
        <p:nvPicPr>
          <p:cNvPr id="2" name="Picture 1">
            <a:extLst>
              <a:ext uri="{FF2B5EF4-FFF2-40B4-BE49-F238E27FC236}">
                <a16:creationId xmlns:a16="http://schemas.microsoft.com/office/drawing/2014/main" id="{3B120CB9-562B-E3C6-8732-798F42CAD798}"/>
              </a:ext>
            </a:extLst>
          </p:cNvPr>
          <p:cNvPicPr>
            <a:picLocks noChangeAspect="1"/>
          </p:cNvPicPr>
          <p:nvPr/>
        </p:nvPicPr>
        <p:blipFill>
          <a:blip r:embed="rId5"/>
          <a:stretch>
            <a:fillRect/>
          </a:stretch>
        </p:blipFill>
        <p:spPr>
          <a:xfrm>
            <a:off x="-68659" y="4933731"/>
            <a:ext cx="2599875" cy="1559925"/>
          </a:xfrm>
          <a:prstGeom prst="rect">
            <a:avLst/>
          </a:prstGeom>
        </p:spPr>
      </p:pic>
      <p:sp>
        <p:nvSpPr>
          <p:cNvPr id="5" name="Title 4">
            <a:extLst>
              <a:ext uri="{FF2B5EF4-FFF2-40B4-BE49-F238E27FC236}">
                <a16:creationId xmlns:a16="http://schemas.microsoft.com/office/drawing/2014/main" id="{1D80173B-99B7-3FFA-4B9A-178BEC34C0D1}"/>
              </a:ext>
            </a:extLst>
          </p:cNvPr>
          <p:cNvSpPr>
            <a:spLocks noGrp="1"/>
          </p:cNvSpPr>
          <p:nvPr>
            <p:ph type="title"/>
          </p:nvPr>
        </p:nvSpPr>
        <p:spPr>
          <a:xfrm>
            <a:off x="809831" y="322081"/>
            <a:ext cx="8371113" cy="714412"/>
          </a:xfrm>
        </p:spPr>
        <p:txBody>
          <a:bodyPr/>
          <a:lstStyle/>
          <a:p>
            <a:r>
              <a:rPr lang="en-US" dirty="0"/>
              <a:t>ACME suggests modest refinements to </a:t>
            </a:r>
            <a:r>
              <a:rPr lang="en-US" dirty="0" err="1"/>
              <a:t>Goofy’s</a:t>
            </a:r>
            <a:r>
              <a:rPr lang="en-US" dirty="0"/>
              <a:t> peer screening criteria given </a:t>
            </a:r>
            <a:r>
              <a:rPr lang="en-US" dirty="0" err="1"/>
              <a:t>Goofy’s</a:t>
            </a:r>
            <a:r>
              <a:rPr lang="en-US" dirty="0"/>
              <a:t> growth and strategic developments</a:t>
            </a:r>
          </a:p>
        </p:txBody>
      </p:sp>
      <p:sp>
        <p:nvSpPr>
          <p:cNvPr id="4" name="Slide Number Placeholder 3">
            <a:extLst>
              <a:ext uri="{FF2B5EF4-FFF2-40B4-BE49-F238E27FC236}">
                <a16:creationId xmlns:a16="http://schemas.microsoft.com/office/drawing/2014/main" id="{1475A184-FA06-5679-0726-2652689F8E96}"/>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4</a:t>
            </a:fld>
            <a:endParaRPr lang="en-US"/>
          </a:p>
        </p:txBody>
      </p:sp>
      <p:sp>
        <p:nvSpPr>
          <p:cNvPr id="24" name="Rectangle 23">
            <a:extLst>
              <a:ext uri="{FF2B5EF4-FFF2-40B4-BE49-F238E27FC236}">
                <a16:creationId xmlns:a16="http://schemas.microsoft.com/office/drawing/2014/main" id="{2014A3EE-E93F-68CB-9055-39A44765EA98}"/>
              </a:ext>
            </a:extLst>
          </p:cNvPr>
          <p:cNvSpPr/>
          <p:nvPr/>
        </p:nvSpPr>
        <p:spPr>
          <a:xfrm>
            <a:off x="2550900" y="2827913"/>
            <a:ext cx="2444688" cy="1793163"/>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Expanding Recurring Revenue Base</a:t>
            </a:r>
          </a:p>
          <a:p>
            <a:pPr>
              <a:lnSpc>
                <a:spcPct val="85000"/>
              </a:lnSpc>
            </a:pPr>
            <a:endParaRPr lang="en-US" sz="1100">
              <a:solidFill>
                <a:schemeClr val="tx1"/>
              </a:solidFill>
            </a:endParaRPr>
          </a:p>
          <a:p>
            <a:pPr marL="58737">
              <a:lnSpc>
                <a:spcPct val="85000"/>
              </a:lnSpc>
            </a:pPr>
            <a:endParaRPr lang="en-US" sz="1100" b="1">
              <a:solidFill>
                <a:schemeClr val="tx1"/>
              </a:solidFill>
            </a:endParaRPr>
          </a:p>
          <a:p>
            <a:pPr algn="ctr">
              <a:lnSpc>
                <a:spcPct val="85000"/>
              </a:lnSpc>
            </a:pPr>
            <a:endParaRPr lang="en-US" sz="1100" b="1">
              <a:solidFill>
                <a:schemeClr val="tx1"/>
              </a:solidFill>
            </a:endParaRPr>
          </a:p>
        </p:txBody>
      </p:sp>
      <p:sp>
        <p:nvSpPr>
          <p:cNvPr id="26" name="Rectangle 25">
            <a:extLst>
              <a:ext uri="{FF2B5EF4-FFF2-40B4-BE49-F238E27FC236}">
                <a16:creationId xmlns:a16="http://schemas.microsoft.com/office/drawing/2014/main" id="{4582D3BC-192F-3023-BC5B-9CF37E61F042}"/>
              </a:ext>
            </a:extLst>
          </p:cNvPr>
          <p:cNvSpPr/>
          <p:nvPr/>
        </p:nvSpPr>
        <p:spPr>
          <a:xfrm>
            <a:off x="59256" y="4680716"/>
            <a:ext cx="2444688" cy="1708345"/>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a:solidFill>
                  <a:schemeClr val="tx1"/>
                </a:solidFill>
              </a:rPr>
              <a:t>Meaningful International Presence</a:t>
            </a:r>
          </a:p>
          <a:p>
            <a:pPr algn="ctr">
              <a:lnSpc>
                <a:spcPct val="85000"/>
              </a:lnSpc>
            </a:pPr>
            <a:r>
              <a:rPr lang="en-US" sz="1100" b="1" dirty="0">
                <a:solidFill>
                  <a:schemeClr val="tx1"/>
                </a:solidFill>
              </a:rPr>
              <a:t>FY25 Revenue</a:t>
            </a:r>
          </a:p>
          <a:p>
            <a:pPr algn="ctr">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graphicFrame>
        <p:nvGraphicFramePr>
          <p:cNvPr id="27" name="Table 26">
            <a:extLst>
              <a:ext uri="{FF2B5EF4-FFF2-40B4-BE49-F238E27FC236}">
                <a16:creationId xmlns:a16="http://schemas.microsoft.com/office/drawing/2014/main" id="{87AAC210-10C4-B213-0534-7AA783E76751}"/>
              </a:ext>
            </a:extLst>
          </p:cNvPr>
          <p:cNvGraphicFramePr>
            <a:graphicFrameLocks noGrp="1"/>
          </p:cNvGraphicFramePr>
          <p:nvPr>
            <p:extLst>
              <p:ext uri="{D42A27DB-BD31-4B8C-83A1-F6EECF244321}">
                <p14:modId xmlns:p14="http://schemas.microsoft.com/office/powerpoint/2010/main" val="3083835501"/>
              </p:ext>
            </p:extLst>
          </p:nvPr>
        </p:nvGraphicFramePr>
        <p:xfrm>
          <a:off x="5087306" y="1838584"/>
          <a:ext cx="3989586" cy="4434840"/>
        </p:xfrm>
        <a:graphic>
          <a:graphicData uri="http://schemas.openxmlformats.org/drawingml/2006/table">
            <a:tbl>
              <a:tblPr firstRow="1" bandRow="1">
                <a:tableStyleId>{A77E1047-C769-4665-AFDC-4AF39A3502B1}</a:tableStyleId>
              </a:tblPr>
              <a:tblGrid>
                <a:gridCol w="772242">
                  <a:extLst>
                    <a:ext uri="{9D8B030D-6E8A-4147-A177-3AD203B41FA5}">
                      <a16:colId xmlns:a16="http://schemas.microsoft.com/office/drawing/2014/main" val="2703726966"/>
                    </a:ext>
                  </a:extLst>
                </a:gridCol>
                <a:gridCol w="1301750">
                  <a:extLst>
                    <a:ext uri="{9D8B030D-6E8A-4147-A177-3AD203B41FA5}">
                      <a16:colId xmlns:a16="http://schemas.microsoft.com/office/drawing/2014/main" val="3757828032"/>
                    </a:ext>
                  </a:extLst>
                </a:gridCol>
                <a:gridCol w="1915594">
                  <a:extLst>
                    <a:ext uri="{9D8B030D-6E8A-4147-A177-3AD203B41FA5}">
                      <a16:colId xmlns:a16="http://schemas.microsoft.com/office/drawing/2014/main" val="189718360"/>
                    </a:ext>
                  </a:extLst>
                </a:gridCol>
              </a:tblGrid>
              <a:tr h="182880">
                <a:tc>
                  <a:txBody>
                    <a:bodyPr/>
                    <a:lstStyle/>
                    <a:p>
                      <a:pPr algn="ctr"/>
                      <a:r>
                        <a:rPr lang="en-US" sz="800" dirty="0"/>
                        <a:t>Characteristic</a:t>
                      </a:r>
                    </a:p>
                  </a:txBody>
                  <a:tcPr marL="9144" marR="9144" marT="9144" marB="9144" anchor="b">
                    <a:lnL w="6350" cap="flat" cmpd="sng" algn="ctr">
                      <a:no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000" dirty="0"/>
                        <a:t>Goofy</a:t>
                      </a:r>
                    </a:p>
                  </a:txBody>
                  <a:tcPr marL="9144" marR="9144" marT="9144" marB="9144" anchor="b">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1000" dirty="0"/>
                        <a:t>Criteria </a:t>
                      </a:r>
                    </a:p>
                  </a:txBody>
                  <a:tcPr marL="9144" marR="9144" marT="9144" marB="9144" anchor="b">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457200">
                <a:tc>
                  <a:txBody>
                    <a:bodyPr/>
                    <a:lstStyle/>
                    <a:p>
                      <a:pPr>
                        <a:lnSpc>
                          <a:spcPct val="90000"/>
                        </a:lnSpc>
                      </a:pPr>
                      <a:r>
                        <a:rPr lang="en-US" sz="1000" b="1" dirty="0"/>
                        <a:t>Size</a:t>
                      </a:r>
                    </a:p>
                  </a:txBody>
                  <a:tcPr marL="27432" marR="27432" marT="9144" marB="9144">
                    <a:lnL w="6350" cap="flat" cmpd="sng" algn="ctr">
                      <a:noFill/>
                      <a:prstDash val="solid"/>
                      <a:round/>
                      <a:headEnd type="none" w="med" len="med"/>
                      <a:tailEnd type="none" w="med" len="med"/>
                    </a:lnL>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19063" indent="-119063">
                        <a:lnSpc>
                          <a:spcPct val="90000"/>
                        </a:lnSpc>
                        <a:buFont typeface="Wingdings" panose="05000000000000000000" pitchFamily="2" charset="2"/>
                        <a:buChar char="§"/>
                      </a:pPr>
                      <a:r>
                        <a:rPr lang="en-US" sz="1000" dirty="0">
                          <a:solidFill>
                            <a:schemeClr val="tx1"/>
                          </a:solidFill>
                          <a:latin typeface="+mj-lt"/>
                        </a:rPr>
                        <a:t>FY26 projected revenue: $4.6B - $4.7B </a:t>
                      </a:r>
                    </a:p>
                  </a:txBody>
                  <a:tcPr marL="27432" marR="27432" marT="9144" marB="9144">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US" sz="1000" b="0" i="0" u="none" strike="noStrike" kern="0" cap="none" spc="0" normalizeH="0" baseline="0" noProof="0" dirty="0">
                          <a:ln>
                            <a:noFill/>
                          </a:ln>
                          <a:effectLst/>
                          <a:uLnTx/>
                          <a:uFillTx/>
                        </a:rPr>
                        <a:t>~1/3x to 3x</a:t>
                      </a:r>
                      <a:r>
                        <a:rPr kumimoji="0" lang="en-US" sz="1000" b="0" i="0" u="none" strike="noStrike" kern="0" cap="none" spc="0" normalizeH="0" baseline="0" noProof="0" dirty="0">
                          <a:ln>
                            <a:noFill/>
                          </a:ln>
                          <a:solidFill>
                            <a:prstClr val="black"/>
                          </a:solidFill>
                          <a:effectLst/>
                          <a:uLnTx/>
                          <a:uFillTx/>
                        </a:rPr>
                        <a:t> </a:t>
                      </a:r>
                      <a:r>
                        <a:rPr kumimoji="0" lang="en-US" sz="1000" b="0" i="0" u="none" strike="noStrike" kern="0" cap="none" spc="0" normalizeH="0" baseline="0" noProof="0" dirty="0" err="1">
                          <a:ln>
                            <a:noFill/>
                          </a:ln>
                          <a:solidFill>
                            <a:prstClr val="black"/>
                          </a:solidFill>
                          <a:effectLst/>
                          <a:uLnTx/>
                          <a:uFillTx/>
                        </a:rPr>
                        <a:t>Goofy’s</a:t>
                      </a:r>
                      <a:r>
                        <a:rPr kumimoji="0" lang="en-US" sz="1000" b="0" i="0" u="none" strike="noStrike" kern="0" cap="none" spc="0" normalizeH="0" baseline="0" noProof="0" dirty="0">
                          <a:ln>
                            <a:noFill/>
                          </a:ln>
                          <a:solidFill>
                            <a:prstClr val="black"/>
                          </a:solidFill>
                          <a:effectLst/>
                          <a:uLnTx/>
                          <a:uFillTx/>
                        </a:rPr>
                        <a:t> revenue </a:t>
                      </a:r>
                      <a:r>
                        <a:rPr kumimoji="0" lang="en-US" sz="1000" b="0" i="0" u="none" strike="noStrike" kern="0" cap="none" spc="0" normalizeH="0" baseline="0" noProof="0" dirty="0">
                          <a:ln>
                            <a:noFill/>
                          </a:ln>
                          <a:solidFill>
                            <a:schemeClr val="tx1"/>
                          </a:solidFill>
                          <a:effectLst/>
                          <a:uLnTx/>
                          <a:uFillTx/>
                        </a:rPr>
                        <a:t>(</a:t>
                      </a:r>
                      <a:r>
                        <a:rPr kumimoji="0" lang="en-US" sz="1000" b="0" i="0" u="none" strike="noStrike" kern="0" cap="none" spc="0" normalizeH="0" baseline="0" noProof="0" dirty="0">
                          <a:ln>
                            <a:noFill/>
                          </a:ln>
                          <a:solidFill>
                            <a:srgbClr val="FF0000"/>
                          </a:solidFill>
                          <a:effectLst/>
                          <a:uLnTx/>
                          <a:uFillTx/>
                        </a:rPr>
                        <a:t>~</a:t>
                      </a:r>
                      <a:r>
                        <a:rPr kumimoji="0" lang="en-US" sz="1000" b="1" i="0" u="none" strike="noStrike" kern="0" cap="none" spc="0" normalizeH="0" baseline="0" noProof="0" dirty="0">
                          <a:ln>
                            <a:noFill/>
                          </a:ln>
                          <a:solidFill>
                            <a:srgbClr val="FF0000"/>
                          </a:solidFill>
                          <a:effectLst/>
                          <a:uLnTx/>
                          <a:uFillTx/>
                        </a:rPr>
                        <a:t>$1.5B </a:t>
                      </a:r>
                      <a:r>
                        <a:rPr kumimoji="0" lang="en-US" sz="1000" b="0" i="0" u="none" strike="noStrike" kern="0" cap="none" spc="0" normalizeH="0" baseline="0" noProof="0" dirty="0">
                          <a:ln>
                            <a:noFill/>
                          </a:ln>
                          <a:effectLst/>
                          <a:uLnTx/>
                          <a:uFillTx/>
                        </a:rPr>
                        <a:t>to </a:t>
                      </a:r>
                      <a:r>
                        <a:rPr kumimoji="0" lang="en-US" sz="1000" b="1" i="0" u="none" strike="noStrike" kern="0" cap="none" spc="0" normalizeH="0" baseline="0" noProof="0" dirty="0">
                          <a:ln>
                            <a:noFill/>
                          </a:ln>
                          <a:solidFill>
                            <a:srgbClr val="FF0000"/>
                          </a:solidFill>
                          <a:effectLst/>
                          <a:uLnTx/>
                          <a:uFillTx/>
                        </a:rPr>
                        <a:t>~$14.0B</a:t>
                      </a:r>
                      <a:r>
                        <a:rPr kumimoji="0" lang="en-US" sz="1000" b="0" i="0" u="none" strike="noStrike" kern="0" cap="none" spc="0" normalizeH="0" baseline="0" noProof="0" dirty="0">
                          <a:ln>
                            <a:noFill/>
                          </a:ln>
                          <a:effectLst/>
                          <a:uLnTx/>
                          <a:uFillTx/>
                        </a:rPr>
                        <a:t>) </a:t>
                      </a:r>
                      <a:r>
                        <a:rPr kumimoji="0" lang="en-US" sz="1000" b="0" i="1" u="none" strike="noStrike" kern="0" cap="none" spc="0" normalizeH="0" baseline="0" noProof="0" dirty="0">
                          <a:ln>
                            <a:noFill/>
                          </a:ln>
                          <a:solidFill>
                            <a:srgbClr val="FF0000"/>
                          </a:solidFill>
                          <a:effectLst/>
                          <a:uLnTx/>
                          <a:uFillTx/>
                        </a:rPr>
                        <a:t>(vs. ~$1B to ~$12B)</a:t>
                      </a:r>
                      <a:endParaRPr kumimoji="0" lang="en-US" sz="1000" b="0" i="1" u="none" strike="noStrike" kern="0" cap="none" spc="0" normalizeH="0" baseline="30000" noProof="0" dirty="0">
                        <a:ln>
                          <a:noFill/>
                        </a:ln>
                        <a:solidFill>
                          <a:srgbClr val="FF0000"/>
                        </a:solidFill>
                        <a:effectLst/>
                        <a:uLnTx/>
                        <a:uFillTx/>
                      </a:endParaRPr>
                    </a:p>
                  </a:txBody>
                  <a:tcPr marL="27432" marR="27432" marT="9144" marB="9144">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97875923"/>
                  </a:ext>
                </a:extLst>
              </a:tr>
              <a:tr h="914400">
                <a:tc>
                  <a:txBody>
                    <a:bodyPr/>
                    <a:lstStyle/>
                    <a:p>
                      <a:pPr>
                        <a:lnSpc>
                          <a:spcPct val="90000"/>
                        </a:lnSpc>
                      </a:pPr>
                      <a:r>
                        <a:rPr lang="en-US" sz="1000" b="1"/>
                        <a:t>Sector</a:t>
                      </a:r>
                    </a:p>
                  </a:txBody>
                  <a:tcPr marL="27432" marR="27432" marT="9144" marB="9144">
                    <a:lnL w="635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marL="119063" indent="-119063">
                        <a:lnSpc>
                          <a:spcPct val="90000"/>
                        </a:lnSpc>
                        <a:buFont typeface="Wingdings" panose="05000000000000000000" pitchFamily="2" charset="2"/>
                        <a:buChar char="§"/>
                      </a:pPr>
                      <a:r>
                        <a:rPr lang="en-US" sz="1000" dirty="0">
                          <a:solidFill>
                            <a:schemeClr val="tx1"/>
                          </a:solidFill>
                          <a:latin typeface="+mj-lt"/>
                        </a:rPr>
                        <a:t>Healthcare Equipment</a:t>
                      </a:r>
                    </a:p>
                    <a:p>
                      <a:pPr marL="119063" indent="-119063">
                        <a:lnSpc>
                          <a:spcPct val="90000"/>
                        </a:lnSpc>
                        <a:buFont typeface="Wingdings" panose="05000000000000000000" pitchFamily="2" charset="2"/>
                        <a:buChar char="§"/>
                      </a:pPr>
                      <a:r>
                        <a:rPr lang="en-US" sz="1000" dirty="0">
                          <a:solidFill>
                            <a:schemeClr val="tx1"/>
                          </a:solidFill>
                          <a:latin typeface="+mj-lt"/>
                        </a:rPr>
                        <a:t>Animal-related</a:t>
                      </a:r>
                    </a:p>
                  </a:txBody>
                  <a:tcPr marL="27432" marR="27432" marT="9144" marB="9144">
                    <a:lnT w="12700" cap="flat" cmpd="sng" algn="ctr">
                      <a:noFill/>
                      <a:prstDash val="solid"/>
                      <a:round/>
                      <a:headEnd type="none" w="med" len="med"/>
                      <a:tailEnd type="none" w="med" len="med"/>
                    </a:lnT>
                  </a:tcPr>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Healthcare Equip. &amp; Supplies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Healthcare Providers &amp; Svcs.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Pharmaceuticals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Life Sciences Tools &amp; Svcs.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Healthcare Tech</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Biotechnology</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Animal-related</a:t>
                      </a:r>
                    </a:p>
                  </a:txBody>
                  <a:tcPr marL="27432" marR="27432" marT="9144" marB="9144">
                    <a:lnR w="635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393829882"/>
                  </a:ext>
                </a:extLst>
              </a:tr>
              <a:tr h="548640">
                <a:tc>
                  <a:txBody>
                    <a:bodyPr/>
                    <a:lstStyle/>
                    <a:p>
                      <a:pPr>
                        <a:lnSpc>
                          <a:spcPct val="90000"/>
                        </a:lnSpc>
                      </a:pPr>
                      <a:r>
                        <a:rPr lang="en-US" sz="1000" b="1"/>
                        <a:t>Customer</a:t>
                      </a:r>
                    </a:p>
                  </a:txBody>
                  <a:tcPr marL="27432" marR="27432" marT="9144" marB="9144">
                    <a:lnL w="6350" cap="flat" cmpd="sng" algn="ctr">
                      <a:noFill/>
                      <a:prstDash val="solid"/>
                      <a:round/>
                      <a:headEnd type="none" w="med" len="med"/>
                      <a:tailEnd type="none" w="med" len="med"/>
                    </a:lnL>
                  </a:tcPr>
                </a:tc>
                <a:tc>
                  <a:txBody>
                    <a:bodyPr/>
                    <a:lstStyle/>
                    <a:p>
                      <a:pPr marL="119063" indent="-119063">
                        <a:lnSpc>
                          <a:spcPct val="90000"/>
                        </a:lnSpc>
                        <a:buFont typeface="Wingdings" panose="05000000000000000000" pitchFamily="2" charset="2"/>
                        <a:buChar char="§"/>
                      </a:pPr>
                      <a:r>
                        <a:rPr lang="en-US" sz="1000" dirty="0">
                          <a:solidFill>
                            <a:schemeClr val="tx1"/>
                          </a:solidFill>
                          <a:latin typeface="+mj-lt"/>
                        </a:rPr>
                        <a:t>B2B, </a:t>
                      </a:r>
                      <a:r>
                        <a:rPr lang="en-US" sz="1000" b="0" dirty="0">
                          <a:solidFill>
                            <a:schemeClr val="tx1"/>
                          </a:solidFill>
                          <a:latin typeface="+mj-lt"/>
                        </a:rPr>
                        <a:t>with targeted B2B2C and B2C engagement</a:t>
                      </a:r>
                    </a:p>
                    <a:p>
                      <a:pPr marL="119063" indent="-119063">
                        <a:lnSpc>
                          <a:spcPct val="90000"/>
                        </a:lnSpc>
                        <a:buFont typeface="Wingdings" panose="05000000000000000000" pitchFamily="2" charset="2"/>
                        <a:buChar char="§"/>
                      </a:pPr>
                      <a:r>
                        <a:rPr lang="en-US" sz="1000" dirty="0">
                          <a:solidFill>
                            <a:schemeClr val="tx1"/>
                          </a:solidFill>
                          <a:latin typeface="+mj-lt"/>
                        </a:rPr>
                        <a:t>36% international</a:t>
                      </a:r>
                    </a:p>
                  </a:txBody>
                  <a:tcPr marL="27432" marR="27432" marT="9144" marB="9144"/>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B2B; </a:t>
                      </a:r>
                      <a:r>
                        <a:rPr lang="en-US" sz="1000" b="1">
                          <a:solidFill>
                            <a:srgbClr val="FF0000"/>
                          </a:solidFill>
                        </a:rPr>
                        <a:t>B2C a plus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&gt;30% international or </a:t>
                      </a:r>
                      <a:r>
                        <a:rPr lang="en-US" sz="1000" u="sng">
                          <a:solidFill>
                            <a:schemeClr val="tx1"/>
                          </a:solidFill>
                        </a:rPr>
                        <a:t>&gt;</a:t>
                      </a:r>
                      <a:r>
                        <a:rPr lang="en-US" sz="1000">
                          <a:solidFill>
                            <a:schemeClr val="tx1"/>
                          </a:solidFill>
                        </a:rPr>
                        <a:t>10% international CAGR</a:t>
                      </a:r>
                    </a:p>
                  </a:txBody>
                  <a:tcPr marL="27432" marR="27432" marT="9144" marB="9144">
                    <a:lnR w="6350" cap="flat" cmpd="sng" algn="ctr">
                      <a:noFill/>
                      <a:prstDash val="solid"/>
                      <a:round/>
                      <a:headEnd type="none" w="med" len="med"/>
                      <a:tailEnd type="none" w="med" len="med"/>
                    </a:lnR>
                  </a:tcPr>
                </a:tc>
                <a:extLst>
                  <a:ext uri="{0D108BD9-81ED-4DB2-BD59-A6C34878D82A}">
                    <a16:rowId xmlns:a16="http://schemas.microsoft.com/office/drawing/2014/main" val="3543477626"/>
                  </a:ext>
                </a:extLst>
              </a:tr>
              <a:tr h="1097280">
                <a:tc>
                  <a:txBody>
                    <a:bodyPr/>
                    <a:lstStyle/>
                    <a:p>
                      <a:pPr>
                        <a:lnSpc>
                          <a:spcPct val="90000"/>
                        </a:lnSpc>
                      </a:pPr>
                      <a:r>
                        <a:rPr lang="en-US" sz="1000" b="1"/>
                        <a:t>Products/ Services</a:t>
                      </a:r>
                    </a:p>
                  </a:txBody>
                  <a:tcPr marL="27432" marR="27432" marT="9144" marB="9144">
                    <a:lnL w="6350" cap="flat" cmpd="sng" algn="ctr">
                      <a:noFill/>
                      <a:prstDash val="solid"/>
                      <a:round/>
                      <a:headEnd type="none" w="med" len="med"/>
                      <a:tailEnd type="none" w="med" len="med"/>
                    </a:lnL>
                  </a:tcPr>
                </a:tc>
                <a:tc>
                  <a:txBody>
                    <a:bodyPr/>
                    <a:lstStyle/>
                    <a:p>
                      <a:pPr marL="119063" indent="-119063">
                        <a:lnSpc>
                          <a:spcPct val="90000"/>
                        </a:lnSpc>
                        <a:buFont typeface="Wingdings" panose="05000000000000000000" pitchFamily="2" charset="2"/>
                        <a:buChar char="§"/>
                      </a:pPr>
                      <a:r>
                        <a:rPr lang="en-US" sz="1000">
                          <a:solidFill>
                            <a:schemeClr val="tx1"/>
                          </a:solidFill>
                          <a:latin typeface="+mj-lt"/>
                        </a:rPr>
                        <a:t>Strong proprietary installed base generating recurring revenue</a:t>
                      </a:r>
                    </a:p>
                    <a:p>
                      <a:pPr marL="119063" indent="-119063">
                        <a:lnSpc>
                          <a:spcPct val="90000"/>
                        </a:lnSpc>
                        <a:buFont typeface="Wingdings" panose="05000000000000000000" pitchFamily="2" charset="2"/>
                        <a:buChar char="§"/>
                      </a:pPr>
                      <a:r>
                        <a:rPr lang="en-US" sz="1000" strike="noStrike">
                          <a:solidFill>
                            <a:schemeClr val="tx1"/>
                          </a:solidFill>
                          <a:latin typeface="+mj-lt"/>
                        </a:rPr>
                        <a:t>Vertical SaaS and AI enablement</a:t>
                      </a:r>
                      <a:endParaRPr lang="en-US" sz="1000">
                        <a:solidFill>
                          <a:schemeClr val="tx1"/>
                        </a:solidFill>
                        <a:latin typeface="+mj-lt"/>
                      </a:endParaRPr>
                    </a:p>
                    <a:p>
                      <a:pPr marL="119063" indent="-119063">
                        <a:lnSpc>
                          <a:spcPct val="90000"/>
                        </a:lnSpc>
                        <a:buFont typeface="Wingdings" panose="05000000000000000000" pitchFamily="2" charset="2"/>
                        <a:buChar char="§"/>
                      </a:pPr>
                      <a:r>
                        <a:rPr lang="en-US" sz="1000">
                          <a:solidFill>
                            <a:schemeClr val="tx1"/>
                          </a:solidFill>
                          <a:latin typeface="+mj-lt"/>
                        </a:rPr>
                        <a:t>Integrated solution set</a:t>
                      </a:r>
                    </a:p>
                    <a:p>
                      <a:pPr marL="119063" indent="-119063">
                        <a:lnSpc>
                          <a:spcPct val="90000"/>
                        </a:lnSpc>
                        <a:buFont typeface="Wingdings" panose="05000000000000000000" pitchFamily="2" charset="2"/>
                        <a:buChar char="§"/>
                      </a:pPr>
                      <a:r>
                        <a:rPr lang="en-US" sz="1000">
                          <a:solidFill>
                            <a:schemeClr val="tx1"/>
                          </a:solidFill>
                          <a:latin typeface="+mj-lt"/>
                        </a:rPr>
                        <a:t>Diagnostics</a:t>
                      </a:r>
                      <a:endParaRPr lang="en-US" sz="1000">
                        <a:solidFill>
                          <a:srgbClr val="FF0000"/>
                        </a:solidFill>
                        <a:latin typeface="+mj-lt"/>
                      </a:endParaRPr>
                    </a:p>
                  </a:txBody>
                  <a:tcPr marL="27432" marR="27432" marT="9144" marB="9144"/>
                </a:tc>
                <a:tc>
                  <a:txBody>
                    <a:bodyPr/>
                    <a:lstStyle/>
                    <a:p>
                      <a:pPr marL="114300" marR="0" lvl="0" indent="-114300" algn="l" defTabSz="914378" rtl="0" eaLnBrk="1" fontAlgn="auto" latinLnBrk="0" hangingPunct="1">
                        <a:lnSpc>
                          <a:spcPct val="90000"/>
                        </a:lnSpc>
                        <a:spcBef>
                          <a:spcPts val="0"/>
                        </a:spcBef>
                        <a:spcAft>
                          <a:spcPts val="0"/>
                        </a:spcAft>
                        <a:buClrTx/>
                        <a:buSzTx/>
                        <a:buFont typeface="Wingdings" panose="05000000000000000000" pitchFamily="2" charset="2"/>
                        <a:buChar char="ü"/>
                        <a:tabLst/>
                        <a:defRPr/>
                      </a:pPr>
                      <a:r>
                        <a:rPr lang="en-US" sz="1000" b="1">
                          <a:solidFill>
                            <a:schemeClr val="accent2">
                              <a:lumMod val="50000"/>
                            </a:schemeClr>
                          </a:solidFill>
                        </a:rPr>
                        <a:t>Proprietary product or consumables</a:t>
                      </a:r>
                      <a:r>
                        <a:rPr lang="en-US" sz="1000">
                          <a:solidFill>
                            <a:schemeClr val="accent2">
                              <a:lumMod val="50000"/>
                            </a:schemeClr>
                          </a:solidFill>
                        </a:rPr>
                        <a:t> </a:t>
                      </a:r>
                      <a:r>
                        <a:rPr lang="en-US" sz="1000" i="1">
                          <a:solidFill>
                            <a:srgbClr val="FF0000"/>
                          </a:solidFill>
                        </a:rPr>
                        <a:t>(vs. hardware offering)</a:t>
                      </a:r>
                    </a:p>
                    <a:p>
                      <a:pPr marL="114300" marR="0" lvl="0" indent="-114300" algn="l" defTabSz="914378" rtl="0" eaLnBrk="1" fontAlgn="auto" latinLnBrk="0" hangingPunct="1">
                        <a:lnSpc>
                          <a:spcPct val="90000"/>
                        </a:lnSpc>
                        <a:spcBef>
                          <a:spcPts val="0"/>
                        </a:spcBef>
                        <a:spcAft>
                          <a:spcPts val="0"/>
                        </a:spcAft>
                        <a:buClrTx/>
                        <a:buSzTx/>
                        <a:buFont typeface="Wingdings" panose="05000000000000000000" pitchFamily="2" charset="2"/>
                        <a:buChar char="ü"/>
                        <a:tabLst/>
                        <a:defRPr/>
                      </a:pPr>
                      <a:r>
                        <a:rPr lang="en-US" sz="1000" b="1">
                          <a:solidFill>
                            <a:schemeClr val="accent2">
                              <a:lumMod val="50000"/>
                            </a:schemeClr>
                          </a:solidFill>
                        </a:rPr>
                        <a:t>Integrated platforms</a:t>
                      </a:r>
                      <a:r>
                        <a:rPr lang="en-US" sz="1000" b="1" i="0">
                          <a:solidFill>
                            <a:schemeClr val="accent2">
                              <a:lumMod val="50000"/>
                            </a:schemeClr>
                          </a:solidFill>
                        </a:rPr>
                        <a:t>, e.g., customer mgmt, diagnostics, invoicing, etc.</a:t>
                      </a:r>
                      <a:r>
                        <a:rPr lang="en-US" sz="1000">
                          <a:solidFill>
                            <a:schemeClr val="accent2">
                              <a:lumMod val="50000"/>
                            </a:schemeClr>
                          </a:solidFill>
                        </a:rPr>
                        <a:t> </a:t>
                      </a:r>
                      <a:r>
                        <a:rPr lang="en-US" sz="1000">
                          <a:solidFill>
                            <a:srgbClr val="FF0000"/>
                          </a:solidFill>
                        </a:rPr>
                        <a:t>(</a:t>
                      </a:r>
                      <a:r>
                        <a:rPr lang="en-US" sz="1000" i="1">
                          <a:solidFill>
                            <a:srgbClr val="FF0000"/>
                          </a:solidFill>
                        </a:rPr>
                        <a:t>vs. software only)</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rPr>
                        <a:t>Diagnostics</a:t>
                      </a:r>
                    </a:p>
                  </a:txBody>
                  <a:tcPr marL="27432" marR="27432" marT="9144" marB="9144">
                    <a:lnR w="6350" cap="flat" cmpd="sng" algn="ctr">
                      <a:noFill/>
                      <a:prstDash val="solid"/>
                      <a:round/>
                      <a:headEnd type="none" w="med" len="med"/>
                      <a:tailEnd type="none" w="med" len="med"/>
                    </a:lnR>
                  </a:tcPr>
                </a:tc>
                <a:extLst>
                  <a:ext uri="{0D108BD9-81ED-4DB2-BD59-A6C34878D82A}">
                    <a16:rowId xmlns:a16="http://schemas.microsoft.com/office/drawing/2014/main" val="2041730926"/>
                  </a:ext>
                </a:extLst>
              </a:tr>
              <a:tr h="274320">
                <a:tc>
                  <a:txBody>
                    <a:bodyPr/>
                    <a:lstStyle/>
                    <a:p>
                      <a:pPr>
                        <a:lnSpc>
                          <a:spcPct val="90000"/>
                        </a:lnSpc>
                      </a:pPr>
                      <a:r>
                        <a:rPr lang="en-US" sz="1000" b="1"/>
                        <a:t>Financial Health</a:t>
                      </a:r>
                    </a:p>
                  </a:txBody>
                  <a:tcPr marL="27432" marR="27432" marT="9144" marB="9144">
                    <a:lnL w="6350" cap="flat" cmpd="sng" algn="ctr">
                      <a:noFill/>
                      <a:prstDash val="solid"/>
                      <a:round/>
                      <a:headEnd type="none" w="med" len="med"/>
                      <a:tailEnd type="none" w="med" len="med"/>
                    </a:lnL>
                  </a:tcPr>
                </a:tc>
                <a:tc>
                  <a:txBody>
                    <a:bodyPr/>
                    <a:lstStyle/>
                    <a:p>
                      <a:pPr marL="119063" indent="-119063">
                        <a:lnSpc>
                          <a:spcPct val="90000"/>
                        </a:lnSpc>
                        <a:buFont typeface="Wingdings" panose="05000000000000000000" pitchFamily="2" charset="2"/>
                        <a:buChar char="§"/>
                      </a:pPr>
                      <a:r>
                        <a:rPr lang="en-US" sz="1000">
                          <a:solidFill>
                            <a:schemeClr val="tx1"/>
                          </a:solidFill>
                          <a:latin typeface="+mj-lt"/>
                        </a:rPr>
                        <a:t>Strong financial performance</a:t>
                      </a:r>
                    </a:p>
                  </a:txBody>
                  <a:tcPr marL="27432" marR="27432" marT="9144" marB="9144"/>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b="1">
                          <a:solidFill>
                            <a:srgbClr val="FF0000"/>
                          </a:solidFill>
                        </a:rPr>
                        <a:t>Financial viability, i.e., no material concerns</a:t>
                      </a:r>
                    </a:p>
                  </a:txBody>
                  <a:tcPr marL="27432" marR="27432" marT="9144" marB="9144">
                    <a:lnR w="6350" cap="flat" cmpd="sng" algn="ctr">
                      <a:noFill/>
                      <a:prstDash val="solid"/>
                      <a:round/>
                      <a:headEnd type="none" w="med" len="med"/>
                      <a:tailEnd type="none" w="med" len="med"/>
                    </a:lnR>
                  </a:tcPr>
                </a:tc>
                <a:extLst>
                  <a:ext uri="{0D108BD9-81ED-4DB2-BD59-A6C34878D82A}">
                    <a16:rowId xmlns:a16="http://schemas.microsoft.com/office/drawing/2014/main" val="3419831157"/>
                  </a:ext>
                </a:extLst>
              </a:tr>
              <a:tr h="0">
                <a:tc>
                  <a:txBody>
                    <a:bodyPr/>
                    <a:lstStyle/>
                    <a:p>
                      <a:pPr>
                        <a:lnSpc>
                          <a:spcPct val="90000"/>
                        </a:lnSpc>
                      </a:pPr>
                      <a:r>
                        <a:rPr lang="en-US" sz="1000" b="1"/>
                        <a:t>Business Model</a:t>
                      </a:r>
                    </a:p>
                  </a:txBody>
                  <a:tcPr marL="27432" marR="27432" marT="9144" marB="9144">
                    <a:lnL w="635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marL="119063" indent="-119063">
                        <a:lnSpc>
                          <a:spcPct val="90000"/>
                        </a:lnSpc>
                        <a:buFont typeface="Wingdings" panose="05000000000000000000" pitchFamily="2" charset="2"/>
                        <a:buChar char="§"/>
                      </a:pPr>
                      <a:r>
                        <a:rPr lang="en-US" sz="1000">
                          <a:solidFill>
                            <a:schemeClr val="tx1"/>
                          </a:solidFill>
                          <a:latin typeface="+mj-lt"/>
                        </a:rPr>
                        <a:t>Direct sales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a:solidFill>
                            <a:schemeClr val="tx1"/>
                          </a:solidFill>
                          <a:latin typeface="+mj-lt"/>
                        </a:rPr>
                        <a:t>Innovation model</a:t>
                      </a:r>
                    </a:p>
                    <a:p>
                      <a:pPr marL="119063" indent="-119063">
                        <a:lnSpc>
                          <a:spcPct val="90000"/>
                        </a:lnSpc>
                        <a:buFont typeface="Wingdings" panose="05000000000000000000" pitchFamily="2" charset="2"/>
                        <a:buChar char="§"/>
                      </a:pPr>
                      <a:r>
                        <a:rPr lang="en-US" sz="1000">
                          <a:solidFill>
                            <a:schemeClr val="tx1"/>
                          </a:solidFill>
                          <a:latin typeface="+mj-lt"/>
                        </a:rPr>
                        <a:t>Manufacturing</a:t>
                      </a:r>
                    </a:p>
                    <a:p>
                      <a:pPr marL="119063" indent="-119063">
                        <a:lnSpc>
                          <a:spcPct val="90000"/>
                        </a:lnSpc>
                        <a:buFont typeface="Wingdings" panose="05000000000000000000" pitchFamily="2" charset="2"/>
                        <a:buChar char="§"/>
                      </a:pPr>
                      <a:r>
                        <a:rPr lang="en-US" sz="1000">
                          <a:solidFill>
                            <a:schemeClr val="tx1"/>
                          </a:solidFill>
                          <a:latin typeface="+mj-lt"/>
                        </a:rPr>
                        <a:t>Recurring revenue from consumables</a:t>
                      </a:r>
                    </a:p>
                  </a:txBody>
                  <a:tcPr marL="27432" marR="27432" marT="9144" marB="9144">
                    <a:lnB w="12700" cap="flat" cmpd="sng" algn="ctr">
                      <a:noFill/>
                      <a:prstDash val="solid"/>
                      <a:round/>
                      <a:headEnd type="none" w="med" len="med"/>
                      <a:tailEnd type="none" w="med" len="med"/>
                    </a:lnB>
                  </a:tcPr>
                </a:tc>
                <a:tc>
                  <a:txBody>
                    <a:bodyPr/>
                    <a:lstStyle/>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dirty="0">
                          <a:solidFill>
                            <a:schemeClr val="tx1"/>
                          </a:solidFill>
                        </a:rPr>
                        <a:t>Majority direct sales</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b="1" dirty="0">
                          <a:solidFill>
                            <a:srgbClr val="FF0000"/>
                          </a:solidFill>
                        </a:rPr>
                        <a:t>Innovation model (R&amp;D as a % of revenue </a:t>
                      </a:r>
                      <a:r>
                        <a:rPr lang="en-US" sz="1000" b="1" u="sng" dirty="0">
                          <a:solidFill>
                            <a:srgbClr val="FF0000"/>
                          </a:solidFill>
                        </a:rPr>
                        <a:t>&gt;</a:t>
                      </a:r>
                      <a:r>
                        <a:rPr lang="en-US" sz="1000" b="1" u="none" dirty="0">
                          <a:solidFill>
                            <a:srgbClr val="FF0000"/>
                          </a:solidFill>
                        </a:rPr>
                        <a:t> 5%)</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dirty="0">
                          <a:solidFill>
                            <a:schemeClr val="tx1"/>
                          </a:solidFill>
                        </a:rPr>
                        <a:t>Manufacturer</a:t>
                      </a:r>
                    </a:p>
                    <a:p>
                      <a:pPr marL="119063" marR="0" lvl="0" indent="-119063"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1000" dirty="0">
                          <a:solidFill>
                            <a:schemeClr val="tx1"/>
                          </a:solidFill>
                        </a:rPr>
                        <a:t>Recurring revenue</a:t>
                      </a:r>
                    </a:p>
                  </a:txBody>
                  <a:tcPr marL="27432" marR="27432" marT="9144" marB="9144">
                    <a:lnR w="635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30" name="Rectangle 29">
            <a:extLst>
              <a:ext uri="{FF2B5EF4-FFF2-40B4-BE49-F238E27FC236}">
                <a16:creationId xmlns:a16="http://schemas.microsoft.com/office/drawing/2014/main" id="{55D65C64-1C9C-DB0D-C4D5-B64C4A3F413F}"/>
              </a:ext>
            </a:extLst>
          </p:cNvPr>
          <p:cNvSpPr/>
          <p:nvPr/>
        </p:nvSpPr>
        <p:spPr>
          <a:xfrm>
            <a:off x="2562385" y="4680716"/>
            <a:ext cx="2444688" cy="1708346"/>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a:solidFill>
                  <a:schemeClr val="tx1"/>
                </a:solidFill>
              </a:rPr>
              <a:t>Revenue Growth</a:t>
            </a:r>
            <a:r>
              <a:rPr lang="en-US" sz="1100" b="1" baseline="30000" dirty="0">
                <a:solidFill>
                  <a:schemeClr val="tx1"/>
                </a:solidFill>
              </a:rPr>
              <a:t>(1)</a:t>
            </a:r>
          </a:p>
        </p:txBody>
      </p:sp>
      <p:sp>
        <p:nvSpPr>
          <p:cNvPr id="31" name="TextBox 30">
            <a:extLst>
              <a:ext uri="{FF2B5EF4-FFF2-40B4-BE49-F238E27FC236}">
                <a16:creationId xmlns:a16="http://schemas.microsoft.com/office/drawing/2014/main" id="{0A89A0F0-C648-8F2E-FCE4-5BE2C6BE5E20}"/>
              </a:ext>
            </a:extLst>
          </p:cNvPr>
          <p:cNvSpPr txBox="1"/>
          <p:nvPr/>
        </p:nvSpPr>
        <p:spPr>
          <a:xfrm>
            <a:off x="4579354" y="4763447"/>
            <a:ext cx="431583" cy="314894"/>
          </a:xfrm>
          <a:prstGeom prst="rect">
            <a:avLst/>
          </a:prstGeom>
          <a:noFill/>
          <a:ln>
            <a:noFill/>
          </a:ln>
        </p:spPr>
        <p:txBody>
          <a:bodyPr wrap="square" lIns="0" tIns="0" rIns="0" bIns="0" rtlCol="0" anchor="ctr">
            <a:spAutoFit/>
          </a:bodyPr>
          <a:lstStyle/>
          <a:p>
            <a:pPr algn="ctr">
              <a:lnSpc>
                <a:spcPct val="85000"/>
              </a:lnSpc>
            </a:pPr>
            <a:r>
              <a:rPr lang="en-US" sz="800" b="1">
                <a:solidFill>
                  <a:schemeClr val="accent5">
                    <a:lumMod val="75000"/>
                  </a:schemeClr>
                </a:solidFill>
              </a:rPr>
              <a:t>5-Yr CAGR: ~8%</a:t>
            </a:r>
          </a:p>
        </p:txBody>
      </p:sp>
      <p:cxnSp>
        <p:nvCxnSpPr>
          <p:cNvPr id="35" name="Straight Arrow Connector 34">
            <a:extLst>
              <a:ext uri="{FF2B5EF4-FFF2-40B4-BE49-F238E27FC236}">
                <a16:creationId xmlns:a16="http://schemas.microsoft.com/office/drawing/2014/main" id="{D00B3D0D-FEBB-CF6B-FE57-3797DEEC15D9}"/>
              </a:ext>
            </a:extLst>
          </p:cNvPr>
          <p:cNvCxnSpPr>
            <a:cxnSpLocks/>
          </p:cNvCxnSpPr>
          <p:nvPr/>
        </p:nvCxnSpPr>
        <p:spPr>
          <a:xfrm flipV="1">
            <a:off x="3065103" y="4983809"/>
            <a:ext cx="1514251" cy="359118"/>
          </a:xfrm>
          <a:prstGeom prst="straightConnector1">
            <a:avLst/>
          </a:prstGeom>
          <a:ln w="6350">
            <a:solidFill>
              <a:schemeClr val="accent5">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4D5C8F87-FA20-A5CD-6159-987D7A9ECD2E}"/>
              </a:ext>
            </a:extLst>
          </p:cNvPr>
          <p:cNvSpPr txBox="1"/>
          <p:nvPr/>
        </p:nvSpPr>
        <p:spPr>
          <a:xfrm>
            <a:off x="-243043" y="6408846"/>
            <a:ext cx="7026586" cy="224292"/>
          </a:xfrm>
          <a:prstGeom prst="rect">
            <a:avLst/>
          </a:prstGeom>
          <a:noFill/>
        </p:spPr>
        <p:txBody>
          <a:bodyPr vert="horz" wrap="square" lIns="45720" tIns="45720" rIns="45720" bIns="45720" rtlCol="0" anchor="ctr">
            <a:spAutoFit/>
          </a:bodyPr>
          <a:lstStyle/>
          <a:p>
            <a:pPr marL="339725" indent="-106363">
              <a:lnSpc>
                <a:spcPct val="85000"/>
              </a:lnSpc>
            </a:pPr>
            <a:r>
              <a:rPr lang="en-US" sz="1000" i="1" dirty="0"/>
              <a:t>(1) Source for 2026E Revenue Projection: midpoint of guidance provided in </a:t>
            </a:r>
            <a:r>
              <a:rPr lang="en-US" sz="1000" i="1" dirty="0" err="1"/>
              <a:t>Goofy’s</a:t>
            </a:r>
            <a:r>
              <a:rPr lang="en-US" sz="1000" i="1" dirty="0"/>
              <a:t> Q4 and Full Year 2025 Earnings Release</a:t>
            </a:r>
          </a:p>
        </p:txBody>
      </p:sp>
      <p:sp>
        <p:nvSpPr>
          <p:cNvPr id="38" name="TextBox 37">
            <a:extLst>
              <a:ext uri="{FF2B5EF4-FFF2-40B4-BE49-F238E27FC236}">
                <a16:creationId xmlns:a16="http://schemas.microsoft.com/office/drawing/2014/main" id="{8291AE9C-870A-390B-94E2-B72CB057FCCF}"/>
              </a:ext>
            </a:extLst>
          </p:cNvPr>
          <p:cNvSpPr txBox="1"/>
          <p:nvPr/>
        </p:nvSpPr>
        <p:spPr>
          <a:xfrm>
            <a:off x="5095158" y="1249175"/>
            <a:ext cx="3989586" cy="182880"/>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Peer Screening Criteria</a:t>
            </a:r>
            <a:endParaRPr lang="en-US" sz="1100" b="1" baseline="30000">
              <a:solidFill>
                <a:schemeClr val="bg1"/>
              </a:solidFill>
            </a:endParaRPr>
          </a:p>
        </p:txBody>
      </p:sp>
      <p:sp>
        <p:nvSpPr>
          <p:cNvPr id="50" name="Footer Placeholder 1">
            <a:extLst>
              <a:ext uri="{FF2B5EF4-FFF2-40B4-BE49-F238E27FC236}">
                <a16:creationId xmlns:a16="http://schemas.microsoft.com/office/drawing/2014/main" id="{A08CD04F-0B6B-B3B7-D5B7-F4AF513D7776}"/>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16" name="Arrow: Right 15">
            <a:extLst>
              <a:ext uri="{FF2B5EF4-FFF2-40B4-BE49-F238E27FC236}">
                <a16:creationId xmlns:a16="http://schemas.microsoft.com/office/drawing/2014/main" id="{C411AB20-9C4F-0BA7-414B-BA04642190C2}"/>
              </a:ext>
            </a:extLst>
          </p:cNvPr>
          <p:cNvSpPr/>
          <p:nvPr/>
        </p:nvSpPr>
        <p:spPr>
          <a:xfrm>
            <a:off x="78834" y="1395967"/>
            <a:ext cx="4924999" cy="365760"/>
          </a:xfrm>
          <a:prstGeom prst="rightArrow">
            <a:avLst/>
          </a:prstGeom>
          <a:solidFill>
            <a:schemeClr val="tx2">
              <a:lumMod val="60000"/>
              <a:lumOff val="4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100" b="1" i="1">
              <a:solidFill>
                <a:schemeClr val="bg1"/>
              </a:solidFill>
            </a:endParaRPr>
          </a:p>
        </p:txBody>
      </p:sp>
      <p:sp>
        <p:nvSpPr>
          <p:cNvPr id="19" name="TextBox 18">
            <a:extLst>
              <a:ext uri="{FF2B5EF4-FFF2-40B4-BE49-F238E27FC236}">
                <a16:creationId xmlns:a16="http://schemas.microsoft.com/office/drawing/2014/main" id="{CEA9A72E-99AD-ECD5-5FF6-C17F20911EBA}"/>
              </a:ext>
            </a:extLst>
          </p:cNvPr>
          <p:cNvSpPr txBox="1"/>
          <p:nvPr/>
        </p:nvSpPr>
        <p:spPr>
          <a:xfrm>
            <a:off x="202548" y="1466310"/>
            <a:ext cx="1190320" cy="244682"/>
          </a:xfrm>
          <a:prstGeom prst="rect">
            <a:avLst/>
          </a:prstGeom>
          <a:noFill/>
        </p:spPr>
        <p:txBody>
          <a:bodyPr wrap="square" lIns="45720" tIns="45720" rIns="45720" bIns="45720" rtlCol="0" anchor="ctr">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1"/>
                </a:solidFill>
                <a:effectLst/>
                <a:uLnTx/>
                <a:uFillTx/>
              </a:rPr>
              <a:t>Goofy Then</a:t>
            </a:r>
          </a:p>
        </p:txBody>
      </p:sp>
      <p:sp>
        <p:nvSpPr>
          <p:cNvPr id="21" name="TextBox 20">
            <a:extLst>
              <a:ext uri="{FF2B5EF4-FFF2-40B4-BE49-F238E27FC236}">
                <a16:creationId xmlns:a16="http://schemas.microsoft.com/office/drawing/2014/main" id="{341984D7-5B19-ABB3-A294-10C91ADCBCDF}"/>
              </a:ext>
            </a:extLst>
          </p:cNvPr>
          <p:cNvSpPr txBox="1"/>
          <p:nvPr/>
        </p:nvSpPr>
        <p:spPr>
          <a:xfrm>
            <a:off x="2290056" y="1474037"/>
            <a:ext cx="2178921" cy="244682"/>
          </a:xfrm>
          <a:prstGeom prst="rect">
            <a:avLst/>
          </a:prstGeom>
          <a:noFill/>
        </p:spPr>
        <p:txBody>
          <a:bodyPr wrap="square" lIns="45720" tIns="45720" rIns="45720" bIns="45720" rtlCol="0" anchor="ctr">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1"/>
                </a:solidFill>
                <a:effectLst/>
                <a:uLnTx/>
                <a:uFillTx/>
              </a:rPr>
              <a:t>Goofy Ahead</a:t>
            </a:r>
          </a:p>
        </p:txBody>
      </p:sp>
      <p:sp>
        <p:nvSpPr>
          <p:cNvPr id="43" name="Rectangle 42">
            <a:extLst>
              <a:ext uri="{FF2B5EF4-FFF2-40B4-BE49-F238E27FC236}">
                <a16:creationId xmlns:a16="http://schemas.microsoft.com/office/drawing/2014/main" id="{5B42D137-430C-EEAD-A179-1D402F7ED40A}"/>
              </a:ext>
            </a:extLst>
          </p:cNvPr>
          <p:cNvSpPr/>
          <p:nvPr/>
        </p:nvSpPr>
        <p:spPr>
          <a:xfrm>
            <a:off x="159808" y="1722577"/>
            <a:ext cx="1490163" cy="975442"/>
          </a:xfrm>
          <a:prstGeom prst="rect">
            <a:avLst/>
          </a:prstGeom>
          <a:noFill/>
          <a:ln w="6350">
            <a:no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marL="171450" indent="-107950">
              <a:lnSpc>
                <a:spcPct val="90000"/>
              </a:lnSpc>
              <a:spcBef>
                <a:spcPts val="100"/>
              </a:spcBef>
              <a:buFont typeface="Wingdings" panose="05000000000000000000" pitchFamily="2" charset="2"/>
              <a:buChar char="§"/>
            </a:pPr>
            <a:r>
              <a:rPr lang="en-US" sz="1000">
                <a:solidFill>
                  <a:schemeClr val="tx1"/>
                </a:solidFill>
              </a:rPr>
              <a:t>Hardware focus</a:t>
            </a:r>
          </a:p>
          <a:p>
            <a:pPr marL="171450" indent="-107950">
              <a:lnSpc>
                <a:spcPct val="90000"/>
              </a:lnSpc>
              <a:spcBef>
                <a:spcPts val="100"/>
              </a:spcBef>
              <a:buFont typeface="Wingdings" panose="05000000000000000000" pitchFamily="2" charset="2"/>
              <a:buChar char="§"/>
            </a:pPr>
            <a:r>
              <a:rPr lang="en-US" sz="1000">
                <a:solidFill>
                  <a:schemeClr val="tx1"/>
                </a:solidFill>
              </a:rPr>
              <a:t>Software as an enabler</a:t>
            </a:r>
          </a:p>
          <a:p>
            <a:pPr marL="171450" indent="-107950">
              <a:lnSpc>
                <a:spcPct val="90000"/>
              </a:lnSpc>
              <a:spcBef>
                <a:spcPts val="100"/>
              </a:spcBef>
              <a:buFont typeface="Wingdings" panose="05000000000000000000" pitchFamily="2" charset="2"/>
              <a:buChar char="§"/>
            </a:pPr>
            <a:r>
              <a:rPr lang="en-US" sz="1000">
                <a:solidFill>
                  <a:schemeClr val="tx1"/>
                </a:solidFill>
              </a:rPr>
              <a:t>B2B engagement model</a:t>
            </a:r>
          </a:p>
        </p:txBody>
      </p:sp>
      <p:sp>
        <p:nvSpPr>
          <p:cNvPr id="44" name="Rectangle 43">
            <a:extLst>
              <a:ext uri="{FF2B5EF4-FFF2-40B4-BE49-F238E27FC236}">
                <a16:creationId xmlns:a16="http://schemas.microsoft.com/office/drawing/2014/main" id="{CA2D527E-967B-3035-9302-7402BD061047}"/>
              </a:ext>
            </a:extLst>
          </p:cNvPr>
          <p:cNvSpPr/>
          <p:nvPr/>
        </p:nvSpPr>
        <p:spPr>
          <a:xfrm>
            <a:off x="1821656" y="1678392"/>
            <a:ext cx="3016400" cy="1129736"/>
          </a:xfrm>
          <a:prstGeom prst="rect">
            <a:avLst/>
          </a:prstGeom>
          <a:noFill/>
          <a:ln w="6350">
            <a:no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effectLst/>
                <a:latin typeface="Calibri" panose="020F0502020204030204" pitchFamily="34" charset="0"/>
              </a:rPr>
              <a:t>Instrument platforms </a:t>
            </a:r>
            <a:r>
              <a:rPr lang="en-US" sz="1000">
                <a:solidFill>
                  <a:srgbClr val="000000"/>
                </a:solidFill>
                <a:effectLst/>
                <a:latin typeface="Calibri" panose="020F0502020204030204" pitchFamily="34" charset="0"/>
              </a:rPr>
              <a:t>leveraging large installed base and menu expansion</a:t>
            </a:r>
          </a:p>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effectLst/>
                <a:latin typeface="Calibri" panose="020F0502020204030204" pitchFamily="34" charset="0"/>
              </a:rPr>
              <a:t>Software- and AI-integrated platforms </a:t>
            </a:r>
            <a:r>
              <a:rPr lang="en-US" sz="1000">
                <a:solidFill>
                  <a:srgbClr val="000000"/>
                </a:solidFill>
                <a:effectLst/>
                <a:latin typeface="Calibri" panose="020F0502020204030204" pitchFamily="34" charset="0"/>
              </a:rPr>
              <a:t>into everyday processes and decision-making</a:t>
            </a:r>
          </a:p>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effectLst/>
                <a:latin typeface="Calibri" panose="020F0502020204030204" pitchFamily="34" charset="0"/>
              </a:rPr>
              <a:t>End‑to‑end ecosystem of integrated solutions</a:t>
            </a:r>
          </a:p>
          <a:p>
            <a:pPr marL="171450" indent="-107950" algn="l" rtl="0" eaLnBrk="1" latinLnBrk="0" hangingPunct="1">
              <a:lnSpc>
                <a:spcPct val="90000"/>
              </a:lnSpc>
              <a:spcBef>
                <a:spcPts val="100"/>
              </a:spcBef>
              <a:buFont typeface="Wingdings" panose="05000000000000000000" pitchFamily="2" charset="2"/>
              <a:buChar char="§"/>
            </a:pPr>
            <a:r>
              <a:rPr lang="en-US" sz="1000" b="1">
                <a:solidFill>
                  <a:srgbClr val="000000"/>
                </a:solidFill>
                <a:latin typeface="Calibri" panose="020F0502020204030204" pitchFamily="34" charset="0"/>
              </a:rPr>
              <a:t>Fundamentally B2B, with targeted B2B2C and B2C engagement </a:t>
            </a:r>
            <a:r>
              <a:rPr lang="en-US" sz="1000">
                <a:solidFill>
                  <a:srgbClr val="000000"/>
                </a:solidFill>
                <a:effectLst/>
                <a:latin typeface="Calibri" panose="020F0502020204030204" pitchFamily="34" charset="0"/>
              </a:rPr>
              <a:t>to stimulate demand and visits</a:t>
            </a:r>
            <a:endParaRPr lang="en-US" sz="1000">
              <a:solidFill>
                <a:schemeClr val="tx1"/>
              </a:solidFill>
            </a:endParaRPr>
          </a:p>
        </p:txBody>
      </p:sp>
      <p:sp>
        <p:nvSpPr>
          <p:cNvPr id="49" name="Arrow: Right 48">
            <a:extLst>
              <a:ext uri="{FF2B5EF4-FFF2-40B4-BE49-F238E27FC236}">
                <a16:creationId xmlns:a16="http://schemas.microsoft.com/office/drawing/2014/main" id="{157012A0-7CFE-9924-D4ED-D822C335F11D}"/>
              </a:ext>
            </a:extLst>
          </p:cNvPr>
          <p:cNvSpPr/>
          <p:nvPr/>
        </p:nvSpPr>
        <p:spPr>
          <a:xfrm>
            <a:off x="1655769" y="1836405"/>
            <a:ext cx="183944" cy="569005"/>
          </a:xfrm>
          <a:prstGeom prst="rightArrow">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54" name="TextBox 53">
            <a:extLst>
              <a:ext uri="{FF2B5EF4-FFF2-40B4-BE49-F238E27FC236}">
                <a16:creationId xmlns:a16="http://schemas.microsoft.com/office/drawing/2014/main" id="{BE4972DD-A399-7438-7084-3886DAD95E35}"/>
              </a:ext>
            </a:extLst>
          </p:cNvPr>
          <p:cNvSpPr txBox="1"/>
          <p:nvPr/>
        </p:nvSpPr>
        <p:spPr>
          <a:xfrm>
            <a:off x="6564303" y="1467496"/>
            <a:ext cx="1244937" cy="355097"/>
          </a:xfrm>
          <a:prstGeom prst="rect">
            <a:avLst/>
          </a:prstGeom>
          <a:noFill/>
        </p:spPr>
        <p:txBody>
          <a:bodyPr vert="horz" wrap="square" lIns="45720" tIns="45720" rIns="45720" bIns="45720" rtlCol="0" anchor="ctr">
            <a:spAutoFit/>
          </a:bodyPr>
          <a:lstStyle/>
          <a:p>
            <a:pPr>
              <a:lnSpc>
                <a:spcPct val="85000"/>
              </a:lnSpc>
            </a:pPr>
            <a:r>
              <a:rPr lang="en-US" sz="1000" b="1">
                <a:solidFill>
                  <a:srgbClr val="FF0000"/>
                </a:solidFill>
              </a:rPr>
              <a:t>New Criterion</a:t>
            </a:r>
            <a:r>
              <a:rPr lang="en-US" sz="1000" b="1" i="1">
                <a:solidFill>
                  <a:srgbClr val="FF0000"/>
                </a:solidFill>
              </a:rPr>
              <a:t> </a:t>
            </a:r>
            <a:r>
              <a:rPr lang="en-US" sz="1000" i="1">
                <a:solidFill>
                  <a:srgbClr val="FF0000"/>
                </a:solidFill>
              </a:rPr>
              <a:t>(Change vs. last year)</a:t>
            </a:r>
          </a:p>
        </p:txBody>
      </p:sp>
      <p:sp>
        <p:nvSpPr>
          <p:cNvPr id="58" name="TextBox 57">
            <a:extLst>
              <a:ext uri="{FF2B5EF4-FFF2-40B4-BE49-F238E27FC236}">
                <a16:creationId xmlns:a16="http://schemas.microsoft.com/office/drawing/2014/main" id="{8022568E-2E24-C6B3-26C2-50075519394F}"/>
              </a:ext>
            </a:extLst>
          </p:cNvPr>
          <p:cNvSpPr txBox="1"/>
          <p:nvPr/>
        </p:nvSpPr>
        <p:spPr>
          <a:xfrm>
            <a:off x="3415316" y="3117180"/>
            <a:ext cx="1505370" cy="138499"/>
          </a:xfrm>
          <a:prstGeom prst="rect">
            <a:avLst/>
          </a:prstGeom>
          <a:noFill/>
          <a:ln>
            <a:noFill/>
          </a:ln>
        </p:spPr>
        <p:txBody>
          <a:bodyPr wrap="square" lIns="0" tIns="0" rIns="0" bIns="0" rtlCol="0" anchor="ctr">
            <a:spAutoFit/>
          </a:bodyPr>
          <a:lstStyle/>
          <a:p>
            <a:r>
              <a:rPr lang="en-US" sz="900" b="1" err="1">
                <a:solidFill>
                  <a:schemeClr val="accent6"/>
                </a:solidFill>
              </a:rPr>
              <a:t>VetSoft</a:t>
            </a:r>
            <a:r>
              <a:rPr lang="en-US" sz="900" b="1">
                <a:solidFill>
                  <a:schemeClr val="accent6"/>
                </a:solidFill>
              </a:rPr>
              <a:t>, </a:t>
            </a:r>
            <a:r>
              <a:rPr lang="en-US" sz="900" b="1" err="1">
                <a:solidFill>
                  <a:schemeClr val="accent6"/>
                </a:solidFill>
              </a:rPr>
              <a:t>Svcs</a:t>
            </a:r>
            <a:r>
              <a:rPr lang="en-US" sz="900" b="1">
                <a:solidFill>
                  <a:schemeClr val="accent6"/>
                </a:solidFill>
              </a:rPr>
              <a:t> &amp; Dx Imaging</a:t>
            </a:r>
          </a:p>
        </p:txBody>
      </p:sp>
      <p:sp>
        <p:nvSpPr>
          <p:cNvPr id="60" name="Rectangle 59">
            <a:extLst>
              <a:ext uri="{FF2B5EF4-FFF2-40B4-BE49-F238E27FC236}">
                <a16:creationId xmlns:a16="http://schemas.microsoft.com/office/drawing/2014/main" id="{56ECE6FE-A0B5-A853-45F5-E7DEEEA31CE3}"/>
              </a:ext>
            </a:extLst>
          </p:cNvPr>
          <p:cNvSpPr/>
          <p:nvPr/>
        </p:nvSpPr>
        <p:spPr>
          <a:xfrm>
            <a:off x="59256" y="2827913"/>
            <a:ext cx="2444688" cy="1793163"/>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Integrated Growth Flywheel</a:t>
            </a:r>
          </a:p>
          <a:p>
            <a:pPr marL="58737">
              <a:lnSpc>
                <a:spcPct val="85000"/>
              </a:lnSpc>
            </a:pPr>
            <a:endParaRPr lang="en-US" sz="1100" b="1">
              <a:solidFill>
                <a:schemeClr val="tx1"/>
              </a:solidFill>
            </a:endParaRPr>
          </a:p>
          <a:p>
            <a:pPr algn="ctr">
              <a:lnSpc>
                <a:spcPct val="85000"/>
              </a:lnSpc>
            </a:pPr>
            <a:endParaRPr lang="en-US" sz="1100" b="1">
              <a:solidFill>
                <a:schemeClr val="tx1"/>
              </a:solidFill>
            </a:endParaRPr>
          </a:p>
        </p:txBody>
      </p:sp>
      <p:pic>
        <p:nvPicPr>
          <p:cNvPr id="70" name="Picture 69">
            <a:extLst>
              <a:ext uri="{FF2B5EF4-FFF2-40B4-BE49-F238E27FC236}">
                <a16:creationId xmlns:a16="http://schemas.microsoft.com/office/drawing/2014/main" id="{C3CBCCAF-BBB8-2925-AC76-ABB5476296DB}"/>
              </a:ext>
            </a:extLst>
          </p:cNvPr>
          <p:cNvPicPr>
            <a:picLocks noChangeAspect="1"/>
          </p:cNvPicPr>
          <p:nvPr/>
        </p:nvPicPr>
        <p:blipFill>
          <a:blip r:embed="rId6"/>
          <a:stretch>
            <a:fillRect/>
          </a:stretch>
        </p:blipFill>
        <p:spPr>
          <a:xfrm>
            <a:off x="159808" y="3149697"/>
            <a:ext cx="2201415" cy="1461650"/>
          </a:xfrm>
          <a:prstGeom prst="rect">
            <a:avLst/>
          </a:prstGeom>
        </p:spPr>
      </p:pic>
      <p:sp>
        <p:nvSpPr>
          <p:cNvPr id="71" name="TextBox 70">
            <a:extLst>
              <a:ext uri="{FF2B5EF4-FFF2-40B4-BE49-F238E27FC236}">
                <a16:creationId xmlns:a16="http://schemas.microsoft.com/office/drawing/2014/main" id="{BC037C99-7323-17CE-25AF-2088199975D6}"/>
              </a:ext>
            </a:extLst>
          </p:cNvPr>
          <p:cNvSpPr txBox="1"/>
          <p:nvPr/>
        </p:nvSpPr>
        <p:spPr>
          <a:xfrm>
            <a:off x="1392868" y="3464360"/>
            <a:ext cx="821896" cy="328808"/>
          </a:xfrm>
          <a:prstGeom prst="rect">
            <a:avLst/>
          </a:prstGeom>
          <a:solidFill>
            <a:schemeClr val="bg1">
              <a:lumMod val="95000"/>
            </a:schemeClr>
          </a:solidFill>
          <a:ln>
            <a:solidFill>
              <a:schemeClr val="tx1"/>
            </a:solidFill>
          </a:ln>
        </p:spPr>
        <p:txBody>
          <a:bodyPr vert="horz" wrap="square" lIns="45720" tIns="45720" rIns="45720" bIns="45720" rtlCol="0" anchor="ctr">
            <a:spAutoFit/>
          </a:bodyPr>
          <a:lstStyle/>
          <a:p>
            <a:pPr algn="ctr">
              <a:lnSpc>
                <a:spcPct val="85000"/>
              </a:lnSpc>
            </a:pPr>
            <a:r>
              <a:rPr lang="en-US" sz="900" b="1"/>
              <a:t>Innovation-Driven Growth</a:t>
            </a:r>
          </a:p>
        </p:txBody>
      </p:sp>
      <p:sp>
        <p:nvSpPr>
          <p:cNvPr id="72" name="TextBox 71">
            <a:extLst>
              <a:ext uri="{FF2B5EF4-FFF2-40B4-BE49-F238E27FC236}">
                <a16:creationId xmlns:a16="http://schemas.microsoft.com/office/drawing/2014/main" id="{69FB68F2-A30F-F1AA-5FEA-5965BC5E7F00}"/>
              </a:ext>
            </a:extLst>
          </p:cNvPr>
          <p:cNvSpPr txBox="1"/>
          <p:nvPr/>
        </p:nvSpPr>
        <p:spPr>
          <a:xfrm>
            <a:off x="932726" y="4089468"/>
            <a:ext cx="695335" cy="328808"/>
          </a:xfrm>
          <a:prstGeom prst="rect">
            <a:avLst/>
          </a:prstGeom>
          <a:solidFill>
            <a:schemeClr val="bg1">
              <a:lumMod val="95000"/>
            </a:schemeClr>
          </a:solidFill>
          <a:ln>
            <a:solidFill>
              <a:schemeClr val="tx1"/>
            </a:solidFill>
          </a:ln>
        </p:spPr>
        <p:txBody>
          <a:bodyPr vert="horz" wrap="square" lIns="45720" tIns="45720" rIns="45720" bIns="45720" rtlCol="0" anchor="ctr">
            <a:spAutoFit/>
          </a:bodyPr>
          <a:lstStyle/>
          <a:p>
            <a:pPr algn="ctr">
              <a:lnSpc>
                <a:spcPct val="85000"/>
              </a:lnSpc>
            </a:pPr>
            <a:r>
              <a:rPr lang="en-US" sz="900" b="1"/>
              <a:t>Integrated Solutions</a:t>
            </a:r>
          </a:p>
        </p:txBody>
      </p:sp>
      <p:sp>
        <p:nvSpPr>
          <p:cNvPr id="73" name="TextBox 72">
            <a:extLst>
              <a:ext uri="{FF2B5EF4-FFF2-40B4-BE49-F238E27FC236}">
                <a16:creationId xmlns:a16="http://schemas.microsoft.com/office/drawing/2014/main" id="{7A295C1D-C6CE-D22D-FF25-31E0AEAA7903}"/>
              </a:ext>
            </a:extLst>
          </p:cNvPr>
          <p:cNvSpPr txBox="1"/>
          <p:nvPr/>
        </p:nvSpPr>
        <p:spPr>
          <a:xfrm>
            <a:off x="304093" y="3463003"/>
            <a:ext cx="747881" cy="328808"/>
          </a:xfrm>
          <a:prstGeom prst="rect">
            <a:avLst/>
          </a:prstGeom>
          <a:solidFill>
            <a:schemeClr val="bg1">
              <a:lumMod val="95000"/>
            </a:schemeClr>
          </a:solidFill>
          <a:ln>
            <a:solidFill>
              <a:schemeClr val="tx1"/>
            </a:solidFill>
          </a:ln>
        </p:spPr>
        <p:txBody>
          <a:bodyPr vert="horz" wrap="square" lIns="45720" tIns="45720" rIns="45720" bIns="45720" rtlCol="0" anchor="ctr">
            <a:spAutoFit/>
          </a:bodyPr>
          <a:lstStyle/>
          <a:p>
            <a:pPr algn="ctr">
              <a:lnSpc>
                <a:spcPct val="85000"/>
              </a:lnSpc>
            </a:pPr>
            <a:r>
              <a:rPr lang="en-US" sz="900" b="1"/>
              <a:t>Customer Engagement</a:t>
            </a:r>
          </a:p>
        </p:txBody>
      </p:sp>
      <p:sp>
        <p:nvSpPr>
          <p:cNvPr id="74" name="Arrow: Bent 73">
            <a:extLst>
              <a:ext uri="{FF2B5EF4-FFF2-40B4-BE49-F238E27FC236}">
                <a16:creationId xmlns:a16="http://schemas.microsoft.com/office/drawing/2014/main" id="{05A97B93-BC7B-6DD4-25E7-271D37564D17}"/>
              </a:ext>
            </a:extLst>
          </p:cNvPr>
          <p:cNvSpPr/>
          <p:nvPr/>
        </p:nvSpPr>
        <p:spPr>
          <a:xfrm rot="16729362">
            <a:off x="653223" y="3934722"/>
            <a:ext cx="228528" cy="242622"/>
          </a:xfrm>
          <a:prstGeom prst="bentArrow">
            <a:avLst>
              <a:gd name="adj1" fmla="val 16530"/>
              <a:gd name="adj2" fmla="val 22930"/>
              <a:gd name="adj3" fmla="val 25000"/>
              <a:gd name="adj4" fmla="val 82668"/>
            </a:avLst>
          </a:prstGeom>
          <a:solidFill>
            <a:schemeClr val="bg1">
              <a:lumMod val="95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91440" tIns="91440" rIns="91440" bIns="73152" rtlCol="0" anchor="ctr">
            <a:spAutoFit/>
          </a:bodyPr>
          <a:lstStyle/>
          <a:p>
            <a:pPr algn="ctr">
              <a:lnSpc>
                <a:spcPct val="85000"/>
              </a:lnSpc>
            </a:pPr>
            <a:endParaRPr lang="en-US" sz="1100">
              <a:solidFill>
                <a:schemeClr val="tx1"/>
              </a:solidFill>
            </a:endParaRPr>
          </a:p>
        </p:txBody>
      </p:sp>
      <p:sp>
        <p:nvSpPr>
          <p:cNvPr id="75" name="Arrow: Bent 74">
            <a:extLst>
              <a:ext uri="{FF2B5EF4-FFF2-40B4-BE49-F238E27FC236}">
                <a16:creationId xmlns:a16="http://schemas.microsoft.com/office/drawing/2014/main" id="{9336FA31-1113-3DF7-CA78-390BA5617196}"/>
              </a:ext>
            </a:extLst>
          </p:cNvPr>
          <p:cNvSpPr/>
          <p:nvPr/>
        </p:nvSpPr>
        <p:spPr>
          <a:xfrm rot="2451031">
            <a:off x="1154447" y="3223318"/>
            <a:ext cx="228528" cy="242622"/>
          </a:xfrm>
          <a:prstGeom prst="bentArrow">
            <a:avLst>
              <a:gd name="adj1" fmla="val 16530"/>
              <a:gd name="adj2" fmla="val 22930"/>
              <a:gd name="adj3" fmla="val 25000"/>
              <a:gd name="adj4" fmla="val 82668"/>
            </a:avLst>
          </a:prstGeom>
          <a:solidFill>
            <a:schemeClr val="bg1">
              <a:lumMod val="95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91440" tIns="91440" rIns="91440" bIns="73152" rtlCol="0" anchor="ctr">
            <a:spAutoFit/>
          </a:bodyPr>
          <a:lstStyle/>
          <a:p>
            <a:pPr algn="ctr">
              <a:lnSpc>
                <a:spcPct val="85000"/>
              </a:lnSpc>
            </a:pPr>
            <a:endParaRPr lang="en-US" sz="1100">
              <a:solidFill>
                <a:schemeClr val="tx1"/>
              </a:solidFill>
            </a:endParaRPr>
          </a:p>
        </p:txBody>
      </p:sp>
      <p:sp>
        <p:nvSpPr>
          <p:cNvPr id="76" name="Arrow: Bent 75">
            <a:extLst>
              <a:ext uri="{FF2B5EF4-FFF2-40B4-BE49-F238E27FC236}">
                <a16:creationId xmlns:a16="http://schemas.microsoft.com/office/drawing/2014/main" id="{B92DB8A0-DB76-DC06-3BF9-1E6086B9AD7D}"/>
              </a:ext>
            </a:extLst>
          </p:cNvPr>
          <p:cNvSpPr/>
          <p:nvPr/>
        </p:nvSpPr>
        <p:spPr>
          <a:xfrm rot="9113166">
            <a:off x="1632156" y="3952805"/>
            <a:ext cx="228528" cy="242622"/>
          </a:xfrm>
          <a:prstGeom prst="bentArrow">
            <a:avLst>
              <a:gd name="adj1" fmla="val 16530"/>
              <a:gd name="adj2" fmla="val 22930"/>
              <a:gd name="adj3" fmla="val 25000"/>
              <a:gd name="adj4" fmla="val 82668"/>
            </a:avLst>
          </a:prstGeom>
          <a:solidFill>
            <a:schemeClr val="bg1">
              <a:lumMod val="95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91440" tIns="91440" rIns="91440" bIns="73152" rtlCol="0" anchor="ctr">
            <a:spAutoFit/>
          </a:bodyPr>
          <a:lstStyle/>
          <a:p>
            <a:pPr algn="ctr">
              <a:lnSpc>
                <a:spcPct val="85000"/>
              </a:lnSpc>
            </a:pPr>
            <a:endParaRPr lang="en-US" sz="1100">
              <a:solidFill>
                <a:schemeClr val="tx1"/>
              </a:solidFill>
            </a:endParaRPr>
          </a:p>
        </p:txBody>
      </p:sp>
      <p:cxnSp>
        <p:nvCxnSpPr>
          <p:cNvPr id="77" name="Straight Arrow Connector 76">
            <a:extLst>
              <a:ext uri="{FF2B5EF4-FFF2-40B4-BE49-F238E27FC236}">
                <a16:creationId xmlns:a16="http://schemas.microsoft.com/office/drawing/2014/main" id="{81646D1F-ED0A-3137-EADD-7E0B2C9AA486}"/>
              </a:ext>
            </a:extLst>
          </p:cNvPr>
          <p:cNvCxnSpPr>
            <a:cxnSpLocks/>
          </p:cNvCxnSpPr>
          <p:nvPr/>
        </p:nvCxnSpPr>
        <p:spPr>
          <a:xfrm flipV="1">
            <a:off x="3228920" y="3913274"/>
            <a:ext cx="1343080" cy="122404"/>
          </a:xfrm>
          <a:prstGeom prst="straightConnector1">
            <a:avLst/>
          </a:prstGeom>
          <a:ln w="6350">
            <a:solidFill>
              <a:schemeClr val="tx2"/>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ED8FB10C-C652-76F6-EF32-466974201EDC}"/>
              </a:ext>
            </a:extLst>
          </p:cNvPr>
          <p:cNvCxnSpPr>
            <a:cxnSpLocks/>
          </p:cNvCxnSpPr>
          <p:nvPr/>
        </p:nvCxnSpPr>
        <p:spPr>
          <a:xfrm flipV="1">
            <a:off x="3222636" y="3657600"/>
            <a:ext cx="1349364" cy="195998"/>
          </a:xfrm>
          <a:prstGeom prst="straightConnector1">
            <a:avLst/>
          </a:prstGeom>
          <a:ln w="6350">
            <a:solidFill>
              <a:schemeClr val="accent6"/>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482C674-78F7-BCE8-7E3E-87074F531DB1}"/>
              </a:ext>
            </a:extLst>
          </p:cNvPr>
          <p:cNvSpPr txBox="1"/>
          <p:nvPr/>
        </p:nvSpPr>
        <p:spPr>
          <a:xfrm>
            <a:off x="3434527" y="3261521"/>
            <a:ext cx="813819" cy="138499"/>
          </a:xfrm>
          <a:prstGeom prst="rect">
            <a:avLst/>
          </a:prstGeom>
          <a:noFill/>
          <a:ln>
            <a:noFill/>
          </a:ln>
        </p:spPr>
        <p:txBody>
          <a:bodyPr wrap="square" lIns="0" tIns="0" rIns="0" bIns="0" rtlCol="0" anchor="ctr">
            <a:spAutoFit/>
          </a:bodyPr>
          <a:lstStyle/>
          <a:p>
            <a:r>
              <a:rPr lang="en-US" sz="900" b="1">
                <a:solidFill>
                  <a:schemeClr val="tx2"/>
                </a:solidFill>
              </a:rPr>
              <a:t>CAG Diagnostics</a:t>
            </a:r>
          </a:p>
        </p:txBody>
      </p:sp>
      <p:sp>
        <p:nvSpPr>
          <p:cNvPr id="11" name="TextBox 10">
            <a:extLst>
              <a:ext uri="{FF2B5EF4-FFF2-40B4-BE49-F238E27FC236}">
                <a16:creationId xmlns:a16="http://schemas.microsoft.com/office/drawing/2014/main" id="{8C9F1734-92AC-78F6-C346-88EF90560A5C}"/>
              </a:ext>
            </a:extLst>
          </p:cNvPr>
          <p:cNvSpPr txBox="1"/>
          <p:nvPr/>
        </p:nvSpPr>
        <p:spPr>
          <a:xfrm>
            <a:off x="4538187" y="3845656"/>
            <a:ext cx="457200" cy="365760"/>
          </a:xfrm>
          <a:prstGeom prst="rect">
            <a:avLst/>
          </a:prstGeom>
          <a:noFill/>
          <a:ln>
            <a:noFill/>
          </a:ln>
        </p:spPr>
        <p:txBody>
          <a:bodyPr wrap="square" lIns="91440" tIns="91440" rIns="91440" bIns="91440" rtlCol="0" anchor="ctr">
            <a:spAutoFit/>
          </a:bodyPr>
          <a:lstStyle/>
          <a:p>
            <a:pPr algn="ctr"/>
            <a:r>
              <a:rPr lang="en-US" sz="800" b="1">
                <a:solidFill>
                  <a:schemeClr val="tx2"/>
                </a:solidFill>
              </a:rPr>
              <a:t>3-Yr CAGR: ~9%</a:t>
            </a:r>
          </a:p>
        </p:txBody>
      </p:sp>
      <p:cxnSp>
        <p:nvCxnSpPr>
          <p:cNvPr id="18" name="Straight Connector 17">
            <a:extLst>
              <a:ext uri="{FF2B5EF4-FFF2-40B4-BE49-F238E27FC236}">
                <a16:creationId xmlns:a16="http://schemas.microsoft.com/office/drawing/2014/main" id="{0702A1DA-6697-F679-92D2-F76448FB7017}"/>
              </a:ext>
            </a:extLst>
          </p:cNvPr>
          <p:cNvCxnSpPr>
            <a:cxnSpLocks/>
          </p:cNvCxnSpPr>
          <p:nvPr/>
        </p:nvCxnSpPr>
        <p:spPr>
          <a:xfrm>
            <a:off x="3259683" y="3192812"/>
            <a:ext cx="94614" cy="0"/>
          </a:xfrm>
          <a:prstGeom prst="line">
            <a:avLst/>
          </a:prstGeom>
          <a:ln w="38100">
            <a:solidFill>
              <a:schemeClr val="accent6">
                <a:lumMod val="60000"/>
                <a:lumOff val="40000"/>
              </a:schemeClr>
            </a:solidFill>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E6B90D72-CE22-976E-51D5-48865533D749}"/>
              </a:ext>
            </a:extLst>
          </p:cNvPr>
          <p:cNvSpPr txBox="1"/>
          <p:nvPr/>
        </p:nvSpPr>
        <p:spPr>
          <a:xfrm>
            <a:off x="4538187" y="3324399"/>
            <a:ext cx="457200" cy="553998"/>
          </a:xfrm>
          <a:prstGeom prst="rect">
            <a:avLst/>
          </a:prstGeom>
          <a:noFill/>
          <a:ln>
            <a:noFill/>
          </a:ln>
        </p:spPr>
        <p:txBody>
          <a:bodyPr wrap="square" lIns="91440" tIns="91440" rIns="91440" bIns="91440" rtlCol="0" anchor="ctr">
            <a:spAutoFit/>
          </a:bodyPr>
          <a:lstStyle/>
          <a:p>
            <a:pPr algn="ctr"/>
            <a:r>
              <a:rPr lang="en-US" sz="800" b="1">
                <a:solidFill>
                  <a:schemeClr val="accent6"/>
                </a:solidFill>
              </a:rPr>
              <a:t>3-Yr CAGR: ~15%</a:t>
            </a:r>
          </a:p>
        </p:txBody>
      </p:sp>
      <p:cxnSp>
        <p:nvCxnSpPr>
          <p:cNvPr id="22" name="Straight Connector 21">
            <a:extLst>
              <a:ext uri="{FF2B5EF4-FFF2-40B4-BE49-F238E27FC236}">
                <a16:creationId xmlns:a16="http://schemas.microsoft.com/office/drawing/2014/main" id="{B5F557E2-ECED-EFDC-48AD-7BEF1ED571DE}"/>
              </a:ext>
            </a:extLst>
          </p:cNvPr>
          <p:cNvCxnSpPr>
            <a:cxnSpLocks/>
          </p:cNvCxnSpPr>
          <p:nvPr/>
        </p:nvCxnSpPr>
        <p:spPr>
          <a:xfrm>
            <a:off x="3259680" y="3345212"/>
            <a:ext cx="94614" cy="0"/>
          </a:xfrm>
          <a:prstGeom prst="line">
            <a:avLst/>
          </a:prstGeom>
          <a:ln w="38100">
            <a:solidFill>
              <a:schemeClr val="tx2">
                <a:lumMod val="60000"/>
                <a:lumOff val="40000"/>
              </a:schemeClr>
            </a:solidFill>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3D02167D-7380-D68F-927E-C52058D8C127}"/>
              </a:ext>
            </a:extLst>
          </p:cNvPr>
          <p:cNvSpPr txBox="1"/>
          <p:nvPr/>
        </p:nvSpPr>
        <p:spPr>
          <a:xfrm>
            <a:off x="7788479" y="1467496"/>
            <a:ext cx="1244937" cy="355097"/>
          </a:xfrm>
          <a:prstGeom prst="rect">
            <a:avLst/>
          </a:prstGeom>
          <a:noFill/>
        </p:spPr>
        <p:txBody>
          <a:bodyPr vert="horz" wrap="square" lIns="45720" tIns="45720" rIns="45720" bIns="45720" rtlCol="0" anchor="ctr">
            <a:spAutoFit/>
          </a:bodyPr>
          <a:lstStyle/>
          <a:p>
            <a:pPr marL="114300" indent="-114300">
              <a:lnSpc>
                <a:spcPct val="85000"/>
              </a:lnSpc>
              <a:buFont typeface="Wingdings" panose="05000000000000000000" pitchFamily="2" charset="2"/>
              <a:buChar char="ü"/>
            </a:pPr>
            <a:r>
              <a:rPr lang="en-US" sz="1000" b="1">
                <a:solidFill>
                  <a:schemeClr val="accent2">
                    <a:lumMod val="50000"/>
                  </a:schemeClr>
                </a:solidFill>
              </a:rPr>
              <a:t>New Criterion</a:t>
            </a:r>
            <a:r>
              <a:rPr lang="en-US" sz="1000" b="1" i="1">
                <a:solidFill>
                  <a:schemeClr val="accent2">
                    <a:lumMod val="50000"/>
                  </a:schemeClr>
                </a:solidFill>
              </a:rPr>
              <a:t> suggested by AI</a:t>
            </a:r>
            <a:endParaRPr lang="en-US" sz="1000" i="1">
              <a:solidFill>
                <a:schemeClr val="accent2">
                  <a:lumMod val="50000"/>
                </a:schemeClr>
              </a:solidFill>
            </a:endParaRPr>
          </a:p>
        </p:txBody>
      </p:sp>
    </p:spTree>
    <p:extLst>
      <p:ext uri="{BB962C8B-B14F-4D97-AF65-F5344CB8AC3E}">
        <p14:creationId xmlns:p14="http://schemas.microsoft.com/office/powerpoint/2010/main" val="63522370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F0D5-497B-D6C9-251B-1ECC6C0D1D79}"/>
            </a:ext>
          </a:extLst>
        </p:cNvPr>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A74F9488-CADC-83E8-6DF9-372C5FD8C945}"/>
              </a:ext>
            </a:extLst>
          </p:cNvPr>
          <p:cNvGraphicFramePr>
            <a:graphicFrameLocks noGrp="1"/>
          </p:cNvGraphicFramePr>
          <p:nvPr>
            <p:ph idx="1"/>
            <p:extLst>
              <p:ext uri="{D42A27DB-BD31-4B8C-83A1-F6EECF244321}">
                <p14:modId xmlns:p14="http://schemas.microsoft.com/office/powerpoint/2010/main" val="3901122266"/>
              </p:ext>
            </p:extLst>
          </p:nvPr>
        </p:nvGraphicFramePr>
        <p:xfrm>
          <a:off x="960671" y="5926874"/>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3438579452"/>
                    </a:ext>
                  </a:extLst>
                </a:gridCol>
                <a:gridCol w="1737360">
                  <a:extLst>
                    <a:ext uri="{9D8B030D-6E8A-4147-A177-3AD203B41FA5}">
                      <a16:colId xmlns:a16="http://schemas.microsoft.com/office/drawing/2014/main" val="2511897402"/>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305702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7095924"/>
                  </a:ext>
                </a:extLst>
              </a:tr>
            </a:tbl>
          </a:graphicData>
        </a:graphic>
      </p:graphicFrame>
      <p:sp>
        <p:nvSpPr>
          <p:cNvPr id="3" name="Footer Placeholder 2">
            <a:extLst>
              <a:ext uri="{FF2B5EF4-FFF2-40B4-BE49-F238E27FC236}">
                <a16:creationId xmlns:a16="http://schemas.microsoft.com/office/drawing/2014/main" id="{4C7CD4A8-4176-4FCB-071D-04200710328A}"/>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Slide Number Placeholder 3">
            <a:extLst>
              <a:ext uri="{FF2B5EF4-FFF2-40B4-BE49-F238E27FC236}">
                <a16:creationId xmlns:a16="http://schemas.microsoft.com/office/drawing/2014/main" id="{F8CEDED4-3B2C-35A7-CBE8-BFC66FC7003E}"/>
              </a:ext>
            </a:extLst>
          </p:cNvPr>
          <p:cNvSpPr>
            <a:spLocks noGrp="1"/>
          </p:cNvSpPr>
          <p:nvPr>
            <p:ph type="sldNum" sz="quarter" idx="12"/>
          </p:nvPr>
        </p:nvSpPr>
        <p:spPr/>
        <p:txBody>
          <a:bodyPr/>
          <a:lstStyle/>
          <a:p>
            <a:fld id="{91690BAF-E217-4185-92FD-0CEA06F2B7C8}" type="slidenum">
              <a:rPr lang="en-US" smtClean="0"/>
              <a:pPr/>
              <a:t>5</a:t>
            </a:fld>
            <a:endParaRPr lang="en-US"/>
          </a:p>
        </p:txBody>
      </p:sp>
      <p:sp>
        <p:nvSpPr>
          <p:cNvPr id="5" name="Title 4">
            <a:extLst>
              <a:ext uri="{FF2B5EF4-FFF2-40B4-BE49-F238E27FC236}">
                <a16:creationId xmlns:a16="http://schemas.microsoft.com/office/drawing/2014/main" id="{CAB414D8-A6F1-BD87-4CE2-D75E7E6412B7}"/>
              </a:ext>
            </a:extLst>
          </p:cNvPr>
          <p:cNvSpPr>
            <a:spLocks noGrp="1"/>
          </p:cNvSpPr>
          <p:nvPr>
            <p:ph type="title"/>
          </p:nvPr>
        </p:nvSpPr>
        <p:spPr/>
        <p:txBody>
          <a:bodyPr/>
          <a:lstStyle/>
          <a:p>
            <a:r>
              <a:rPr lang="en-US" dirty="0" err="1"/>
              <a:t>Goofy’s</a:t>
            </a:r>
            <a:r>
              <a:rPr lang="en-US" dirty="0"/>
              <a:t> current peers continue to meet most of the screening criteria</a:t>
            </a:r>
          </a:p>
        </p:txBody>
      </p:sp>
      <p:sp>
        <p:nvSpPr>
          <p:cNvPr id="2" name="TextBox 1">
            <a:extLst>
              <a:ext uri="{FF2B5EF4-FFF2-40B4-BE49-F238E27FC236}">
                <a16:creationId xmlns:a16="http://schemas.microsoft.com/office/drawing/2014/main" id="{19BE8E32-9798-AFE0-B66A-8CC30BEA6CB6}"/>
              </a:ext>
            </a:extLst>
          </p:cNvPr>
          <p:cNvSpPr txBox="1"/>
          <p:nvPr/>
        </p:nvSpPr>
        <p:spPr>
          <a:xfrm>
            <a:off x="1909308" y="1229706"/>
            <a:ext cx="5331124" cy="369397"/>
          </a:xfrm>
          <a:prstGeom prst="rect">
            <a:avLst/>
          </a:prstGeom>
          <a:noFill/>
        </p:spPr>
        <p:txBody>
          <a:bodyPr wrap="square" lIns="91440" tIns="91440" rIns="91440" bIns="91440" rtlCol="0" anchor="ctr">
            <a:spAutoFit/>
          </a:bodyPr>
          <a:lstStyle/>
          <a:p>
            <a:pPr algn="ctr">
              <a:lnSpc>
                <a:spcPct val="85000"/>
              </a:lnSpc>
            </a:pPr>
            <a:r>
              <a:rPr lang="en-US" sz="1400" b="1" dirty="0" err="1"/>
              <a:t>Goofy’s</a:t>
            </a:r>
            <a:r>
              <a:rPr lang="en-US" sz="1400" b="1" dirty="0"/>
              <a:t> Current Peers vs Evaluation Criteria</a:t>
            </a:r>
          </a:p>
        </p:txBody>
      </p:sp>
      <p:sp>
        <p:nvSpPr>
          <p:cNvPr id="6" name="TextBox 5">
            <a:extLst>
              <a:ext uri="{FF2B5EF4-FFF2-40B4-BE49-F238E27FC236}">
                <a16:creationId xmlns:a16="http://schemas.microsoft.com/office/drawing/2014/main" id="{DE368CFE-C6CD-4479-6323-0D8E52191EAC}"/>
              </a:ext>
            </a:extLst>
          </p:cNvPr>
          <p:cNvSpPr txBox="1"/>
          <p:nvPr/>
        </p:nvSpPr>
        <p:spPr>
          <a:xfrm>
            <a:off x="545660" y="5880038"/>
            <a:ext cx="614702" cy="230832"/>
          </a:xfrm>
          <a:prstGeom prst="rect">
            <a:avLst/>
          </a:prstGeom>
          <a:noFill/>
          <a:ln>
            <a:noFill/>
          </a:ln>
        </p:spPr>
        <p:txBody>
          <a:bodyPr wrap="square" rtlCol="0" anchor="ctr">
            <a:spAutoFit/>
          </a:bodyPr>
          <a:lstStyle/>
          <a:p>
            <a:r>
              <a:rPr lang="en-US" sz="900" b="1" i="1"/>
              <a:t>Key:</a:t>
            </a:r>
          </a:p>
        </p:txBody>
      </p:sp>
      <p:graphicFrame>
        <p:nvGraphicFramePr>
          <p:cNvPr id="7" name="Table 14">
            <a:extLst>
              <a:ext uri="{FF2B5EF4-FFF2-40B4-BE49-F238E27FC236}">
                <a16:creationId xmlns:a16="http://schemas.microsoft.com/office/drawing/2014/main" id="{6A90AC3F-20F7-B1A2-D28C-2D2863471F10}"/>
              </a:ext>
            </a:extLst>
          </p:cNvPr>
          <p:cNvGraphicFramePr>
            <a:graphicFrameLocks noGrp="1"/>
          </p:cNvGraphicFramePr>
          <p:nvPr>
            <p:extLst>
              <p:ext uri="{D42A27DB-BD31-4B8C-83A1-F6EECF244321}">
                <p14:modId xmlns:p14="http://schemas.microsoft.com/office/powerpoint/2010/main" val="973627855"/>
              </p:ext>
            </p:extLst>
          </p:nvPr>
        </p:nvGraphicFramePr>
        <p:xfrm>
          <a:off x="2488398" y="5926874"/>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bl>
          </a:graphicData>
        </a:graphic>
      </p:graphicFrame>
      <p:graphicFrame>
        <p:nvGraphicFramePr>
          <p:cNvPr id="8" name="Table 14">
            <a:extLst>
              <a:ext uri="{FF2B5EF4-FFF2-40B4-BE49-F238E27FC236}">
                <a16:creationId xmlns:a16="http://schemas.microsoft.com/office/drawing/2014/main" id="{3C638637-A9E1-D479-AD2F-8948A9E5FF1D}"/>
              </a:ext>
            </a:extLst>
          </p:cNvPr>
          <p:cNvGraphicFramePr>
            <a:graphicFrameLocks noGrp="1"/>
          </p:cNvGraphicFramePr>
          <p:nvPr>
            <p:extLst>
              <p:ext uri="{D42A27DB-BD31-4B8C-83A1-F6EECF244321}">
                <p14:modId xmlns:p14="http://schemas.microsoft.com/office/powerpoint/2010/main" val="626055684"/>
              </p:ext>
            </p:extLst>
          </p:nvPr>
        </p:nvGraphicFramePr>
        <p:xfrm>
          <a:off x="7317665" y="5926874"/>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r>
                        <a:rPr lang="en-US" sz="900"/>
                        <a:t> Does not meet criterion</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601939"/>
                  </a:ext>
                </a:extLst>
              </a:tr>
            </a:tbl>
          </a:graphicData>
        </a:graphic>
      </p:graphicFrame>
      <p:graphicFrame>
        <p:nvGraphicFramePr>
          <p:cNvPr id="9" name="Table 8">
            <a:extLst>
              <a:ext uri="{FF2B5EF4-FFF2-40B4-BE49-F238E27FC236}">
                <a16:creationId xmlns:a16="http://schemas.microsoft.com/office/drawing/2014/main" id="{A3721137-DE2B-37F9-DAB3-C6032B6111C7}"/>
              </a:ext>
            </a:extLst>
          </p:cNvPr>
          <p:cNvGraphicFramePr>
            <a:graphicFrameLocks noGrp="1"/>
          </p:cNvGraphicFramePr>
          <p:nvPr>
            <p:extLst>
              <p:ext uri="{D42A27DB-BD31-4B8C-83A1-F6EECF244321}">
                <p14:modId xmlns:p14="http://schemas.microsoft.com/office/powerpoint/2010/main" val="2644924289"/>
              </p:ext>
            </p:extLst>
          </p:nvPr>
        </p:nvGraphicFramePr>
        <p:xfrm>
          <a:off x="129888" y="1573409"/>
          <a:ext cx="8967252" cy="4270248"/>
        </p:xfrm>
        <a:graphic>
          <a:graphicData uri="http://schemas.openxmlformats.org/drawingml/2006/table">
            <a:tbl>
              <a:tblPr/>
              <a:tblGrid>
                <a:gridCol w="1005840">
                  <a:extLst>
                    <a:ext uri="{9D8B030D-6E8A-4147-A177-3AD203B41FA5}">
                      <a16:colId xmlns:a16="http://schemas.microsoft.com/office/drawing/2014/main" val="622012959"/>
                    </a:ext>
                  </a:extLst>
                </a:gridCol>
                <a:gridCol w="434823">
                  <a:extLst>
                    <a:ext uri="{9D8B030D-6E8A-4147-A177-3AD203B41FA5}">
                      <a16:colId xmlns:a16="http://schemas.microsoft.com/office/drawing/2014/main" val="1508796440"/>
                    </a:ext>
                  </a:extLst>
                </a:gridCol>
                <a:gridCol w="434823">
                  <a:extLst>
                    <a:ext uri="{9D8B030D-6E8A-4147-A177-3AD203B41FA5}">
                      <a16:colId xmlns:a16="http://schemas.microsoft.com/office/drawing/2014/main" val="1714278704"/>
                    </a:ext>
                  </a:extLst>
                </a:gridCol>
                <a:gridCol w="434823">
                  <a:extLst>
                    <a:ext uri="{9D8B030D-6E8A-4147-A177-3AD203B41FA5}">
                      <a16:colId xmlns:a16="http://schemas.microsoft.com/office/drawing/2014/main" val="1350400205"/>
                    </a:ext>
                  </a:extLst>
                </a:gridCol>
                <a:gridCol w="434823">
                  <a:extLst>
                    <a:ext uri="{9D8B030D-6E8A-4147-A177-3AD203B41FA5}">
                      <a16:colId xmlns:a16="http://schemas.microsoft.com/office/drawing/2014/main" val="2017494284"/>
                    </a:ext>
                  </a:extLst>
                </a:gridCol>
                <a:gridCol w="434823">
                  <a:extLst>
                    <a:ext uri="{9D8B030D-6E8A-4147-A177-3AD203B41FA5}">
                      <a16:colId xmlns:a16="http://schemas.microsoft.com/office/drawing/2014/main" val="3296180336"/>
                    </a:ext>
                  </a:extLst>
                </a:gridCol>
                <a:gridCol w="434823">
                  <a:extLst>
                    <a:ext uri="{9D8B030D-6E8A-4147-A177-3AD203B41FA5}">
                      <a16:colId xmlns:a16="http://schemas.microsoft.com/office/drawing/2014/main" val="3361456056"/>
                    </a:ext>
                  </a:extLst>
                </a:gridCol>
                <a:gridCol w="434823">
                  <a:extLst>
                    <a:ext uri="{9D8B030D-6E8A-4147-A177-3AD203B41FA5}">
                      <a16:colId xmlns:a16="http://schemas.microsoft.com/office/drawing/2014/main" val="3131891626"/>
                    </a:ext>
                  </a:extLst>
                </a:gridCol>
                <a:gridCol w="548640">
                  <a:extLst>
                    <a:ext uri="{9D8B030D-6E8A-4147-A177-3AD203B41FA5}">
                      <a16:colId xmlns:a16="http://schemas.microsoft.com/office/drawing/2014/main" val="2601643439"/>
                    </a:ext>
                  </a:extLst>
                </a:gridCol>
                <a:gridCol w="521788">
                  <a:extLst>
                    <a:ext uri="{9D8B030D-6E8A-4147-A177-3AD203B41FA5}">
                      <a16:colId xmlns:a16="http://schemas.microsoft.com/office/drawing/2014/main" val="3165801263"/>
                    </a:ext>
                  </a:extLst>
                </a:gridCol>
                <a:gridCol w="521788">
                  <a:extLst>
                    <a:ext uri="{9D8B030D-6E8A-4147-A177-3AD203B41FA5}">
                      <a16:colId xmlns:a16="http://schemas.microsoft.com/office/drawing/2014/main" val="913644262"/>
                    </a:ext>
                  </a:extLst>
                </a:gridCol>
                <a:gridCol w="434823">
                  <a:extLst>
                    <a:ext uri="{9D8B030D-6E8A-4147-A177-3AD203B41FA5}">
                      <a16:colId xmlns:a16="http://schemas.microsoft.com/office/drawing/2014/main" val="1781673758"/>
                    </a:ext>
                  </a:extLst>
                </a:gridCol>
                <a:gridCol w="347859">
                  <a:extLst>
                    <a:ext uri="{9D8B030D-6E8A-4147-A177-3AD203B41FA5}">
                      <a16:colId xmlns:a16="http://schemas.microsoft.com/office/drawing/2014/main" val="973255869"/>
                    </a:ext>
                  </a:extLst>
                </a:gridCol>
                <a:gridCol w="434823">
                  <a:extLst>
                    <a:ext uri="{9D8B030D-6E8A-4147-A177-3AD203B41FA5}">
                      <a16:colId xmlns:a16="http://schemas.microsoft.com/office/drawing/2014/main" val="3529758529"/>
                    </a:ext>
                  </a:extLst>
                </a:gridCol>
                <a:gridCol w="521788">
                  <a:extLst>
                    <a:ext uri="{9D8B030D-6E8A-4147-A177-3AD203B41FA5}">
                      <a16:colId xmlns:a16="http://schemas.microsoft.com/office/drawing/2014/main" val="2018310327"/>
                    </a:ext>
                  </a:extLst>
                </a:gridCol>
                <a:gridCol w="330209">
                  <a:extLst>
                    <a:ext uri="{9D8B030D-6E8A-4147-A177-3AD203B41FA5}">
                      <a16:colId xmlns:a16="http://schemas.microsoft.com/office/drawing/2014/main" val="323064083"/>
                    </a:ext>
                  </a:extLst>
                </a:gridCol>
                <a:gridCol w="165104">
                  <a:extLst>
                    <a:ext uri="{9D8B030D-6E8A-4147-A177-3AD203B41FA5}">
                      <a16:colId xmlns:a16="http://schemas.microsoft.com/office/drawing/2014/main" val="470051971"/>
                    </a:ext>
                  </a:extLst>
                </a:gridCol>
                <a:gridCol w="330209">
                  <a:extLst>
                    <a:ext uri="{9D8B030D-6E8A-4147-A177-3AD203B41FA5}">
                      <a16:colId xmlns:a16="http://schemas.microsoft.com/office/drawing/2014/main" val="767653357"/>
                    </a:ext>
                  </a:extLst>
                </a:gridCol>
                <a:gridCol w="412761">
                  <a:extLst>
                    <a:ext uri="{9D8B030D-6E8A-4147-A177-3AD203B41FA5}">
                      <a16:colId xmlns:a16="http://schemas.microsoft.com/office/drawing/2014/main" val="2451576078"/>
                    </a:ext>
                  </a:extLst>
                </a:gridCol>
                <a:gridCol w="347859">
                  <a:extLst>
                    <a:ext uri="{9D8B030D-6E8A-4147-A177-3AD203B41FA5}">
                      <a16:colId xmlns:a16="http://schemas.microsoft.com/office/drawing/2014/main" val="3204437892"/>
                    </a:ext>
                  </a:extLst>
                </a:gridCol>
              </a:tblGrid>
              <a:tr h="147882">
                <a:tc>
                  <a:txBody>
                    <a:bodyPr/>
                    <a:lstStyle/>
                    <a:p>
                      <a:pPr algn="l" fontAlgn="b"/>
                      <a:r>
                        <a:rPr lang="en-US" sz="900" b="1" i="1" u="none" strike="noStrike" dirty="0">
                          <a:solidFill>
                            <a:srgbClr val="FFFFFF"/>
                          </a:solidFill>
                          <a:effectLst/>
                          <a:latin typeface="Calibri" panose="020F0502020204030204" pitchFamily="34" charset="0"/>
                        </a:rPr>
                        <a:t>($MMs)</a:t>
                      </a:r>
                    </a:p>
                  </a:txBody>
                  <a:tcPr marL="0" marR="0"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rowSpan="3">
                  <a:txBody>
                    <a:bodyPr/>
                    <a:lstStyle/>
                    <a:p>
                      <a:pPr algn="ctr" rtl="0" fontAlgn="b"/>
                      <a:r>
                        <a:rPr lang="en-US" sz="900" b="1" i="0" u="none" strike="noStrike">
                          <a:solidFill>
                            <a:srgbClr val="FFFFFF"/>
                          </a:solidFill>
                          <a:effectLst/>
                          <a:latin typeface="Calibri" panose="020F0502020204030204" pitchFamily="34" charset="0"/>
                        </a:rPr>
                        <a:t>FYE Rev.</a:t>
                      </a:r>
                    </a:p>
                    <a:p>
                      <a:pPr algn="ctr" rtl="0" fontAlgn="b"/>
                      <a:r>
                        <a:rPr lang="en-US" sz="900" b="1" i="0" u="none" strike="noStrike">
                          <a:solidFill>
                            <a:srgbClr val="FFFFFF"/>
                          </a:solidFill>
                          <a:effectLst/>
                          <a:latin typeface="Calibri" panose="020F0502020204030204" pitchFamily="34" charset="0"/>
                        </a:rPr>
                        <a:t>3-Yr CAGR</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3">
                  <a:txBody>
                    <a:bodyPr/>
                    <a:lstStyle/>
                    <a:p>
                      <a:pPr algn="ctr" fontAlgn="b"/>
                      <a:r>
                        <a:rPr lang="en-US" sz="900" b="1" i="0" u="none" strike="noStrike">
                          <a:solidFill>
                            <a:srgbClr val="FFFFFF"/>
                          </a:solidFill>
                          <a:effectLst/>
                          <a:latin typeface="Calibri" panose="020F0502020204030204" pitchFamily="34" charset="0"/>
                        </a:rPr>
                        <a:t>TSR as of 3/1/26</a:t>
                      </a:r>
                    </a:p>
                    <a:p>
                      <a:pPr algn="ctr" fontAlgn="b"/>
                      <a:r>
                        <a:rPr lang="en-US" sz="900" b="1" i="0" u="none" strike="noStrike">
                          <a:solidFill>
                            <a:srgbClr val="FFFFFF"/>
                          </a:solidFill>
                          <a:effectLst/>
                          <a:latin typeface="Calibri" panose="020F0502020204030204" pitchFamily="34" charset="0"/>
                        </a:rPr>
                        <a:t>3-Yr CAGR</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3">
                  <a:txBody>
                    <a:bodyPr/>
                    <a:lstStyle/>
                    <a:p>
                      <a:pPr algn="ctr" rtl="0" fontAlgn="b"/>
                      <a:r>
                        <a:rPr lang="en-US" sz="900" b="1" i="0" u="none" strike="noStrike">
                          <a:solidFill>
                            <a:srgbClr val="FFFFFF"/>
                          </a:solidFill>
                          <a:effectLst/>
                          <a:latin typeface="Calibri" panose="020F0502020204030204" pitchFamily="34" charset="0"/>
                        </a:rPr>
                        <a:t>Market Cap as of 3/1/26</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3">
                  <a:txBody>
                    <a:bodyPr/>
                    <a:lstStyle/>
                    <a:p>
                      <a:pPr marL="0" marR="0" lvl="0" indent="0" algn="ctr" defTabSz="914378" rtl="0" eaLnBrk="1" fontAlgn="b" latinLnBrk="0" hangingPunct="1">
                        <a:lnSpc>
                          <a:spcPct val="100000"/>
                        </a:lnSpc>
                        <a:spcBef>
                          <a:spcPts val="0"/>
                        </a:spcBef>
                        <a:spcAft>
                          <a:spcPts val="0"/>
                        </a:spcAft>
                        <a:buClrTx/>
                        <a:buSzTx/>
                        <a:buFontTx/>
                        <a:buNone/>
                        <a:tabLst/>
                        <a:defRPr/>
                      </a:pPr>
                      <a:r>
                        <a:rPr lang="en-US" sz="900" b="1" i="0" u="none" strike="noStrike">
                          <a:solidFill>
                            <a:srgbClr val="FFFFFF"/>
                          </a:solidFill>
                          <a:effectLst/>
                          <a:latin typeface="Calibri" panose="020F0502020204030204" pitchFamily="34" charset="0"/>
                        </a:rPr>
                        <a:t>Market Cap to Revenue</a:t>
                      </a:r>
                    </a:p>
                  </a:txBody>
                  <a:tcPr marL="0" marR="0" marT="9144" marB="9144" anchor="b">
                    <a:lnL>
                      <a:noFill/>
                    </a:lnL>
                    <a:lnR>
                      <a:noFill/>
                    </a:lnR>
                    <a:lnT w="6350" cap="flat" cmpd="sng" algn="ctr">
                      <a:solidFill>
                        <a:srgbClr val="000000"/>
                      </a:solidFill>
                      <a:prstDash val="solid"/>
                      <a:round/>
                      <a:headEnd type="none" w="med" len="med"/>
                      <a:tailEnd type="none" w="med" len="med"/>
                    </a:lnT>
                    <a:solidFill>
                      <a:srgbClr val="006EBE"/>
                    </a:solidFill>
                  </a:tcPr>
                </a:tc>
                <a:tc gridSpan="12">
                  <a:txBody>
                    <a:bodyPr/>
                    <a:lstStyle/>
                    <a:p>
                      <a:pPr algn="ctr" fontAlgn="b"/>
                      <a:r>
                        <a:rPr lang="en-US" sz="900" b="1" i="0" u="none" strike="noStrike">
                          <a:solidFill>
                            <a:srgbClr val="FFFFFF"/>
                          </a:solidFill>
                          <a:effectLst/>
                          <a:latin typeface="Calibri" panose="020F0502020204030204" pitchFamily="34" charset="0"/>
                        </a:rPr>
                        <a:t>Business Model Criteria</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3">
                  <a:txBody>
                    <a:bodyPr/>
                    <a:lstStyle/>
                    <a:p>
                      <a:pPr algn="ctr" rtl="0" fontAlgn="b"/>
                      <a:r>
                        <a:rPr lang="en-US" sz="900" b="1" i="0" u="none" strike="noStrike">
                          <a:solidFill>
                            <a:srgbClr val="FFFFFF"/>
                          </a:solidFill>
                          <a:effectLst/>
                          <a:latin typeface="Calibri" panose="020F0502020204030204" pitchFamily="34" charset="0"/>
                        </a:rPr>
                        <a:t>Bus. Model Count</a:t>
                      </a:r>
                    </a:p>
                  </a:txBody>
                  <a:tcPr marL="0" marR="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069540251"/>
                  </a:ext>
                </a:extLst>
              </a:tr>
              <a:tr h="147882">
                <a:tc>
                  <a:txBody>
                    <a:bodyPr/>
                    <a:lstStyle/>
                    <a:p>
                      <a:pPr algn="l" rtl="0" fontAlgn="t"/>
                      <a:r>
                        <a:rPr lang="en-US" sz="900" b="1" i="0" u="none" strike="noStrike">
                          <a:solidFill>
                            <a:srgbClr val="FFFFFF"/>
                          </a:solidFill>
                          <a:effectLst/>
                          <a:latin typeface="Calibri" panose="020F0502020204030204" pitchFamily="34" charset="0"/>
                        </a:rPr>
                        <a:t> </a:t>
                      </a:r>
                    </a:p>
                  </a:txBody>
                  <a:tcPr marL="0" marR="0" marT="9144" marB="9144">
                    <a:lnL>
                      <a:noFill/>
                    </a:lnL>
                    <a:lnR>
                      <a:noFill/>
                    </a:lnR>
                    <a:lnT>
                      <a:noFill/>
                    </a:lnT>
                    <a:lnB>
                      <a:noFill/>
                    </a:lnB>
                    <a:solidFill>
                      <a:srgbClr val="006EBE"/>
                    </a:solidFill>
                  </a:tcPr>
                </a:tc>
                <a:tc>
                  <a:txBody>
                    <a:bodyPr/>
                    <a:lstStyle/>
                    <a:p>
                      <a:pPr algn="l" rtl="0" fontAlgn="t"/>
                      <a:r>
                        <a:rPr lang="en-US" sz="900" b="1" i="0" u="none" strike="noStrike">
                          <a:solidFill>
                            <a:srgbClr val="FFFFFF"/>
                          </a:solidFill>
                          <a:effectLst/>
                          <a:latin typeface="Calibri" panose="020F0502020204030204" pitchFamily="34" charset="0"/>
                        </a:rPr>
                        <a:t> </a:t>
                      </a:r>
                    </a:p>
                  </a:txBody>
                  <a:tcPr marL="0" marR="0" marT="9144" marB="9144">
                    <a:lnL>
                      <a:noFill/>
                    </a:lnL>
                    <a:lnR>
                      <a:noFill/>
                    </a:lnR>
                    <a:lnT>
                      <a:noFill/>
                    </a:lnT>
                    <a:lnB>
                      <a:noFill/>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FYE </a:t>
                      </a:r>
                    </a:p>
                    <a:p>
                      <a:pPr algn="ctr" rtl="0" fontAlgn="b"/>
                      <a:r>
                        <a:rPr lang="en-US" sz="900" b="1" i="0" u="none" strike="noStrike">
                          <a:solidFill>
                            <a:srgbClr val="FFFFFF"/>
                          </a:solidFill>
                          <a:effectLst/>
                          <a:latin typeface="Calibri" panose="020F0502020204030204" pitchFamily="34" charset="0"/>
                        </a:rPr>
                        <a:t>Rev.</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rtl="0" fontAlgn="b"/>
                      <a:endParaRPr lang="en-US" sz="900" b="1" i="0" u="none" strike="noStrike">
                        <a:solidFill>
                          <a:srgbClr val="FFFFFF"/>
                        </a:solidFill>
                        <a:effectLst/>
                        <a:latin typeface="Calibri" panose="020F0502020204030204" pitchFamily="34" charset="0"/>
                      </a:endParaRP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Majority Direct Sales</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Proprietary Product</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Integrated Platforms</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rowSpan="2">
                  <a:txBody>
                    <a:bodyPr/>
                    <a:lstStyle/>
                    <a:p>
                      <a:pPr algn="ctr" rtl="0" fontAlgn="b"/>
                      <a:r>
                        <a:rPr lang="en-US" sz="900" b="1" i="0" u="none" strike="noStrike">
                          <a:solidFill>
                            <a:srgbClr val="FFFFFF"/>
                          </a:solidFill>
                          <a:effectLst/>
                          <a:latin typeface="Calibri" panose="020F0502020204030204" pitchFamily="34" charset="0"/>
                        </a:rPr>
                        <a:t>Diagnostic </a:t>
                      </a:r>
                    </a:p>
                    <a:p>
                      <a:pPr algn="ctr" rtl="0" fontAlgn="b"/>
                      <a:r>
                        <a:rPr lang="en-US" sz="900" b="1" i="0" u="none" strike="noStrike">
                          <a:solidFill>
                            <a:srgbClr val="FFFFFF"/>
                          </a:solidFill>
                          <a:effectLst/>
                          <a:latin typeface="Calibri" panose="020F0502020204030204" pitchFamily="34" charset="0"/>
                        </a:rPr>
                        <a:t>Support </a:t>
                      </a:r>
                    </a:p>
                    <a:p>
                      <a:pPr algn="ctr" rtl="0" fontAlgn="b"/>
                      <a:r>
                        <a:rPr lang="en-US" sz="900" b="1" i="0" u="none" strike="noStrike">
                          <a:solidFill>
                            <a:srgbClr val="FFFFFF"/>
                          </a:solidFill>
                          <a:effectLst/>
                          <a:latin typeface="Calibri" panose="020F0502020204030204" pitchFamily="34" charset="0"/>
                        </a:rPr>
                        <a:t>&amp; Service</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 </a:t>
                      </a: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a:txBody>
                    <a:bodyPr/>
                    <a:lstStyle/>
                    <a:p>
                      <a:pPr algn="ctr" rtl="0" fontAlgn="b"/>
                      <a:endParaRPr lang="en-US" sz="900" b="1" i="0" u="none" strike="noStrike">
                        <a:solidFill>
                          <a:srgbClr val="FFFFFF"/>
                        </a:solidFill>
                        <a:effectLst/>
                        <a:latin typeface="Calibri" panose="020F0502020204030204" pitchFamily="34" charset="0"/>
                      </a:endParaRP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 </a:t>
                      </a: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 </a:t>
                      </a:r>
                    </a:p>
                  </a:txBody>
                  <a:tcPr marL="0" marR="0" marT="9144" marB="9144" anchor="b">
                    <a:lnL>
                      <a:noFill/>
                    </a:lnL>
                    <a:lnR>
                      <a:noFill/>
                    </a:lnR>
                    <a:lnT w="6350" cap="flat" cmpd="sng" algn="ctr">
                      <a:solidFill>
                        <a:schemeClr val="bg1"/>
                      </a:solidFill>
                      <a:prstDash val="solid"/>
                      <a:round/>
                      <a:headEnd type="none" w="med" len="med"/>
                      <a:tailEnd type="none" w="med" len="med"/>
                    </a:lnT>
                    <a:lnB>
                      <a:noFill/>
                    </a:lnB>
                    <a:solidFill>
                      <a:srgbClr val="006EBE"/>
                    </a:solidFill>
                  </a:tcPr>
                </a:tc>
                <a:tc gridSpan="3">
                  <a:txBody>
                    <a:bodyPr/>
                    <a:lstStyle/>
                    <a:p>
                      <a:pPr algn="ctr" rtl="0" fontAlgn="b"/>
                      <a:r>
                        <a:rPr lang="en-US" sz="900" b="1" i="0" u="none" strike="noStrike">
                          <a:solidFill>
                            <a:srgbClr val="FFFFFF"/>
                          </a:solidFill>
                          <a:effectLst/>
                          <a:latin typeface="Calibri" panose="020F0502020204030204" pitchFamily="34" charset="0"/>
                        </a:rPr>
                        <a:t>Int'l Presence</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tc>
                <a:tc rowSpan="2">
                  <a:txBody>
                    <a:bodyPr/>
                    <a:lstStyle/>
                    <a:p>
                      <a:pPr algn="ctr" rtl="0" fontAlgn="b"/>
                      <a:r>
                        <a:rPr lang="en-US" sz="900" b="1" i="0" u="none" strike="noStrike">
                          <a:solidFill>
                            <a:srgbClr val="FFFFFF"/>
                          </a:solidFill>
                          <a:effectLst/>
                          <a:latin typeface="Calibri" panose="020F0502020204030204" pitchFamily="34" charset="0"/>
                        </a:rPr>
                        <a:t>Animal Health Related</a:t>
                      </a:r>
                    </a:p>
                  </a:txBody>
                  <a:tcPr marL="0" marR="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extLst>
                  <a:ext uri="{0D108BD9-81ED-4DB2-BD59-A6C34878D82A}">
                    <a16:rowId xmlns:a16="http://schemas.microsoft.com/office/drawing/2014/main" val="1049663808"/>
                  </a:ext>
                </a:extLst>
              </a:tr>
              <a:tr h="408850">
                <a:tc>
                  <a:txBody>
                    <a:bodyPr/>
                    <a:lstStyle/>
                    <a:p>
                      <a:pPr algn="ctr" rtl="0" fontAlgn="b"/>
                      <a:r>
                        <a:rPr lang="en-US" sz="900" b="1" i="0" u="none" strike="noStrike">
                          <a:solidFill>
                            <a:srgbClr val="FFFFFF"/>
                          </a:solidFill>
                          <a:effectLst/>
                          <a:latin typeface="Calibri" panose="020F0502020204030204" pitchFamily="34" charset="0"/>
                        </a:rPr>
                        <a:t>Company Name</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Primary </a:t>
                      </a:r>
                    </a:p>
                    <a:p>
                      <a:pPr algn="ctr" rtl="0" fontAlgn="b"/>
                      <a:r>
                        <a:rPr lang="en-US" sz="900" b="1" i="0" u="none" strike="noStrike">
                          <a:solidFill>
                            <a:srgbClr val="FFFFFF"/>
                          </a:solidFill>
                          <a:effectLst/>
                          <a:latin typeface="Calibri" panose="020F0502020204030204" pitchFamily="34" charset="0"/>
                        </a:rPr>
                        <a:t>Industry</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b"/>
                      <a:r>
                        <a:rPr lang="en-US" sz="900" b="1" i="0" u="none" strike="noStrike">
                          <a:solidFill>
                            <a:srgbClr val="FFFFFF"/>
                          </a:solidFill>
                          <a:effectLst/>
                          <a:latin typeface="Calibri" panose="020F0502020204030204" pitchFamily="34" charset="0"/>
                        </a:rPr>
                        <a:t>Majority B2B; B2C a Plus</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R&amp;D</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Manu-facturer </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Recurring </a:t>
                      </a:r>
                    </a:p>
                    <a:p>
                      <a:pPr algn="ctr" rtl="0" fontAlgn="b"/>
                      <a:r>
                        <a:rPr lang="en-US" sz="900" b="1" i="0" u="none" strike="noStrike">
                          <a:solidFill>
                            <a:srgbClr val="FFFFFF"/>
                          </a:solidFill>
                          <a:effectLst/>
                          <a:latin typeface="Calibri" panose="020F0502020204030204" pitchFamily="34" charset="0"/>
                        </a:rPr>
                        <a:t>Rev.</a:t>
                      </a:r>
                    </a:p>
                  </a:txBody>
                  <a:tcPr marL="0" marR="0"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Int'l % of Rev.</a:t>
                      </a:r>
                    </a:p>
                  </a:txBody>
                  <a:tcPr marL="0" marR="0" marT="9144"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000000"/>
                          </a:solidFill>
                          <a:effectLst/>
                          <a:latin typeface="Calibri" panose="020F0502020204030204" pitchFamily="34" charset="0"/>
                        </a:rPr>
                        <a:t> </a:t>
                      </a:r>
                    </a:p>
                  </a:txBody>
                  <a:tcPr marL="0" marR="0" marT="9144"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900" b="1" i="0" u="none" strike="noStrike">
                          <a:solidFill>
                            <a:srgbClr val="FFFFFF"/>
                          </a:solidFill>
                          <a:effectLst/>
                          <a:latin typeface="Calibri" panose="020F0502020204030204" pitchFamily="34" charset="0"/>
                        </a:rPr>
                        <a:t>Int'l 3-Yr Rev. CAGR</a:t>
                      </a:r>
                    </a:p>
                  </a:txBody>
                  <a:tcPr marL="0" marR="0" marT="9144" marB="9144"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633296137"/>
                  </a:ext>
                </a:extLst>
              </a:tr>
              <a:tr h="147882">
                <a:tc>
                  <a:txBody>
                    <a:bodyPr/>
                    <a:lstStyle/>
                    <a:p>
                      <a:pPr algn="l" fontAlgn="b"/>
                      <a:r>
                        <a:rPr lang="en-US" sz="900" b="1" i="1"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endParaRPr lang="en-US" sz="900" b="0" i="0" u="none" strike="noStrike">
                        <a:effectLst/>
                        <a:latin typeface="Calibri" panose="020F0502020204030204" pitchFamily="34" charset="0"/>
                      </a:endParaRPr>
                    </a:p>
                  </a:txBody>
                  <a:tcPr marL="0" marR="0" marT="9144" marB="9144" anchor="ctr">
                    <a:lnL>
                      <a:noFill/>
                    </a:lnL>
                    <a:lnR>
                      <a:noFill/>
                    </a:lnR>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endParaRPr lang="en-US" sz="900" b="0" i="0" u="none" strike="noStrike">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5%</a:t>
                      </a:r>
                      <a:endParaRPr lang="en-US" sz="900" b="0" i="0" u="none" strike="noStrike">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900" b="0"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30%</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none" strike="noStrike">
                          <a:effectLst/>
                          <a:latin typeface="Calibri" panose="020F0502020204030204" pitchFamily="34" charset="0"/>
                        </a:rPr>
                        <a:t>or</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10%</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none" strike="noStrike">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1" i="0" u="sng" strike="noStrike">
                          <a:effectLst/>
                          <a:latin typeface="Calibri" panose="020F0502020204030204" pitchFamily="34" charset="0"/>
                        </a:rPr>
                        <a:t>&gt;</a:t>
                      </a:r>
                      <a:r>
                        <a:rPr lang="en-US" sz="900" b="1" i="0" u="none" strike="noStrike">
                          <a:effectLst/>
                          <a:latin typeface="Calibri" panose="020F0502020204030204" pitchFamily="34" charset="0"/>
                        </a:rPr>
                        <a:t> 6</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725892395"/>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Intuitive</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$10,065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30%</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$178,812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17.8X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13%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32%</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16%</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942545711"/>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Zoetis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P</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$9,467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$55,341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5.8X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7%</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46%</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395156327"/>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Agilent</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$6,948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0%</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$34,314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4.9X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7%</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60%</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0%</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noFill/>
                  </a:tcPr>
                </a:tc>
                <a:extLst>
                  <a:ext uri="{0D108BD9-81ED-4DB2-BD59-A6C34878D82A}">
                    <a16:rowId xmlns:a16="http://schemas.microsoft.com/office/drawing/2014/main" val="3568532183"/>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Edwards Lifesciences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$6,068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11%</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$50,222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8.3X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18%</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42%</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6</a:t>
                      </a:r>
                    </a:p>
                  </a:txBody>
                  <a:tcPr marL="0" marR="0" marT="0" marB="0" anchor="b">
                    <a:lnL>
                      <a:noFill/>
                    </a:lnL>
                    <a:lnR>
                      <a:noFill/>
                    </a:lnR>
                    <a:lnT>
                      <a:noFill/>
                    </a:lnT>
                    <a:lnB>
                      <a:noFill/>
                    </a:lnB>
                    <a:solidFill>
                      <a:schemeClr val="bg1">
                        <a:lumMod val="95000"/>
                      </a:schemeClr>
                    </a:solidFill>
                  </a:tcPr>
                </a:tc>
                <a:extLst>
                  <a:ext uri="{0D108BD9-81ED-4DB2-BD59-A6C34878D82A}">
                    <a16:rowId xmlns:a16="http://schemas.microsoft.com/office/drawing/2014/main" val="3724615379"/>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STERIS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$5,460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$24,749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4.5X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2%</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27%</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0" marB="0" anchor="b">
                    <a:lnL>
                      <a:noFill/>
                    </a:lnL>
                    <a:lnR>
                      <a:noFill/>
                    </a:lnR>
                    <a:lnT>
                      <a:noFill/>
                    </a:lnT>
                    <a:lnB>
                      <a:noFill/>
                    </a:lnB>
                    <a:noFill/>
                  </a:tcPr>
                </a:tc>
                <a:extLst>
                  <a:ext uri="{0D108BD9-81ED-4DB2-BD59-A6C34878D82A}">
                    <a16:rowId xmlns:a16="http://schemas.microsoft.com/office/drawing/2014/main" val="2485509275"/>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ResMed</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$5,146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$37,332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7.3X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7%</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36%</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12%</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042485748"/>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Elanco</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P</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$4,715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33%</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$13,125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2.8X</a:t>
                      </a:r>
                    </a:p>
                  </a:txBody>
                  <a:tcPr marL="0" marR="0" marT="0" marB="0" anchor="b">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8%</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53%</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0%</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a:t>
                      </a:r>
                    </a:p>
                  </a:txBody>
                  <a:tcPr marL="0" marR="0" marT="0" marB="0" anchor="b">
                    <a:lnL>
                      <a:noFill/>
                    </a:lnL>
                    <a:lnR>
                      <a:noFill/>
                    </a:lnR>
                    <a:lnT>
                      <a:noFill/>
                    </a:lnT>
                    <a:lnB>
                      <a:noFill/>
                    </a:lnB>
                    <a:noFill/>
                  </a:tcPr>
                </a:tc>
                <a:extLst>
                  <a:ext uri="{0D108BD9-81ED-4DB2-BD59-A6C34878D82A}">
                    <a16:rowId xmlns:a16="http://schemas.microsoft.com/office/drawing/2014/main" val="2332298446"/>
                  </a:ext>
                </a:extLst>
              </a:tr>
              <a:tr h="147882">
                <a:tc>
                  <a:txBody>
                    <a:bodyPr/>
                    <a:lstStyle/>
                    <a:p>
                      <a:pPr algn="l" rtl="0" fontAlgn="b">
                        <a:buNone/>
                      </a:pPr>
                      <a:r>
                        <a:rPr lang="en-US" sz="900" b="0" i="0" u="none" strike="noStrike" dirty="0" err="1">
                          <a:solidFill>
                            <a:schemeClr val="tx1"/>
                          </a:solidFill>
                          <a:effectLst/>
                          <a:latin typeface="Calibri" panose="020F0502020204030204" pitchFamily="34" charset="0"/>
                        </a:rPr>
                        <a:t>DexCom</a:t>
                      </a:r>
                      <a:endParaRPr lang="en-US" sz="900" b="0" i="0" u="none" strike="noStrike" dirty="0">
                        <a:solidFill>
                          <a:schemeClr val="tx1"/>
                        </a:solidFill>
                        <a:effectLst/>
                        <a:latin typeface="Calibri" panose="020F0502020204030204" pitchFamily="34" charset="0"/>
                      </a:endParaRP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$4,662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17%</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$28,261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6.1X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13%</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28%</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20%</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775875522"/>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Illumina</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$4,343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$20,559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4.7X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22%</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48%</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noFill/>
                  </a:tcPr>
                </a:tc>
                <a:extLst>
                  <a:ext uri="{0D108BD9-81ED-4DB2-BD59-A6C34878D82A}">
                    <a16:rowId xmlns:a16="http://schemas.microsoft.com/office/drawing/2014/main" val="3855367447"/>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Hologic</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HCE</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$4,101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$16,824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4.1X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15%</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26%</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162973241"/>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Cooper</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HCS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$4,092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$16,325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4.0X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4%</a:t>
                      </a:r>
                    </a:p>
                  </a:txBody>
                  <a:tcPr marL="0" marR="0" marT="0" marB="0"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50%</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21%</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0" marB="0" anchor="b">
                    <a:lnL>
                      <a:noFill/>
                    </a:lnL>
                    <a:lnR>
                      <a:noFill/>
                    </a:lnR>
                    <a:lnT>
                      <a:noFill/>
                    </a:lnT>
                    <a:lnB>
                      <a:noFill/>
                    </a:lnB>
                    <a:noFill/>
                  </a:tcPr>
                </a:tc>
                <a:extLst>
                  <a:ext uri="{0D108BD9-81ED-4DB2-BD59-A6C34878D82A}">
                    <a16:rowId xmlns:a16="http://schemas.microsoft.com/office/drawing/2014/main" val="4245963046"/>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Align</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HCS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$4,035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-15%</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$13,551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3.4X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9%</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highlight>
                          <a:srgbClr val="FFFF00"/>
                        </a:highligh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59%</a:t>
                      </a:r>
                    </a:p>
                  </a:txBody>
                  <a:tcPr marL="0" marR="0" marT="9144" marB="9144" anchor="ctr">
                    <a:lnL>
                      <a:noFill/>
                    </a:lnL>
                    <a:lnR>
                      <a:noFill/>
                    </a:lnR>
                    <a:lnT>
                      <a:noFill/>
                    </a:lnT>
                    <a:lnB>
                      <a:noFill/>
                    </a:lnB>
                    <a:solidFill>
                      <a:schemeClr val="bg1">
                        <a:lumMod val="95000"/>
                      </a:schemeClr>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bg1">
                        <a:lumMod val="95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8</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372183973"/>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Mettler-</a:t>
                      </a:r>
                      <a:r>
                        <a:rPr lang="en-US" sz="900" b="0" i="0" u="none" strike="noStrike" dirty="0" err="1">
                          <a:solidFill>
                            <a:schemeClr val="tx1"/>
                          </a:solidFill>
                          <a:effectLst/>
                          <a:latin typeface="Calibri" panose="020F0502020204030204" pitchFamily="34" charset="0"/>
                        </a:rPr>
                        <a:t>Toldeo</a:t>
                      </a:r>
                      <a:endParaRPr lang="en-US" sz="900" b="0" i="0" u="none" strike="noStrike" dirty="0">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$4,026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$27,778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6.9X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5%</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65%</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8</a:t>
                      </a:r>
                    </a:p>
                  </a:txBody>
                  <a:tcPr marL="0" marR="0" marT="0" marB="0" anchor="b">
                    <a:lnL>
                      <a:noFill/>
                    </a:lnL>
                    <a:lnR>
                      <a:noFill/>
                    </a:lnR>
                    <a:lnT>
                      <a:noFill/>
                    </a:lnT>
                    <a:lnB>
                      <a:noFill/>
                    </a:lnB>
                    <a:noFill/>
                  </a:tcPr>
                </a:tc>
                <a:extLst>
                  <a:ext uri="{0D108BD9-81ED-4DB2-BD59-A6C34878D82A}">
                    <a16:rowId xmlns:a16="http://schemas.microsoft.com/office/drawing/2014/main" val="759630688"/>
                  </a:ext>
                </a:extLst>
              </a:tr>
              <a:tr h="147882">
                <a:tc>
                  <a:txBody>
                    <a:bodyPr/>
                    <a:lstStyle/>
                    <a:p>
                      <a:pPr algn="l" rtl="0" fontAlgn="b">
                        <a:buNone/>
                      </a:pPr>
                      <a:r>
                        <a:rPr lang="en-US" sz="900" b="0" i="0" u="none" strike="noStrike" dirty="0">
                          <a:solidFill>
                            <a:schemeClr val="tx1"/>
                          </a:solidFill>
                          <a:effectLst/>
                          <a:latin typeface="Calibri" panose="020F0502020204030204" pitchFamily="34" charset="0"/>
                        </a:rPr>
                        <a:t>Waters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$3,165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$31,332 </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9.9X</a:t>
                      </a:r>
                    </a:p>
                  </a:txBody>
                  <a:tcPr marL="0" marR="0" marT="0" marB="0" anchor="b">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6%</a:t>
                      </a:r>
                    </a:p>
                  </a:txBody>
                  <a:tcPr marL="0" marR="0" marT="0" marB="0"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69%</a:t>
                      </a:r>
                    </a:p>
                  </a:txBody>
                  <a:tcPr marL="0" marR="0" marT="9144" marB="9144" anchor="ctr">
                    <a:lnL>
                      <a:noFill/>
                    </a:lnL>
                    <a:lnR>
                      <a:noFill/>
                    </a:lnR>
                    <a:lnT>
                      <a:noFill/>
                    </a:lnT>
                    <a:lnB>
                      <a:noFill/>
                    </a:lnB>
                    <a:solidFill>
                      <a:srgbClr val="F2F2F2"/>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a:noFill/>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64381234"/>
                  </a:ext>
                </a:extLst>
              </a:tr>
              <a:tr h="147882">
                <a:tc>
                  <a:txBody>
                    <a:bodyPr/>
                    <a:lstStyle/>
                    <a:p>
                      <a:pPr algn="l" rtl="0" fontAlgn="b">
                        <a:buNone/>
                      </a:pPr>
                      <a:r>
                        <a:rPr lang="en-US" sz="900" b="0" i="0" u="none" strike="noStrike" dirty="0" err="1">
                          <a:solidFill>
                            <a:schemeClr val="tx1"/>
                          </a:solidFill>
                          <a:effectLst/>
                          <a:latin typeface="Calibri" panose="020F0502020204030204" pitchFamily="34" charset="0"/>
                        </a:rPr>
                        <a:t>Revvity</a:t>
                      </a:r>
                      <a:endParaRPr lang="en-US" sz="900" b="0" i="0" u="none" strike="noStrike" dirty="0">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$2,856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-5%</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$10,991 </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3.8X</a:t>
                      </a:r>
                    </a:p>
                  </a:txBody>
                  <a:tcPr marL="0" marR="0" marT="0" marB="0" anchor="b">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8%</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61%</a:t>
                      </a:r>
                    </a:p>
                  </a:txBody>
                  <a:tcPr marL="0" marR="0" marT="9144" marB="9144" anchor="ctr">
                    <a:lnL>
                      <a:noFill/>
                    </a:lnL>
                    <a:lnR>
                      <a:noFill/>
                    </a:lnR>
                    <a:lnT>
                      <a:noFill/>
                    </a:lnT>
                    <a:lnB>
                      <a:noFill/>
                    </a:lnB>
                    <a:no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noFill/>
                  </a:tcPr>
                </a:tc>
                <a:tc>
                  <a:txBody>
                    <a:bodyPr/>
                    <a:lstStyle/>
                    <a:p>
                      <a:pPr algn="ctr" rtl="0" fontAlgn="b">
                        <a:buNone/>
                      </a:pPr>
                      <a:r>
                        <a:rPr lang="en-US" sz="900" b="0" i="0" u="none" strike="noStrike">
                          <a:solidFill>
                            <a:schemeClr val="tx1"/>
                          </a:solidFill>
                          <a:effectLst/>
                          <a:latin typeface="Calibri" panose="020F0502020204030204" pitchFamily="34" charset="0"/>
                        </a:rPr>
                        <a:t>-17%</a:t>
                      </a:r>
                    </a:p>
                  </a:txBody>
                  <a:tcPr marL="0" marR="0" marT="9144" marB="9144" anchor="ctr">
                    <a:lnL>
                      <a:noFill/>
                    </a:lnL>
                    <a:lnR>
                      <a:noFill/>
                    </a:lnR>
                    <a:lnT>
                      <a:noFill/>
                    </a:lnT>
                    <a:lnB>
                      <a:noFill/>
                    </a:lnB>
                    <a:no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a:noFill/>
                    </a:lnB>
                    <a:noFill/>
                  </a:tcPr>
                </a:tc>
                <a:extLst>
                  <a:ext uri="{0D108BD9-81ED-4DB2-BD59-A6C34878D82A}">
                    <a16:rowId xmlns:a16="http://schemas.microsoft.com/office/drawing/2014/main" val="3570109716"/>
                  </a:ext>
                </a:extLst>
              </a:tr>
              <a:tr h="147882">
                <a:tc>
                  <a:txBody>
                    <a:bodyPr/>
                    <a:lstStyle/>
                    <a:p>
                      <a:pPr algn="l" rtl="0" fontAlgn="b">
                        <a:buNone/>
                      </a:pPr>
                      <a:r>
                        <a:rPr lang="en-US" sz="900" b="0" i="0" u="none" strike="noStrike">
                          <a:solidFill>
                            <a:schemeClr val="tx1"/>
                          </a:solidFill>
                          <a:effectLst/>
                          <a:latin typeface="Calibri" panose="020F0502020204030204" pitchFamily="34" charset="0"/>
                        </a:rPr>
                        <a:t>Bio-Rad</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LS</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$2,583 </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-3%</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-16%</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$7,467 </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2.9X</a:t>
                      </a:r>
                    </a:p>
                  </a:txBody>
                  <a:tcPr marL="0" marR="0" marT="0" marB="0" anchor="b">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x</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11%</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ctr">
                        <a:buNone/>
                      </a:pPr>
                      <a:r>
                        <a:rPr lang="en-US" sz="900" b="0" i="0" u="none" strike="noStrike">
                          <a:solidFill>
                            <a:schemeClr val="tx1"/>
                          </a:solidFill>
                          <a:effectLst/>
                          <a:latin typeface="Calibri" panose="020F0502020204030204" pitchFamily="34" charset="0"/>
                        </a:rPr>
                        <a:t>x</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60%</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rgbClr val="F2F2F2"/>
                    </a:solidFill>
                  </a:tcPr>
                </a:tc>
                <a:tc>
                  <a:txBody>
                    <a:bodyPr/>
                    <a:lstStyle/>
                    <a:p>
                      <a:pPr algn="ctr" rtl="0" fontAlgn="b">
                        <a:buNone/>
                      </a:pPr>
                      <a:r>
                        <a:rPr lang="en-US" sz="900" b="0" i="0" u="none" strike="noStrike">
                          <a:solidFill>
                            <a:schemeClr val="tx1"/>
                          </a:solidFill>
                          <a:effectLst/>
                          <a:latin typeface="Calibri" panose="020F0502020204030204" pitchFamily="34" charset="0"/>
                        </a:rPr>
                        <a:t>-2%</a:t>
                      </a: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rtl="0" fontAlgn="b">
                        <a:buNone/>
                      </a:pPr>
                      <a:r>
                        <a:rPr lang="en-US" sz="900" b="0" i="0" u="none" strike="noStrike">
                          <a:solidFill>
                            <a:schemeClr val="tx1"/>
                          </a:solidFill>
                          <a:effectLst/>
                          <a:latin typeface="Calibri" panose="020F0502020204030204" pitchFamily="34" charset="0"/>
                        </a:rPr>
                        <a:t>9</a:t>
                      </a:r>
                    </a:p>
                  </a:txBody>
                  <a:tcPr marL="0" marR="0" marT="0" marB="0" anchor="b">
                    <a:lnL>
                      <a:noFill/>
                    </a:lnL>
                    <a:lnR>
                      <a:noFill/>
                    </a:lnR>
                    <a:lnT>
                      <a:noFill/>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465187285"/>
                  </a:ext>
                </a:extLst>
              </a:tr>
              <a:tr h="60893">
                <a:tc>
                  <a:txBody>
                    <a:bodyPr/>
                    <a:lstStyle/>
                    <a:p>
                      <a:pPr algn="l" fontAlgn="b"/>
                      <a:endParaRPr lang="en-US" sz="300" b="0" i="0" u="none" strike="noStrike" dirty="0">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accent4"/>
                        </a:solidFill>
                        <a:effectLst/>
                        <a:latin typeface="Calibri" panose="020F0502020204030204" pitchFamily="34" charset="0"/>
                      </a:endParaRPr>
                    </a:p>
                  </a:txBody>
                  <a:tcPr marL="27432" marR="27432" marT="0" marB="0" anchor="b">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rgbClr val="000000"/>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0233334"/>
                  </a:ext>
                </a:extLst>
              </a:tr>
              <a:tr h="147882">
                <a:tc>
                  <a:txBody>
                    <a:bodyPr/>
                    <a:lstStyle/>
                    <a:p>
                      <a:pPr algn="l" fontAlgn="b"/>
                      <a:r>
                        <a:rPr lang="en-US" sz="900" b="0" i="0" u="none" strike="noStrike" dirty="0">
                          <a:solidFill>
                            <a:schemeClr val="tx1"/>
                          </a:solidFill>
                          <a:effectLst/>
                          <a:latin typeface="Calibri" panose="020F0502020204030204" pitchFamily="34" charset="0"/>
                        </a:rPr>
                        <a:t>75th %ile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$5,612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9%</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4%</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$35,068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lnSpc>
                          <a:spcPct val="90000"/>
                        </a:lnSpc>
                        <a:buNone/>
                      </a:pPr>
                      <a:r>
                        <a:rPr lang="en-US" sz="900" b="0" i="0" u="none" strike="noStrike">
                          <a:solidFill>
                            <a:schemeClr val="tx1"/>
                          </a:solidFill>
                          <a:effectLst/>
                          <a:latin typeface="Calibri" panose="020F0502020204030204" pitchFamily="34" charset="0"/>
                        </a:rPr>
                        <a:t>7.0x</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13%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60%</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endParaRPr lang="en-US" sz="900" b="0" i="0" u="none" strike="noStrike">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7%</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683212248"/>
                  </a:ext>
                </a:extLst>
              </a:tr>
              <a:tr h="147882">
                <a:tc>
                  <a:txBody>
                    <a:bodyPr/>
                    <a:lstStyle/>
                    <a:p>
                      <a:pPr algn="l" fontAlgn="b"/>
                      <a:r>
                        <a:rPr lang="en-US" sz="900" b="1" i="0" u="none" strike="noStrike" dirty="0">
                          <a:solidFill>
                            <a:schemeClr val="tx1"/>
                          </a:solidFill>
                          <a:effectLst/>
                          <a:latin typeface="Calibri" panose="020F0502020204030204" pitchFamily="34" charset="0"/>
                        </a:rPr>
                        <a:t>Median</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$4,503 </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2%</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-1%</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$26,264 </a:t>
                      </a:r>
                    </a:p>
                  </a:txBody>
                  <a:tcPr marL="0" marR="0" marT="9144" marB="9144" anchor="ctr">
                    <a:lnL>
                      <a:noFill/>
                    </a:lnL>
                    <a:lnR>
                      <a:noFill/>
                    </a:lnR>
                    <a:lnT>
                      <a:noFill/>
                    </a:lnT>
                    <a:lnB>
                      <a:noFill/>
                    </a:lnB>
                    <a:solidFill>
                      <a:srgbClr val="FFFFDB"/>
                    </a:solidFill>
                  </a:tcPr>
                </a:tc>
                <a:tc>
                  <a:txBody>
                    <a:bodyPr/>
                    <a:lstStyle/>
                    <a:p>
                      <a:pPr algn="ctr" rtl="0" fontAlgn="b">
                        <a:lnSpc>
                          <a:spcPct val="90000"/>
                        </a:lnSpc>
                        <a:buNone/>
                      </a:pPr>
                      <a:r>
                        <a:rPr lang="en-US" sz="900" b="1" i="0" u="none" strike="noStrike">
                          <a:solidFill>
                            <a:schemeClr val="tx1"/>
                          </a:solidFill>
                          <a:effectLst/>
                          <a:latin typeface="Calibri" panose="020F0502020204030204" pitchFamily="34" charset="0"/>
                        </a:rPr>
                        <a:t>4.8x</a:t>
                      </a:r>
                    </a:p>
                  </a:txBody>
                  <a:tcPr marL="27432" marR="27432" marT="0" marB="0" anchor="b">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rtl="0" fontAlgn="b">
                        <a:buNone/>
                      </a:pPr>
                      <a:r>
                        <a:rPr lang="en-US" sz="900" b="1" i="0" u="none" strike="noStrike">
                          <a:solidFill>
                            <a:srgbClr val="000000"/>
                          </a:solidFill>
                          <a:effectLst/>
                          <a:latin typeface="Calibri" panose="020F0502020204030204" pitchFamily="34" charset="0"/>
                        </a:rPr>
                        <a:t>8%</a:t>
                      </a:r>
                    </a:p>
                  </a:txBody>
                  <a:tcPr marL="0" marR="0" marT="0" marB="0"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1" i="0" u="none" strike="noStrike">
                          <a:solidFill>
                            <a:schemeClr val="tx1"/>
                          </a:solidFill>
                          <a:effectLst/>
                          <a:latin typeface="Calibri" panose="020F0502020204030204" pitchFamily="34" charset="0"/>
                        </a:rPr>
                        <a:t>49%</a:t>
                      </a:r>
                    </a:p>
                  </a:txBody>
                  <a:tcPr marL="0" marR="0" marT="9144" marB="9144" anchor="ctr">
                    <a:lnL>
                      <a:noFill/>
                    </a:lnL>
                    <a:lnR>
                      <a:noFill/>
                    </a:lnR>
                    <a:lnT>
                      <a:noFill/>
                    </a:lnT>
                    <a:lnB>
                      <a:noFill/>
                    </a:lnB>
                    <a:solidFill>
                      <a:srgbClr val="FFFFDB"/>
                    </a:solidFill>
                  </a:tcPr>
                </a:tc>
                <a:tc>
                  <a:txBody>
                    <a:bodyPr/>
                    <a:lstStyle/>
                    <a:p>
                      <a:pPr algn="ctr" fontAlgn="b"/>
                      <a:endParaRPr lang="en-US" sz="900" b="1" i="0" u="none" strike="noStrike">
                        <a:effectLst/>
                        <a:latin typeface="Calibri" panose="020F0502020204030204" pitchFamily="34" charset="0"/>
                      </a:endParaRPr>
                    </a:p>
                  </a:txBody>
                  <a:tcPr marL="0" marR="0" marT="9144" marB="9144" anchor="ctr">
                    <a:lnL>
                      <a:noFill/>
                    </a:lnL>
                    <a:lnR>
                      <a:noFill/>
                    </a:lnR>
                    <a:lnT>
                      <a:noFill/>
                    </a:lnT>
                    <a:lnB>
                      <a:noFill/>
                    </a:lnB>
                    <a:solidFill>
                      <a:srgbClr val="FFFFDB"/>
                    </a:solidFill>
                  </a:tcPr>
                </a:tc>
                <a:tc>
                  <a:txBody>
                    <a:bodyPr/>
                    <a:lstStyle/>
                    <a:p>
                      <a:pPr algn="ctr" fontAlgn="b"/>
                      <a:r>
                        <a:rPr lang="en-US" sz="900" b="1" i="0" u="none" strike="noStrike">
                          <a:solidFill>
                            <a:schemeClr val="tx1"/>
                          </a:solidFill>
                          <a:effectLst/>
                          <a:latin typeface="Calibri" panose="020F0502020204030204" pitchFamily="34" charset="0"/>
                        </a:rPr>
                        <a:t>4%</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a:noFill/>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r>
                        <a:rPr lang="en-US" sz="900" b="1" i="0" u="none" strike="noStrike">
                          <a:solidFill>
                            <a:schemeClr val="tx1"/>
                          </a:solidFill>
                          <a:effectLst/>
                          <a:latin typeface="Calibri" panose="020F0502020204030204" pitchFamily="34" charset="0"/>
                        </a:rPr>
                        <a:t>9</a:t>
                      </a:r>
                    </a:p>
                  </a:txBody>
                  <a:tcPr marL="0" marR="0" marT="9144" marB="9144" anchor="ctr">
                    <a:lnL>
                      <a:noFill/>
                    </a:lnL>
                    <a:lnR>
                      <a:noFill/>
                    </a:lnR>
                    <a:lnT>
                      <a:noFill/>
                    </a:lnT>
                    <a:lnB>
                      <a:noFill/>
                    </a:lnB>
                    <a:solidFill>
                      <a:srgbClr val="FFFFDB"/>
                    </a:solidFill>
                  </a:tcPr>
                </a:tc>
                <a:extLst>
                  <a:ext uri="{0D108BD9-81ED-4DB2-BD59-A6C34878D82A}">
                    <a16:rowId xmlns:a16="http://schemas.microsoft.com/office/drawing/2014/main" val="2202507738"/>
                  </a:ext>
                </a:extLst>
              </a:tr>
              <a:tr h="147882">
                <a:tc>
                  <a:txBody>
                    <a:bodyPr/>
                    <a:lstStyle/>
                    <a:p>
                      <a:pPr algn="l" fontAlgn="b"/>
                      <a:r>
                        <a:rPr lang="en-US" sz="900" b="0" i="0" u="none" strike="noStrike" dirty="0">
                          <a:solidFill>
                            <a:schemeClr val="tx1"/>
                          </a:solidFill>
                          <a:effectLst/>
                          <a:latin typeface="Calibri" panose="020F0502020204030204" pitchFamily="34" charset="0"/>
                        </a:rPr>
                        <a:t>25th %ile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$4,033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0%</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-8%</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$15,632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lnSpc>
                          <a:spcPct val="90000"/>
                        </a:lnSpc>
                        <a:buNone/>
                      </a:pPr>
                      <a:r>
                        <a:rPr lang="en-US" sz="900" b="0" i="0" u="none" strike="noStrike">
                          <a:solidFill>
                            <a:schemeClr val="tx1"/>
                          </a:solidFill>
                          <a:effectLst/>
                          <a:latin typeface="Calibri" panose="020F0502020204030204" pitchFamily="34" charset="0"/>
                        </a:rPr>
                        <a:t>3.0x</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endParaRPr lang="en-US" sz="900" b="0" i="0" u="none" strike="noStrike">
                        <a:solidFill>
                          <a:schemeClr val="tx1"/>
                        </a:solidFill>
                        <a:effectLst/>
                        <a:latin typeface="Calibri" panose="020F0502020204030204" pitchFamily="34" charset="0"/>
                      </a:endParaRP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buNone/>
                      </a:pPr>
                      <a:r>
                        <a:rPr lang="en-US" sz="900" b="0" i="0" u="none" strike="noStrike">
                          <a:solidFill>
                            <a:srgbClr val="000000"/>
                          </a:solidFill>
                          <a:effectLst/>
                          <a:latin typeface="Calibri" panose="020F0502020204030204" pitchFamily="34" charset="0"/>
                        </a:rPr>
                        <a:t>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35%</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endParaRPr lang="en-US" sz="900" b="0" i="0" u="none" strike="noStrike">
                        <a:effectLst/>
                        <a:latin typeface="Calibri" panose="020F0502020204030204" pitchFamily="34" charset="0"/>
                      </a:endParaRP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-1%</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900" b="0" i="0" u="none" strike="noStrike">
                          <a:solidFill>
                            <a:schemeClr val="tx1"/>
                          </a:solidFill>
                          <a:effectLst/>
                          <a:latin typeface="Calibri" panose="020F0502020204030204" pitchFamily="34" charset="0"/>
                        </a:rPr>
                        <a:t> </a:t>
                      </a:r>
                    </a:p>
                  </a:txBody>
                  <a:tcPr marL="0" marR="0"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813036718"/>
                  </a:ext>
                </a:extLst>
              </a:tr>
              <a:tr h="60893">
                <a:tc>
                  <a:txBody>
                    <a:bodyPr/>
                    <a:lstStyle/>
                    <a:p>
                      <a:pPr algn="l"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pPr>
                      <a:endParaRPr lang="en-US" sz="100" b="0" i="0" u="none" strike="noStrike">
                        <a:solidFill>
                          <a:schemeClr val="tx1"/>
                        </a:solidFill>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solidFill>
                          <a:schemeClr val="tx1"/>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rgbClr val="000000"/>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300" b="0" i="0" u="none" strike="noStrike">
                          <a:solidFill>
                            <a:schemeClr val="tx1"/>
                          </a:solidFill>
                          <a:effectLst/>
                          <a:latin typeface="Calibri" panose="020F0502020204030204" pitchFamily="34" charset="0"/>
                        </a:rPr>
                        <a:t> </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3405935"/>
                  </a:ext>
                </a:extLst>
              </a:tr>
              <a:tr h="147882">
                <a:tc>
                  <a:txBody>
                    <a:bodyPr/>
                    <a:lstStyle/>
                    <a:p>
                      <a:pPr algn="l" fontAlgn="b"/>
                      <a:r>
                        <a:rPr lang="en-US" sz="900" b="1" i="0" u="none" strike="noStrike" dirty="0">
                          <a:solidFill>
                            <a:schemeClr val="tx1"/>
                          </a:solidFill>
                          <a:effectLst/>
                          <a:latin typeface="Calibri" panose="020F0502020204030204" pitchFamily="34" charset="0"/>
                        </a:rPr>
                        <a:t>Goofy</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HCE</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$4,304</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9%</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12%</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$52,291</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pPr>
                      <a:r>
                        <a:rPr lang="en-US" sz="900" b="1" i="0" u="none" strike="noStrike">
                          <a:solidFill>
                            <a:schemeClr val="tx1"/>
                          </a:solidFill>
                          <a:effectLst/>
                          <a:latin typeface="Calibri" panose="020F0502020204030204" pitchFamily="34" charset="0"/>
                        </a:rPr>
                        <a:t>12.2x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6%</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36%</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endParaRPr lang="en-US" sz="900" b="1" i="0" u="none" strike="noStrike">
                        <a:solidFill>
                          <a:srgbClr val="000000"/>
                        </a:solidFill>
                        <a:effectLst/>
                        <a:latin typeface="Calibri" panose="020F0502020204030204" pitchFamily="34" charset="0"/>
                      </a:endParaRP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9%</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a:solidFill>
                            <a:schemeClr val="tx1"/>
                          </a:solidFill>
                          <a:effectLst/>
                          <a:latin typeface="Calibri" panose="020F0502020204030204" pitchFamily="34" charset="0"/>
                        </a:rPr>
                        <a:t>x</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900" b="1" i="0" u="none" strike="noStrike" dirty="0">
                          <a:solidFill>
                            <a:schemeClr val="tx1"/>
                          </a:solidFill>
                          <a:effectLst/>
                          <a:latin typeface="Calibri" panose="020F0502020204030204" pitchFamily="34" charset="0"/>
                        </a:rPr>
                        <a:t>10</a:t>
                      </a:r>
                    </a:p>
                  </a:txBody>
                  <a:tcPr marL="0" marR="0"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517689274"/>
                  </a:ext>
                </a:extLst>
              </a:tr>
            </a:tbl>
          </a:graphicData>
        </a:graphic>
      </p:graphicFrame>
      <p:graphicFrame>
        <p:nvGraphicFramePr>
          <p:cNvPr id="10" name="Table 9">
            <a:extLst>
              <a:ext uri="{FF2B5EF4-FFF2-40B4-BE49-F238E27FC236}">
                <a16:creationId xmlns:a16="http://schemas.microsoft.com/office/drawing/2014/main" id="{981646F3-4EA6-42CF-732B-DAB271C692CB}"/>
              </a:ext>
            </a:extLst>
          </p:cNvPr>
          <p:cNvGraphicFramePr>
            <a:graphicFrameLocks noGrp="1"/>
          </p:cNvGraphicFramePr>
          <p:nvPr>
            <p:extLst>
              <p:ext uri="{D42A27DB-BD31-4B8C-83A1-F6EECF244321}">
                <p14:modId xmlns:p14="http://schemas.microsoft.com/office/powerpoint/2010/main" val="3015085351"/>
              </p:ext>
            </p:extLst>
          </p:nvPr>
        </p:nvGraphicFramePr>
        <p:xfrm>
          <a:off x="5021965" y="5926874"/>
          <a:ext cx="2011680"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67115251"/>
                    </a:ext>
                  </a:extLst>
                </a:gridCol>
                <a:gridCol w="1737360">
                  <a:extLst>
                    <a:ext uri="{9D8B030D-6E8A-4147-A177-3AD203B41FA5}">
                      <a16:colId xmlns:a16="http://schemas.microsoft.com/office/drawing/2014/main" val="269626342"/>
                    </a:ext>
                  </a:extLst>
                </a:gridCol>
              </a:tblGrid>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a:t>
                      </a:r>
                      <a:r>
                        <a:rPr lang="en-US" sz="900" err="1"/>
                        <a:t>Svcs</a:t>
                      </a:r>
                      <a:endParaRPr lang="en-US" sz="900"/>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8741809"/>
                  </a:ext>
                </a:extLst>
              </a:tr>
            </a:tbl>
          </a:graphicData>
        </a:graphic>
      </p:graphicFrame>
      <p:graphicFrame>
        <p:nvGraphicFramePr>
          <p:cNvPr id="13" name="Table 12">
            <a:extLst>
              <a:ext uri="{FF2B5EF4-FFF2-40B4-BE49-F238E27FC236}">
                <a16:creationId xmlns:a16="http://schemas.microsoft.com/office/drawing/2014/main" id="{92D86146-67F2-BB28-ED65-9A281014C675}"/>
              </a:ext>
            </a:extLst>
          </p:cNvPr>
          <p:cNvGraphicFramePr>
            <a:graphicFrameLocks noGrp="1"/>
          </p:cNvGraphicFramePr>
          <p:nvPr>
            <p:extLst>
              <p:ext uri="{D42A27DB-BD31-4B8C-83A1-F6EECF244321}">
                <p14:modId xmlns:p14="http://schemas.microsoft.com/office/powerpoint/2010/main" val="3568432292"/>
              </p:ext>
            </p:extLst>
          </p:nvPr>
        </p:nvGraphicFramePr>
        <p:xfrm>
          <a:off x="3849370" y="5926874"/>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736650706"/>
                    </a:ext>
                  </a:extLst>
                </a:gridCol>
                <a:gridCol w="1737360">
                  <a:extLst>
                    <a:ext uri="{9D8B030D-6E8A-4147-A177-3AD203B41FA5}">
                      <a16:colId xmlns:a16="http://schemas.microsoft.com/office/drawing/2014/main" val="1529697195"/>
                    </a:ext>
                  </a:extLst>
                </a:gridCol>
              </a:tblGrid>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60456300"/>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40298"/>
                  </a:ext>
                </a:extLst>
              </a:tr>
            </a:tbl>
          </a:graphicData>
        </a:graphic>
      </p:graphicFrame>
    </p:spTree>
    <p:extLst>
      <p:ext uri="{BB962C8B-B14F-4D97-AF65-F5344CB8AC3E}">
        <p14:creationId xmlns:p14="http://schemas.microsoft.com/office/powerpoint/2010/main" val="203860693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6E3AB-8157-601F-D3EA-AF46A318511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BB4FFCC-CB5F-49C8-4DD9-629878EB5FFD}"/>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7BDB9C4-3D8F-C5D9-8E01-25775B4F8010}"/>
              </a:ext>
            </a:extLst>
          </p:cNvPr>
          <p:cNvSpPr>
            <a:spLocks noGrp="1"/>
          </p:cNvSpPr>
          <p:nvPr>
            <p:ph type="title"/>
          </p:nvPr>
        </p:nvSpPr>
        <p:spPr>
          <a:xfrm>
            <a:off x="804972" y="180402"/>
            <a:ext cx="8416847" cy="964630"/>
          </a:xfrm>
        </p:spPr>
        <p:txBody>
          <a:bodyPr/>
          <a:lstStyle/>
          <a:p>
            <a:r>
              <a:rPr lang="en-US" dirty="0"/>
              <a:t>ACME evaluated five new-to-the-screen companies this year and eight from last year. Dentsply Sirona’s business model is converging with Goofy, but it still serves as a distributor of other companies’ products and uses distributors to sell its products</a:t>
            </a:r>
          </a:p>
        </p:txBody>
      </p:sp>
      <p:sp>
        <p:nvSpPr>
          <p:cNvPr id="4" name="Slide Number Placeholder 3">
            <a:extLst>
              <a:ext uri="{FF2B5EF4-FFF2-40B4-BE49-F238E27FC236}">
                <a16:creationId xmlns:a16="http://schemas.microsoft.com/office/drawing/2014/main" id="{37B476EA-16F5-3F17-8E44-36B67515E543}"/>
              </a:ext>
            </a:extLst>
          </p:cNvPr>
          <p:cNvSpPr>
            <a:spLocks noGrp="1"/>
          </p:cNvSpPr>
          <p:nvPr>
            <p:ph type="sldNum" sz="quarter" idx="12"/>
          </p:nvPr>
        </p:nvSpPr>
        <p:spPr>
          <a:xfrm>
            <a:off x="8581798" y="6577909"/>
            <a:ext cx="352260" cy="211339"/>
          </a:xfrm>
        </p:spPr>
        <p:txBody>
          <a:bodyPr/>
          <a:lstStyle/>
          <a:p>
            <a:fld id="{91690BAF-E217-4185-92FD-0CEA06F2B7C8}" type="slidenum">
              <a:rPr lang="en-US" smtClean="0"/>
              <a:pPr/>
              <a:t>6</a:t>
            </a:fld>
            <a:endParaRPr lang="en-US"/>
          </a:p>
        </p:txBody>
      </p:sp>
      <p:sp>
        <p:nvSpPr>
          <p:cNvPr id="9" name="TextBox 8">
            <a:extLst>
              <a:ext uri="{FF2B5EF4-FFF2-40B4-BE49-F238E27FC236}">
                <a16:creationId xmlns:a16="http://schemas.microsoft.com/office/drawing/2014/main" id="{396AF033-8BFA-833D-0243-3D66BAD0262C}"/>
              </a:ext>
            </a:extLst>
          </p:cNvPr>
          <p:cNvSpPr txBox="1"/>
          <p:nvPr/>
        </p:nvSpPr>
        <p:spPr>
          <a:xfrm>
            <a:off x="1212851" y="1198928"/>
            <a:ext cx="6705599" cy="552524"/>
          </a:xfrm>
          <a:prstGeom prst="rect">
            <a:avLst/>
          </a:prstGeom>
          <a:noFill/>
        </p:spPr>
        <p:txBody>
          <a:bodyPr wrap="square" lIns="91440" tIns="91440" rIns="91440" bIns="91440" rtlCol="0" anchor="ctr">
            <a:spAutoFit/>
          </a:bodyPr>
          <a:lstStyle/>
          <a:p>
            <a:pPr algn="ctr">
              <a:lnSpc>
                <a:spcPct val="85000"/>
              </a:lnSpc>
            </a:pPr>
            <a:r>
              <a:rPr lang="en-US" sz="1400" b="1" dirty="0"/>
              <a:t>Companies New to Screen and Considered Last Year</a:t>
            </a:r>
          </a:p>
          <a:p>
            <a:pPr algn="ctr">
              <a:lnSpc>
                <a:spcPct val="85000"/>
              </a:lnSpc>
            </a:pPr>
            <a:r>
              <a:rPr lang="en-US" sz="1400" b="1" dirty="0"/>
              <a:t>Rationale for Exclusion</a:t>
            </a:r>
          </a:p>
        </p:txBody>
      </p:sp>
      <p:sp>
        <p:nvSpPr>
          <p:cNvPr id="11" name="TextBox 10">
            <a:extLst>
              <a:ext uri="{FF2B5EF4-FFF2-40B4-BE49-F238E27FC236}">
                <a16:creationId xmlns:a16="http://schemas.microsoft.com/office/drawing/2014/main" id="{1ED45AA3-E247-CDF3-DBB9-1CF81941EE57}"/>
              </a:ext>
            </a:extLst>
          </p:cNvPr>
          <p:cNvSpPr txBox="1"/>
          <p:nvPr/>
        </p:nvSpPr>
        <p:spPr>
          <a:xfrm>
            <a:off x="1444648" y="6064623"/>
            <a:ext cx="6098208"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dirty="0"/>
              <a:t>As a result, ACME recommends no changes to </a:t>
            </a:r>
            <a:r>
              <a:rPr lang="en-US" sz="1400" i="1" dirty="0" err="1"/>
              <a:t>Goofy’s</a:t>
            </a:r>
            <a:r>
              <a:rPr lang="en-US" sz="1400" i="1" dirty="0"/>
              <a:t> current peer group for FY26</a:t>
            </a:r>
          </a:p>
        </p:txBody>
      </p:sp>
      <p:graphicFrame>
        <p:nvGraphicFramePr>
          <p:cNvPr id="15" name="Table 14">
            <a:extLst>
              <a:ext uri="{FF2B5EF4-FFF2-40B4-BE49-F238E27FC236}">
                <a16:creationId xmlns:a16="http://schemas.microsoft.com/office/drawing/2014/main" id="{4559243B-CC14-29F9-F588-76DCEA0C29FD}"/>
              </a:ext>
            </a:extLst>
          </p:cNvPr>
          <p:cNvGraphicFramePr>
            <a:graphicFrameLocks noGrp="1"/>
          </p:cNvGraphicFramePr>
          <p:nvPr>
            <p:extLst>
              <p:ext uri="{D42A27DB-BD31-4B8C-83A1-F6EECF244321}">
                <p14:modId xmlns:p14="http://schemas.microsoft.com/office/powerpoint/2010/main" val="3533961515"/>
              </p:ext>
            </p:extLst>
          </p:nvPr>
        </p:nvGraphicFramePr>
        <p:xfrm>
          <a:off x="38100" y="1684980"/>
          <a:ext cx="9060181" cy="3745894"/>
        </p:xfrm>
        <a:graphic>
          <a:graphicData uri="http://schemas.openxmlformats.org/drawingml/2006/table">
            <a:tbl>
              <a:tblPr/>
              <a:tblGrid>
                <a:gridCol w="1098204">
                  <a:extLst>
                    <a:ext uri="{9D8B030D-6E8A-4147-A177-3AD203B41FA5}">
                      <a16:colId xmlns:a16="http://schemas.microsoft.com/office/drawing/2014/main" val="2884048842"/>
                    </a:ext>
                  </a:extLst>
                </a:gridCol>
                <a:gridCol w="549102">
                  <a:extLst>
                    <a:ext uri="{9D8B030D-6E8A-4147-A177-3AD203B41FA5}">
                      <a16:colId xmlns:a16="http://schemas.microsoft.com/office/drawing/2014/main" val="2724871237"/>
                    </a:ext>
                  </a:extLst>
                </a:gridCol>
                <a:gridCol w="457585">
                  <a:extLst>
                    <a:ext uri="{9D8B030D-6E8A-4147-A177-3AD203B41FA5}">
                      <a16:colId xmlns:a16="http://schemas.microsoft.com/office/drawing/2014/main" val="1878695566"/>
                    </a:ext>
                  </a:extLst>
                </a:gridCol>
                <a:gridCol w="549102">
                  <a:extLst>
                    <a:ext uri="{9D8B030D-6E8A-4147-A177-3AD203B41FA5}">
                      <a16:colId xmlns:a16="http://schemas.microsoft.com/office/drawing/2014/main" val="1438676765"/>
                    </a:ext>
                  </a:extLst>
                </a:gridCol>
                <a:gridCol w="732136">
                  <a:extLst>
                    <a:ext uri="{9D8B030D-6E8A-4147-A177-3AD203B41FA5}">
                      <a16:colId xmlns:a16="http://schemas.microsoft.com/office/drawing/2014/main" val="613033579"/>
                    </a:ext>
                  </a:extLst>
                </a:gridCol>
                <a:gridCol w="640619">
                  <a:extLst>
                    <a:ext uri="{9D8B030D-6E8A-4147-A177-3AD203B41FA5}">
                      <a16:colId xmlns:a16="http://schemas.microsoft.com/office/drawing/2014/main" val="981162060"/>
                    </a:ext>
                  </a:extLst>
                </a:gridCol>
                <a:gridCol w="5033433">
                  <a:extLst>
                    <a:ext uri="{9D8B030D-6E8A-4147-A177-3AD203B41FA5}">
                      <a16:colId xmlns:a16="http://schemas.microsoft.com/office/drawing/2014/main" val="1600004102"/>
                    </a:ext>
                  </a:extLst>
                </a:gridCol>
              </a:tblGrid>
              <a:tr h="296501">
                <a:tc>
                  <a:txBody>
                    <a:bodyPr/>
                    <a:lstStyle/>
                    <a:p>
                      <a:pPr algn="ctr" rtl="0" fontAlgn="b">
                        <a:buNone/>
                      </a:pPr>
                      <a:r>
                        <a:rPr lang="en-US" sz="1000" b="1" i="0" u="none" strike="noStrike" dirty="0">
                          <a:solidFill>
                            <a:srgbClr val="FFFFFF"/>
                          </a:solidFill>
                          <a:effectLst/>
                          <a:latin typeface="+mj-lt"/>
                        </a:rPr>
                        <a:t>Company</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Industry</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FYE</a:t>
                      </a:r>
                      <a:br>
                        <a:rPr lang="en-US" sz="1000" b="1" i="0" u="none" strike="noStrike">
                          <a:solidFill>
                            <a:srgbClr val="FFFFFF"/>
                          </a:solidFill>
                          <a:effectLst/>
                          <a:latin typeface="+mj-lt"/>
                        </a:rPr>
                      </a:br>
                      <a:r>
                        <a:rPr lang="en-US" sz="1000" b="1" i="0" u="none" strike="noStrike">
                          <a:solidFill>
                            <a:srgbClr val="FFFFFF"/>
                          </a:solidFill>
                          <a:effectLst/>
                          <a:latin typeface="+mj-lt"/>
                        </a:rPr>
                        <a:t>MM/DD</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FYE Revenue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Market Cap as of 3/1/26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Market Cap to Revenue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buNone/>
                      </a:pPr>
                      <a:r>
                        <a:rPr lang="en-US" sz="1000" b="1" i="0" u="none" strike="noStrike">
                          <a:solidFill>
                            <a:srgbClr val="FFFFFF"/>
                          </a:solidFill>
                          <a:effectLst/>
                          <a:latin typeface="+mj-lt"/>
                        </a:rPr>
                        <a:t>Reason for Exclusion</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989138467"/>
                  </a:ext>
                </a:extLst>
              </a:tr>
              <a:tr h="156967">
                <a:tc gridSpan="3">
                  <a:txBody>
                    <a:bodyPr/>
                    <a:lstStyle/>
                    <a:p>
                      <a:pPr algn="l" rtl="0" fontAlgn="b">
                        <a:buNone/>
                      </a:pPr>
                      <a:r>
                        <a:rPr lang="en-US" sz="1000" b="1" i="0" u="none" strike="noStrike">
                          <a:solidFill>
                            <a:srgbClr val="000000"/>
                          </a:solidFill>
                          <a:effectLst/>
                          <a:latin typeface="+mj-lt"/>
                        </a:rPr>
                        <a:t>Companies New to Screen</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hMerge="1">
                  <a:txBody>
                    <a:bodyPr/>
                    <a:lstStyle/>
                    <a:p>
                      <a:endParaRPr lang="en-US"/>
                    </a:p>
                  </a:txBody>
                  <a:tcPr/>
                </a:tc>
                <a:tc hMerge="1">
                  <a:txBody>
                    <a:bodyPr/>
                    <a:lstStyle/>
                    <a:p>
                      <a:endParaRPr lang="en-US"/>
                    </a:p>
                  </a:txBody>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l" rtl="0" fontAlgn="b">
                        <a:buNone/>
                      </a:pPr>
                      <a:r>
                        <a:rPr lang="en-US" sz="10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extLst>
                  <a:ext uri="{0D108BD9-81ED-4DB2-BD59-A6C34878D82A}">
                    <a16:rowId xmlns:a16="http://schemas.microsoft.com/office/drawing/2014/main" val="3148259908"/>
                  </a:ext>
                </a:extLst>
              </a:tr>
              <a:tr h="175269">
                <a:tc>
                  <a:txBody>
                    <a:bodyPr/>
                    <a:lstStyle/>
                    <a:p>
                      <a:pPr algn="l" rtl="0" fontAlgn="ctr">
                        <a:buNone/>
                      </a:pPr>
                      <a:r>
                        <a:rPr lang="en-US" sz="1000" b="0" i="0" u="none" strike="noStrike" err="1">
                          <a:solidFill>
                            <a:srgbClr val="000000"/>
                          </a:solidFill>
                          <a:effectLst/>
                          <a:latin typeface="+mj-lt"/>
                        </a:rPr>
                        <a:t>Accendra</a:t>
                      </a:r>
                      <a:endParaRPr lang="en-US" sz="1000" b="0" i="0" u="none" strike="noStrike">
                        <a:solidFill>
                          <a:srgbClr val="000000"/>
                        </a:solidFill>
                        <a:effectLst/>
                        <a:latin typeface="+mj-lt"/>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HCD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$2,762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$185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0.1x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Sells through capitation arrangements with large government and commercial payors; they are not financially strong</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90283662"/>
                  </a:ext>
                </a:extLst>
              </a:tr>
              <a:tr h="175269">
                <a:tc>
                  <a:txBody>
                    <a:bodyPr/>
                    <a:lstStyle/>
                    <a:p>
                      <a:pPr algn="l" rtl="0" fontAlgn="ctr">
                        <a:buNone/>
                      </a:pPr>
                      <a:r>
                        <a:rPr lang="en-US" sz="1000" b="1" i="0" u="none" strike="noStrike">
                          <a:solidFill>
                            <a:schemeClr val="accent2">
                              <a:lumMod val="50000"/>
                            </a:schemeClr>
                          </a:solidFill>
                          <a:effectLst/>
                          <a:latin typeface="+mj-lt"/>
                        </a:rPr>
                        <a:t>Insulet</a:t>
                      </a:r>
                      <a:r>
                        <a:rPr lang="en-US" sz="1000" b="1" i="0" u="none" strike="noStrike" baseline="30000">
                          <a:solidFill>
                            <a:schemeClr val="accent2">
                              <a:lumMod val="50000"/>
                            </a:schemeClr>
                          </a:solidFill>
                          <a:effectLst/>
                          <a:latin typeface="+mj-lt"/>
                        </a:rPr>
                        <a:t>(1)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$2,708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$17,360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6.4x</a:t>
                      </a:r>
                    </a:p>
                  </a:txBody>
                  <a:tcPr marL="0" marR="0" marT="0" marB="0" anchor="ctr">
                    <a:lnL>
                      <a:noFill/>
                    </a:lnL>
                    <a:lnR>
                      <a:noFill/>
                    </a:lnR>
                    <a:lnT>
                      <a:noFill/>
                    </a:lnT>
                    <a:lnB>
                      <a:noFill/>
                    </a:lnB>
                    <a:solidFill>
                      <a:schemeClr val="bg1">
                        <a:lumMod val="95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Sells largely through wholesalers</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8959831"/>
                  </a:ext>
                </a:extLst>
              </a:tr>
              <a:tr h="175269">
                <a:tc>
                  <a:txBody>
                    <a:bodyPr/>
                    <a:lstStyle/>
                    <a:p>
                      <a:pPr algn="l" rtl="0" fontAlgn="ctr">
                        <a:buNone/>
                      </a:pPr>
                      <a:r>
                        <a:rPr lang="en-US" sz="1000" b="0" i="0" u="none" strike="noStrike">
                          <a:solidFill>
                            <a:srgbClr val="000000"/>
                          </a:solidFill>
                          <a:effectLst/>
                          <a:latin typeface="+mj-lt"/>
                        </a:rPr>
                        <a:t>Concentra</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HCF</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$2,163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$3,082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1.4x</a:t>
                      </a:r>
                    </a:p>
                  </a:txBody>
                  <a:tcPr marL="0" marR="0" marT="0" marB="0" anchor="ctr">
                    <a:lnL>
                      <a:noFill/>
                    </a:lnL>
                    <a:lnR>
                      <a:noFill/>
                    </a:lnR>
                    <a:lnT>
                      <a:noFill/>
                    </a:lnT>
                    <a:lnB>
                      <a:noFill/>
                    </a:lnB>
                    <a:no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Operates occupational health clinics, which is a service model</a:t>
                      </a:r>
                    </a:p>
                  </a:txBody>
                  <a:tcPr marL="0" marR="0" marT="0" marB="0" anchor="ctr">
                    <a:lnL>
                      <a:noFill/>
                    </a:lnL>
                    <a:lnR>
                      <a:noFill/>
                    </a:lnR>
                    <a:lnT>
                      <a:noFill/>
                    </a:lnT>
                    <a:lnB>
                      <a:noFill/>
                    </a:lnB>
                    <a:noFill/>
                  </a:tcPr>
                </a:tc>
                <a:extLst>
                  <a:ext uri="{0D108BD9-81ED-4DB2-BD59-A6C34878D82A}">
                    <a16:rowId xmlns:a16="http://schemas.microsoft.com/office/drawing/2014/main" val="336005239"/>
                  </a:ext>
                </a:extLst>
              </a:tr>
              <a:tr h="175269">
                <a:tc>
                  <a:txBody>
                    <a:bodyPr/>
                    <a:lstStyle/>
                    <a:p>
                      <a:pPr algn="l" rtl="0" fontAlgn="ctr">
                        <a:buNone/>
                      </a:pPr>
                      <a:r>
                        <a:rPr lang="en-US" sz="1000" b="0" i="0" u="none" strike="noStrike">
                          <a:solidFill>
                            <a:srgbClr val="000000"/>
                          </a:solidFill>
                          <a:effectLst/>
                          <a:latin typeface="+mj-lt"/>
                        </a:rPr>
                        <a:t>PTC Therapeutics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BT</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$1,731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$5,644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3.3x</a:t>
                      </a:r>
                    </a:p>
                  </a:txBody>
                  <a:tcPr marL="0" marR="0" marT="0" marB="0" anchor="ctr">
                    <a:lnL>
                      <a:noFill/>
                    </a:lnL>
                    <a:lnR>
                      <a:noFill/>
                    </a:lnR>
                    <a:lnT>
                      <a:noFill/>
                    </a:lnT>
                    <a:lnB>
                      <a:noFill/>
                    </a:lnB>
                    <a:solidFill>
                      <a:schemeClr val="bg1">
                        <a:lumMod val="95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Develops drugs, but not in animal health</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883835973"/>
                  </a:ext>
                </a:extLst>
              </a:tr>
              <a:tr h="175269">
                <a:tc>
                  <a:txBody>
                    <a:bodyPr/>
                    <a:lstStyle/>
                    <a:p>
                      <a:pPr algn="l" rtl="0" fontAlgn="ctr">
                        <a:buNone/>
                      </a:pPr>
                      <a:r>
                        <a:rPr lang="en-US" sz="1000" b="1" i="0" u="none" strike="noStrike">
                          <a:solidFill>
                            <a:schemeClr val="accent2">
                              <a:lumMod val="50000"/>
                            </a:schemeClr>
                          </a:solidFill>
                          <a:effectLst/>
                          <a:latin typeface="+mj-lt"/>
                        </a:rPr>
                        <a:t>Masimo</a:t>
                      </a:r>
                      <a:r>
                        <a:rPr lang="en-US" sz="1000" b="1" i="0" u="none" strike="noStrike" baseline="30000">
                          <a:solidFill>
                            <a:schemeClr val="accent2">
                              <a:lumMod val="50000"/>
                            </a:schemeClr>
                          </a:solidFill>
                          <a:effectLst/>
                          <a:latin typeface="+mj-lt"/>
                        </a:rPr>
                        <a:t>(1)</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1/3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$1,527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$9,154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mj-lt"/>
                        </a:rPr>
                        <a:t>6.0x</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Considered in 2022, but excluded due to OEM sales model; to be acquired by Danaher in 2026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874318"/>
                  </a:ext>
                </a:extLst>
              </a:tr>
              <a:tr h="156967">
                <a:tc gridSpan="5">
                  <a:txBody>
                    <a:bodyPr/>
                    <a:lstStyle/>
                    <a:p>
                      <a:pPr algn="l" rtl="0" fontAlgn="b">
                        <a:buNone/>
                      </a:pPr>
                      <a:r>
                        <a:rPr lang="en-US" sz="1000" b="1" i="0" u="none" strike="noStrike">
                          <a:solidFill>
                            <a:srgbClr val="000000"/>
                          </a:solidFill>
                          <a:effectLst/>
                          <a:latin typeface="+mj-lt"/>
                        </a:rPr>
                        <a:t>Additional Companies Considered Last Year</a:t>
                      </a:r>
                      <a:endParaRPr lang="en-US" sz="1000" b="0" i="0" u="none" strike="noStrike">
                        <a:solidFill>
                          <a:srgbClr val="000000"/>
                        </a:solidFill>
                        <a:effectLst/>
                        <a:latin typeface="+mj-lt"/>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hMerge="1">
                  <a:txBody>
                    <a:bodyPr/>
                    <a:lstStyle/>
                    <a:p>
                      <a:endParaRPr lang="en-US"/>
                    </a:p>
                  </a:txBody>
                  <a:tcPr/>
                </a:tc>
                <a:tc hMerge="1">
                  <a:txBody>
                    <a:bodyPr/>
                    <a:lstStyle/>
                    <a:p>
                      <a:endParaRPr lang="en-US"/>
                    </a:p>
                  </a:txBody>
                  <a:tcPr/>
                </a:tc>
                <a:tc hMerge="1">
                  <a:txBody>
                    <a:bodyPr/>
                    <a:lstStyle/>
                    <a:p>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hMerge="1">
                  <a:txBody>
                    <a:bodyPr/>
                    <a:lstStyle/>
                    <a:p>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algn="ctr" rtl="0" fontAlgn="b">
                        <a:buNone/>
                      </a:pPr>
                      <a:r>
                        <a:rPr lang="en-US" sz="1000" b="0"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tc>
                  <a:txBody>
                    <a:bodyPr/>
                    <a:lstStyle/>
                    <a:p>
                      <a:pPr marL="171450" indent="-171450" algn="l">
                        <a:buFont typeface="Wingdings" panose="05000000000000000000" pitchFamily="2" charset="2"/>
                        <a:buChar char="§"/>
                      </a:pPr>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FF"/>
                    </a:solidFill>
                  </a:tcPr>
                </a:tc>
                <a:extLst>
                  <a:ext uri="{0D108BD9-81ED-4DB2-BD59-A6C34878D82A}">
                    <a16:rowId xmlns:a16="http://schemas.microsoft.com/office/drawing/2014/main" val="2244084795"/>
                  </a:ext>
                </a:extLst>
              </a:tr>
              <a:tr h="197179">
                <a:tc>
                  <a:txBody>
                    <a:bodyPr/>
                    <a:lstStyle/>
                    <a:p>
                      <a:pPr algn="l" rtl="0" fontAlgn="ctr">
                        <a:buNone/>
                      </a:pPr>
                      <a:r>
                        <a:rPr lang="en-US" sz="1000" b="0" i="0" u="none" strike="noStrike">
                          <a:solidFill>
                            <a:srgbClr val="000000"/>
                          </a:solidFill>
                          <a:effectLst/>
                          <a:latin typeface="+mj-lt"/>
                        </a:rPr>
                        <a:t>Baxter International</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$11,244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$10,480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en-US" sz="1000" b="0" i="0" u="none" strike="noStrike">
                          <a:solidFill>
                            <a:srgbClr val="000000"/>
                          </a:solidFill>
                          <a:effectLst/>
                          <a:latin typeface="+mj-lt"/>
                        </a:rPr>
                        <a:t>0.9x</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rowSpan="2">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t>Manufactures hospital products but sales are mostly through distributors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2127023973"/>
                  </a:ext>
                </a:extLst>
              </a:tr>
              <a:tr h="197179">
                <a:tc>
                  <a:txBody>
                    <a:bodyPr/>
                    <a:lstStyle/>
                    <a:p>
                      <a:pPr algn="l" rtl="0" fontAlgn="ctr">
                        <a:buNone/>
                      </a:pPr>
                      <a:r>
                        <a:rPr lang="en-US" sz="1000" b="0" i="0" u="none" strike="noStrike" err="1">
                          <a:solidFill>
                            <a:srgbClr val="000000"/>
                          </a:solidFill>
                          <a:effectLst/>
                          <a:latin typeface="+mj-lt"/>
                        </a:rPr>
                        <a:t>Solventum</a:t>
                      </a:r>
                      <a:endParaRPr lang="en-US" sz="1000" b="0" i="0" u="none" strike="noStrike">
                        <a:solidFill>
                          <a:srgbClr val="000000"/>
                        </a:solidFill>
                        <a:effectLst/>
                        <a:latin typeface="+mj-lt"/>
                      </a:endParaRP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HCS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$8,325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$12,873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1.5x</a:t>
                      </a:r>
                    </a:p>
                  </a:txBody>
                  <a:tcPr marL="0" marR="0" marT="0" marB="0" anchor="ctr">
                    <a:lnL>
                      <a:noFill/>
                    </a:lnL>
                    <a:lnR>
                      <a:noFill/>
                    </a:lnR>
                    <a:lnT>
                      <a:noFill/>
                    </a:lnT>
                    <a:lnB>
                      <a:noFill/>
                    </a:lnB>
                    <a:solidFill>
                      <a:schemeClr val="bg1">
                        <a:lumMod val="95000"/>
                      </a:schemeClr>
                    </a:solidFill>
                  </a:tcPr>
                </a:tc>
                <a:tc vMerge="1">
                  <a:txBody>
                    <a:bodyPr/>
                    <a:lstStyle/>
                    <a:p>
                      <a:pPr marL="171450" indent="-171450" algn="l" rtl="0" fontAlgn="ctr">
                        <a:buFont typeface="Wingdings" panose="05000000000000000000" pitchFamily="2" charset="2"/>
                        <a:buChar char="§"/>
                      </a:pPr>
                      <a:endParaRPr lang="en-US" sz="1000" b="0" i="0" u="none" strike="noStrike">
                        <a:solidFill>
                          <a:srgbClr val="000000"/>
                        </a:solidFill>
                        <a:effectLst/>
                        <a:latin typeface="+mj-lt"/>
                      </a:endParaRP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10340171"/>
                  </a:ext>
                </a:extLst>
              </a:tr>
              <a:tr h="197179">
                <a:tc>
                  <a:txBody>
                    <a:bodyPr/>
                    <a:lstStyle/>
                    <a:p>
                      <a:pPr algn="l" rtl="0" fontAlgn="ctr">
                        <a:buNone/>
                      </a:pPr>
                      <a:r>
                        <a:rPr lang="en-US" sz="1000" b="0" i="0" u="none" strike="noStrike" dirty="0">
                          <a:solidFill>
                            <a:srgbClr val="000000"/>
                          </a:solidFill>
                          <a:effectLst/>
                          <a:latin typeface="+mj-lt"/>
                        </a:rPr>
                        <a:t>Avantor</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LS</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$6,552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$6,173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0.9x</a:t>
                      </a:r>
                    </a:p>
                  </a:txBody>
                  <a:tcPr marL="0" marR="0" marT="0" marB="0" anchor="ctr">
                    <a:lnL>
                      <a:noFill/>
                    </a:lnL>
                    <a:lnR>
                      <a:noFill/>
                    </a:lnR>
                    <a:lnT>
                      <a:noFill/>
                    </a:lnT>
                    <a:lnB>
                      <a:noFill/>
                    </a:lnB>
                    <a:solidFill>
                      <a:schemeClr val="accent4">
                        <a:lumMod val="20000"/>
                        <a:lumOff val="80000"/>
                      </a:schemeClr>
                    </a:solidFill>
                  </a:tcPr>
                </a:tc>
                <a:tc>
                  <a:txBody>
                    <a:bodyPr/>
                    <a:lstStyle/>
                    <a:p>
                      <a:pPr marL="171450" indent="-171450" algn="l" rtl="0" fontAlgn="ctr">
                        <a:buFont typeface="Wingdings" panose="05000000000000000000" pitchFamily="2" charset="2"/>
                        <a:buChar char="§"/>
                      </a:pPr>
                      <a:r>
                        <a:rPr lang="en-US"/>
                        <a:t>Sells commodity‑like laboratory materials</a:t>
                      </a:r>
                      <a:endParaRPr lang="en-US" sz="1000" b="0" i="0" u="none" strike="noStrike">
                        <a:solidFill>
                          <a:srgbClr val="000000"/>
                        </a:solidFill>
                        <a:effectLst/>
                        <a:latin typeface="+mj-lt"/>
                      </a:endParaRPr>
                    </a:p>
                  </a:txBody>
                  <a:tcPr marL="0" marR="0" marT="0" marB="0" anchor="ctr">
                    <a:lnL>
                      <a:noFill/>
                    </a:lnL>
                    <a:lnR>
                      <a:noFill/>
                    </a:lnR>
                    <a:lnT>
                      <a:noFill/>
                    </a:lnT>
                    <a:lnB>
                      <a:noFill/>
                    </a:lnB>
                    <a:noFill/>
                  </a:tcPr>
                </a:tc>
                <a:extLst>
                  <a:ext uri="{0D108BD9-81ED-4DB2-BD59-A6C34878D82A}">
                    <a16:rowId xmlns:a16="http://schemas.microsoft.com/office/drawing/2014/main" val="3555976286"/>
                  </a:ext>
                </a:extLst>
              </a:tr>
              <a:tr h="197179">
                <a:tc>
                  <a:txBody>
                    <a:bodyPr/>
                    <a:lstStyle/>
                    <a:p>
                      <a:pPr algn="l" rtl="0" fontAlgn="ctr">
                        <a:buNone/>
                      </a:pPr>
                      <a:r>
                        <a:rPr lang="en-US" sz="1000" b="0" i="0" u="none" strike="noStrike" dirty="0">
                          <a:solidFill>
                            <a:srgbClr val="000000"/>
                          </a:solidFill>
                          <a:effectLst/>
                          <a:latin typeface="+mj-lt"/>
                        </a:rPr>
                        <a:t>DENTSPLY SIRONA</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HCS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$3,680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$2,929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0.8x</a:t>
                      </a:r>
                    </a:p>
                  </a:txBody>
                  <a:tcPr marL="0" marR="0" marT="0" marB="0" anchor="ctr">
                    <a:lnL>
                      <a:noFill/>
                    </a:lnL>
                    <a:lnR>
                      <a:noFill/>
                    </a:lnR>
                    <a:lnT>
                      <a:noFill/>
                    </a:lnT>
                    <a:lnB>
                      <a:noFill/>
                    </a:lnB>
                    <a:solidFill>
                      <a:schemeClr val="accent4">
                        <a:lumMod val="20000"/>
                        <a:lumOff val="80000"/>
                      </a:schemeClr>
                    </a:solidFill>
                  </a:tcPr>
                </a:tc>
                <a:tc>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solidFill>
                            <a:schemeClr val="tx1"/>
                          </a:solidFill>
                        </a:rPr>
                        <a:t>Manufactures dental products and equipment, but also distributes third party products for end-to-end solutions, and uses authorized dealers to sell their products</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37220402"/>
                  </a:ext>
                </a:extLst>
              </a:tr>
              <a:tr h="197179">
                <a:tc>
                  <a:txBody>
                    <a:bodyPr/>
                    <a:lstStyle/>
                    <a:p>
                      <a:pPr algn="l" rtl="0" fontAlgn="ctr">
                        <a:buNone/>
                      </a:pPr>
                      <a:r>
                        <a:rPr lang="en-US" sz="1000" b="0" i="0" u="none" strike="noStrike">
                          <a:solidFill>
                            <a:srgbClr val="000000"/>
                          </a:solidFill>
                          <a:effectLst/>
                          <a:latin typeface="+mj-lt"/>
                        </a:rPr>
                        <a:t>Bruker Corporation</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LS</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$3,437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$6,106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1.8x</a:t>
                      </a:r>
                    </a:p>
                  </a:txBody>
                  <a:tcPr marL="0" marR="0" marT="0" marB="0" anchor="ctr">
                    <a:lnL>
                      <a:noFill/>
                    </a:lnL>
                    <a:lnR>
                      <a:noFill/>
                    </a:lnR>
                    <a:lnT>
                      <a:noFill/>
                    </a:lnT>
                    <a:lnB>
                      <a:noFill/>
                    </a:lnB>
                    <a:noFill/>
                  </a:tcPr>
                </a:tc>
                <a:tc>
                  <a:txBody>
                    <a:bodyPr/>
                    <a:lstStyle/>
                    <a:p>
                      <a:pPr marL="171450" indent="-171450" algn="l" rtl="0" fontAlgn="ctr">
                        <a:buFont typeface="Wingdings" panose="05000000000000000000" pitchFamily="2" charset="2"/>
                        <a:buChar char="§"/>
                      </a:pPr>
                      <a:r>
                        <a:rPr lang="en-US" sz="1000" b="0" i="0" kern="1200">
                          <a:solidFill>
                            <a:schemeClr val="dk1"/>
                          </a:solidFill>
                          <a:effectLst/>
                          <a:latin typeface="+mn-lt"/>
                          <a:ea typeface="+mn-ea"/>
                          <a:cs typeface="+mn-cs"/>
                        </a:rPr>
                        <a:t>Focuses on research and analytical tools for labs, rather than diagnostics</a:t>
                      </a:r>
                      <a:endParaRPr lang="en-US" sz="1000" b="0" i="0" u="none" strike="noStrike">
                        <a:solidFill>
                          <a:srgbClr val="000000"/>
                        </a:solidFill>
                        <a:effectLst/>
                        <a:latin typeface="+mj-lt"/>
                      </a:endParaRPr>
                    </a:p>
                  </a:txBody>
                  <a:tcPr marL="0" marR="0" marT="0" marB="0" anchor="ctr">
                    <a:lnL>
                      <a:noFill/>
                    </a:lnL>
                    <a:lnR>
                      <a:noFill/>
                    </a:lnR>
                    <a:lnT>
                      <a:noFill/>
                    </a:lnT>
                    <a:lnB>
                      <a:noFill/>
                    </a:lnB>
                    <a:noFill/>
                  </a:tcPr>
                </a:tc>
                <a:extLst>
                  <a:ext uri="{0D108BD9-81ED-4DB2-BD59-A6C34878D82A}">
                    <a16:rowId xmlns:a16="http://schemas.microsoft.com/office/drawing/2014/main" val="2766625710"/>
                  </a:ext>
                </a:extLst>
              </a:tr>
              <a:tr h="197179">
                <a:tc>
                  <a:txBody>
                    <a:bodyPr/>
                    <a:lstStyle/>
                    <a:p>
                      <a:pPr algn="l" rtl="0" fontAlgn="ctr">
                        <a:buNone/>
                      </a:pPr>
                      <a:r>
                        <a:rPr lang="en-US" sz="1000" b="0" i="0" u="none" strike="noStrike">
                          <a:solidFill>
                            <a:srgbClr val="000000"/>
                          </a:solidFill>
                          <a:effectLst/>
                          <a:latin typeface="+mj-lt"/>
                        </a:rPr>
                        <a:t>Exact Sciences</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BT</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12/31</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$3,247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$19,734 </a:t>
                      </a:r>
                    </a:p>
                  </a:txBody>
                  <a:tcPr marL="0" marR="0" marT="0" marB="0" anchor="ctr">
                    <a:lnL>
                      <a:noFill/>
                    </a:lnL>
                    <a:lnR>
                      <a:noFill/>
                    </a:lnR>
                    <a:lnT>
                      <a:noFill/>
                    </a:lnT>
                    <a:lnB>
                      <a:noFill/>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6.1x</a:t>
                      </a:r>
                    </a:p>
                  </a:txBody>
                  <a:tcPr marL="0" marR="0" marT="0" marB="0" anchor="ctr">
                    <a:lnL>
                      <a:noFill/>
                    </a:lnL>
                    <a:lnR>
                      <a:noFill/>
                    </a:lnR>
                    <a:lnT>
                      <a:noFill/>
                    </a:lnT>
                    <a:lnB>
                      <a:noFill/>
                    </a:lnB>
                    <a:solidFill>
                      <a:schemeClr val="bg1">
                        <a:lumMod val="95000"/>
                      </a:schemeClr>
                    </a:solidFill>
                  </a:tcPr>
                </a:tc>
                <a:tc>
                  <a:txBody>
                    <a:bodyPr/>
                    <a:lstStyle/>
                    <a:p>
                      <a:pPr marL="171450" indent="-171450" algn="l" rtl="0" fontAlgn="ctr">
                        <a:buFont typeface="Wingdings" panose="05000000000000000000" pitchFamily="2" charset="2"/>
                        <a:buChar char="§"/>
                      </a:pPr>
                      <a:r>
                        <a:rPr lang="en-US" sz="1000" b="0" i="0" u="none" strike="noStrike">
                          <a:solidFill>
                            <a:srgbClr val="000000"/>
                          </a:solidFill>
                          <a:effectLst/>
                          <a:latin typeface="+mj-lt"/>
                        </a:rPr>
                        <a:t>Flagged for monitoring; is to be </a:t>
                      </a:r>
                      <a:r>
                        <a:rPr lang="en-US" sz="1000" b="0" i="0" u="none" strike="noStrike" kern="1200">
                          <a:solidFill>
                            <a:srgbClr val="000000"/>
                          </a:solidFill>
                          <a:effectLst/>
                          <a:latin typeface="+mn-lt"/>
                          <a:ea typeface="+mn-ea"/>
                          <a:cs typeface="+mn-cs"/>
                        </a:rPr>
                        <a:t>acquired by Abbott in 2026</a:t>
                      </a:r>
                      <a:endParaRPr lang="en-US" sz="1000" b="0" i="0" u="none" strike="noStrike">
                        <a:solidFill>
                          <a:srgbClr val="000000"/>
                        </a:solidFill>
                        <a:effectLst/>
                        <a:latin typeface="+mj-lt"/>
                      </a:endParaRP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36938217"/>
                  </a:ext>
                </a:extLst>
              </a:tr>
              <a:tr h="197179">
                <a:tc>
                  <a:txBody>
                    <a:bodyPr/>
                    <a:lstStyle/>
                    <a:p>
                      <a:pPr algn="l" rtl="0" fontAlgn="ctr">
                        <a:buNone/>
                      </a:pPr>
                      <a:r>
                        <a:rPr lang="en-US" sz="1000" b="0" i="0" u="none" strike="noStrike">
                          <a:solidFill>
                            <a:srgbClr val="000000"/>
                          </a:solidFill>
                          <a:effectLst/>
                          <a:latin typeface="+mj-lt"/>
                        </a:rPr>
                        <a:t>QuidelOrtho</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HCE</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12/28</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$2,730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$1,548 </a:t>
                      </a:r>
                    </a:p>
                  </a:txBody>
                  <a:tcPr marL="0" marR="0" marT="0" marB="0" anchor="ctr">
                    <a:lnL>
                      <a:noFill/>
                    </a:lnL>
                    <a:lnR>
                      <a:noFill/>
                    </a:lnR>
                    <a:lnT>
                      <a:noFill/>
                    </a:lnT>
                    <a:lnB>
                      <a:noFill/>
                    </a:lnB>
                    <a:noFill/>
                  </a:tcPr>
                </a:tc>
                <a:tc>
                  <a:txBody>
                    <a:bodyPr/>
                    <a:lstStyle/>
                    <a:p>
                      <a:pPr algn="ctr" rtl="0" fontAlgn="ctr">
                        <a:buNone/>
                      </a:pPr>
                      <a:r>
                        <a:rPr lang="en-US" sz="1000" b="0" i="0" u="none" strike="noStrike">
                          <a:solidFill>
                            <a:srgbClr val="000000"/>
                          </a:solidFill>
                          <a:effectLst/>
                          <a:latin typeface="+mj-lt"/>
                        </a:rPr>
                        <a:t>0.6x</a:t>
                      </a:r>
                    </a:p>
                  </a:txBody>
                  <a:tcPr marL="0" marR="0" marT="0" marB="0" anchor="ctr">
                    <a:lnL>
                      <a:noFill/>
                    </a:lnL>
                    <a:lnR>
                      <a:noFill/>
                    </a:lnR>
                    <a:lnT>
                      <a:noFill/>
                    </a:lnT>
                    <a:lnB>
                      <a:noFill/>
                    </a:lnB>
                    <a:solidFill>
                      <a:schemeClr val="accent4">
                        <a:lumMod val="20000"/>
                        <a:lumOff val="80000"/>
                      </a:schemeClr>
                    </a:solidFill>
                  </a:tcPr>
                </a:tc>
                <a:tc>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solidFill>
                            <a:schemeClr val="tx1"/>
                          </a:solidFill>
                        </a:rPr>
                        <a:t>Manufactures and sells human health diagnostic equipment to hospitals and clinical labs, but they are not financially strong</a:t>
                      </a:r>
                    </a:p>
                  </a:txBody>
                  <a:tcPr marL="0" marR="0" marT="0" marB="0" anchor="ctr">
                    <a:lnL>
                      <a:noFill/>
                    </a:lnL>
                    <a:lnR>
                      <a:noFill/>
                    </a:lnR>
                    <a:lnT>
                      <a:noFill/>
                    </a:lnT>
                    <a:lnB>
                      <a:noFill/>
                    </a:lnB>
                    <a:noFill/>
                  </a:tcPr>
                </a:tc>
                <a:extLst>
                  <a:ext uri="{0D108BD9-81ED-4DB2-BD59-A6C34878D82A}">
                    <a16:rowId xmlns:a16="http://schemas.microsoft.com/office/drawing/2014/main" val="3703045998"/>
                  </a:ext>
                </a:extLst>
              </a:tr>
              <a:tr h="182880">
                <a:tc>
                  <a:txBody>
                    <a:bodyPr/>
                    <a:lstStyle/>
                    <a:p>
                      <a:pPr algn="l" rtl="0" fontAlgn="ctr">
                        <a:buNone/>
                      </a:pPr>
                      <a:r>
                        <a:rPr lang="en-US" sz="1000" b="0" i="0" u="none" strike="noStrike">
                          <a:solidFill>
                            <a:srgbClr val="000000"/>
                          </a:solidFill>
                          <a:effectLst/>
                          <a:latin typeface="+mj-lt"/>
                        </a:rPr>
                        <a:t>Phibro Animal Health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P</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6/30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$1,296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rtl="0" fontAlgn="ctr">
                        <a:buNone/>
                      </a:pPr>
                      <a:r>
                        <a:rPr lang="en-US" sz="1000" b="0" i="0" u="none" strike="noStrike">
                          <a:solidFill>
                            <a:srgbClr val="000000"/>
                          </a:solidFill>
                          <a:effectLst/>
                          <a:latin typeface="+mj-lt"/>
                        </a:rPr>
                        <a:t>$2,213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buNone/>
                      </a:pPr>
                      <a:r>
                        <a:rPr lang="en-US" sz="1000" b="0" i="0" u="none" strike="noStrike">
                          <a:solidFill>
                            <a:srgbClr val="000000"/>
                          </a:solidFill>
                          <a:effectLst/>
                          <a:latin typeface="+mj-lt"/>
                        </a:rPr>
                        <a:t>1.7x</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71450" marR="0" lvl="0" indent="-171450" algn="l" defTabSz="914378" rtl="0" eaLnBrk="1" fontAlgn="ctr" latinLnBrk="0" hangingPunct="1">
                        <a:lnSpc>
                          <a:spcPct val="100000"/>
                        </a:lnSpc>
                        <a:spcBef>
                          <a:spcPts val="0"/>
                        </a:spcBef>
                        <a:spcAft>
                          <a:spcPts val="0"/>
                        </a:spcAft>
                        <a:buClrTx/>
                        <a:buSzTx/>
                        <a:buFont typeface="Wingdings" panose="05000000000000000000" pitchFamily="2" charset="2"/>
                        <a:buChar char="§"/>
                        <a:tabLst/>
                        <a:defRPr/>
                      </a:pPr>
                      <a:r>
                        <a:rPr lang="en-US"/>
                        <a:t>Focused on nutrition, vaccines, and feed additives, rather than diagnostics; falls below revenue threshold</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3866943"/>
                  </a:ext>
                </a:extLst>
              </a:tr>
              <a:tr h="44475">
                <a:tc>
                  <a:txBody>
                    <a:bodyPr/>
                    <a:lstStyle/>
                    <a:p>
                      <a:pPr algn="l"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300" b="0"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2852936"/>
                  </a:ext>
                </a:extLst>
              </a:tr>
              <a:tr h="175269">
                <a:tc>
                  <a:txBody>
                    <a:bodyPr/>
                    <a:lstStyle/>
                    <a:p>
                      <a:pPr algn="l" rtl="0" fontAlgn="b">
                        <a:buNone/>
                      </a:pPr>
                      <a:r>
                        <a:rPr lang="en-US" sz="1000" b="1" i="0" u="none" strike="noStrike" dirty="0">
                          <a:solidFill>
                            <a:srgbClr val="000000"/>
                          </a:solidFill>
                          <a:effectLst/>
                          <a:latin typeface="+mj-lt"/>
                        </a:rPr>
                        <a:t>Goofy</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rtl="0" fontAlgn="b">
                        <a:buNone/>
                      </a:pPr>
                      <a:r>
                        <a:rPr lang="en-US" sz="1000" b="1" i="0" u="none" strike="noStrike">
                          <a:solidFill>
                            <a:srgbClr val="000000"/>
                          </a:solidFill>
                          <a:effectLst/>
                          <a:latin typeface="+mj-lt"/>
                        </a:rPr>
                        <a:t>HCE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$4,304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$52,291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a:solidFill>
                            <a:srgbClr val="000000"/>
                          </a:solidFill>
                          <a:effectLst/>
                          <a:latin typeface="+mj-lt"/>
                        </a:rPr>
                        <a:t>12.2x</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rtl="0" fontAlgn="b">
                        <a:buNone/>
                      </a:pPr>
                      <a:r>
                        <a:rPr lang="en-US" sz="1000" b="1" i="0" u="none" strike="noStrike" dirty="0">
                          <a:solidFill>
                            <a:srgbClr val="000000"/>
                          </a:solidFill>
                          <a:effectLst/>
                          <a:latin typeface="+mj-lt"/>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30928321"/>
                  </a:ext>
                </a:extLst>
              </a:tr>
            </a:tbl>
          </a:graphicData>
        </a:graphic>
      </p:graphicFrame>
      <p:graphicFrame>
        <p:nvGraphicFramePr>
          <p:cNvPr id="16" name="Content Placeholder 11">
            <a:extLst>
              <a:ext uri="{FF2B5EF4-FFF2-40B4-BE49-F238E27FC236}">
                <a16:creationId xmlns:a16="http://schemas.microsoft.com/office/drawing/2014/main" id="{4ADF023A-A81A-CA7F-0D6C-E08587A8A5A6}"/>
              </a:ext>
            </a:extLst>
          </p:cNvPr>
          <p:cNvGraphicFramePr>
            <a:graphicFrameLocks/>
          </p:cNvGraphicFramePr>
          <p:nvPr>
            <p:extLst>
              <p:ext uri="{D42A27DB-BD31-4B8C-83A1-F6EECF244321}">
                <p14:modId xmlns:p14="http://schemas.microsoft.com/office/powerpoint/2010/main" val="2628794295"/>
              </p:ext>
            </p:extLst>
          </p:nvPr>
        </p:nvGraphicFramePr>
        <p:xfrm>
          <a:off x="3010860" y="5578432"/>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3438579452"/>
                    </a:ext>
                  </a:extLst>
                </a:gridCol>
                <a:gridCol w="1737360">
                  <a:extLst>
                    <a:ext uri="{9D8B030D-6E8A-4147-A177-3AD203B41FA5}">
                      <a16:colId xmlns:a16="http://schemas.microsoft.com/office/drawing/2014/main" val="2511897402"/>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305702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7095924"/>
                  </a:ext>
                </a:extLst>
              </a:tr>
            </a:tbl>
          </a:graphicData>
        </a:graphic>
      </p:graphicFrame>
      <p:sp>
        <p:nvSpPr>
          <p:cNvPr id="18" name="TextBox 17">
            <a:extLst>
              <a:ext uri="{FF2B5EF4-FFF2-40B4-BE49-F238E27FC236}">
                <a16:creationId xmlns:a16="http://schemas.microsoft.com/office/drawing/2014/main" id="{6C99970A-F623-2BFE-AF1E-830509A3E6E3}"/>
              </a:ext>
            </a:extLst>
          </p:cNvPr>
          <p:cNvSpPr txBox="1"/>
          <p:nvPr/>
        </p:nvSpPr>
        <p:spPr>
          <a:xfrm>
            <a:off x="2595849" y="5531596"/>
            <a:ext cx="614702" cy="230832"/>
          </a:xfrm>
          <a:prstGeom prst="rect">
            <a:avLst/>
          </a:prstGeom>
          <a:noFill/>
          <a:ln>
            <a:noFill/>
          </a:ln>
        </p:spPr>
        <p:txBody>
          <a:bodyPr wrap="square" rtlCol="0" anchor="ctr">
            <a:spAutoFit/>
          </a:bodyPr>
          <a:lstStyle/>
          <a:p>
            <a:r>
              <a:rPr lang="en-US" sz="900" b="1" i="1"/>
              <a:t>Key:</a:t>
            </a:r>
          </a:p>
        </p:txBody>
      </p:sp>
      <p:graphicFrame>
        <p:nvGraphicFramePr>
          <p:cNvPr id="19" name="Table 14">
            <a:extLst>
              <a:ext uri="{FF2B5EF4-FFF2-40B4-BE49-F238E27FC236}">
                <a16:creationId xmlns:a16="http://schemas.microsoft.com/office/drawing/2014/main" id="{D87BDE51-5889-850B-0562-3854EEED04A1}"/>
              </a:ext>
            </a:extLst>
          </p:cNvPr>
          <p:cNvGraphicFramePr>
            <a:graphicFrameLocks noGrp="1"/>
          </p:cNvGraphicFramePr>
          <p:nvPr>
            <p:extLst>
              <p:ext uri="{D42A27DB-BD31-4B8C-83A1-F6EECF244321}">
                <p14:modId xmlns:p14="http://schemas.microsoft.com/office/powerpoint/2010/main" val="126489883"/>
              </p:ext>
            </p:extLst>
          </p:nvPr>
        </p:nvGraphicFramePr>
        <p:xfrm>
          <a:off x="4538587" y="5578432"/>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bl>
          </a:graphicData>
        </a:graphic>
      </p:graphicFrame>
      <p:graphicFrame>
        <p:nvGraphicFramePr>
          <p:cNvPr id="21" name="Table 20">
            <a:extLst>
              <a:ext uri="{FF2B5EF4-FFF2-40B4-BE49-F238E27FC236}">
                <a16:creationId xmlns:a16="http://schemas.microsoft.com/office/drawing/2014/main" id="{CC63BE2E-813D-6EFB-1B7C-60966493125A}"/>
              </a:ext>
            </a:extLst>
          </p:cNvPr>
          <p:cNvGraphicFramePr>
            <a:graphicFrameLocks noGrp="1"/>
          </p:cNvGraphicFramePr>
          <p:nvPr>
            <p:extLst>
              <p:ext uri="{D42A27DB-BD31-4B8C-83A1-F6EECF244321}">
                <p14:modId xmlns:p14="http://schemas.microsoft.com/office/powerpoint/2010/main" val="321505777"/>
              </p:ext>
            </p:extLst>
          </p:nvPr>
        </p:nvGraphicFramePr>
        <p:xfrm>
          <a:off x="5899559" y="5795748"/>
          <a:ext cx="2011680"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67115251"/>
                    </a:ext>
                  </a:extLst>
                </a:gridCol>
                <a:gridCol w="1737360">
                  <a:extLst>
                    <a:ext uri="{9D8B030D-6E8A-4147-A177-3AD203B41FA5}">
                      <a16:colId xmlns:a16="http://schemas.microsoft.com/office/drawing/2014/main" val="269626342"/>
                    </a:ext>
                  </a:extLst>
                </a:gridCol>
              </a:tblGrid>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a:t>
                      </a:r>
                      <a:r>
                        <a:rPr lang="en-US" sz="900" err="1"/>
                        <a:t>Svcs</a:t>
                      </a:r>
                      <a:endParaRPr lang="en-US" sz="900"/>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8741809"/>
                  </a:ext>
                </a:extLst>
              </a:tr>
            </a:tbl>
          </a:graphicData>
        </a:graphic>
      </p:graphicFrame>
      <p:graphicFrame>
        <p:nvGraphicFramePr>
          <p:cNvPr id="22" name="Table 21">
            <a:extLst>
              <a:ext uri="{FF2B5EF4-FFF2-40B4-BE49-F238E27FC236}">
                <a16:creationId xmlns:a16="http://schemas.microsoft.com/office/drawing/2014/main" id="{E6185C7F-D0F5-2108-8810-0BCBE484C443}"/>
              </a:ext>
            </a:extLst>
          </p:cNvPr>
          <p:cNvGraphicFramePr>
            <a:graphicFrameLocks noGrp="1"/>
          </p:cNvGraphicFramePr>
          <p:nvPr>
            <p:extLst>
              <p:ext uri="{D42A27DB-BD31-4B8C-83A1-F6EECF244321}">
                <p14:modId xmlns:p14="http://schemas.microsoft.com/office/powerpoint/2010/main" val="1252166589"/>
              </p:ext>
            </p:extLst>
          </p:nvPr>
        </p:nvGraphicFramePr>
        <p:xfrm>
          <a:off x="3010860" y="5796480"/>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736650706"/>
                    </a:ext>
                  </a:extLst>
                </a:gridCol>
                <a:gridCol w="1737360">
                  <a:extLst>
                    <a:ext uri="{9D8B030D-6E8A-4147-A177-3AD203B41FA5}">
                      <a16:colId xmlns:a16="http://schemas.microsoft.com/office/drawing/2014/main" val="1529697195"/>
                    </a:ext>
                  </a:extLst>
                </a:gridCol>
              </a:tblGrid>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60456300"/>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40298"/>
                  </a:ext>
                </a:extLst>
              </a:tr>
            </a:tbl>
          </a:graphicData>
        </a:graphic>
      </p:graphicFrame>
      <p:graphicFrame>
        <p:nvGraphicFramePr>
          <p:cNvPr id="10" name="Content Placeholder 11">
            <a:extLst>
              <a:ext uri="{FF2B5EF4-FFF2-40B4-BE49-F238E27FC236}">
                <a16:creationId xmlns:a16="http://schemas.microsoft.com/office/drawing/2014/main" id="{40F00DB4-B3C8-25E8-28F3-A83C93593750}"/>
              </a:ext>
            </a:extLst>
          </p:cNvPr>
          <p:cNvGraphicFramePr>
            <a:graphicFrameLocks/>
          </p:cNvGraphicFramePr>
          <p:nvPr>
            <p:extLst>
              <p:ext uri="{D42A27DB-BD31-4B8C-83A1-F6EECF244321}">
                <p14:modId xmlns:p14="http://schemas.microsoft.com/office/powerpoint/2010/main" val="220849454"/>
              </p:ext>
            </p:extLst>
          </p:nvPr>
        </p:nvGraphicFramePr>
        <p:xfrm>
          <a:off x="5899559" y="5572825"/>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3438579452"/>
                    </a:ext>
                  </a:extLst>
                </a:gridCol>
                <a:gridCol w="1737360">
                  <a:extLst>
                    <a:ext uri="{9D8B030D-6E8A-4147-A177-3AD203B41FA5}">
                      <a16:colId xmlns:a16="http://schemas.microsoft.com/office/drawing/2014/main" val="2511897402"/>
                    </a:ext>
                  </a:extLst>
                </a:gridCol>
              </a:tblGrid>
              <a:tr h="127044">
                <a:tc>
                  <a:txBody>
                    <a:bodyPr/>
                    <a:lstStyle/>
                    <a:p>
                      <a:pPr algn="ctr"/>
                      <a:r>
                        <a:rPr lang="en-US" sz="900"/>
                        <a:t>HCD</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Distributors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305702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7095924"/>
                  </a:ext>
                </a:extLst>
              </a:tr>
            </a:tbl>
          </a:graphicData>
        </a:graphic>
      </p:graphicFrame>
      <p:graphicFrame>
        <p:nvGraphicFramePr>
          <p:cNvPr id="12" name="Table 14">
            <a:extLst>
              <a:ext uri="{FF2B5EF4-FFF2-40B4-BE49-F238E27FC236}">
                <a16:creationId xmlns:a16="http://schemas.microsoft.com/office/drawing/2014/main" id="{FAEA8FDD-A97B-D4D2-F172-07974F15AE76}"/>
              </a:ext>
            </a:extLst>
          </p:cNvPr>
          <p:cNvGraphicFramePr>
            <a:graphicFrameLocks noGrp="1"/>
          </p:cNvGraphicFramePr>
          <p:nvPr>
            <p:extLst>
              <p:ext uri="{D42A27DB-BD31-4B8C-83A1-F6EECF244321}">
                <p14:modId xmlns:p14="http://schemas.microsoft.com/office/powerpoint/2010/main" val="3142516639"/>
              </p:ext>
            </p:extLst>
          </p:nvPr>
        </p:nvGraphicFramePr>
        <p:xfrm>
          <a:off x="7511106" y="5572825"/>
          <a:ext cx="1523003"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48683">
                  <a:extLst>
                    <a:ext uri="{9D8B030D-6E8A-4147-A177-3AD203B41FA5}">
                      <a16:colId xmlns:a16="http://schemas.microsoft.com/office/drawing/2014/main" val="1242357177"/>
                    </a:ext>
                  </a:extLst>
                </a:gridCol>
              </a:tblGrid>
              <a:tr h="127044">
                <a:tc>
                  <a:txBody>
                    <a:bodyPr/>
                    <a:lstStyle/>
                    <a:p>
                      <a:pPr algn="ctr"/>
                      <a:r>
                        <a:rPr lang="en-US" sz="900"/>
                        <a:t>HCF</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Facilities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bl>
          </a:graphicData>
        </a:graphic>
      </p:graphicFrame>
      <p:graphicFrame>
        <p:nvGraphicFramePr>
          <p:cNvPr id="14" name="Table 13">
            <a:extLst>
              <a:ext uri="{FF2B5EF4-FFF2-40B4-BE49-F238E27FC236}">
                <a16:creationId xmlns:a16="http://schemas.microsoft.com/office/drawing/2014/main" id="{96C4EB70-A32C-F7BE-8C02-5985B89C149F}"/>
              </a:ext>
            </a:extLst>
          </p:cNvPr>
          <p:cNvGraphicFramePr>
            <a:graphicFrameLocks noGrp="1"/>
          </p:cNvGraphicFramePr>
          <p:nvPr>
            <p:extLst>
              <p:ext uri="{D42A27DB-BD31-4B8C-83A1-F6EECF244321}">
                <p14:modId xmlns:p14="http://schemas.microsoft.com/office/powerpoint/2010/main" val="3092136473"/>
              </p:ext>
            </p:extLst>
          </p:nvPr>
        </p:nvGraphicFramePr>
        <p:xfrm>
          <a:off x="4538587" y="5792042"/>
          <a:ext cx="2011680" cy="183211"/>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2736650706"/>
                    </a:ext>
                  </a:extLst>
                </a:gridCol>
                <a:gridCol w="1737360">
                  <a:extLst>
                    <a:ext uri="{9D8B030D-6E8A-4147-A177-3AD203B41FA5}">
                      <a16:colId xmlns:a16="http://schemas.microsoft.com/office/drawing/2014/main" val="1529697195"/>
                    </a:ext>
                  </a:extLst>
                </a:gridCol>
              </a:tblGrid>
              <a:tr h="127044">
                <a:tc>
                  <a:txBody>
                    <a:bodyPr/>
                    <a:lstStyle/>
                    <a:p>
                      <a:pPr algn="ctr"/>
                      <a:r>
                        <a:rPr lang="en-US" sz="900"/>
                        <a:t>BT</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Biotechnology</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60456300"/>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240298"/>
                  </a:ext>
                </a:extLst>
              </a:tr>
            </a:tbl>
          </a:graphicData>
        </a:graphic>
      </p:graphicFrame>
      <p:sp>
        <p:nvSpPr>
          <p:cNvPr id="24" name="TextBox 23">
            <a:extLst>
              <a:ext uri="{FF2B5EF4-FFF2-40B4-BE49-F238E27FC236}">
                <a16:creationId xmlns:a16="http://schemas.microsoft.com/office/drawing/2014/main" id="{2172ADF8-E303-7D58-0C2B-8FF6979BD922}"/>
              </a:ext>
            </a:extLst>
          </p:cNvPr>
          <p:cNvSpPr txBox="1"/>
          <p:nvPr/>
        </p:nvSpPr>
        <p:spPr>
          <a:xfrm>
            <a:off x="31750" y="5516195"/>
            <a:ext cx="2405564" cy="224292"/>
          </a:xfrm>
          <a:prstGeom prst="rect">
            <a:avLst/>
          </a:prstGeom>
          <a:noFill/>
        </p:spPr>
        <p:txBody>
          <a:bodyPr vert="horz" wrap="square" lIns="45720" tIns="45720" rIns="45720" bIns="45720" rtlCol="0" anchor="ctr">
            <a:spAutoFit/>
          </a:bodyPr>
          <a:lstStyle/>
          <a:p>
            <a:pPr marL="171450" indent="-171450">
              <a:lnSpc>
                <a:spcPct val="85000"/>
              </a:lnSpc>
              <a:buAutoNum type="arabicParenBoth"/>
            </a:pPr>
            <a:r>
              <a:rPr lang="en-US" sz="1000" b="1" i="1">
                <a:solidFill>
                  <a:schemeClr val="accent2">
                    <a:lumMod val="50000"/>
                  </a:schemeClr>
                </a:solidFill>
              </a:rPr>
              <a:t>Additional companies surfaced by AI</a:t>
            </a:r>
          </a:p>
        </p:txBody>
      </p:sp>
      <p:graphicFrame>
        <p:nvGraphicFramePr>
          <p:cNvPr id="25" name="Table 14">
            <a:extLst>
              <a:ext uri="{FF2B5EF4-FFF2-40B4-BE49-F238E27FC236}">
                <a16:creationId xmlns:a16="http://schemas.microsoft.com/office/drawing/2014/main" id="{BC6F1CB6-DF7F-F99C-FB9A-D452CE8C442B}"/>
              </a:ext>
            </a:extLst>
          </p:cNvPr>
          <p:cNvGraphicFramePr>
            <a:graphicFrameLocks noGrp="1"/>
          </p:cNvGraphicFramePr>
          <p:nvPr>
            <p:extLst>
              <p:ext uri="{D42A27DB-BD31-4B8C-83A1-F6EECF244321}">
                <p14:modId xmlns:p14="http://schemas.microsoft.com/office/powerpoint/2010/main" val="3473979075"/>
              </p:ext>
            </p:extLst>
          </p:nvPr>
        </p:nvGraphicFramePr>
        <p:xfrm>
          <a:off x="7511106" y="5783233"/>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r>
                        <a:rPr lang="en-US" sz="900"/>
                        <a:t>  Does not meet criterion</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601939"/>
                  </a:ext>
                </a:extLst>
              </a:tr>
            </a:tbl>
          </a:graphicData>
        </a:graphic>
      </p:graphicFrame>
    </p:spTree>
    <p:extLst>
      <p:ext uri="{BB962C8B-B14F-4D97-AF65-F5344CB8AC3E}">
        <p14:creationId xmlns:p14="http://schemas.microsoft.com/office/powerpoint/2010/main" val="387966685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B39197-ADD9-A4CC-F9CB-923A431F6889}"/>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ED761180-928A-957A-C3FE-FEA6CCA876B0}"/>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15388777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74A18-6837-4C6B-0328-EA7B802347F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E1EB27F-0F68-FF27-BA08-FFAA2435EF4B}"/>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909C0C8C-9FB5-E086-2C50-6BCC8DA12C15}"/>
              </a:ext>
            </a:extLst>
          </p:cNvPr>
          <p:cNvSpPr>
            <a:spLocks noGrp="1"/>
          </p:cNvSpPr>
          <p:nvPr>
            <p:ph type="title"/>
          </p:nvPr>
        </p:nvSpPr>
        <p:spPr>
          <a:xfrm>
            <a:off x="882797" y="44215"/>
            <a:ext cx="8074152" cy="1292899"/>
          </a:xfrm>
        </p:spPr>
        <p:txBody>
          <a:bodyPr/>
          <a:lstStyle/>
          <a:p>
            <a:r>
              <a:rPr lang="en-US" dirty="0"/>
              <a:t>Goofy’s peer group is used for evaluating the strength of pay levels, pay practices, and performance</a:t>
            </a:r>
          </a:p>
        </p:txBody>
      </p:sp>
      <p:sp>
        <p:nvSpPr>
          <p:cNvPr id="4" name="Slide Number Placeholder 3">
            <a:extLst>
              <a:ext uri="{FF2B5EF4-FFF2-40B4-BE49-F238E27FC236}">
                <a16:creationId xmlns:a16="http://schemas.microsoft.com/office/drawing/2014/main" id="{74A0A579-02C9-9701-DC35-317AB30E2E67}"/>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8</a:t>
            </a:fld>
            <a:endParaRPr lang="en-US"/>
          </a:p>
        </p:txBody>
      </p:sp>
      <p:graphicFrame>
        <p:nvGraphicFramePr>
          <p:cNvPr id="2" name="Table 1">
            <a:extLst>
              <a:ext uri="{FF2B5EF4-FFF2-40B4-BE49-F238E27FC236}">
                <a16:creationId xmlns:a16="http://schemas.microsoft.com/office/drawing/2014/main" id="{2B359F96-2CB3-3F51-DCDB-0131751D5B84}"/>
              </a:ext>
            </a:extLst>
          </p:cNvPr>
          <p:cNvGraphicFramePr>
            <a:graphicFrameLocks noGrp="1"/>
          </p:cNvGraphicFramePr>
          <p:nvPr>
            <p:extLst>
              <p:ext uri="{D42A27DB-BD31-4B8C-83A1-F6EECF244321}">
                <p14:modId xmlns:p14="http://schemas.microsoft.com/office/powerpoint/2010/main" val="2324897254"/>
              </p:ext>
            </p:extLst>
          </p:nvPr>
        </p:nvGraphicFramePr>
        <p:xfrm>
          <a:off x="243522" y="1903025"/>
          <a:ext cx="8424382" cy="2395728"/>
        </p:xfrm>
        <a:graphic>
          <a:graphicData uri="http://schemas.openxmlformats.org/drawingml/2006/table">
            <a:tbl>
              <a:tblPr/>
              <a:tblGrid>
                <a:gridCol w="1616506">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89202">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0664">
                  <a:extLst>
                    <a:ext uri="{9D8B030D-6E8A-4147-A177-3AD203B41FA5}">
                      <a16:colId xmlns:a16="http://schemas.microsoft.com/office/drawing/2014/main" val="2303153015"/>
                    </a:ext>
                  </a:extLst>
                </a:gridCol>
                <a:gridCol w="1005840">
                  <a:extLst>
                    <a:ext uri="{9D8B030D-6E8A-4147-A177-3AD203B41FA5}">
                      <a16:colId xmlns:a16="http://schemas.microsoft.com/office/drawing/2014/main" val="67374695"/>
                    </a:ext>
                  </a:extLst>
                </a:gridCol>
                <a:gridCol w="1005840">
                  <a:extLst>
                    <a:ext uri="{9D8B030D-6E8A-4147-A177-3AD203B41FA5}">
                      <a16:colId xmlns:a16="http://schemas.microsoft.com/office/drawing/2014/main" val="3000455279"/>
                    </a:ext>
                  </a:extLst>
                </a:gridCol>
                <a:gridCol w="924570">
                  <a:extLst>
                    <a:ext uri="{9D8B030D-6E8A-4147-A177-3AD203B41FA5}">
                      <a16:colId xmlns:a16="http://schemas.microsoft.com/office/drawing/2014/main" val="20005"/>
                    </a:ext>
                  </a:extLst>
                </a:gridCol>
              </a:tblGrid>
              <a:tr h="0">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dirty="0">
                          <a:solidFill>
                            <a:schemeClr val="bg1"/>
                          </a:solidFill>
                          <a:latin typeface="Calibri" panose="020F0502020204030204" pitchFamily="34" charset="0"/>
                          <a:ea typeface="Times New Roman"/>
                          <a:cs typeface="Calibri" panose="020F0502020204030204" pitchFamily="34" charset="0"/>
                        </a:rPr>
                        <a:t>Peer Groups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Description</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 of Cos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gridSpan="5">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tabLst/>
                      </a:pPr>
                      <a:r>
                        <a:rPr lang="en-US" sz="1200" b="1">
                          <a:solidFill>
                            <a:schemeClr val="bg1"/>
                          </a:solidFill>
                          <a:latin typeface="Calibri" panose="020F0502020204030204" pitchFamily="34" charset="0"/>
                          <a:ea typeface="Times New Roman"/>
                          <a:cs typeface="Calibri" panose="020F0502020204030204" pitchFamily="34" charset="0"/>
                        </a:rPr>
                        <a:t>Application</a:t>
                      </a:r>
                      <a:endParaRPr lang="en-US" sz="1200">
                        <a:solidFill>
                          <a:schemeClr val="bg1"/>
                        </a:solidFill>
                        <a:latin typeface="Calibri" panose="020F0502020204030204" pitchFamily="34" charset="0"/>
                        <a:ea typeface="Times New Roman"/>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vMerge="1">
                  <a:txBody>
                    <a:bodyPr/>
                    <a:lstStyle/>
                    <a:p>
                      <a:pPr marL="0" marR="0">
                        <a:spcBef>
                          <a:spcPts val="0"/>
                        </a:spcBef>
                        <a:spcAft>
                          <a:spcPts val="0"/>
                        </a:spcAft>
                      </a:pPr>
                      <a:endParaRPr lang="en-US" sz="1000">
                        <a:latin typeface="+mj-lt"/>
                        <a:ea typeface="Times New Roman"/>
                        <a:cs typeface="Times New Roman"/>
                      </a:endParaRPr>
                    </a:p>
                  </a:txBody>
                  <a:tcPr marL="55179" marR="551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kern="1200">
                          <a:solidFill>
                            <a:schemeClr val="bg1"/>
                          </a:solidFill>
                          <a:latin typeface="Calibri" panose="020F0502020204030204" pitchFamily="34" charset="0"/>
                          <a:ea typeface="Times New Roman"/>
                          <a:cs typeface="Calibri" panose="020F0502020204030204" pitchFamily="34" charset="0"/>
                        </a:rPr>
                        <a:t>Pay </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Pay </a:t>
                      </a:r>
                    </a:p>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Practices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Performance Comparisons</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Pay versus Performance</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1">
                          <a:solidFill>
                            <a:schemeClr val="bg1"/>
                          </a:solidFill>
                          <a:latin typeface="Calibri" panose="020F0502020204030204" pitchFamily="34" charset="0"/>
                          <a:ea typeface="Times New Roman"/>
                          <a:cs typeface="Calibri" panose="020F0502020204030204" pitchFamily="34" charset="0"/>
                        </a:rPr>
                        <a:t>10K</a:t>
                      </a:r>
                    </a:p>
                  </a:txBody>
                  <a:tcPr marL="52551" marR="52551"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CBD"/>
                    </a:solidFill>
                  </a:tcPr>
                </a:tc>
                <a:extLst>
                  <a:ext uri="{0D108BD9-81ED-4DB2-BD59-A6C34878D82A}">
                    <a16:rowId xmlns:a16="http://schemas.microsoft.com/office/drawing/2014/main" val="10001"/>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200" b="1" i="0">
                          <a:latin typeface="Calibri" panose="020F0502020204030204" pitchFamily="34" charset="0"/>
                          <a:cs typeface="Calibri" panose="020F0502020204030204" pitchFamily="34" charset="0"/>
                        </a:rPr>
                        <a:t>Primary Peer Group</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sz="1200" b="0">
                          <a:latin typeface="Calibri" panose="020F0502020204030204" pitchFamily="34" charset="0"/>
                          <a:ea typeface="Times New Roman"/>
                          <a:cs typeface="Calibri" panose="020F0502020204030204" pitchFamily="34" charset="0"/>
                        </a:rPr>
                        <a:t>Peers screened for direct relevance and business fit</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0" baseline="0">
                          <a:solidFill>
                            <a:schemeClr val="tx1"/>
                          </a:solidFill>
                          <a:latin typeface="Calibri" panose="020F0502020204030204" pitchFamily="34" charset="0"/>
                          <a:ea typeface="Times New Roman"/>
                          <a:cs typeface="Calibri" panose="020F0502020204030204" pitchFamily="34" charset="0"/>
                        </a:rPr>
                        <a:t>16</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b="0">
                          <a:latin typeface="Calibri" panose="020F0502020204030204" pitchFamily="34" charset="0"/>
                          <a:cs typeface="Calibri" panose="020F0502020204030204" pitchFamily="34" charset="0"/>
                        </a:rPr>
                        <a:t>X</a:t>
                      </a:r>
                    </a:p>
                    <a:p>
                      <a:pPr algn="ctr"/>
                      <a:r>
                        <a:rPr lang="en-US" sz="1200" b="0">
                          <a:latin typeface="Calibri" panose="020F0502020204030204" pitchFamily="34" charset="0"/>
                          <a:cs typeface="Calibri" panose="020F0502020204030204" pitchFamily="34" charset="0"/>
                        </a:rPr>
                        <a:t>(CEO</a:t>
                      </a:r>
                      <a:r>
                        <a:rPr lang="en-US" sz="1200" b="0" baseline="0">
                          <a:latin typeface="Calibri" panose="020F0502020204030204" pitchFamily="34" charset="0"/>
                          <a:cs typeface="Calibri" panose="020F0502020204030204" pitchFamily="34" charset="0"/>
                        </a:rPr>
                        <a:t> &amp; CFO Only)</a:t>
                      </a:r>
                      <a:endParaRPr lang="en-US" sz="1200" b="0">
                        <a:latin typeface="Calibri" panose="020F0502020204030204" pitchFamily="34" charset="0"/>
                        <a:cs typeface="Calibri" panose="020F0502020204030204" pitchFamily="34" charset="0"/>
                      </a:endParaRP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b="0">
                          <a:latin typeface="Calibri" panose="020F0502020204030204" pitchFamily="34" charset="0"/>
                          <a:ea typeface="Times New Roman"/>
                          <a:cs typeface="Calibri" panose="020F0502020204030204" pitchFamily="34" charset="0"/>
                        </a:rPr>
                        <a:t>X</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r>
                        <a:rPr lang="en-US" sz="1200" b="0">
                          <a:latin typeface="Calibri" panose="020F0502020204030204" pitchFamily="34" charset="0"/>
                          <a:ea typeface="Times New Roman"/>
                          <a:cs typeface="Calibri" panose="020F0502020204030204" pitchFamily="34" charset="0"/>
                        </a:rPr>
                        <a:t>X</a:t>
                      </a: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200" b="0">
                        <a:latin typeface="Calibri" panose="020F0502020204030204" pitchFamily="34" charset="0"/>
                        <a:ea typeface="Times New Roman"/>
                        <a:cs typeface="Calibri" panose="020F0502020204030204" pitchFamily="34" charset="0"/>
                      </a:endParaRP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endParaRPr lang="en-US" sz="1200" b="0">
                        <a:latin typeface="Calibri" panose="020F0502020204030204" pitchFamily="34" charset="0"/>
                        <a:ea typeface="Times New Roman"/>
                        <a:cs typeface="Calibri" panose="020F0502020204030204" pitchFamily="34" charset="0"/>
                      </a:endParaRPr>
                    </a:p>
                  </a:txBody>
                  <a:tcPr marL="52551" marR="52551" marT="9144" marB="914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200" b="1" i="0">
                          <a:solidFill>
                            <a:schemeClr val="tx1"/>
                          </a:solidFill>
                          <a:latin typeface="Calibri" panose="020F0502020204030204" pitchFamily="34" charset="0"/>
                          <a:cs typeface="Calibri" panose="020F0502020204030204" pitchFamily="34" charset="0"/>
                        </a:rPr>
                        <a:t>Radford</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indent="0">
                        <a:buFontTx/>
                        <a:buNone/>
                      </a:pPr>
                      <a:r>
                        <a:rPr lang="en-US" sz="1200">
                          <a:latin typeface="Calibri" panose="020F0502020204030204" pitchFamily="34" charset="0"/>
                          <a:cs typeface="Calibri" panose="020F0502020204030204" pitchFamily="34" charset="0"/>
                        </a:rPr>
                        <a:t>Technology, life science, and custom peer survey cuts size adjusted to corporate or division revenues</a:t>
                      </a:r>
                      <a:endParaRPr lang="en-US" sz="1200" baseline="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algn="ctr">
                        <a:spcBef>
                          <a:spcPts val="0"/>
                        </a:spcBef>
                        <a:spcAft>
                          <a:spcPts val="0"/>
                        </a:spcAft>
                      </a:pPr>
                      <a:r>
                        <a:rPr lang="en-US" sz="1200">
                          <a:solidFill>
                            <a:schemeClr val="tx1"/>
                          </a:solidFill>
                          <a:latin typeface="Calibri" panose="020F0502020204030204" pitchFamily="34" charset="0"/>
                          <a:ea typeface="Times New Roman"/>
                          <a:cs typeface="Calibri" panose="020F0502020204030204" pitchFamily="34" charset="0"/>
                        </a:rPr>
                        <a:t>Varies</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a:solidFill>
                            <a:schemeClr val="tx1"/>
                          </a:solidFill>
                          <a:latin typeface="Calibri" panose="020F0502020204030204" pitchFamily="34" charset="0"/>
                          <a:cs typeface="Calibri" panose="020F0502020204030204" pitchFamily="34" charset="0"/>
                        </a:rPr>
                        <a:t>X</a:t>
                      </a:r>
                    </a:p>
                    <a:p>
                      <a:pPr algn="ctr"/>
                      <a:r>
                        <a:rPr lang="en-US" sz="1200">
                          <a:solidFill>
                            <a:schemeClr val="tx1"/>
                          </a:solidFill>
                          <a:latin typeface="Calibri" panose="020F0502020204030204" pitchFamily="34" charset="0"/>
                          <a:cs typeface="Calibri" panose="020F0502020204030204" pitchFamily="34" charset="0"/>
                        </a:rPr>
                        <a:t>All Execs</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0">
                <a:tc>
                  <a:txBody>
                    <a:bodyPr/>
                    <a:lstStyle/>
                    <a:p>
                      <a:pPr algn="l"/>
                      <a:r>
                        <a:rPr lang="en-US" sz="1200" b="1" i="0">
                          <a:solidFill>
                            <a:schemeClr val="tx1"/>
                          </a:solidFill>
                          <a:latin typeface="Calibri" panose="020F0502020204030204" pitchFamily="34" charset="0"/>
                          <a:cs typeface="Calibri" panose="020F0502020204030204" pitchFamily="34" charset="0"/>
                        </a:rPr>
                        <a:t>S&amp;P 500,</a:t>
                      </a:r>
                      <a:br>
                        <a:rPr lang="en-US" sz="1200" b="1" i="0">
                          <a:solidFill>
                            <a:schemeClr val="tx1"/>
                          </a:solidFill>
                          <a:latin typeface="Calibri" panose="020F0502020204030204" pitchFamily="34" charset="0"/>
                          <a:cs typeface="Calibri" panose="020F0502020204030204" pitchFamily="34" charset="0"/>
                        </a:rPr>
                      </a:br>
                      <a:r>
                        <a:rPr lang="en-US" sz="1200" b="1" i="0">
                          <a:solidFill>
                            <a:schemeClr val="tx1"/>
                          </a:solidFill>
                          <a:latin typeface="Calibri" panose="020F0502020204030204" pitchFamily="34" charset="0"/>
                          <a:cs typeface="Calibri" panose="020F0502020204030204" pitchFamily="34" charset="0"/>
                        </a:rPr>
                        <a:t>S&amp;P 500 Health Care, NASDAQ</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Tx/>
                        <a:buNone/>
                      </a:pPr>
                      <a:r>
                        <a:rPr lang="en-US" sz="1200" baseline="0" dirty="0">
                          <a:latin typeface="Calibri" panose="020F0502020204030204" pitchFamily="34" charset="0"/>
                          <a:cs typeface="Calibri" panose="020F0502020204030204" pitchFamily="34" charset="0"/>
                        </a:rPr>
                        <a:t>Market indices relevant to Goofy to compare TSR</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r>
                        <a:rPr lang="en-US" sz="1200">
                          <a:solidFill>
                            <a:schemeClr val="tx1"/>
                          </a:solidFill>
                          <a:latin typeface="Calibri" panose="020F0502020204030204" pitchFamily="34" charset="0"/>
                          <a:ea typeface="Times New Roman"/>
                          <a:cs typeface="Calibri" panose="020F0502020204030204" pitchFamily="34" charset="0"/>
                        </a:rPr>
                        <a:t>Varies</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a:solidFill>
                          <a:schemeClr val="tx1"/>
                        </a:solidFill>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a:latin typeface="Calibri" panose="020F0502020204030204" pitchFamily="34" charset="0"/>
                        <a:cs typeface="Calibri" panose="020F0502020204030204" pitchFamily="34" charset="0"/>
                      </a:endParaRP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latin typeface="Calibri" panose="020F0502020204030204" pitchFamily="34" charset="0"/>
                          <a:cs typeface="Calibri" panose="020F0502020204030204" pitchFamily="34" charset="0"/>
                        </a:rPr>
                        <a:t>X</a:t>
                      </a:r>
                      <a:r>
                        <a:rPr lang="en-US" sz="1200" baseline="30000">
                          <a:latin typeface="Calibri" panose="020F0502020204030204" pitchFamily="34" charset="0"/>
                          <a:cs typeface="Calibri" panose="020F0502020204030204" pitchFamily="34" charset="0"/>
                        </a:rPr>
                        <a:t>(1)</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latin typeface="Calibri" panose="020F0502020204030204" pitchFamily="34" charset="0"/>
                          <a:cs typeface="Calibri" panose="020F0502020204030204" pitchFamily="34" charset="0"/>
                        </a:rPr>
                        <a:t>X</a:t>
                      </a:r>
                    </a:p>
                  </a:txBody>
                  <a:tcPr marL="52551" marR="52551"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2060062"/>
                  </a:ext>
                </a:extLst>
              </a:tr>
            </a:tbl>
          </a:graphicData>
        </a:graphic>
      </p:graphicFrame>
      <p:sp>
        <p:nvSpPr>
          <p:cNvPr id="6" name="TextBox 5">
            <a:extLst>
              <a:ext uri="{FF2B5EF4-FFF2-40B4-BE49-F238E27FC236}">
                <a16:creationId xmlns:a16="http://schemas.microsoft.com/office/drawing/2014/main" id="{CE1105AA-A821-8CAF-893D-E224368A8F7F}"/>
              </a:ext>
            </a:extLst>
          </p:cNvPr>
          <p:cNvSpPr txBox="1"/>
          <p:nvPr/>
        </p:nvSpPr>
        <p:spPr>
          <a:xfrm>
            <a:off x="2397583" y="1579859"/>
            <a:ext cx="4262908"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Goofy’s</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Current Peer Group Framework</a:t>
            </a:r>
          </a:p>
        </p:txBody>
      </p:sp>
      <p:sp>
        <p:nvSpPr>
          <p:cNvPr id="7" name="Rectangle 6">
            <a:extLst>
              <a:ext uri="{FF2B5EF4-FFF2-40B4-BE49-F238E27FC236}">
                <a16:creationId xmlns:a16="http://schemas.microsoft.com/office/drawing/2014/main" id="{6AFC3A42-D467-A6C2-5EFF-BF9E0210FD0E}"/>
              </a:ext>
            </a:extLst>
          </p:cNvPr>
          <p:cNvSpPr/>
          <p:nvPr/>
        </p:nvSpPr>
        <p:spPr>
          <a:xfrm>
            <a:off x="243521" y="2473353"/>
            <a:ext cx="8424382" cy="549247"/>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8" name="TextBox 7">
            <a:extLst>
              <a:ext uri="{FF2B5EF4-FFF2-40B4-BE49-F238E27FC236}">
                <a16:creationId xmlns:a16="http://schemas.microsoft.com/office/drawing/2014/main" id="{17AD5C85-736F-B4EA-DF43-8E22CE5AB40A}"/>
              </a:ext>
            </a:extLst>
          </p:cNvPr>
          <p:cNvSpPr txBox="1"/>
          <p:nvPr/>
        </p:nvSpPr>
        <p:spPr>
          <a:xfrm>
            <a:off x="243521" y="4314142"/>
            <a:ext cx="6424684" cy="246221"/>
          </a:xfrm>
          <a:prstGeom prst="rect">
            <a:avLst/>
          </a:prstGeom>
          <a:noFill/>
        </p:spPr>
        <p:txBody>
          <a:bodyPr wrap="square" lIns="45720" tIns="45720" rIns="45720" bIns="45720" rtlCol="0" anchor="ctr">
            <a:spAutoFit/>
          </a:bodyPr>
          <a:lstStyle/>
          <a:p>
            <a:pPr marL="228600" indent="-228600">
              <a:buFontTx/>
              <a:buAutoNum type="arabicParenBoth"/>
            </a:pPr>
            <a:r>
              <a:rPr lang="en-US" sz="1000" i="1"/>
              <a:t>Pay versus performance used the S&amp;P 500 Health Care index</a:t>
            </a:r>
          </a:p>
        </p:txBody>
      </p:sp>
    </p:spTree>
    <p:extLst>
      <p:ext uri="{BB962C8B-B14F-4D97-AF65-F5344CB8AC3E}">
        <p14:creationId xmlns:p14="http://schemas.microsoft.com/office/powerpoint/2010/main" val="245587182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7F268-FF96-1D90-FEFB-BD8C843C3559}"/>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B286B417-1AD0-B25B-0C59-38E0E7BEE008}"/>
              </a:ext>
            </a:extLst>
          </p:cNvPr>
          <p:cNvSpPr>
            <a:spLocks noGrp="1"/>
          </p:cNvSpPr>
          <p:nvPr>
            <p:ph idx="1"/>
          </p:nvPr>
        </p:nvSpPr>
        <p:spPr/>
        <p:txBody>
          <a:bodyPr/>
          <a:lstStyle/>
          <a:p>
            <a:r>
              <a:rPr lang="en-US" dirty="0"/>
              <a:t>Waters’ transaction expands its diagnostics capabilities and increases its relevance to Goofy, and its post-transaction profile remains within the appropriate revenue scope (pro-forma revenues of the combined business for FY25 are estimated to be $6.5B)</a:t>
            </a:r>
          </a:p>
          <a:p>
            <a:r>
              <a:rPr lang="en-US" dirty="0"/>
              <a:t>Hologic’s pending acquisition will result in the company going private; ACME recommends retaining Hologic this year and monitoring for potential removal following close</a:t>
            </a:r>
          </a:p>
        </p:txBody>
      </p:sp>
      <p:sp>
        <p:nvSpPr>
          <p:cNvPr id="3" name="Footer Placeholder 2">
            <a:extLst>
              <a:ext uri="{FF2B5EF4-FFF2-40B4-BE49-F238E27FC236}">
                <a16:creationId xmlns:a16="http://schemas.microsoft.com/office/drawing/2014/main" id="{D966C2A6-5C8F-EB76-F0E5-3D1C75FBF924}"/>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Slide Number Placeholder 3">
            <a:extLst>
              <a:ext uri="{FF2B5EF4-FFF2-40B4-BE49-F238E27FC236}">
                <a16:creationId xmlns:a16="http://schemas.microsoft.com/office/drawing/2014/main" id="{15B8A49A-5B65-12F7-3E7C-04563E47F1F7}"/>
              </a:ext>
            </a:extLst>
          </p:cNvPr>
          <p:cNvSpPr>
            <a:spLocks noGrp="1"/>
          </p:cNvSpPr>
          <p:nvPr>
            <p:ph type="sldNum" sz="quarter" idx="12"/>
          </p:nvPr>
        </p:nvSpPr>
        <p:spPr/>
        <p:txBody>
          <a:bodyPr/>
          <a:lstStyle/>
          <a:p>
            <a:fld id="{91690BAF-E217-4185-92FD-0CEA06F2B7C8}" type="slidenum">
              <a:rPr lang="en-US" smtClean="0"/>
              <a:pPr/>
              <a:t>9</a:t>
            </a:fld>
            <a:endParaRPr lang="en-US"/>
          </a:p>
        </p:txBody>
      </p:sp>
      <p:sp>
        <p:nvSpPr>
          <p:cNvPr id="5" name="Title 4">
            <a:extLst>
              <a:ext uri="{FF2B5EF4-FFF2-40B4-BE49-F238E27FC236}">
                <a16:creationId xmlns:a16="http://schemas.microsoft.com/office/drawing/2014/main" id="{AD96B842-D27F-5D1A-6FAF-1A1CF261C763}"/>
              </a:ext>
            </a:extLst>
          </p:cNvPr>
          <p:cNvSpPr>
            <a:spLocks noGrp="1"/>
          </p:cNvSpPr>
          <p:nvPr>
            <p:ph type="title"/>
          </p:nvPr>
        </p:nvSpPr>
        <p:spPr/>
        <p:txBody>
          <a:bodyPr/>
          <a:lstStyle/>
          <a:p>
            <a:r>
              <a:rPr lang="en-US" sz="2400" b="1">
                <a:effectLst/>
                <a:latin typeface="Calibri" panose="020F0502020204030204" pitchFamily="34" charset="0"/>
              </a:rPr>
              <a:t>Two significant M&amp;A transactions occurred or are anticipated to close in 2026. Hologic’s planned acquisition may lead to its removal from the peer group next year, although no immediate action is needed</a:t>
            </a:r>
            <a:endParaRPr lang="en-US"/>
          </a:p>
        </p:txBody>
      </p:sp>
      <p:graphicFrame>
        <p:nvGraphicFramePr>
          <p:cNvPr id="2" name="Table 1">
            <a:extLst>
              <a:ext uri="{FF2B5EF4-FFF2-40B4-BE49-F238E27FC236}">
                <a16:creationId xmlns:a16="http://schemas.microsoft.com/office/drawing/2014/main" id="{D90C1040-00B9-71BF-293F-C4AD0E533092}"/>
              </a:ext>
            </a:extLst>
          </p:cNvPr>
          <p:cNvGraphicFramePr>
            <a:graphicFrameLocks noGrp="1"/>
          </p:cNvGraphicFramePr>
          <p:nvPr>
            <p:extLst>
              <p:ext uri="{D42A27DB-BD31-4B8C-83A1-F6EECF244321}">
                <p14:modId xmlns:p14="http://schemas.microsoft.com/office/powerpoint/2010/main" val="464663034"/>
              </p:ext>
            </p:extLst>
          </p:nvPr>
        </p:nvGraphicFramePr>
        <p:xfrm>
          <a:off x="230189" y="2878571"/>
          <a:ext cx="8683621" cy="3699256"/>
        </p:xfrm>
        <a:graphic>
          <a:graphicData uri="http://schemas.openxmlformats.org/drawingml/2006/table">
            <a:tbl>
              <a:tblPr firstRow="1" bandRow="1">
                <a:tableStyleId>{A77E1047-C769-4665-AFDC-4AF39A3502B1}</a:tableStyleId>
              </a:tblPr>
              <a:tblGrid>
                <a:gridCol w="731520">
                  <a:extLst>
                    <a:ext uri="{9D8B030D-6E8A-4147-A177-3AD203B41FA5}">
                      <a16:colId xmlns:a16="http://schemas.microsoft.com/office/drawing/2014/main" val="1960252904"/>
                    </a:ext>
                  </a:extLst>
                </a:gridCol>
                <a:gridCol w="3654421">
                  <a:extLst>
                    <a:ext uri="{9D8B030D-6E8A-4147-A177-3AD203B41FA5}">
                      <a16:colId xmlns:a16="http://schemas.microsoft.com/office/drawing/2014/main" val="3387462964"/>
                    </a:ext>
                  </a:extLst>
                </a:gridCol>
                <a:gridCol w="2926080">
                  <a:extLst>
                    <a:ext uri="{9D8B030D-6E8A-4147-A177-3AD203B41FA5}">
                      <a16:colId xmlns:a16="http://schemas.microsoft.com/office/drawing/2014/main" val="784328243"/>
                    </a:ext>
                  </a:extLst>
                </a:gridCol>
                <a:gridCol w="1371600">
                  <a:extLst>
                    <a:ext uri="{9D8B030D-6E8A-4147-A177-3AD203B41FA5}">
                      <a16:colId xmlns:a16="http://schemas.microsoft.com/office/drawing/2014/main" val="2788125412"/>
                    </a:ext>
                  </a:extLst>
                </a:gridCol>
              </a:tblGrid>
              <a:tr h="0">
                <a:tc>
                  <a:txBody>
                    <a:bodyPr/>
                    <a:lstStyle/>
                    <a:p>
                      <a:pPr algn="ctr"/>
                      <a:r>
                        <a:rPr lang="en-US" sz="1000" dirty="0">
                          <a:latin typeface="+mn-lt"/>
                        </a:rPr>
                        <a:t>Company</a:t>
                      </a:r>
                    </a:p>
                  </a:txBody>
                  <a:tcPr marL="27432" marR="27432" marT="9144" marB="9144" anchor="b"/>
                </a:tc>
                <a:tc>
                  <a:txBody>
                    <a:bodyPr/>
                    <a:lstStyle/>
                    <a:p>
                      <a:pPr algn="ctr"/>
                      <a:r>
                        <a:rPr lang="en-US" sz="1000">
                          <a:latin typeface="+mn-lt"/>
                        </a:rPr>
                        <a:t>Activity</a:t>
                      </a:r>
                    </a:p>
                  </a:txBody>
                  <a:tcPr marL="27432" marR="27432" marT="9144" marB="9144" anchor="b"/>
                </a:tc>
                <a:tc>
                  <a:txBody>
                    <a:bodyPr/>
                    <a:lstStyle/>
                    <a:p>
                      <a:pPr algn="ctr"/>
                      <a:r>
                        <a:rPr lang="en-US" sz="1000">
                          <a:latin typeface="+mn-lt"/>
                        </a:rPr>
                        <a:t>Result</a:t>
                      </a:r>
                    </a:p>
                  </a:txBody>
                  <a:tcPr marL="27432" marR="27432" marT="9144" marB="9144" anchor="b"/>
                </a:tc>
                <a:tc>
                  <a:txBody>
                    <a:bodyPr/>
                    <a:lstStyle/>
                    <a:p>
                      <a:pPr algn="ctr"/>
                      <a:r>
                        <a:rPr lang="en-US" sz="1000">
                          <a:latin typeface="+mn-lt"/>
                        </a:rPr>
                        <a:t>Recommendation</a:t>
                      </a:r>
                    </a:p>
                  </a:txBody>
                  <a:tcPr marL="27432" marR="27432" marT="9144" marB="9144" anchor="b"/>
                </a:tc>
                <a:extLst>
                  <a:ext uri="{0D108BD9-81ED-4DB2-BD59-A6C34878D82A}">
                    <a16:rowId xmlns:a16="http://schemas.microsoft.com/office/drawing/2014/main" val="2023966533"/>
                  </a:ext>
                </a:extLst>
              </a:tr>
              <a:tr h="370840">
                <a:tc>
                  <a:txBody>
                    <a:bodyPr/>
                    <a:lstStyle/>
                    <a:p>
                      <a:pPr algn="l" fontAlgn="ctr">
                        <a:buNone/>
                      </a:pPr>
                      <a:r>
                        <a:rPr lang="en-US" sz="1000" b="1" i="0" u="none" strike="noStrike">
                          <a:solidFill>
                            <a:srgbClr val="000000"/>
                          </a:solidFill>
                          <a:effectLst/>
                          <a:latin typeface="Calibri" panose="020F0502020204030204" pitchFamily="34" charset="0"/>
                        </a:rPr>
                        <a:t>Agilent</a:t>
                      </a:r>
                    </a:p>
                  </a:txBody>
                  <a:tcPr marL="27432" marR="27432" marT="9144" marB="9144" anchor="ctr">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March 9, 2026</a:t>
                      </a:r>
                      <a:r>
                        <a:rPr lang="en-US" sz="1000" b="0" i="0" u="none" strike="noStrike">
                          <a:solidFill>
                            <a:srgbClr val="000000"/>
                          </a:solidFill>
                          <a:effectLst/>
                          <a:latin typeface="Calibri" panose="020F0502020204030204" pitchFamily="34" charset="0"/>
                        </a:rPr>
                        <a:t>, announced intent to acquire Biocare Medical, a global leader in clinical pathology, for $950MM (expected close in Q4, 2026)</a:t>
                      </a:r>
                    </a:p>
                  </a:txBody>
                  <a:tcPr marL="27432" marR="27432" marT="9144" marB="9144" anchor="ctr">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Agilent's pathology portfolio</a:t>
                      </a:r>
                    </a:p>
                  </a:txBody>
                  <a:tcPr marL="27432" marR="27432" marT="9144" marB="9144" anchor="ctr">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3293259415"/>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Bio-Rad</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June 30, 2025</a:t>
                      </a:r>
                      <a:r>
                        <a:rPr lang="en-US" sz="1000" b="0" i="0" u="none" strike="noStrike">
                          <a:solidFill>
                            <a:srgbClr val="000000"/>
                          </a:solidFill>
                          <a:effectLst/>
                          <a:latin typeface="Calibri" panose="020F0502020204030204" pitchFamily="34" charset="0"/>
                        </a:rPr>
                        <a:t>, completed acquisition of Stilla Technologies, a digital PCR developer, for $280MM</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Bio-Rad's digital PCR product portfolio</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649232826"/>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Edwards Lifesciences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September 4, 2025, </a:t>
                      </a:r>
                      <a:r>
                        <a:rPr lang="en-US" sz="1000" b="0" i="0" u="none" strike="noStrike">
                          <a:solidFill>
                            <a:srgbClr val="000000"/>
                          </a:solidFill>
                          <a:effectLst/>
                          <a:latin typeface="Calibri" panose="020F0502020204030204" pitchFamily="34" charset="0"/>
                        </a:rPr>
                        <a:t>completed acquisition of the remaining 48% stake in Vectorious Medical Technologies, an Israeli developer of heart disease technologies, for $497MM</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Edwards' heart device portfolio and capabilities in chronic disease management</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3829538888"/>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Hologic</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dirty="0">
                          <a:solidFill>
                            <a:srgbClr val="000000"/>
                          </a:solidFill>
                          <a:effectLst/>
                          <a:latin typeface="Calibri" panose="020F0502020204030204" pitchFamily="34" charset="0"/>
                        </a:rPr>
                        <a:t>On </a:t>
                      </a:r>
                      <a:r>
                        <a:rPr lang="en-US" sz="1000" b="1" i="0" u="none" strike="noStrike" dirty="0">
                          <a:solidFill>
                            <a:srgbClr val="000000"/>
                          </a:solidFill>
                          <a:effectLst/>
                          <a:latin typeface="Calibri" panose="020F0502020204030204" pitchFamily="34" charset="0"/>
                        </a:rPr>
                        <a:t>October 21, 2025</a:t>
                      </a:r>
                      <a:r>
                        <a:rPr lang="en-US" sz="1000" b="0" i="0" u="none" strike="noStrike" dirty="0">
                          <a:solidFill>
                            <a:srgbClr val="000000"/>
                          </a:solidFill>
                          <a:effectLst/>
                          <a:latin typeface="Calibri" panose="020F0502020204030204" pitchFamily="34" charset="0"/>
                        </a:rPr>
                        <a:t>, entered into agreement to be acquired by Blackstone and TPG Global for $18.4B (expected close in first half of 2026)</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Upon completion of the transaction, Hologic will be delisted from the Nasdaq stock market</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0" indent="0">
                        <a:buFont typeface="Wingdings" panose="05000000000000000000" pitchFamily="2" charset="2"/>
                        <a:buNone/>
                      </a:pPr>
                      <a:r>
                        <a:rPr lang="en-US" sz="1000" b="1">
                          <a:solidFill>
                            <a:sysClr val="windowText" lastClr="000000"/>
                          </a:solidFill>
                          <a:latin typeface="+mn-lt"/>
                        </a:rPr>
                        <a:t>Maintain this Year</a:t>
                      </a:r>
                    </a:p>
                    <a:p>
                      <a:pPr marL="0" indent="0">
                        <a:buFont typeface="Wingdings" panose="05000000000000000000" pitchFamily="2" charset="2"/>
                        <a:buNone/>
                      </a:pPr>
                      <a:r>
                        <a:rPr lang="en-US" sz="1000" b="1">
                          <a:solidFill>
                            <a:sysClr val="windowText" lastClr="000000"/>
                          </a:solidFill>
                          <a:latin typeface="+mn-lt"/>
                        </a:rPr>
                        <a:t>Remove Next Year as no Longer Publicly Traded</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494282232"/>
                  </a:ext>
                </a:extLst>
              </a:tr>
              <a:tr h="370840">
                <a:tc>
                  <a:txBody>
                    <a:bodyPr/>
                    <a:lstStyle/>
                    <a:p>
                      <a:pPr algn="l" fontAlgn="ctr">
                        <a:buNone/>
                      </a:pPr>
                      <a:r>
                        <a:rPr lang="en-US" sz="1000" b="1" i="0" u="none" strike="noStrike" dirty="0">
                          <a:solidFill>
                            <a:srgbClr val="000000"/>
                          </a:solidFill>
                          <a:effectLst/>
                          <a:latin typeface="Calibri" panose="020F0502020204030204" pitchFamily="34" charset="0"/>
                        </a:rPr>
                        <a:t>Illumina</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January 30, 2026, </a:t>
                      </a:r>
                      <a:r>
                        <a:rPr lang="en-US" sz="1000" b="0" i="0" u="none" strike="noStrike">
                          <a:solidFill>
                            <a:srgbClr val="000000"/>
                          </a:solidFill>
                          <a:effectLst/>
                          <a:latin typeface="Calibri" panose="020F0502020204030204" pitchFamily="34" charset="0"/>
                        </a:rPr>
                        <a:t>completed acquisition of SomaLogic, Inc., Sengenics Corporation LLC, and Sengenics Corporation Pte Ltd, specialists in protein-reading technologies, for $425MM</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Illumina’s portfolio to include protein-reading capabilities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tcPr>
                </a:tc>
                <a:extLst>
                  <a:ext uri="{0D108BD9-81ED-4DB2-BD59-A6C34878D82A}">
                    <a16:rowId xmlns:a16="http://schemas.microsoft.com/office/drawing/2014/main" val="2920260139"/>
                  </a:ext>
                </a:extLst>
              </a:tr>
              <a:tr h="370840">
                <a:tc>
                  <a:txBody>
                    <a:bodyPr/>
                    <a:lstStyle/>
                    <a:p>
                      <a:pPr algn="l" fontAlgn="ctr">
                        <a:buNone/>
                      </a:pPr>
                      <a:r>
                        <a:rPr lang="en-US" sz="1000" b="1" i="0" u="none" strike="noStrike">
                          <a:solidFill>
                            <a:srgbClr val="000000"/>
                          </a:solidFill>
                          <a:effectLst/>
                          <a:latin typeface="Calibri" panose="020F0502020204030204" pitchFamily="34" charset="0"/>
                        </a:rPr>
                        <a:t>Waters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February 9,  2026, </a:t>
                      </a:r>
                      <a:r>
                        <a:rPr lang="en-US" sz="1000" b="0" i="0" u="none" strike="noStrike">
                          <a:solidFill>
                            <a:srgbClr val="000000"/>
                          </a:solidFill>
                          <a:effectLst/>
                          <a:latin typeface="Calibri" panose="020F0502020204030204" pitchFamily="34" charset="0"/>
                        </a:rPr>
                        <a:t>completed its combination with the Biosciences and Diagnostics Solutions Business (~$3.3B FY25 revenue) of Becton Dickinson and Company in an $18.8B transaction </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Waters' portfolio to include bioscience and diagnostics capabilities, forming a larger, more diversified life sciences and diagnostics company </a:t>
                      </a:r>
                      <a:r>
                        <a:rPr lang="en-US" sz="1000" b="0" i="0" u="none" strike="noStrike">
                          <a:solidFill>
                            <a:schemeClr val="tx1"/>
                          </a:solidFill>
                          <a:effectLst/>
                          <a:latin typeface="Calibri" panose="020F0502020204030204" pitchFamily="34" charset="0"/>
                        </a:rPr>
                        <a:t>(est. pro-forma FY25 revenue ~$6.5B)</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tc>
                  <a:txBody>
                    <a:bodyPr/>
                    <a:lstStyle/>
                    <a:p>
                      <a:pPr marL="0" indent="0">
                        <a:buFont typeface="Wingdings" panose="05000000000000000000" pitchFamily="2" charset="2"/>
                        <a:buNone/>
                      </a:pPr>
                      <a:r>
                        <a:rPr lang="en-US" sz="1000" b="1">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bg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040512039"/>
                  </a:ext>
                </a:extLst>
              </a:tr>
              <a:tr h="370840">
                <a:tc>
                  <a:txBody>
                    <a:bodyPr/>
                    <a:lstStyle/>
                    <a:p>
                      <a:pPr algn="l" fontAlgn="ctr">
                        <a:buNone/>
                      </a:pPr>
                      <a:r>
                        <a:rPr lang="en-US" sz="1000" b="1" i="0" u="none" strike="noStrike">
                          <a:solidFill>
                            <a:srgbClr val="000000"/>
                          </a:solidFill>
                          <a:effectLst/>
                          <a:latin typeface="Calibri" panose="020F0502020204030204" pitchFamily="34" charset="0"/>
                        </a:rPr>
                        <a:t>Zoetis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On </a:t>
                      </a:r>
                      <a:r>
                        <a:rPr lang="en-US" sz="1000" b="1" i="0" u="none" strike="noStrike">
                          <a:solidFill>
                            <a:srgbClr val="000000"/>
                          </a:solidFill>
                          <a:effectLst/>
                          <a:latin typeface="Calibri" panose="020F0502020204030204" pitchFamily="34" charset="0"/>
                        </a:rPr>
                        <a:t>March 2, 2026</a:t>
                      </a:r>
                      <a:r>
                        <a:rPr lang="en-US" sz="1000" b="0" i="0" u="none" strike="noStrike">
                          <a:solidFill>
                            <a:srgbClr val="000000"/>
                          </a:solidFill>
                          <a:effectLst/>
                          <a:latin typeface="Calibri" panose="020F0502020204030204" pitchFamily="34" charset="0"/>
                        </a:rPr>
                        <a:t>, entered into agreement to acquire Neogen's Genomics Business, a pioneer in advanced DNA testing for livestock and companion animal industries, for $160MM (expected close in second half of 2026)</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171450" indent="-171450" algn="l" fontAlgn="ctr">
                        <a:buFont typeface="Wingdings" panose="05000000000000000000" pitchFamily="2" charset="2"/>
                        <a:buChar char="§"/>
                      </a:pPr>
                      <a:r>
                        <a:rPr lang="en-US" sz="1000" b="0" i="0" u="none" strike="noStrike">
                          <a:solidFill>
                            <a:srgbClr val="000000"/>
                          </a:solidFill>
                          <a:effectLst/>
                          <a:latin typeface="Calibri" panose="020F0502020204030204" pitchFamily="34" charset="0"/>
                        </a:rPr>
                        <a:t>Expands Zoetis' Precision Animal Health portfolio, expanding its capabilities in advanced DNA testing for livestock and companion animal industries</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indent="0">
                        <a:buFont typeface="Wingdings" panose="05000000000000000000" pitchFamily="2" charset="2"/>
                        <a:buNone/>
                      </a:pPr>
                      <a:r>
                        <a:rPr lang="en-US" sz="1000" b="1" dirty="0">
                          <a:latin typeface="+mn-lt"/>
                        </a:rPr>
                        <a:t>Maintain</a:t>
                      </a:r>
                    </a:p>
                  </a:txBody>
                  <a:tcPr marL="27432" marR="27432" marT="9144" marB="9144" anchor="ctr">
                    <a:lnT w="6350" cap="flat" cmpd="sng" algn="ctr">
                      <a:solidFill>
                        <a:schemeClr val="bg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1475329"/>
                  </a:ext>
                </a:extLst>
              </a:tr>
            </a:tbl>
          </a:graphicData>
        </a:graphic>
      </p:graphicFrame>
      <p:sp>
        <p:nvSpPr>
          <p:cNvPr id="6" name="TextBox 5">
            <a:extLst>
              <a:ext uri="{FF2B5EF4-FFF2-40B4-BE49-F238E27FC236}">
                <a16:creationId xmlns:a16="http://schemas.microsoft.com/office/drawing/2014/main" id="{AED4A122-6543-231C-B590-C39DACE424AC}"/>
              </a:ext>
            </a:extLst>
          </p:cNvPr>
          <p:cNvSpPr txBox="1"/>
          <p:nvPr/>
        </p:nvSpPr>
        <p:spPr>
          <a:xfrm>
            <a:off x="1718931" y="2575849"/>
            <a:ext cx="5706139" cy="369397"/>
          </a:xfrm>
          <a:prstGeom prst="rect">
            <a:avLst/>
          </a:prstGeom>
          <a:noFill/>
        </p:spPr>
        <p:txBody>
          <a:bodyPr wrap="square" lIns="91440" tIns="91440" rIns="91440" bIns="91440" rtlCol="0" anchor="ctr">
            <a:spAutoFit/>
          </a:bodyPr>
          <a:lstStyle/>
          <a:p>
            <a:pPr algn="ctr">
              <a:lnSpc>
                <a:spcPct val="85000"/>
              </a:lnSpc>
            </a:pPr>
            <a:r>
              <a:rPr lang="en-US" sz="1400" b="1"/>
              <a:t>Major M&amp;A Activity Among Current Peers</a:t>
            </a:r>
          </a:p>
        </p:txBody>
      </p:sp>
      <p:graphicFrame>
        <p:nvGraphicFramePr>
          <p:cNvPr id="12" name="Table 14">
            <a:extLst>
              <a:ext uri="{FF2B5EF4-FFF2-40B4-BE49-F238E27FC236}">
                <a16:creationId xmlns:a16="http://schemas.microsoft.com/office/drawing/2014/main" id="{1F93B79B-991D-2BB7-ED32-4834E3ED3729}"/>
              </a:ext>
            </a:extLst>
          </p:cNvPr>
          <p:cNvGraphicFramePr>
            <a:graphicFrameLocks noGrp="1"/>
          </p:cNvGraphicFramePr>
          <p:nvPr>
            <p:extLst>
              <p:ext uri="{D42A27DB-BD31-4B8C-83A1-F6EECF244321}">
                <p14:modId xmlns:p14="http://schemas.microsoft.com/office/powerpoint/2010/main" val="1676858137"/>
              </p:ext>
            </p:extLst>
          </p:nvPr>
        </p:nvGraphicFramePr>
        <p:xfrm>
          <a:off x="7415141" y="2644546"/>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900" dirty="0"/>
                        <a:t>  Transaction Value &gt; $1B</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601939"/>
                  </a:ext>
                </a:extLst>
              </a:tr>
            </a:tbl>
          </a:graphicData>
        </a:graphic>
      </p:graphicFrame>
    </p:spTree>
    <p:extLst>
      <p:ext uri="{BB962C8B-B14F-4D97-AF65-F5344CB8AC3E}">
        <p14:creationId xmlns:p14="http://schemas.microsoft.com/office/powerpoint/2010/main" val="179678318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2DCD7-A13E-858F-283A-C7BE92B283A0}"/>
            </a:ext>
          </a:extLst>
        </p:cNvPr>
        <p:cNvGrpSpPr/>
        <p:nvPr/>
      </p:nvGrpSpPr>
      <p:grpSpPr>
        <a:xfrm>
          <a:off x="0" y="0"/>
          <a:ext cx="0" cy="0"/>
          <a:chOff x="0" y="0"/>
          <a:chExt cx="0" cy="0"/>
        </a:xfrm>
      </p:grpSpPr>
      <p:cxnSp>
        <p:nvCxnSpPr>
          <p:cNvPr id="106" name="Straight Connector 105">
            <a:extLst>
              <a:ext uri="{FF2B5EF4-FFF2-40B4-BE49-F238E27FC236}">
                <a16:creationId xmlns:a16="http://schemas.microsoft.com/office/drawing/2014/main" id="{AA4CB4C1-38CE-EF2A-6921-35864A140E21}"/>
              </a:ext>
            </a:extLst>
          </p:cNvPr>
          <p:cNvCxnSpPr>
            <a:cxnSpLocks/>
          </p:cNvCxnSpPr>
          <p:nvPr/>
        </p:nvCxnSpPr>
        <p:spPr>
          <a:xfrm flipH="1">
            <a:off x="6891740" y="3393742"/>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108" name="Straight Connector 107">
            <a:extLst>
              <a:ext uri="{FF2B5EF4-FFF2-40B4-BE49-F238E27FC236}">
                <a16:creationId xmlns:a16="http://schemas.microsoft.com/office/drawing/2014/main" id="{61E15C00-30D0-196F-599B-E060BD297F7A}"/>
              </a:ext>
            </a:extLst>
          </p:cNvPr>
          <p:cNvCxnSpPr>
            <a:cxnSpLocks/>
          </p:cNvCxnSpPr>
          <p:nvPr/>
        </p:nvCxnSpPr>
        <p:spPr>
          <a:xfrm flipH="1">
            <a:off x="8382820" y="3413007"/>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102" name="Straight Connector 101">
            <a:extLst>
              <a:ext uri="{FF2B5EF4-FFF2-40B4-BE49-F238E27FC236}">
                <a16:creationId xmlns:a16="http://schemas.microsoft.com/office/drawing/2014/main" id="{D32B6837-701F-F735-0391-5554508EE1C4}"/>
              </a:ext>
            </a:extLst>
          </p:cNvPr>
          <p:cNvCxnSpPr>
            <a:cxnSpLocks/>
          </p:cNvCxnSpPr>
          <p:nvPr/>
        </p:nvCxnSpPr>
        <p:spPr>
          <a:xfrm flipH="1">
            <a:off x="5372240" y="3444445"/>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104" name="Straight Connector 103">
            <a:extLst>
              <a:ext uri="{FF2B5EF4-FFF2-40B4-BE49-F238E27FC236}">
                <a16:creationId xmlns:a16="http://schemas.microsoft.com/office/drawing/2014/main" id="{22231F4D-8F0F-9071-4DC6-365D9E687063}"/>
              </a:ext>
            </a:extLst>
          </p:cNvPr>
          <p:cNvCxnSpPr>
            <a:cxnSpLocks/>
          </p:cNvCxnSpPr>
          <p:nvPr/>
        </p:nvCxnSpPr>
        <p:spPr>
          <a:xfrm flipH="1">
            <a:off x="3878087" y="3444445"/>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91" name="Straight Connector 90">
            <a:extLst>
              <a:ext uri="{FF2B5EF4-FFF2-40B4-BE49-F238E27FC236}">
                <a16:creationId xmlns:a16="http://schemas.microsoft.com/office/drawing/2014/main" id="{E8A60915-AEAC-A59D-6B5E-D7429E1BFFD7}"/>
              </a:ext>
            </a:extLst>
          </p:cNvPr>
          <p:cNvCxnSpPr>
            <a:cxnSpLocks/>
          </p:cNvCxnSpPr>
          <p:nvPr/>
        </p:nvCxnSpPr>
        <p:spPr>
          <a:xfrm flipH="1">
            <a:off x="2322273" y="5414493"/>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5" name="Straight Connector 54">
            <a:extLst>
              <a:ext uri="{FF2B5EF4-FFF2-40B4-BE49-F238E27FC236}">
                <a16:creationId xmlns:a16="http://schemas.microsoft.com/office/drawing/2014/main" id="{7A7B5C36-E7AA-5D81-CD89-181A662BBFEE}"/>
              </a:ext>
            </a:extLst>
          </p:cNvPr>
          <p:cNvCxnSpPr>
            <a:cxnSpLocks/>
          </p:cNvCxnSpPr>
          <p:nvPr/>
        </p:nvCxnSpPr>
        <p:spPr>
          <a:xfrm flipH="1">
            <a:off x="2322273" y="4740075"/>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1" name="Straight Connector 50">
            <a:extLst>
              <a:ext uri="{FF2B5EF4-FFF2-40B4-BE49-F238E27FC236}">
                <a16:creationId xmlns:a16="http://schemas.microsoft.com/office/drawing/2014/main" id="{026A866E-421E-357F-4CB2-281A64D14113}"/>
              </a:ext>
            </a:extLst>
          </p:cNvPr>
          <p:cNvCxnSpPr>
            <a:cxnSpLocks/>
          </p:cNvCxnSpPr>
          <p:nvPr/>
        </p:nvCxnSpPr>
        <p:spPr>
          <a:xfrm flipH="1">
            <a:off x="2322673" y="4252288"/>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2" name="Straight Connector 51">
            <a:extLst>
              <a:ext uri="{FF2B5EF4-FFF2-40B4-BE49-F238E27FC236}">
                <a16:creationId xmlns:a16="http://schemas.microsoft.com/office/drawing/2014/main" id="{AFBB705D-077C-65C9-9161-45B6B8160ABA}"/>
              </a:ext>
            </a:extLst>
          </p:cNvPr>
          <p:cNvCxnSpPr>
            <a:cxnSpLocks/>
          </p:cNvCxnSpPr>
          <p:nvPr/>
        </p:nvCxnSpPr>
        <p:spPr>
          <a:xfrm flipH="1">
            <a:off x="2325132" y="3377770"/>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53" name="Rectangle 52">
            <a:extLst>
              <a:ext uri="{FF2B5EF4-FFF2-40B4-BE49-F238E27FC236}">
                <a16:creationId xmlns:a16="http://schemas.microsoft.com/office/drawing/2014/main" id="{04E963BD-ECC4-532D-0DCC-A6687991ED96}"/>
              </a:ext>
            </a:extLst>
          </p:cNvPr>
          <p:cNvSpPr/>
          <p:nvPr/>
        </p:nvSpPr>
        <p:spPr>
          <a:xfrm>
            <a:off x="1711834" y="3707663"/>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a:t>
            </a:r>
          </a:p>
          <a:p>
            <a:pPr algn="ctr"/>
            <a:r>
              <a:rPr lang="en-US" sz="1200" b="1">
                <a:solidFill>
                  <a:schemeClr val="tx1"/>
                </a:solidFill>
              </a:rPr>
              <a:t>Distributors</a:t>
            </a:r>
          </a:p>
        </p:txBody>
      </p:sp>
      <p:sp>
        <p:nvSpPr>
          <p:cNvPr id="54" name="Rectangle 53">
            <a:extLst>
              <a:ext uri="{FF2B5EF4-FFF2-40B4-BE49-F238E27FC236}">
                <a16:creationId xmlns:a16="http://schemas.microsoft.com/office/drawing/2014/main" id="{61BDF9B6-B67E-66B7-8B32-C0801513BA99}"/>
              </a:ext>
            </a:extLst>
          </p:cNvPr>
          <p:cNvSpPr/>
          <p:nvPr/>
        </p:nvSpPr>
        <p:spPr>
          <a:xfrm>
            <a:off x="1711834" y="4401906"/>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Services</a:t>
            </a:r>
          </a:p>
        </p:txBody>
      </p:sp>
      <p:cxnSp>
        <p:nvCxnSpPr>
          <p:cNvPr id="49" name="Straight Connector 48">
            <a:extLst>
              <a:ext uri="{FF2B5EF4-FFF2-40B4-BE49-F238E27FC236}">
                <a16:creationId xmlns:a16="http://schemas.microsoft.com/office/drawing/2014/main" id="{C4ACBDEF-5913-EC9B-84A0-DDEF5235D493}"/>
              </a:ext>
            </a:extLst>
          </p:cNvPr>
          <p:cNvCxnSpPr>
            <a:cxnSpLocks/>
          </p:cNvCxnSpPr>
          <p:nvPr/>
        </p:nvCxnSpPr>
        <p:spPr>
          <a:xfrm flipH="1">
            <a:off x="848380" y="4252288"/>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0" name="Straight Connector 49">
            <a:extLst>
              <a:ext uri="{FF2B5EF4-FFF2-40B4-BE49-F238E27FC236}">
                <a16:creationId xmlns:a16="http://schemas.microsoft.com/office/drawing/2014/main" id="{F75A29ED-6705-932C-53ED-B9DF50FBCC00}"/>
              </a:ext>
            </a:extLst>
          </p:cNvPr>
          <p:cNvCxnSpPr>
            <a:cxnSpLocks/>
          </p:cNvCxnSpPr>
          <p:nvPr/>
        </p:nvCxnSpPr>
        <p:spPr>
          <a:xfrm flipH="1">
            <a:off x="848780" y="338746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5" name="Title 4">
            <a:extLst>
              <a:ext uri="{FF2B5EF4-FFF2-40B4-BE49-F238E27FC236}">
                <a16:creationId xmlns:a16="http://schemas.microsoft.com/office/drawing/2014/main" id="{DF4D8508-6065-2117-45FB-1E46B8236D70}"/>
              </a:ext>
            </a:extLst>
          </p:cNvPr>
          <p:cNvSpPr>
            <a:spLocks noGrp="1"/>
          </p:cNvSpPr>
          <p:nvPr>
            <p:ph type="title"/>
          </p:nvPr>
        </p:nvSpPr>
        <p:spPr>
          <a:xfrm>
            <a:off x="882797" y="44215"/>
            <a:ext cx="8074152" cy="1292899"/>
          </a:xfrm>
        </p:spPr>
        <p:txBody>
          <a:bodyPr/>
          <a:lstStyle/>
          <a:p>
            <a:r>
              <a:rPr lang="en-US" sz="2400" b="1" dirty="0">
                <a:solidFill>
                  <a:srgbClr val="000000"/>
                </a:solidFill>
                <a:effectLst/>
                <a:latin typeface="Calibri" panose="020F0502020204030204" pitchFamily="34" charset="0"/>
              </a:rPr>
              <a:t>ACME screens for potential peer companies for Goofy within the Health Care Sector</a:t>
            </a:r>
            <a:endParaRPr lang="en-US" dirty="0"/>
          </a:p>
        </p:txBody>
      </p:sp>
      <p:sp>
        <p:nvSpPr>
          <p:cNvPr id="4" name="Slide Number Placeholder 3">
            <a:extLst>
              <a:ext uri="{FF2B5EF4-FFF2-40B4-BE49-F238E27FC236}">
                <a16:creationId xmlns:a16="http://schemas.microsoft.com/office/drawing/2014/main" id="{A9D7F4E8-C24B-0864-1108-2B4B11A82A0D}"/>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10</a:t>
            </a:fld>
            <a:endParaRPr lang="en-US"/>
          </a:p>
        </p:txBody>
      </p:sp>
      <p:sp>
        <p:nvSpPr>
          <p:cNvPr id="21" name="TextBox 20">
            <a:extLst>
              <a:ext uri="{FF2B5EF4-FFF2-40B4-BE49-F238E27FC236}">
                <a16:creationId xmlns:a16="http://schemas.microsoft.com/office/drawing/2014/main" id="{FA069257-F0EE-0A64-C44D-C1222131B842}"/>
              </a:ext>
            </a:extLst>
          </p:cNvPr>
          <p:cNvSpPr txBox="1"/>
          <p:nvPr/>
        </p:nvSpPr>
        <p:spPr>
          <a:xfrm>
            <a:off x="2188794" y="1078222"/>
            <a:ext cx="4766411" cy="338554"/>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noProof="0" dirty="0">
                <a:ln>
                  <a:noFill/>
                </a:ln>
                <a:effectLst/>
                <a:uLnTx/>
                <a:uFillTx/>
                <a:latin typeface="Calibri" panose="020F0502020204030204"/>
                <a:ea typeface="+mn-ea"/>
                <a:cs typeface="+mn-cs"/>
              </a:rPr>
              <a:t>Select Global Industry Classifications</a:t>
            </a:r>
          </a:p>
        </p:txBody>
      </p:sp>
      <p:sp>
        <p:nvSpPr>
          <p:cNvPr id="46" name="Rectangle 45">
            <a:extLst>
              <a:ext uri="{FF2B5EF4-FFF2-40B4-BE49-F238E27FC236}">
                <a16:creationId xmlns:a16="http://schemas.microsoft.com/office/drawing/2014/main" id="{FB4DA863-3FDC-CC14-9305-CAD18D2A204A}"/>
              </a:ext>
            </a:extLst>
          </p:cNvPr>
          <p:cNvSpPr/>
          <p:nvPr/>
        </p:nvSpPr>
        <p:spPr>
          <a:xfrm>
            <a:off x="209102" y="3707506"/>
            <a:ext cx="1280160"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a:t>
            </a:r>
          </a:p>
          <a:p>
            <a:pPr algn="ctr"/>
            <a:r>
              <a:rPr lang="en-US" sz="1200" b="1">
                <a:solidFill>
                  <a:schemeClr val="tx1"/>
                </a:solidFill>
              </a:rPr>
              <a:t>Equipment</a:t>
            </a:r>
          </a:p>
        </p:txBody>
      </p:sp>
      <p:sp>
        <p:nvSpPr>
          <p:cNvPr id="48" name="Rectangle 47">
            <a:extLst>
              <a:ext uri="{FF2B5EF4-FFF2-40B4-BE49-F238E27FC236}">
                <a16:creationId xmlns:a16="http://schemas.microsoft.com/office/drawing/2014/main" id="{3EE223A2-0049-80DF-436C-A7258E29F06B}"/>
              </a:ext>
            </a:extLst>
          </p:cNvPr>
          <p:cNvSpPr/>
          <p:nvPr/>
        </p:nvSpPr>
        <p:spPr>
          <a:xfrm>
            <a:off x="208700" y="4398849"/>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Supplies</a:t>
            </a:r>
          </a:p>
        </p:txBody>
      </p:sp>
      <p:sp>
        <p:nvSpPr>
          <p:cNvPr id="56" name="Rectangle 55">
            <a:extLst>
              <a:ext uri="{FF2B5EF4-FFF2-40B4-BE49-F238E27FC236}">
                <a16:creationId xmlns:a16="http://schemas.microsoft.com/office/drawing/2014/main" id="{BE5F75B9-3531-F724-7231-C93F76BC2986}"/>
              </a:ext>
            </a:extLst>
          </p:cNvPr>
          <p:cNvSpPr/>
          <p:nvPr/>
        </p:nvSpPr>
        <p:spPr>
          <a:xfrm>
            <a:off x="1711834" y="5096149"/>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Facilities</a:t>
            </a:r>
          </a:p>
        </p:txBody>
      </p:sp>
      <p:cxnSp>
        <p:nvCxnSpPr>
          <p:cNvPr id="74" name="Straight Connector 73">
            <a:extLst>
              <a:ext uri="{FF2B5EF4-FFF2-40B4-BE49-F238E27FC236}">
                <a16:creationId xmlns:a16="http://schemas.microsoft.com/office/drawing/2014/main" id="{B4C24334-FD36-32DB-6004-1E4E9DC7F17D}"/>
              </a:ext>
            </a:extLst>
          </p:cNvPr>
          <p:cNvCxnSpPr>
            <a:cxnSpLocks/>
            <a:endCxn id="90" idx="1"/>
          </p:cNvCxnSpPr>
          <p:nvPr/>
        </p:nvCxnSpPr>
        <p:spPr>
          <a:xfrm flipV="1">
            <a:off x="7352924" y="3273494"/>
            <a:ext cx="390216" cy="13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5" name="Straight Connector 74">
            <a:extLst>
              <a:ext uri="{FF2B5EF4-FFF2-40B4-BE49-F238E27FC236}">
                <a16:creationId xmlns:a16="http://schemas.microsoft.com/office/drawing/2014/main" id="{DD2A6331-EEE5-0FFD-F473-C0D3B807DE15}"/>
              </a:ext>
            </a:extLst>
          </p:cNvPr>
          <p:cNvCxnSpPr>
            <a:cxnSpLocks/>
          </p:cNvCxnSpPr>
          <p:nvPr/>
        </p:nvCxnSpPr>
        <p:spPr>
          <a:xfrm flipH="1">
            <a:off x="2323073" y="2571504"/>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6" name="Straight Connector 75">
            <a:extLst>
              <a:ext uri="{FF2B5EF4-FFF2-40B4-BE49-F238E27FC236}">
                <a16:creationId xmlns:a16="http://schemas.microsoft.com/office/drawing/2014/main" id="{B21536CA-F40B-C6C0-2A52-36B241F8EB9C}"/>
              </a:ext>
            </a:extLst>
          </p:cNvPr>
          <p:cNvCxnSpPr>
            <a:cxnSpLocks/>
          </p:cNvCxnSpPr>
          <p:nvPr/>
        </p:nvCxnSpPr>
        <p:spPr>
          <a:xfrm>
            <a:off x="4583413" y="1991454"/>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7" name="Straight Connector 76">
            <a:extLst>
              <a:ext uri="{FF2B5EF4-FFF2-40B4-BE49-F238E27FC236}">
                <a16:creationId xmlns:a16="http://schemas.microsoft.com/office/drawing/2014/main" id="{3C645D17-B014-875D-2050-48A69B957D62}"/>
              </a:ext>
            </a:extLst>
          </p:cNvPr>
          <p:cNvCxnSpPr>
            <a:cxnSpLocks/>
            <a:stCxn id="83" idx="3"/>
            <a:endCxn id="84" idx="1"/>
          </p:cNvCxnSpPr>
          <p:nvPr/>
        </p:nvCxnSpPr>
        <p:spPr>
          <a:xfrm>
            <a:off x="3015876" y="2457998"/>
            <a:ext cx="3220973" cy="406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8" name="Straight Connector 77">
            <a:extLst>
              <a:ext uri="{FF2B5EF4-FFF2-40B4-BE49-F238E27FC236}">
                <a16:creationId xmlns:a16="http://schemas.microsoft.com/office/drawing/2014/main" id="{A74663DD-FEE8-643C-11CD-10F7FD21526E}"/>
              </a:ext>
            </a:extLst>
          </p:cNvPr>
          <p:cNvCxnSpPr>
            <a:cxnSpLocks/>
          </p:cNvCxnSpPr>
          <p:nvPr/>
        </p:nvCxnSpPr>
        <p:spPr>
          <a:xfrm flipH="1">
            <a:off x="6876929" y="2701994"/>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CFB2C140-0534-7D2D-4E1F-D062AA490B85}"/>
              </a:ext>
            </a:extLst>
          </p:cNvPr>
          <p:cNvCxnSpPr>
            <a:cxnSpLocks/>
            <a:stCxn id="87" idx="3"/>
          </p:cNvCxnSpPr>
          <p:nvPr/>
        </p:nvCxnSpPr>
        <p:spPr>
          <a:xfrm>
            <a:off x="6012720" y="3286705"/>
            <a:ext cx="27338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C636F73B-139D-798B-51A6-DD39BBA9AF1C}"/>
              </a:ext>
            </a:extLst>
          </p:cNvPr>
          <p:cNvCxnSpPr>
            <a:cxnSpLocks/>
          </p:cNvCxnSpPr>
          <p:nvPr/>
        </p:nvCxnSpPr>
        <p:spPr>
          <a:xfrm flipV="1">
            <a:off x="2995497" y="3306996"/>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1" name="Straight Connector 80">
            <a:extLst>
              <a:ext uri="{FF2B5EF4-FFF2-40B4-BE49-F238E27FC236}">
                <a16:creationId xmlns:a16="http://schemas.microsoft.com/office/drawing/2014/main" id="{B5B35E7C-9BC3-625D-248D-E00195BAD8ED}"/>
              </a:ext>
            </a:extLst>
          </p:cNvPr>
          <p:cNvCxnSpPr>
            <a:cxnSpLocks/>
            <a:endCxn id="86" idx="1"/>
          </p:cNvCxnSpPr>
          <p:nvPr/>
        </p:nvCxnSpPr>
        <p:spPr>
          <a:xfrm>
            <a:off x="1338168" y="3285027"/>
            <a:ext cx="37446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2" name="Rectangle 81">
            <a:extLst>
              <a:ext uri="{FF2B5EF4-FFF2-40B4-BE49-F238E27FC236}">
                <a16:creationId xmlns:a16="http://schemas.microsoft.com/office/drawing/2014/main" id="{4C557A1E-FEC5-3C82-D42C-85E1BFCD6C07}"/>
              </a:ext>
            </a:extLst>
          </p:cNvPr>
          <p:cNvSpPr/>
          <p:nvPr/>
        </p:nvSpPr>
        <p:spPr>
          <a:xfrm>
            <a:off x="4004250" y="1442814"/>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Health Care</a:t>
            </a:r>
          </a:p>
        </p:txBody>
      </p:sp>
      <p:sp>
        <p:nvSpPr>
          <p:cNvPr id="83" name="Rectangle 82">
            <a:extLst>
              <a:ext uri="{FF2B5EF4-FFF2-40B4-BE49-F238E27FC236}">
                <a16:creationId xmlns:a16="http://schemas.microsoft.com/office/drawing/2014/main" id="{0793A18E-B781-A153-6F89-BAE7F288C5A9}"/>
              </a:ext>
            </a:extLst>
          </p:cNvPr>
          <p:cNvSpPr/>
          <p:nvPr/>
        </p:nvSpPr>
        <p:spPr>
          <a:xfrm>
            <a:off x="1735716" y="2183678"/>
            <a:ext cx="1280160" cy="548640"/>
          </a:xfrm>
          <a:prstGeom prst="rect">
            <a:avLst/>
          </a:prstGeom>
          <a:solidFill>
            <a:schemeClr val="tx2">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Equipment &amp; Services</a:t>
            </a:r>
          </a:p>
        </p:txBody>
      </p:sp>
      <p:sp>
        <p:nvSpPr>
          <p:cNvPr id="84" name="Rectangle 83">
            <a:extLst>
              <a:ext uri="{FF2B5EF4-FFF2-40B4-BE49-F238E27FC236}">
                <a16:creationId xmlns:a16="http://schemas.microsoft.com/office/drawing/2014/main" id="{59A45C56-F015-95AE-BC6E-D249ED158075}"/>
              </a:ext>
            </a:extLst>
          </p:cNvPr>
          <p:cNvSpPr/>
          <p:nvPr/>
        </p:nvSpPr>
        <p:spPr>
          <a:xfrm>
            <a:off x="6236849" y="2187747"/>
            <a:ext cx="1280160" cy="548640"/>
          </a:xfrm>
          <a:prstGeom prst="rect">
            <a:avLst/>
          </a:prstGeom>
          <a:solidFill>
            <a:schemeClr val="tx2">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Pharmaceuticals, Biotechnology &amp; Life Sciences</a:t>
            </a:r>
          </a:p>
        </p:txBody>
      </p:sp>
      <p:sp>
        <p:nvSpPr>
          <p:cNvPr id="85" name="Rectangle 84">
            <a:extLst>
              <a:ext uri="{FF2B5EF4-FFF2-40B4-BE49-F238E27FC236}">
                <a16:creationId xmlns:a16="http://schemas.microsoft.com/office/drawing/2014/main" id="{2C0BE86F-6BA6-48B3-7558-5902CE70779A}"/>
              </a:ext>
            </a:extLst>
          </p:cNvPr>
          <p:cNvSpPr/>
          <p:nvPr/>
        </p:nvSpPr>
        <p:spPr>
          <a:xfrm>
            <a:off x="3238407" y="3020890"/>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Technology</a:t>
            </a:r>
          </a:p>
        </p:txBody>
      </p:sp>
      <p:sp>
        <p:nvSpPr>
          <p:cNvPr id="86" name="Rectangle 85">
            <a:extLst>
              <a:ext uri="{FF2B5EF4-FFF2-40B4-BE49-F238E27FC236}">
                <a16:creationId xmlns:a16="http://schemas.microsoft.com/office/drawing/2014/main" id="{28A8A0F5-3789-6700-6D32-517090AED8BF}"/>
              </a:ext>
            </a:extLst>
          </p:cNvPr>
          <p:cNvSpPr/>
          <p:nvPr/>
        </p:nvSpPr>
        <p:spPr>
          <a:xfrm>
            <a:off x="1712635" y="3010707"/>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Providers &amp; Services</a:t>
            </a:r>
          </a:p>
        </p:txBody>
      </p:sp>
      <p:sp>
        <p:nvSpPr>
          <p:cNvPr id="87" name="Rectangle 86">
            <a:extLst>
              <a:ext uri="{FF2B5EF4-FFF2-40B4-BE49-F238E27FC236}">
                <a16:creationId xmlns:a16="http://schemas.microsoft.com/office/drawing/2014/main" id="{E57D4B87-441A-5C58-C0A5-1682F2EBCBF7}"/>
              </a:ext>
            </a:extLst>
          </p:cNvPr>
          <p:cNvSpPr/>
          <p:nvPr/>
        </p:nvSpPr>
        <p:spPr>
          <a:xfrm>
            <a:off x="4732560" y="3012385"/>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Biotechnology</a:t>
            </a:r>
          </a:p>
        </p:txBody>
      </p:sp>
      <p:sp>
        <p:nvSpPr>
          <p:cNvPr id="88" name="Rectangle 87">
            <a:extLst>
              <a:ext uri="{FF2B5EF4-FFF2-40B4-BE49-F238E27FC236}">
                <a16:creationId xmlns:a16="http://schemas.microsoft.com/office/drawing/2014/main" id="{EAA7AB9B-A774-FE03-5DBC-677B7008D9FC}"/>
              </a:ext>
            </a:extLst>
          </p:cNvPr>
          <p:cNvSpPr/>
          <p:nvPr/>
        </p:nvSpPr>
        <p:spPr>
          <a:xfrm>
            <a:off x="6237850" y="3006638"/>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Pharmaceuticals</a:t>
            </a:r>
          </a:p>
        </p:txBody>
      </p:sp>
      <p:sp>
        <p:nvSpPr>
          <p:cNvPr id="89" name="Rectangle 88">
            <a:extLst>
              <a:ext uri="{FF2B5EF4-FFF2-40B4-BE49-F238E27FC236}">
                <a16:creationId xmlns:a16="http://schemas.microsoft.com/office/drawing/2014/main" id="{086B080F-6C5C-7176-E2A3-3FD1F4D68666}"/>
              </a:ext>
            </a:extLst>
          </p:cNvPr>
          <p:cNvSpPr/>
          <p:nvPr/>
        </p:nvSpPr>
        <p:spPr>
          <a:xfrm>
            <a:off x="209102" y="3007644"/>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 Equipment &amp; Supplies</a:t>
            </a:r>
          </a:p>
        </p:txBody>
      </p:sp>
      <p:sp>
        <p:nvSpPr>
          <p:cNvPr id="90" name="Rectangle 89">
            <a:extLst>
              <a:ext uri="{FF2B5EF4-FFF2-40B4-BE49-F238E27FC236}">
                <a16:creationId xmlns:a16="http://schemas.microsoft.com/office/drawing/2014/main" id="{F0B369AD-56DA-F937-B967-4DB4282F2900}"/>
              </a:ext>
            </a:extLst>
          </p:cNvPr>
          <p:cNvSpPr/>
          <p:nvPr/>
        </p:nvSpPr>
        <p:spPr>
          <a:xfrm>
            <a:off x="7743140" y="2999174"/>
            <a:ext cx="1280160" cy="548640"/>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Life Sciences Tools &amp; Services</a:t>
            </a:r>
          </a:p>
        </p:txBody>
      </p:sp>
      <p:sp>
        <p:nvSpPr>
          <p:cNvPr id="92" name="Rectangle 91">
            <a:extLst>
              <a:ext uri="{FF2B5EF4-FFF2-40B4-BE49-F238E27FC236}">
                <a16:creationId xmlns:a16="http://schemas.microsoft.com/office/drawing/2014/main" id="{B4048C08-D4C3-FBE5-8A33-39D7835E2DCA}"/>
              </a:ext>
            </a:extLst>
          </p:cNvPr>
          <p:cNvSpPr/>
          <p:nvPr/>
        </p:nvSpPr>
        <p:spPr>
          <a:xfrm>
            <a:off x="1711834" y="5790392"/>
            <a:ext cx="1280161"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Managed</a:t>
            </a:r>
          </a:p>
          <a:p>
            <a:pPr algn="ctr"/>
            <a:r>
              <a:rPr lang="en-US" sz="1200" b="1">
                <a:solidFill>
                  <a:schemeClr val="tx1"/>
                </a:solidFill>
              </a:rPr>
              <a:t>Health Care</a:t>
            </a:r>
          </a:p>
        </p:txBody>
      </p:sp>
      <p:sp>
        <p:nvSpPr>
          <p:cNvPr id="93" name="Rectangle 92">
            <a:extLst>
              <a:ext uri="{FF2B5EF4-FFF2-40B4-BE49-F238E27FC236}">
                <a16:creationId xmlns:a16="http://schemas.microsoft.com/office/drawing/2014/main" id="{32443004-C72D-1779-EF30-FC3140E9FFAA}"/>
              </a:ext>
            </a:extLst>
          </p:cNvPr>
          <p:cNvSpPr/>
          <p:nvPr/>
        </p:nvSpPr>
        <p:spPr>
          <a:xfrm>
            <a:off x="7083155" y="5523397"/>
            <a:ext cx="197235" cy="123961"/>
          </a:xfrm>
          <a:prstGeom prst="rect">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4" name="TextBox 93">
            <a:extLst>
              <a:ext uri="{FF2B5EF4-FFF2-40B4-BE49-F238E27FC236}">
                <a16:creationId xmlns:a16="http://schemas.microsoft.com/office/drawing/2014/main" id="{A3A269B7-E2B5-9B81-77A5-869F44467B56}"/>
              </a:ext>
            </a:extLst>
          </p:cNvPr>
          <p:cNvSpPr txBox="1"/>
          <p:nvPr/>
        </p:nvSpPr>
        <p:spPr>
          <a:xfrm>
            <a:off x="7289455" y="5472333"/>
            <a:ext cx="1854545" cy="246221"/>
          </a:xfrm>
          <a:prstGeom prst="rect">
            <a:avLst/>
          </a:prstGeom>
          <a:noFill/>
        </p:spPr>
        <p:txBody>
          <a:bodyPr wrap="square" rtlCol="0" anchor="ctr">
            <a:spAutoFit/>
          </a:bodyPr>
          <a:lstStyle/>
          <a:p>
            <a:r>
              <a:rPr lang="en-US" sz="1000" i="1"/>
              <a:t>Industry</a:t>
            </a:r>
          </a:p>
        </p:txBody>
      </p:sp>
      <p:sp>
        <p:nvSpPr>
          <p:cNvPr id="95" name="Rectangle 94">
            <a:extLst>
              <a:ext uri="{FF2B5EF4-FFF2-40B4-BE49-F238E27FC236}">
                <a16:creationId xmlns:a16="http://schemas.microsoft.com/office/drawing/2014/main" id="{B3A5EF98-0CA8-50F9-B8B4-790B4510CC74}"/>
              </a:ext>
            </a:extLst>
          </p:cNvPr>
          <p:cNvSpPr/>
          <p:nvPr/>
        </p:nvSpPr>
        <p:spPr>
          <a:xfrm>
            <a:off x="7083155" y="5341148"/>
            <a:ext cx="197235" cy="123961"/>
          </a:xfrm>
          <a:prstGeom prst="rect">
            <a:avLst/>
          </a:prstGeom>
          <a:solidFill>
            <a:schemeClr val="tx2">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6" name="TextBox 95">
            <a:extLst>
              <a:ext uri="{FF2B5EF4-FFF2-40B4-BE49-F238E27FC236}">
                <a16:creationId xmlns:a16="http://schemas.microsoft.com/office/drawing/2014/main" id="{C09B6294-3FFE-50CB-A17D-E44FDA6273AD}"/>
              </a:ext>
            </a:extLst>
          </p:cNvPr>
          <p:cNvSpPr txBox="1"/>
          <p:nvPr/>
        </p:nvSpPr>
        <p:spPr>
          <a:xfrm>
            <a:off x="7294355" y="5287988"/>
            <a:ext cx="1361837" cy="246221"/>
          </a:xfrm>
          <a:prstGeom prst="rect">
            <a:avLst/>
          </a:prstGeom>
          <a:noFill/>
        </p:spPr>
        <p:txBody>
          <a:bodyPr wrap="square" rtlCol="0" anchor="ctr">
            <a:spAutoFit/>
          </a:bodyPr>
          <a:lstStyle/>
          <a:p>
            <a:r>
              <a:rPr lang="en-US" sz="1000" i="1"/>
              <a:t>Industry Group</a:t>
            </a:r>
          </a:p>
        </p:txBody>
      </p:sp>
      <p:sp>
        <p:nvSpPr>
          <p:cNvPr id="97" name="Rectangle 96">
            <a:extLst>
              <a:ext uri="{FF2B5EF4-FFF2-40B4-BE49-F238E27FC236}">
                <a16:creationId xmlns:a16="http://schemas.microsoft.com/office/drawing/2014/main" id="{9963BBCA-3A09-8D92-506B-39055AA64E89}"/>
              </a:ext>
            </a:extLst>
          </p:cNvPr>
          <p:cNvSpPr/>
          <p:nvPr/>
        </p:nvSpPr>
        <p:spPr>
          <a:xfrm>
            <a:off x="7083155" y="5180337"/>
            <a:ext cx="197235" cy="123961"/>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8" name="TextBox 97">
            <a:extLst>
              <a:ext uri="{FF2B5EF4-FFF2-40B4-BE49-F238E27FC236}">
                <a16:creationId xmlns:a16="http://schemas.microsoft.com/office/drawing/2014/main" id="{038F92B9-11F3-2541-4DBB-210AA04DD1B3}"/>
              </a:ext>
            </a:extLst>
          </p:cNvPr>
          <p:cNvSpPr txBox="1"/>
          <p:nvPr/>
        </p:nvSpPr>
        <p:spPr>
          <a:xfrm>
            <a:off x="7289456" y="5168936"/>
            <a:ext cx="1361837" cy="166895"/>
          </a:xfrm>
          <a:prstGeom prst="rect">
            <a:avLst/>
          </a:prstGeom>
          <a:noFill/>
        </p:spPr>
        <p:txBody>
          <a:bodyPr wrap="square" rtlCol="0" anchor="ctr">
            <a:spAutoFit/>
          </a:bodyPr>
          <a:lstStyle/>
          <a:p>
            <a:r>
              <a:rPr lang="en-US" sz="1000" i="1"/>
              <a:t>Sector</a:t>
            </a:r>
          </a:p>
        </p:txBody>
      </p:sp>
      <p:sp>
        <p:nvSpPr>
          <p:cNvPr id="99" name="TextBox 98">
            <a:extLst>
              <a:ext uri="{FF2B5EF4-FFF2-40B4-BE49-F238E27FC236}">
                <a16:creationId xmlns:a16="http://schemas.microsoft.com/office/drawing/2014/main" id="{EBB6F3C3-898C-684D-2C30-8D053422EFFC}"/>
              </a:ext>
            </a:extLst>
          </p:cNvPr>
          <p:cNvSpPr txBox="1"/>
          <p:nvPr/>
        </p:nvSpPr>
        <p:spPr>
          <a:xfrm>
            <a:off x="6913218" y="4902330"/>
            <a:ext cx="1361837" cy="246221"/>
          </a:xfrm>
          <a:prstGeom prst="rect">
            <a:avLst/>
          </a:prstGeom>
          <a:noFill/>
        </p:spPr>
        <p:txBody>
          <a:bodyPr wrap="square" rtlCol="0" anchor="ctr">
            <a:spAutoFit/>
          </a:bodyPr>
          <a:lstStyle/>
          <a:p>
            <a:r>
              <a:rPr lang="en-US" sz="1000" b="1" i="1"/>
              <a:t>Legend:</a:t>
            </a:r>
          </a:p>
        </p:txBody>
      </p:sp>
      <p:sp>
        <p:nvSpPr>
          <p:cNvPr id="100" name="Rectangle 99">
            <a:extLst>
              <a:ext uri="{FF2B5EF4-FFF2-40B4-BE49-F238E27FC236}">
                <a16:creationId xmlns:a16="http://schemas.microsoft.com/office/drawing/2014/main" id="{6D2FA1C7-9A40-DA17-46EF-389F9F830FBC}"/>
              </a:ext>
            </a:extLst>
          </p:cNvPr>
          <p:cNvSpPr/>
          <p:nvPr/>
        </p:nvSpPr>
        <p:spPr>
          <a:xfrm>
            <a:off x="7083155" y="5686936"/>
            <a:ext cx="197235" cy="123961"/>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101" name="TextBox 100">
            <a:extLst>
              <a:ext uri="{FF2B5EF4-FFF2-40B4-BE49-F238E27FC236}">
                <a16:creationId xmlns:a16="http://schemas.microsoft.com/office/drawing/2014/main" id="{D916407D-9AF0-CB94-566C-794A4E968BBA}"/>
              </a:ext>
            </a:extLst>
          </p:cNvPr>
          <p:cNvSpPr txBox="1"/>
          <p:nvPr/>
        </p:nvSpPr>
        <p:spPr>
          <a:xfrm>
            <a:off x="7289455" y="5635872"/>
            <a:ext cx="1854545" cy="246221"/>
          </a:xfrm>
          <a:prstGeom prst="rect">
            <a:avLst/>
          </a:prstGeom>
          <a:noFill/>
        </p:spPr>
        <p:txBody>
          <a:bodyPr wrap="square" rtlCol="0" anchor="ctr">
            <a:spAutoFit/>
          </a:bodyPr>
          <a:lstStyle/>
          <a:p>
            <a:r>
              <a:rPr lang="en-US" sz="1000" i="1"/>
              <a:t>Sub-industry/Primary Industry</a:t>
            </a:r>
          </a:p>
        </p:txBody>
      </p:sp>
      <p:sp>
        <p:nvSpPr>
          <p:cNvPr id="103" name="Rectangle 102">
            <a:extLst>
              <a:ext uri="{FF2B5EF4-FFF2-40B4-BE49-F238E27FC236}">
                <a16:creationId xmlns:a16="http://schemas.microsoft.com/office/drawing/2014/main" id="{15F24ABB-CA77-DB35-B1BF-0A5B899C0D31}"/>
              </a:ext>
            </a:extLst>
          </p:cNvPr>
          <p:cNvSpPr/>
          <p:nvPr/>
        </p:nvSpPr>
        <p:spPr>
          <a:xfrm>
            <a:off x="4732559" y="3707507"/>
            <a:ext cx="1280161" cy="544572"/>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Biotechnology</a:t>
            </a:r>
          </a:p>
        </p:txBody>
      </p:sp>
      <p:sp>
        <p:nvSpPr>
          <p:cNvPr id="105" name="Rectangle 104">
            <a:extLst>
              <a:ext uri="{FF2B5EF4-FFF2-40B4-BE49-F238E27FC236}">
                <a16:creationId xmlns:a16="http://schemas.microsoft.com/office/drawing/2014/main" id="{C8A742A9-BB4E-DC83-3070-92CFF0D7BCC2}"/>
              </a:ext>
            </a:extLst>
          </p:cNvPr>
          <p:cNvSpPr/>
          <p:nvPr/>
        </p:nvSpPr>
        <p:spPr>
          <a:xfrm>
            <a:off x="3236804" y="3707506"/>
            <a:ext cx="1280162"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Health Care</a:t>
            </a:r>
          </a:p>
          <a:p>
            <a:pPr algn="ctr"/>
            <a:r>
              <a:rPr lang="en-US" sz="1200" b="1">
                <a:solidFill>
                  <a:schemeClr val="tx1"/>
                </a:solidFill>
              </a:rPr>
              <a:t>Technology</a:t>
            </a:r>
          </a:p>
        </p:txBody>
      </p:sp>
      <p:sp>
        <p:nvSpPr>
          <p:cNvPr id="107" name="Rectangle 106">
            <a:extLst>
              <a:ext uri="{FF2B5EF4-FFF2-40B4-BE49-F238E27FC236}">
                <a16:creationId xmlns:a16="http://schemas.microsoft.com/office/drawing/2014/main" id="{AD8B974A-F0A6-0803-033E-62F9108655F1}"/>
              </a:ext>
            </a:extLst>
          </p:cNvPr>
          <p:cNvSpPr/>
          <p:nvPr/>
        </p:nvSpPr>
        <p:spPr>
          <a:xfrm>
            <a:off x="6226313" y="3706456"/>
            <a:ext cx="1301233" cy="544435"/>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Pharmaceuticals</a:t>
            </a:r>
          </a:p>
        </p:txBody>
      </p:sp>
      <p:sp>
        <p:nvSpPr>
          <p:cNvPr id="109" name="Rectangle 108">
            <a:extLst>
              <a:ext uri="{FF2B5EF4-FFF2-40B4-BE49-F238E27FC236}">
                <a16:creationId xmlns:a16="http://schemas.microsoft.com/office/drawing/2014/main" id="{C1F64FCF-0187-A1D3-3B5F-F7E6A03467F4}"/>
              </a:ext>
            </a:extLst>
          </p:cNvPr>
          <p:cNvSpPr/>
          <p:nvPr/>
        </p:nvSpPr>
        <p:spPr>
          <a:xfrm>
            <a:off x="7743140" y="3706456"/>
            <a:ext cx="1280160" cy="544572"/>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Biotechnology</a:t>
            </a:r>
          </a:p>
        </p:txBody>
      </p:sp>
      <p:sp>
        <p:nvSpPr>
          <p:cNvPr id="6" name="TextBox 5">
            <a:extLst>
              <a:ext uri="{FF2B5EF4-FFF2-40B4-BE49-F238E27FC236}">
                <a16:creationId xmlns:a16="http://schemas.microsoft.com/office/drawing/2014/main" id="{92FCEF6D-85B7-E889-E862-10772C31AF7A}"/>
              </a:ext>
            </a:extLst>
          </p:cNvPr>
          <p:cNvSpPr txBox="1"/>
          <p:nvPr/>
        </p:nvSpPr>
        <p:spPr>
          <a:xfrm>
            <a:off x="7289455" y="5820217"/>
            <a:ext cx="1854545" cy="246221"/>
          </a:xfrm>
          <a:prstGeom prst="rect">
            <a:avLst/>
          </a:prstGeom>
          <a:noFill/>
        </p:spPr>
        <p:txBody>
          <a:bodyPr wrap="square" rtlCol="0" anchor="ctr">
            <a:spAutoFit/>
          </a:bodyPr>
          <a:lstStyle/>
          <a:p>
            <a:r>
              <a:rPr lang="en-US" sz="1000" i="1" dirty="0" err="1"/>
              <a:t>Goofy’s</a:t>
            </a:r>
            <a:r>
              <a:rPr lang="en-US" sz="1000" i="1" dirty="0"/>
              <a:t> Primary Industry</a:t>
            </a:r>
          </a:p>
        </p:txBody>
      </p:sp>
      <p:sp>
        <p:nvSpPr>
          <p:cNvPr id="7" name="Rectangle 6">
            <a:extLst>
              <a:ext uri="{FF2B5EF4-FFF2-40B4-BE49-F238E27FC236}">
                <a16:creationId xmlns:a16="http://schemas.microsoft.com/office/drawing/2014/main" id="{5371F509-7CB0-6C2C-74FF-3F0C71B1513A}"/>
              </a:ext>
            </a:extLst>
          </p:cNvPr>
          <p:cNvSpPr/>
          <p:nvPr/>
        </p:nvSpPr>
        <p:spPr>
          <a:xfrm>
            <a:off x="7092680" y="5884892"/>
            <a:ext cx="197235" cy="123961"/>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8" name="Rectangle 7">
            <a:extLst>
              <a:ext uri="{FF2B5EF4-FFF2-40B4-BE49-F238E27FC236}">
                <a16:creationId xmlns:a16="http://schemas.microsoft.com/office/drawing/2014/main" id="{64F582D1-0DE2-4A6E-0967-49C6A4BB31E1}"/>
              </a:ext>
            </a:extLst>
          </p:cNvPr>
          <p:cNvSpPr/>
          <p:nvPr/>
        </p:nvSpPr>
        <p:spPr>
          <a:xfrm>
            <a:off x="206544" y="3694294"/>
            <a:ext cx="1280160" cy="556597"/>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Tree>
    <p:extLst>
      <p:ext uri="{BB962C8B-B14F-4D97-AF65-F5344CB8AC3E}">
        <p14:creationId xmlns:p14="http://schemas.microsoft.com/office/powerpoint/2010/main" val="351235213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665CB-8949-5094-4E82-474CD0124D4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E07CF65-3B36-213F-A35F-C886FB0BFE4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F3BB454E-8BB6-2324-9C9F-B2ADDA440FC6}"/>
              </a:ext>
            </a:extLst>
          </p:cNvPr>
          <p:cNvSpPr>
            <a:spLocks noGrp="1"/>
          </p:cNvSpPr>
          <p:nvPr>
            <p:ph type="title"/>
          </p:nvPr>
        </p:nvSpPr>
        <p:spPr>
          <a:xfrm>
            <a:off x="882797" y="44215"/>
            <a:ext cx="8074152" cy="1292899"/>
          </a:xfrm>
        </p:spPr>
        <p:txBody>
          <a:bodyPr/>
          <a:lstStyle/>
          <a:p>
            <a:r>
              <a:rPr lang="en-US" dirty="0"/>
              <a:t>Goofy’s peer group has been stable for the past three years</a:t>
            </a:r>
          </a:p>
        </p:txBody>
      </p:sp>
      <p:sp>
        <p:nvSpPr>
          <p:cNvPr id="4" name="Slide Number Placeholder 3">
            <a:extLst>
              <a:ext uri="{FF2B5EF4-FFF2-40B4-BE49-F238E27FC236}">
                <a16:creationId xmlns:a16="http://schemas.microsoft.com/office/drawing/2014/main" id="{4A23B4BD-1F76-1468-F66C-804DBF72F318}"/>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11</a:t>
            </a:fld>
            <a:endParaRPr lang="en-US"/>
          </a:p>
        </p:txBody>
      </p:sp>
      <p:graphicFrame>
        <p:nvGraphicFramePr>
          <p:cNvPr id="2" name="Table 1">
            <a:extLst>
              <a:ext uri="{FF2B5EF4-FFF2-40B4-BE49-F238E27FC236}">
                <a16:creationId xmlns:a16="http://schemas.microsoft.com/office/drawing/2014/main" id="{20E0F83C-CDA7-ACE6-74A4-E26DC6223693}"/>
              </a:ext>
            </a:extLst>
          </p:cNvPr>
          <p:cNvGraphicFramePr>
            <a:graphicFrameLocks noGrp="1"/>
          </p:cNvGraphicFramePr>
          <p:nvPr>
            <p:extLst>
              <p:ext uri="{D42A27DB-BD31-4B8C-83A1-F6EECF244321}">
                <p14:modId xmlns:p14="http://schemas.microsoft.com/office/powerpoint/2010/main" val="1532104495"/>
              </p:ext>
            </p:extLst>
          </p:nvPr>
        </p:nvGraphicFramePr>
        <p:xfrm>
          <a:off x="322755" y="1380767"/>
          <a:ext cx="6508684" cy="4777800"/>
        </p:xfrm>
        <a:graphic>
          <a:graphicData uri="http://schemas.openxmlformats.org/drawingml/2006/table">
            <a:tbl>
              <a:tblPr/>
              <a:tblGrid>
                <a:gridCol w="1463040">
                  <a:extLst>
                    <a:ext uri="{9D8B030D-6E8A-4147-A177-3AD203B41FA5}">
                      <a16:colId xmlns:a16="http://schemas.microsoft.com/office/drawing/2014/main" val="230380644"/>
                    </a:ext>
                  </a:extLst>
                </a:gridCol>
                <a:gridCol w="565084">
                  <a:extLst>
                    <a:ext uri="{9D8B030D-6E8A-4147-A177-3AD203B41FA5}">
                      <a16:colId xmlns:a16="http://schemas.microsoft.com/office/drawing/2014/main" val="3934463665"/>
                    </a:ext>
                  </a:extLst>
                </a:gridCol>
                <a:gridCol w="822960">
                  <a:extLst>
                    <a:ext uri="{9D8B030D-6E8A-4147-A177-3AD203B41FA5}">
                      <a16:colId xmlns:a16="http://schemas.microsoft.com/office/drawing/2014/main" val="1956551167"/>
                    </a:ext>
                  </a:extLst>
                </a:gridCol>
                <a:gridCol w="365760">
                  <a:extLst>
                    <a:ext uri="{9D8B030D-6E8A-4147-A177-3AD203B41FA5}">
                      <a16:colId xmlns:a16="http://schemas.microsoft.com/office/drawing/2014/main" val="101277548"/>
                    </a:ext>
                  </a:extLst>
                </a:gridCol>
                <a:gridCol w="365760">
                  <a:extLst>
                    <a:ext uri="{9D8B030D-6E8A-4147-A177-3AD203B41FA5}">
                      <a16:colId xmlns:a16="http://schemas.microsoft.com/office/drawing/2014/main" val="731183002"/>
                    </a:ext>
                  </a:extLst>
                </a:gridCol>
                <a:gridCol w="365760">
                  <a:extLst>
                    <a:ext uri="{9D8B030D-6E8A-4147-A177-3AD203B41FA5}">
                      <a16:colId xmlns:a16="http://schemas.microsoft.com/office/drawing/2014/main" val="554622406"/>
                    </a:ext>
                  </a:extLst>
                </a:gridCol>
                <a:gridCol w="365760">
                  <a:extLst>
                    <a:ext uri="{9D8B030D-6E8A-4147-A177-3AD203B41FA5}">
                      <a16:colId xmlns:a16="http://schemas.microsoft.com/office/drawing/2014/main" val="3111695633"/>
                    </a:ext>
                  </a:extLst>
                </a:gridCol>
                <a:gridCol w="365760">
                  <a:extLst>
                    <a:ext uri="{9D8B030D-6E8A-4147-A177-3AD203B41FA5}">
                      <a16:colId xmlns:a16="http://schemas.microsoft.com/office/drawing/2014/main" val="4245160970"/>
                    </a:ext>
                  </a:extLst>
                </a:gridCol>
                <a:gridCol w="365760">
                  <a:extLst>
                    <a:ext uri="{9D8B030D-6E8A-4147-A177-3AD203B41FA5}">
                      <a16:colId xmlns:a16="http://schemas.microsoft.com/office/drawing/2014/main" val="896441405"/>
                    </a:ext>
                  </a:extLst>
                </a:gridCol>
                <a:gridCol w="365760">
                  <a:extLst>
                    <a:ext uri="{9D8B030D-6E8A-4147-A177-3AD203B41FA5}">
                      <a16:colId xmlns:a16="http://schemas.microsoft.com/office/drawing/2014/main" val="1466140795"/>
                    </a:ext>
                  </a:extLst>
                </a:gridCol>
                <a:gridCol w="365760">
                  <a:extLst>
                    <a:ext uri="{9D8B030D-6E8A-4147-A177-3AD203B41FA5}">
                      <a16:colId xmlns:a16="http://schemas.microsoft.com/office/drawing/2014/main" val="2836979919"/>
                    </a:ext>
                  </a:extLst>
                </a:gridCol>
                <a:gridCol w="365760">
                  <a:extLst>
                    <a:ext uri="{9D8B030D-6E8A-4147-A177-3AD203B41FA5}">
                      <a16:colId xmlns:a16="http://schemas.microsoft.com/office/drawing/2014/main" val="3238501657"/>
                    </a:ext>
                  </a:extLst>
                </a:gridCol>
                <a:gridCol w="365760">
                  <a:extLst>
                    <a:ext uri="{9D8B030D-6E8A-4147-A177-3AD203B41FA5}">
                      <a16:colId xmlns:a16="http://schemas.microsoft.com/office/drawing/2014/main" val="3406367229"/>
                    </a:ext>
                  </a:extLst>
                </a:gridCol>
              </a:tblGrid>
              <a:tr h="135772">
                <a:tc>
                  <a:txBody>
                    <a:bodyPr/>
                    <a:lstStyle/>
                    <a:p>
                      <a:pPr algn="ctr" rtl="0" fontAlgn="b"/>
                      <a:r>
                        <a:rPr lang="en-US" sz="1000" b="1" i="0" u="none" strike="noStrike" dirty="0">
                          <a:solidFill>
                            <a:srgbClr val="FFFFFF"/>
                          </a:solidFill>
                          <a:effectLst/>
                          <a:latin typeface="+mj-lt"/>
                        </a:rPr>
                        <a:t>Peer Company List</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Industry</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FYE Revenue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2017</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2019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2022</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2023</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b"/>
                      <a:r>
                        <a:rPr lang="en-US" sz="1000" b="1" i="0" u="none" strike="noStrike">
                          <a:solidFill>
                            <a:srgbClr val="FFFFFF"/>
                          </a:solidFill>
                          <a:effectLst/>
                          <a:latin typeface="+mj-lt"/>
                        </a:rPr>
                        <a:t>2025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404429242"/>
                  </a:ext>
                </a:extLst>
              </a:tr>
              <a:tr h="135772">
                <a:tc>
                  <a:txBody>
                    <a:bodyPr/>
                    <a:lstStyle/>
                    <a:p>
                      <a:pPr algn="l" rtl="0" fontAlgn="b">
                        <a:buNone/>
                      </a:pPr>
                      <a:r>
                        <a:rPr lang="en-US" sz="1000" b="0" i="0" u="none" strike="noStrike">
                          <a:solidFill>
                            <a:srgbClr val="000000"/>
                          </a:solidFill>
                          <a:effectLst/>
                          <a:latin typeface="+mj-lt"/>
                        </a:rPr>
                        <a:t>Intuitive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buNone/>
                      </a:pPr>
                      <a:r>
                        <a:rPr lang="en-US" sz="1000" b="0" i="0" u="none" strike="noStrike">
                          <a:solidFill>
                            <a:srgbClr val="000000"/>
                          </a:solidFill>
                          <a:effectLst/>
                          <a:latin typeface="+mj-lt"/>
                        </a:rPr>
                        <a:t>$10,065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65145453"/>
                  </a:ext>
                </a:extLst>
              </a:tr>
              <a:tr h="135772">
                <a:tc>
                  <a:txBody>
                    <a:bodyPr/>
                    <a:lstStyle/>
                    <a:p>
                      <a:pPr algn="l" rtl="0" fontAlgn="b">
                        <a:buNone/>
                      </a:pPr>
                      <a:r>
                        <a:rPr lang="en-US" sz="1000" b="0" i="0" u="none" strike="noStrike">
                          <a:solidFill>
                            <a:srgbClr val="000000"/>
                          </a:solidFill>
                          <a:effectLst/>
                          <a:latin typeface="+mj-lt"/>
                        </a:rPr>
                        <a:t>Zoetis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P</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$9,467 </a:t>
                      </a:r>
                    </a:p>
                  </a:txBody>
                  <a:tcPr marL="27432" marR="27432" marT="0" marB="0" anchor="b">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290757755"/>
                  </a:ext>
                </a:extLst>
              </a:tr>
              <a:tr h="135772">
                <a:tc>
                  <a:txBody>
                    <a:bodyPr/>
                    <a:lstStyle/>
                    <a:p>
                      <a:pPr algn="l" rtl="0" fontAlgn="b">
                        <a:buNone/>
                      </a:pPr>
                      <a:r>
                        <a:rPr lang="en-US" sz="1000" b="0" i="0" u="none" strike="noStrike">
                          <a:solidFill>
                            <a:srgbClr val="000000"/>
                          </a:solidFill>
                          <a:effectLst/>
                          <a:latin typeface="+mj-lt"/>
                        </a:rPr>
                        <a:t>Agilent</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$6,948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1547752452"/>
                  </a:ext>
                </a:extLst>
              </a:tr>
              <a:tr h="135772">
                <a:tc>
                  <a:txBody>
                    <a:bodyPr/>
                    <a:lstStyle/>
                    <a:p>
                      <a:pPr algn="l" rtl="0" fontAlgn="b">
                        <a:buNone/>
                      </a:pPr>
                      <a:r>
                        <a:rPr lang="en-US" sz="1000" b="0" i="0" u="none" strike="noStrike">
                          <a:solidFill>
                            <a:srgbClr val="000000"/>
                          </a:solidFill>
                          <a:effectLst/>
                          <a:latin typeface="+mj-lt"/>
                        </a:rPr>
                        <a:t>Edwards Lifesciences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$6,068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346756682"/>
                  </a:ext>
                </a:extLst>
              </a:tr>
              <a:tr h="135772">
                <a:tc>
                  <a:txBody>
                    <a:bodyPr/>
                    <a:lstStyle/>
                    <a:p>
                      <a:pPr algn="l" rtl="0" fontAlgn="b">
                        <a:buNone/>
                      </a:pPr>
                      <a:r>
                        <a:rPr lang="en-US" sz="1000" b="0" i="0" u="none" strike="noStrike">
                          <a:solidFill>
                            <a:srgbClr val="000000"/>
                          </a:solidFill>
                          <a:effectLst/>
                          <a:latin typeface="+mj-lt"/>
                        </a:rPr>
                        <a:t>STERIS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$5,460 </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1490830900"/>
                  </a:ext>
                </a:extLst>
              </a:tr>
              <a:tr h="135772">
                <a:tc>
                  <a:txBody>
                    <a:bodyPr/>
                    <a:lstStyle/>
                    <a:p>
                      <a:pPr algn="l" rtl="0" fontAlgn="b">
                        <a:buNone/>
                      </a:pPr>
                      <a:r>
                        <a:rPr lang="en-US" sz="1000" b="0" i="0" u="none" strike="noStrike">
                          <a:solidFill>
                            <a:srgbClr val="000000"/>
                          </a:solidFill>
                          <a:effectLst/>
                          <a:latin typeface="+mj-lt"/>
                        </a:rPr>
                        <a:t>ResMed</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$5,146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82310176"/>
                  </a:ext>
                </a:extLst>
              </a:tr>
              <a:tr h="135772">
                <a:tc>
                  <a:txBody>
                    <a:bodyPr/>
                    <a:lstStyle/>
                    <a:p>
                      <a:pPr algn="l" rtl="0" fontAlgn="b">
                        <a:buNone/>
                      </a:pPr>
                      <a:r>
                        <a:rPr lang="en-US" sz="1000" b="0" i="0" u="none" strike="noStrike" dirty="0">
                          <a:solidFill>
                            <a:srgbClr val="000000"/>
                          </a:solidFill>
                          <a:effectLst/>
                          <a:latin typeface="+mj-lt"/>
                        </a:rPr>
                        <a:t>Elanco</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P</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$4,715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781790509"/>
                  </a:ext>
                </a:extLst>
              </a:tr>
              <a:tr h="135772">
                <a:tc>
                  <a:txBody>
                    <a:bodyPr/>
                    <a:lstStyle/>
                    <a:p>
                      <a:pPr algn="l" rtl="0" fontAlgn="b">
                        <a:buNone/>
                      </a:pPr>
                      <a:r>
                        <a:rPr lang="en-US" sz="1000" b="0" i="0" u="none" strike="noStrike" dirty="0" err="1">
                          <a:solidFill>
                            <a:srgbClr val="000000"/>
                          </a:solidFill>
                          <a:effectLst/>
                          <a:latin typeface="+mj-lt"/>
                        </a:rPr>
                        <a:t>DexCom</a:t>
                      </a:r>
                      <a:endParaRPr lang="en-US" sz="1000" b="0" i="0" u="none" strike="noStrike" dirty="0">
                        <a:solidFill>
                          <a:srgbClr val="000000"/>
                        </a:solidFill>
                        <a:effectLst/>
                        <a:latin typeface="+mj-lt"/>
                      </a:endParaRP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$4,662 </a:t>
                      </a:r>
                    </a:p>
                  </a:txBody>
                  <a:tcPr marL="27432" marR="27432" marT="0" marB="0" anchor="b">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97533595"/>
                  </a:ext>
                </a:extLst>
              </a:tr>
              <a:tr h="135772">
                <a:tc>
                  <a:txBody>
                    <a:bodyPr/>
                    <a:lstStyle/>
                    <a:p>
                      <a:pPr algn="l" rtl="0" fontAlgn="b">
                        <a:buNone/>
                      </a:pPr>
                      <a:r>
                        <a:rPr lang="en-US" sz="1000" b="0" i="0" u="none" strike="noStrike" dirty="0">
                          <a:solidFill>
                            <a:srgbClr val="000000"/>
                          </a:solidFill>
                          <a:effectLst/>
                          <a:latin typeface="+mj-lt"/>
                        </a:rPr>
                        <a:t>Illumina</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$4,343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676944765"/>
                  </a:ext>
                </a:extLst>
              </a:tr>
              <a:tr h="135772">
                <a:tc>
                  <a:txBody>
                    <a:bodyPr/>
                    <a:lstStyle/>
                    <a:p>
                      <a:pPr algn="l" rtl="0" fontAlgn="b">
                        <a:buNone/>
                      </a:pPr>
                      <a:r>
                        <a:rPr lang="en-US" sz="1000" b="0" i="0" u="none" strike="noStrike" dirty="0">
                          <a:solidFill>
                            <a:srgbClr val="000000"/>
                          </a:solidFill>
                          <a:effectLst/>
                          <a:latin typeface="+mj-lt"/>
                        </a:rPr>
                        <a:t>Hologic</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dirty="0">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$4,101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dirty="0">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028131921"/>
                  </a:ext>
                </a:extLst>
              </a:tr>
              <a:tr h="135772">
                <a:tc>
                  <a:txBody>
                    <a:bodyPr/>
                    <a:lstStyle/>
                    <a:p>
                      <a:pPr algn="l" rtl="0" fontAlgn="b">
                        <a:buNone/>
                      </a:pPr>
                      <a:r>
                        <a:rPr lang="en-US" sz="1000" b="0" i="0" u="none" strike="noStrike">
                          <a:solidFill>
                            <a:srgbClr val="000000"/>
                          </a:solidFill>
                          <a:effectLst/>
                          <a:latin typeface="+mj-lt"/>
                        </a:rPr>
                        <a:t>Cooper</a:t>
                      </a:r>
                    </a:p>
                  </a:txBody>
                  <a:tcPr marL="27432" marR="27432" marT="0" marB="0" anchor="b">
                    <a:lnL>
                      <a:noFill/>
                    </a:lnL>
                    <a:lnR>
                      <a:noFill/>
                    </a:lnR>
                    <a:lnT>
                      <a:noFill/>
                    </a:lnT>
                    <a:lnB>
                      <a:noFill/>
                    </a:lnB>
                    <a:noFill/>
                  </a:tcPr>
                </a:tc>
                <a:tc>
                  <a:txBody>
                    <a:bodyPr/>
                    <a:lstStyle/>
                    <a:p>
                      <a:pPr algn="ctr" rtl="0" fontAlgn="b">
                        <a:buNone/>
                      </a:pPr>
                      <a:r>
                        <a:rPr lang="en-US" sz="1000" b="0" i="0" u="none" strike="noStrike" dirty="0">
                          <a:solidFill>
                            <a:srgbClr val="000000"/>
                          </a:solidFill>
                          <a:effectLst/>
                          <a:latin typeface="+mj-lt"/>
                        </a:rPr>
                        <a:t>HCS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$4,092 </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49196550"/>
                  </a:ext>
                </a:extLst>
              </a:tr>
              <a:tr h="135772">
                <a:tc>
                  <a:txBody>
                    <a:bodyPr/>
                    <a:lstStyle/>
                    <a:p>
                      <a:pPr algn="l" rtl="0" fontAlgn="b">
                        <a:buNone/>
                      </a:pPr>
                      <a:r>
                        <a:rPr lang="en-US" sz="1000" b="0" i="0" u="none" strike="noStrike">
                          <a:solidFill>
                            <a:srgbClr val="000000"/>
                          </a:solidFill>
                          <a:effectLst/>
                          <a:latin typeface="+mj-lt"/>
                        </a:rPr>
                        <a:t>Align</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HCS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dirty="0">
                          <a:solidFill>
                            <a:srgbClr val="000000"/>
                          </a:solidFill>
                          <a:effectLst/>
                          <a:latin typeface="+mj-lt"/>
                        </a:rPr>
                        <a:t>$4,035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61604508"/>
                  </a:ext>
                </a:extLst>
              </a:tr>
              <a:tr h="135772">
                <a:tc>
                  <a:txBody>
                    <a:bodyPr/>
                    <a:lstStyle/>
                    <a:p>
                      <a:pPr algn="l" rtl="0" fontAlgn="b">
                        <a:buNone/>
                      </a:pPr>
                      <a:r>
                        <a:rPr lang="en-US" sz="1000" b="0" i="0" u="none" strike="noStrike">
                          <a:solidFill>
                            <a:srgbClr val="000000"/>
                          </a:solidFill>
                          <a:effectLst/>
                          <a:latin typeface="+mj-lt"/>
                        </a:rPr>
                        <a:t>Mettler-Toldeo</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$4,026 </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612538408"/>
                  </a:ext>
                </a:extLst>
              </a:tr>
              <a:tr h="137160">
                <a:tc>
                  <a:txBody>
                    <a:bodyPr/>
                    <a:lstStyle/>
                    <a:p>
                      <a:pPr algn="l" fontAlgn="b">
                        <a:buNone/>
                      </a:pPr>
                      <a:r>
                        <a:rPr lang="en-US" sz="1000" b="0" i="0" u="none" strike="noStrike">
                          <a:solidFill>
                            <a:srgbClr val="000000"/>
                          </a:solidFill>
                          <a:effectLst/>
                          <a:latin typeface="+mj-lt"/>
                        </a:rPr>
                        <a:t>Charles River Laboratories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$4,015</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771615866"/>
                  </a:ext>
                </a:extLst>
              </a:tr>
              <a:tr h="135772">
                <a:tc>
                  <a:txBody>
                    <a:bodyPr/>
                    <a:lstStyle/>
                    <a:p>
                      <a:pPr algn="l" fontAlgn="b">
                        <a:buNone/>
                      </a:pPr>
                      <a:r>
                        <a:rPr lang="en-US" sz="1000" b="0" i="0" u="none" strike="noStrike">
                          <a:solidFill>
                            <a:srgbClr val="000000"/>
                          </a:solidFill>
                          <a:effectLst/>
                          <a:latin typeface="+mj-lt"/>
                        </a:rPr>
                        <a:t>DENTSPLY SIRONA</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HCS</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$3,680</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4049799687"/>
                  </a:ext>
                </a:extLst>
              </a:tr>
              <a:tr h="135772">
                <a:tc>
                  <a:txBody>
                    <a:bodyPr/>
                    <a:lstStyle/>
                    <a:p>
                      <a:pPr algn="l" rtl="0" fontAlgn="b">
                        <a:buNone/>
                      </a:pPr>
                      <a:r>
                        <a:rPr lang="en-US" sz="1000" b="0" i="0" u="none" strike="noStrike">
                          <a:solidFill>
                            <a:srgbClr val="000000"/>
                          </a:solidFill>
                          <a:effectLst/>
                          <a:latin typeface="+mj-lt"/>
                        </a:rPr>
                        <a:t>Waters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$3,165 </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464518566"/>
                  </a:ext>
                </a:extLst>
              </a:tr>
              <a:tr h="135772">
                <a:tc>
                  <a:txBody>
                    <a:bodyPr/>
                    <a:lstStyle/>
                    <a:p>
                      <a:pPr algn="l" fontAlgn="b">
                        <a:buNone/>
                      </a:pPr>
                      <a:r>
                        <a:rPr lang="en-US" sz="1000" b="0" i="0" u="none" strike="noStrike">
                          <a:solidFill>
                            <a:srgbClr val="000000"/>
                          </a:solidFill>
                          <a:effectLst/>
                          <a:latin typeface="+mj-lt"/>
                        </a:rPr>
                        <a:t>West Pharmaceutical</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$3,074</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880036067"/>
                  </a:ext>
                </a:extLst>
              </a:tr>
              <a:tr h="135772">
                <a:tc>
                  <a:txBody>
                    <a:bodyPr/>
                    <a:lstStyle/>
                    <a:p>
                      <a:pPr algn="l" rtl="0" fontAlgn="b">
                        <a:buNone/>
                      </a:pPr>
                      <a:r>
                        <a:rPr lang="en-US" sz="1000" b="0" i="0" u="none" strike="noStrike">
                          <a:solidFill>
                            <a:srgbClr val="000000"/>
                          </a:solidFill>
                          <a:effectLst/>
                          <a:latin typeface="+mj-lt"/>
                        </a:rPr>
                        <a:t>Revvity</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solidFill>
                      <a:srgbClr val="F2F2F2"/>
                    </a:solidFill>
                  </a:tcPr>
                </a:tc>
                <a:tc>
                  <a:txBody>
                    <a:bodyPr/>
                    <a:lstStyle/>
                    <a:p>
                      <a:pPr algn="ctr" rtl="0" fontAlgn="b">
                        <a:buNone/>
                      </a:pPr>
                      <a:r>
                        <a:rPr lang="en-US" sz="1000" b="0" i="0" u="none" strike="noStrike">
                          <a:solidFill>
                            <a:srgbClr val="000000"/>
                          </a:solidFill>
                          <a:effectLst/>
                          <a:latin typeface="+mj-lt"/>
                        </a:rPr>
                        <a:t>$2,856 </a:t>
                      </a:r>
                    </a:p>
                  </a:txBody>
                  <a:tcPr marL="27432" marR="27432" marT="0" marB="0" anchor="b">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113639566"/>
                  </a:ext>
                </a:extLst>
              </a:tr>
              <a:tr h="135772">
                <a:tc>
                  <a:txBody>
                    <a:bodyPr/>
                    <a:lstStyle/>
                    <a:p>
                      <a:pPr algn="l" rtl="0" fontAlgn="b">
                        <a:buNone/>
                      </a:pPr>
                      <a:r>
                        <a:rPr lang="en-US" sz="1000" b="0" i="0" u="none" strike="noStrike">
                          <a:solidFill>
                            <a:srgbClr val="000000"/>
                          </a:solidFill>
                          <a:effectLst/>
                          <a:latin typeface="+mj-lt"/>
                        </a:rPr>
                        <a:t>Bio-Rad</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LS</a:t>
                      </a:r>
                    </a:p>
                  </a:txBody>
                  <a:tcPr marL="27432" marR="27432" marT="0" marB="0" anchor="b">
                    <a:lnL>
                      <a:noFill/>
                    </a:lnL>
                    <a:lnR>
                      <a:noFill/>
                    </a:lnR>
                    <a:lnT>
                      <a:noFill/>
                    </a:lnT>
                    <a:lnB>
                      <a:noFill/>
                    </a:lnB>
                    <a:noFill/>
                  </a:tcPr>
                </a:tc>
                <a:tc>
                  <a:txBody>
                    <a:bodyPr/>
                    <a:lstStyle/>
                    <a:p>
                      <a:pPr algn="ctr" rtl="0" fontAlgn="b">
                        <a:buNone/>
                      </a:pPr>
                      <a:r>
                        <a:rPr lang="en-US" sz="1000" b="0" i="0" u="none" strike="noStrike">
                          <a:solidFill>
                            <a:srgbClr val="000000"/>
                          </a:solidFill>
                          <a:effectLst/>
                          <a:latin typeface="+mj-lt"/>
                        </a:rPr>
                        <a:t>$2,583 </a:t>
                      </a:r>
                    </a:p>
                  </a:txBody>
                  <a:tcPr marL="27432" marR="27432" marT="0" marB="0" anchor="b">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extLst>
                  <a:ext uri="{0D108BD9-81ED-4DB2-BD59-A6C34878D82A}">
                    <a16:rowId xmlns:a16="http://schemas.microsoft.com/office/drawing/2014/main" val="287535301"/>
                  </a:ext>
                </a:extLst>
              </a:tr>
              <a:tr h="135772">
                <a:tc>
                  <a:txBody>
                    <a:bodyPr/>
                    <a:lstStyle/>
                    <a:p>
                      <a:pPr algn="l" fontAlgn="b">
                        <a:buNone/>
                      </a:pPr>
                      <a:r>
                        <a:rPr lang="en-US" sz="1000" b="0" i="0" u="none" strike="noStrike">
                          <a:solidFill>
                            <a:srgbClr val="000000"/>
                          </a:solidFill>
                          <a:effectLst/>
                          <a:latin typeface="+mj-lt"/>
                        </a:rPr>
                        <a:t>Teleflex</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$1,993</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4287034014"/>
                  </a:ext>
                </a:extLst>
              </a:tr>
              <a:tr h="135772">
                <a:tc>
                  <a:txBody>
                    <a:bodyPr/>
                    <a:lstStyle/>
                    <a:p>
                      <a:pPr algn="l" fontAlgn="b">
                        <a:buNone/>
                      </a:pPr>
                      <a:r>
                        <a:rPr lang="en-US" sz="1000" b="0" i="0" u="none" strike="noStrike">
                          <a:solidFill>
                            <a:srgbClr val="000000"/>
                          </a:solidFill>
                          <a:effectLst/>
                          <a:latin typeface="+mj-lt"/>
                        </a:rPr>
                        <a:t>Integra LifeSciences</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HCE</a:t>
                      </a:r>
                    </a:p>
                  </a:txBody>
                  <a:tcPr marL="27432" marR="27432"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mj-lt"/>
                        </a:rPr>
                        <a:t>$1,635</a:t>
                      </a:r>
                    </a:p>
                  </a:txBody>
                  <a:tcPr marL="27432" marR="27432" marT="0" marB="0" anchor="b">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540555298"/>
                  </a:ext>
                </a:extLst>
              </a:tr>
              <a:tr h="135772">
                <a:tc>
                  <a:txBody>
                    <a:bodyPr/>
                    <a:lstStyle/>
                    <a:p>
                      <a:pPr algn="l" fontAlgn="b">
                        <a:buNone/>
                      </a:pPr>
                      <a:r>
                        <a:rPr lang="en-US" sz="1000" b="0" i="0" u="none" strike="noStrike">
                          <a:solidFill>
                            <a:srgbClr val="000000"/>
                          </a:solidFill>
                          <a:effectLst/>
                          <a:latin typeface="+mj-lt"/>
                        </a:rPr>
                        <a:t>Haemonetics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HCS</a:t>
                      </a:r>
                    </a:p>
                  </a:txBody>
                  <a:tcPr marL="27432" marR="27432"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mj-lt"/>
                        </a:rPr>
                        <a:t>$1,361</a:t>
                      </a:r>
                    </a:p>
                  </a:txBody>
                  <a:tcPr marL="27432" marR="27432" marT="0" marB="0" anchor="b">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121438247"/>
                  </a:ext>
                </a:extLst>
              </a:tr>
              <a:tr h="135772">
                <a:tc>
                  <a:txBody>
                    <a:bodyPr/>
                    <a:lstStyle/>
                    <a:p>
                      <a:pPr marL="0" marR="0" lvl="0" indent="0" algn="l" defTabSz="914378" rtl="0" eaLnBrk="1" fontAlgn="ctr" latinLnBrk="0" hangingPunct="1">
                        <a:lnSpc>
                          <a:spcPct val="100000"/>
                        </a:lnSpc>
                        <a:spcBef>
                          <a:spcPts val="0"/>
                        </a:spcBef>
                        <a:spcAft>
                          <a:spcPts val="0"/>
                        </a:spcAft>
                        <a:buClrTx/>
                        <a:buSzTx/>
                        <a:buFontTx/>
                        <a:buNone/>
                        <a:tabLst/>
                        <a:defRPr/>
                      </a:pPr>
                      <a:r>
                        <a:rPr lang="en-US" sz="1000" b="0" i="0" u="none" strike="noStrike">
                          <a:solidFill>
                            <a:srgbClr val="000000"/>
                          </a:solidFill>
                          <a:effectLst/>
                          <a:latin typeface="+mj-lt"/>
                        </a:rPr>
                        <a:t>Stericycle</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Other</a:t>
                      </a:r>
                      <a:r>
                        <a:rPr lang="en-US" sz="1000" b="0" i="0" u="none" strike="noStrike" baseline="30000">
                          <a:solidFill>
                            <a:srgbClr val="000000"/>
                          </a:solidFill>
                          <a:effectLst/>
                          <a:latin typeface="+mj-lt"/>
                        </a:rPr>
                        <a:t>(1)</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(1)</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1474548697"/>
                  </a:ext>
                </a:extLst>
              </a:tr>
              <a:tr h="135772">
                <a:tc>
                  <a:txBody>
                    <a:bodyPr/>
                    <a:lstStyle/>
                    <a:p>
                      <a:pPr algn="l" rtl="0" fontAlgn="ctr"/>
                      <a:r>
                        <a:rPr lang="en-US" sz="1000" b="0" i="0" u="none" strike="noStrike">
                          <a:solidFill>
                            <a:srgbClr val="000000"/>
                          </a:solidFill>
                          <a:effectLst/>
                          <a:latin typeface="+mj-lt"/>
                        </a:rPr>
                        <a:t>NuVasive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(2)</a:t>
                      </a:r>
                    </a:p>
                  </a:txBody>
                  <a:tcPr marL="27432" marR="27432" marT="0" marB="0" anchor="ctr">
                    <a:lnL>
                      <a:noFill/>
                    </a:lnL>
                    <a:lnR>
                      <a:noFill/>
                    </a:lnR>
                    <a:lnT>
                      <a:noFill/>
                    </a:lnT>
                    <a:lnB>
                      <a:noFill/>
                    </a:lnB>
                    <a:solidFill>
                      <a:srgbClr val="F2F2F2"/>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78144790"/>
                  </a:ext>
                </a:extLst>
              </a:tr>
              <a:tr h="135772">
                <a:tc>
                  <a:txBody>
                    <a:bodyPr/>
                    <a:lstStyle/>
                    <a:p>
                      <a:pPr algn="l" rtl="0" fontAlgn="ctr"/>
                      <a:r>
                        <a:rPr lang="en-US" sz="1000" b="0" i="0" u="none" strike="noStrike">
                          <a:solidFill>
                            <a:srgbClr val="000000"/>
                          </a:solidFill>
                          <a:effectLst/>
                          <a:latin typeface="+mj-lt"/>
                        </a:rPr>
                        <a:t>C.R Bard</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(2)</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3883574971"/>
                  </a:ext>
                </a:extLst>
              </a:tr>
              <a:tr h="135772">
                <a:tc>
                  <a:txBody>
                    <a:bodyPr/>
                    <a:lstStyle/>
                    <a:p>
                      <a:pPr algn="l" rtl="0" fontAlgn="ctr"/>
                      <a:r>
                        <a:rPr lang="en-US" sz="1000" b="0" i="0" u="none" strike="noStrike">
                          <a:solidFill>
                            <a:srgbClr val="000000"/>
                          </a:solidFill>
                          <a:effectLst/>
                          <a:latin typeface="+mj-lt"/>
                        </a:rPr>
                        <a:t>Alere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445387036"/>
                  </a:ext>
                </a:extLst>
              </a:tr>
              <a:tr h="135772">
                <a:tc>
                  <a:txBody>
                    <a:bodyPr/>
                    <a:lstStyle/>
                    <a:p>
                      <a:pPr algn="l" rtl="0" fontAlgn="ctr"/>
                      <a:r>
                        <a:rPr lang="en-US" sz="1000" b="0" i="0" u="none" strike="noStrike">
                          <a:solidFill>
                            <a:srgbClr val="000000"/>
                          </a:solidFill>
                          <a:effectLst/>
                          <a:latin typeface="+mj-lt"/>
                        </a:rPr>
                        <a:t>Hill-Rom </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232536378"/>
                  </a:ext>
                </a:extLst>
              </a:tr>
              <a:tr h="135772">
                <a:tc>
                  <a:txBody>
                    <a:bodyPr/>
                    <a:lstStyle/>
                    <a:p>
                      <a:pPr algn="l" rtl="0" fontAlgn="ctr"/>
                      <a:r>
                        <a:rPr lang="en-US" sz="1000" b="0" i="0" u="none" strike="noStrike">
                          <a:solidFill>
                            <a:srgbClr val="000000"/>
                          </a:solidFill>
                          <a:effectLst/>
                          <a:latin typeface="+mj-lt"/>
                        </a:rPr>
                        <a:t>Varian Medical Systems </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mj-lt"/>
                        </a:rPr>
                        <a:t>HCE</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solidFill>
                      <a:srgbClr val="F2F2F2"/>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651950239"/>
                  </a:ext>
                </a:extLst>
              </a:tr>
              <a:tr h="135772">
                <a:tc>
                  <a:txBody>
                    <a:bodyPr/>
                    <a:lstStyle/>
                    <a:p>
                      <a:pPr algn="l" rtl="0" fontAlgn="ctr"/>
                      <a:r>
                        <a:rPr lang="en-US" sz="1000" b="0" i="0" u="none" strike="noStrike">
                          <a:solidFill>
                            <a:srgbClr val="000000"/>
                          </a:solidFill>
                          <a:effectLst/>
                          <a:latin typeface="+mj-lt"/>
                        </a:rPr>
                        <a:t>VCA </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mj-lt"/>
                        </a:rPr>
                        <a:t>HCP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chemeClr val="tx1"/>
                          </a:solidFill>
                          <a:effectLst/>
                          <a:latin typeface="+mj-lt"/>
                        </a:rPr>
                        <a:t>n/a</a:t>
                      </a:r>
                      <a:r>
                        <a:rPr lang="en-US" sz="1000" b="0" i="0" u="none" strike="noStrike" baseline="30000">
                          <a:solidFill>
                            <a:schemeClr val="tx1"/>
                          </a:solidFill>
                          <a:effectLst/>
                          <a:latin typeface="+mj-lt"/>
                        </a:rPr>
                        <a:t>(3)</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rtl="0" fontAlgn="ctr"/>
                      <a:r>
                        <a:rPr lang="en-US" sz="1000" b="0" i="0" u="none" strike="noStrike">
                          <a:solidFill>
                            <a:srgbClr val="000000"/>
                          </a:solidFill>
                          <a:effectLst/>
                          <a:latin typeface="Wingdings 2" panose="05020102010507070707" pitchFamily="18" charset="2"/>
                        </a:rPr>
                        <a:t>P</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Wingdings 2" panose="05020102010507070707" pitchFamily="18" charset="2"/>
                      </a:endParaRPr>
                    </a:p>
                  </a:txBody>
                  <a:tcPr marL="27432" marR="27432" marT="0" marB="0" anchor="ctr">
                    <a:lnL>
                      <a:noFill/>
                    </a:lnL>
                    <a:lnR>
                      <a:noFill/>
                    </a:lnR>
                    <a:lnT>
                      <a:noFill/>
                    </a:lnT>
                    <a:lnB>
                      <a:noFill/>
                    </a:lnB>
                    <a:noFill/>
                  </a:tcPr>
                </a:tc>
                <a:extLst>
                  <a:ext uri="{0D108BD9-81ED-4DB2-BD59-A6C34878D82A}">
                    <a16:rowId xmlns:a16="http://schemas.microsoft.com/office/drawing/2014/main" val="2121799545"/>
                  </a:ext>
                </a:extLst>
              </a:tr>
              <a:tr h="53400">
                <a:tc>
                  <a:txBody>
                    <a:bodyPr/>
                    <a:lstStyle/>
                    <a:p>
                      <a:pPr algn="l"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chemeClr val="tx1"/>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endParaRPr lang="en-US" sz="300" b="0" i="0" u="none" strike="noStrike">
                        <a:solidFill>
                          <a:srgbClr val="000000"/>
                        </a:solidFill>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300" b="0" i="0" u="none" strike="noStrike">
                        <a:effectLst/>
                        <a:latin typeface="+mj-lt"/>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2492725"/>
                  </a:ext>
                </a:extLst>
              </a:tr>
              <a:tr h="135772">
                <a:tc>
                  <a:txBody>
                    <a:bodyPr/>
                    <a:lstStyle/>
                    <a:p>
                      <a:pPr algn="l" rtl="0" fontAlgn="b"/>
                      <a:r>
                        <a:rPr lang="en-US" sz="1000" b="1" i="0" u="none" strike="noStrike">
                          <a:solidFill>
                            <a:srgbClr val="000000"/>
                          </a:solidFill>
                          <a:effectLst/>
                          <a:latin typeface="+mj-lt"/>
                        </a:rPr>
                        <a:t>Total</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20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rtl="0" fontAlgn="b"/>
                      <a:r>
                        <a:rPr lang="en-US" sz="1000" b="1" i="0" u="none" strike="noStrike" dirty="0">
                          <a:solidFill>
                            <a:srgbClr val="000000"/>
                          </a:solidFill>
                          <a:effectLst/>
                          <a:latin typeface="+mj-lt"/>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508410387"/>
                  </a:ext>
                </a:extLst>
              </a:tr>
            </a:tbl>
          </a:graphicData>
        </a:graphic>
      </p:graphicFrame>
      <p:sp>
        <p:nvSpPr>
          <p:cNvPr id="6" name="TextBox 5">
            <a:extLst>
              <a:ext uri="{FF2B5EF4-FFF2-40B4-BE49-F238E27FC236}">
                <a16:creationId xmlns:a16="http://schemas.microsoft.com/office/drawing/2014/main" id="{BF355C1C-2091-358D-B1B2-D668B21EDBF8}"/>
              </a:ext>
            </a:extLst>
          </p:cNvPr>
          <p:cNvSpPr txBox="1"/>
          <p:nvPr/>
        </p:nvSpPr>
        <p:spPr>
          <a:xfrm>
            <a:off x="1536968" y="900636"/>
            <a:ext cx="6070064" cy="480131"/>
          </a:xfrm>
          <a:prstGeom prst="rect">
            <a:avLst/>
          </a:prstGeom>
          <a:noFill/>
        </p:spPr>
        <p:txBody>
          <a:bodyPr wrap="square" lIns="45720" tIns="45720" rIns="45720" bIns="45720" rtlCol="0" anchor="ctr">
            <a:spAutoFit/>
          </a:bodyPr>
          <a:lstStyle/>
          <a:p>
            <a:pPr algn="ctr">
              <a:lnSpc>
                <a:spcPct val="90000"/>
              </a:lnSpc>
            </a:pPr>
            <a:r>
              <a:rPr lang="en-US" sz="1400" b="1" dirty="0"/>
              <a:t>Changes in </a:t>
            </a:r>
            <a:r>
              <a:rPr lang="en-US" sz="1400" b="1" dirty="0" err="1"/>
              <a:t>Goofy’s</a:t>
            </a:r>
            <a:r>
              <a:rPr lang="en-US" sz="1400" b="1" dirty="0"/>
              <a:t> Peer Group</a:t>
            </a:r>
          </a:p>
          <a:p>
            <a:pPr algn="ctr">
              <a:lnSpc>
                <a:spcPct val="90000"/>
              </a:lnSpc>
            </a:pPr>
            <a:r>
              <a:rPr lang="en-US" sz="1400" b="1" dirty="0"/>
              <a:t>2016 - 2025</a:t>
            </a:r>
          </a:p>
        </p:txBody>
      </p:sp>
      <p:sp>
        <p:nvSpPr>
          <p:cNvPr id="7" name="TextBox 6">
            <a:extLst>
              <a:ext uri="{FF2B5EF4-FFF2-40B4-BE49-F238E27FC236}">
                <a16:creationId xmlns:a16="http://schemas.microsoft.com/office/drawing/2014/main" id="{EDA5E459-2414-388A-7771-1BCA0AFD33CB}"/>
              </a:ext>
            </a:extLst>
          </p:cNvPr>
          <p:cNvSpPr txBox="1"/>
          <p:nvPr/>
        </p:nvSpPr>
        <p:spPr>
          <a:xfrm>
            <a:off x="7001712" y="1337114"/>
            <a:ext cx="614702" cy="230832"/>
          </a:xfrm>
          <a:prstGeom prst="rect">
            <a:avLst/>
          </a:prstGeom>
          <a:noFill/>
          <a:ln>
            <a:noFill/>
          </a:ln>
        </p:spPr>
        <p:txBody>
          <a:bodyPr wrap="square" rtlCol="0" anchor="ctr">
            <a:spAutoFit/>
          </a:bodyPr>
          <a:lstStyle/>
          <a:p>
            <a:r>
              <a:rPr lang="en-US" sz="900" b="1" i="1"/>
              <a:t>Key:</a:t>
            </a:r>
          </a:p>
        </p:txBody>
      </p:sp>
      <p:graphicFrame>
        <p:nvGraphicFramePr>
          <p:cNvPr id="8" name="Table 14">
            <a:extLst>
              <a:ext uri="{FF2B5EF4-FFF2-40B4-BE49-F238E27FC236}">
                <a16:creationId xmlns:a16="http://schemas.microsoft.com/office/drawing/2014/main" id="{24712C17-9BF0-3D10-A438-50EE29DC8923}"/>
              </a:ext>
            </a:extLst>
          </p:cNvPr>
          <p:cNvGraphicFramePr>
            <a:graphicFrameLocks noGrp="1"/>
          </p:cNvGraphicFramePr>
          <p:nvPr>
            <p:extLst>
              <p:ext uri="{D42A27DB-BD31-4B8C-83A1-F6EECF244321}">
                <p14:modId xmlns:p14="http://schemas.microsoft.com/office/powerpoint/2010/main" val="743921746"/>
              </p:ext>
            </p:extLst>
          </p:nvPr>
        </p:nvGraphicFramePr>
        <p:xfrm>
          <a:off x="7039812" y="1577144"/>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dirty="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dirty="0"/>
                        <a:t>  Life Sciences Tools &amp; </a:t>
                      </a:r>
                      <a:r>
                        <a:rPr lang="en-US" sz="900" dirty="0" err="1"/>
                        <a:t>Svcs</a:t>
                      </a:r>
                      <a:endParaRPr lang="en-US" sz="900" dirty="0"/>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9" name="Table 14">
            <a:extLst>
              <a:ext uri="{FF2B5EF4-FFF2-40B4-BE49-F238E27FC236}">
                <a16:creationId xmlns:a16="http://schemas.microsoft.com/office/drawing/2014/main" id="{6DF323B5-36AF-9DD5-1ECD-DADF6B3342A5}"/>
              </a:ext>
            </a:extLst>
          </p:cNvPr>
          <p:cNvGraphicFramePr>
            <a:graphicFrameLocks noGrp="1"/>
          </p:cNvGraphicFramePr>
          <p:nvPr>
            <p:extLst>
              <p:ext uri="{D42A27DB-BD31-4B8C-83A1-F6EECF244321}">
                <p14:modId xmlns:p14="http://schemas.microsoft.com/office/powerpoint/2010/main" val="952789729"/>
              </p:ext>
            </p:extLst>
          </p:nvPr>
        </p:nvGraphicFramePr>
        <p:xfrm>
          <a:off x="7039812" y="2301026"/>
          <a:ext cx="157130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296983">
                  <a:extLst>
                    <a:ext uri="{9D8B030D-6E8A-4147-A177-3AD203B41FA5}">
                      <a16:colId xmlns:a16="http://schemas.microsoft.com/office/drawing/2014/main" val="1242357177"/>
                    </a:ext>
                  </a:extLst>
                </a:gridCol>
              </a:tblGrid>
              <a:tr h="137160">
                <a:tc>
                  <a:txBody>
                    <a:bodyPr/>
                    <a:lstStyle/>
                    <a:p>
                      <a:pPr algn="ctr"/>
                      <a:r>
                        <a:rPr lang="en-US" sz="900"/>
                        <a:t>HCP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Health Care Providers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0" name="Table 14">
            <a:extLst>
              <a:ext uri="{FF2B5EF4-FFF2-40B4-BE49-F238E27FC236}">
                <a16:creationId xmlns:a16="http://schemas.microsoft.com/office/drawing/2014/main" id="{E5D40135-5A88-93C0-1F7A-6A8E450B696D}"/>
              </a:ext>
            </a:extLst>
          </p:cNvPr>
          <p:cNvGraphicFramePr>
            <a:graphicFrameLocks noGrp="1"/>
          </p:cNvGraphicFramePr>
          <p:nvPr>
            <p:extLst>
              <p:ext uri="{D42A27DB-BD31-4B8C-83A1-F6EECF244321}">
                <p14:modId xmlns:p14="http://schemas.microsoft.com/office/powerpoint/2010/main" val="3329995354"/>
              </p:ext>
            </p:extLst>
          </p:nvPr>
        </p:nvGraphicFramePr>
        <p:xfrm>
          <a:off x="7039811" y="2475275"/>
          <a:ext cx="2093963"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819643">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tc>
                  <a:txBody>
                    <a:bodyPr/>
                    <a:lstStyle/>
                    <a:p>
                      <a:r>
                        <a:rPr lang="en-US" sz="900" dirty="0"/>
                        <a:t>  Company removed from peer group</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graphicFrame>
        <p:nvGraphicFramePr>
          <p:cNvPr id="11" name="Table 14">
            <a:extLst>
              <a:ext uri="{FF2B5EF4-FFF2-40B4-BE49-F238E27FC236}">
                <a16:creationId xmlns:a16="http://schemas.microsoft.com/office/drawing/2014/main" id="{38F17A2B-129E-B4FB-87D4-7508BB205373}"/>
              </a:ext>
            </a:extLst>
          </p:cNvPr>
          <p:cNvGraphicFramePr>
            <a:graphicFrameLocks noGrp="1"/>
          </p:cNvGraphicFramePr>
          <p:nvPr>
            <p:extLst>
              <p:ext uri="{D42A27DB-BD31-4B8C-83A1-F6EECF244321}">
                <p14:modId xmlns:p14="http://schemas.microsoft.com/office/powerpoint/2010/main" val="3360777900"/>
              </p:ext>
            </p:extLst>
          </p:nvPr>
        </p:nvGraphicFramePr>
        <p:xfrm>
          <a:off x="7039811" y="2647243"/>
          <a:ext cx="1934798" cy="137160"/>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660478">
                  <a:extLst>
                    <a:ext uri="{9D8B030D-6E8A-4147-A177-3AD203B41FA5}">
                      <a16:colId xmlns:a16="http://schemas.microsoft.com/office/drawing/2014/main" val="1242357177"/>
                    </a:ext>
                  </a:extLst>
                </a:gridCol>
              </a:tblGrid>
              <a:tr h="137160">
                <a:tc>
                  <a:txBody>
                    <a:bodyPr/>
                    <a:lstStyle/>
                    <a:p>
                      <a:endParaRPr lang="en-US" sz="900"/>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900" dirty="0"/>
                        <a:t>  Company added to peer group</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2" name="TextBox 11">
            <a:extLst>
              <a:ext uri="{FF2B5EF4-FFF2-40B4-BE49-F238E27FC236}">
                <a16:creationId xmlns:a16="http://schemas.microsoft.com/office/drawing/2014/main" id="{B048E503-A335-43F6-9D98-3CA7BF1F7E48}"/>
              </a:ext>
            </a:extLst>
          </p:cNvPr>
          <p:cNvSpPr txBox="1"/>
          <p:nvPr/>
        </p:nvSpPr>
        <p:spPr>
          <a:xfrm>
            <a:off x="272313" y="6152025"/>
            <a:ext cx="8338802" cy="507831"/>
          </a:xfrm>
          <a:prstGeom prst="rect">
            <a:avLst/>
          </a:prstGeom>
          <a:noFill/>
        </p:spPr>
        <p:txBody>
          <a:bodyPr wrap="square" lIns="45720" tIns="45720" rIns="45720" bIns="45720" rtlCol="0" anchor="ctr">
            <a:spAutoFit/>
          </a:bodyPr>
          <a:lstStyle/>
          <a:p>
            <a:pPr marL="228600" indent="-228600">
              <a:buAutoNum type="arabicParenBoth"/>
            </a:pPr>
            <a:r>
              <a:rPr lang="en-US" sz="900" i="1" dirty="0"/>
              <a:t>Stericycle was acquired by WM on November 4, 2024. Prior to its acquisition, Stericycle was categorized as Environmental and Facilities Services</a:t>
            </a:r>
          </a:p>
          <a:p>
            <a:pPr marL="228600" indent="-228600">
              <a:buAutoNum type="arabicParenBoth"/>
            </a:pPr>
            <a:r>
              <a:rPr lang="en-US" sz="900" i="1" dirty="0" err="1"/>
              <a:t>NuVasive</a:t>
            </a:r>
            <a:r>
              <a:rPr lang="en-US" sz="900" i="1" dirty="0"/>
              <a:t> was acquired by Globus Medical on September 1, 2023. C.R Bard was acquired by Becton, Dickinson and Company on December 29, 2017</a:t>
            </a:r>
          </a:p>
          <a:p>
            <a:pPr marL="228600" indent="-228600">
              <a:buAutoNum type="arabicParenBoth"/>
            </a:pPr>
            <a:r>
              <a:rPr lang="en-US" sz="900" i="1" dirty="0"/>
              <a:t>Not a public company</a:t>
            </a:r>
          </a:p>
        </p:txBody>
      </p:sp>
    </p:spTree>
    <p:extLst>
      <p:ext uri="{BB962C8B-B14F-4D97-AF65-F5344CB8AC3E}">
        <p14:creationId xmlns:p14="http://schemas.microsoft.com/office/powerpoint/2010/main" val="199211367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B288F-73D3-7A1E-C99B-FA23ACE9137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D9A426-B4A8-97C0-E100-59499AD83550}"/>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D0CE0BB8-1EF9-0D13-FF19-E4D046479470}"/>
              </a:ext>
            </a:extLst>
          </p:cNvPr>
          <p:cNvSpPr>
            <a:spLocks noGrp="1"/>
          </p:cNvSpPr>
          <p:nvPr>
            <p:ph type="title"/>
          </p:nvPr>
        </p:nvSpPr>
        <p:spPr>
          <a:xfrm>
            <a:off x="882797" y="44215"/>
            <a:ext cx="8074152" cy="1292899"/>
          </a:xfrm>
        </p:spPr>
        <p:txBody>
          <a:bodyPr/>
          <a:lstStyle/>
          <a:p>
            <a:r>
              <a:rPr lang="en-US" dirty="0"/>
              <a:t>ISS’ 2025 peer group for Goofy comprises 24 companies and heavily overlaps with Goofy’s current compensation peers</a:t>
            </a:r>
          </a:p>
        </p:txBody>
      </p:sp>
      <p:sp>
        <p:nvSpPr>
          <p:cNvPr id="4" name="Slide Number Placeholder 3">
            <a:extLst>
              <a:ext uri="{FF2B5EF4-FFF2-40B4-BE49-F238E27FC236}">
                <a16:creationId xmlns:a16="http://schemas.microsoft.com/office/drawing/2014/main" id="{38BFF827-FDF2-C840-7568-39DD92B6D709}"/>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12</a:t>
            </a:fld>
            <a:endParaRPr lang="en-US"/>
          </a:p>
        </p:txBody>
      </p:sp>
      <p:sp>
        <p:nvSpPr>
          <p:cNvPr id="2" name="TextBox 1">
            <a:extLst>
              <a:ext uri="{FF2B5EF4-FFF2-40B4-BE49-F238E27FC236}">
                <a16:creationId xmlns:a16="http://schemas.microsoft.com/office/drawing/2014/main" id="{684447AB-DDFB-3213-5943-2210A877CD69}"/>
              </a:ext>
            </a:extLst>
          </p:cNvPr>
          <p:cNvSpPr txBox="1"/>
          <p:nvPr/>
        </p:nvSpPr>
        <p:spPr>
          <a:xfrm>
            <a:off x="2149761" y="1025270"/>
            <a:ext cx="4844479" cy="286232"/>
          </a:xfrm>
          <a:prstGeom prst="rect">
            <a:avLst/>
          </a:prstGeom>
          <a:noFill/>
        </p:spPr>
        <p:txBody>
          <a:bodyPr wrap="square" rtlCol="0">
            <a:spAutoFit/>
          </a:bodyPr>
          <a:lstStyle/>
          <a:p>
            <a:pPr algn="ctr">
              <a:lnSpc>
                <a:spcPct val="90000"/>
              </a:lnSpc>
            </a:pPr>
            <a:r>
              <a:rPr lang="en-US" sz="1400" b="1"/>
              <a:t>2025 ISS Peer Overlap to Current Peer Group</a:t>
            </a:r>
            <a:r>
              <a:rPr lang="en-US" sz="1400" b="1" baseline="30000"/>
              <a:t>(1)(2)</a:t>
            </a:r>
          </a:p>
        </p:txBody>
      </p:sp>
      <p:sp>
        <p:nvSpPr>
          <p:cNvPr id="6" name="TextBox 5">
            <a:extLst>
              <a:ext uri="{FF2B5EF4-FFF2-40B4-BE49-F238E27FC236}">
                <a16:creationId xmlns:a16="http://schemas.microsoft.com/office/drawing/2014/main" id="{D3E51B98-9B50-4D61-4D89-73FEFFB71451}"/>
              </a:ext>
            </a:extLst>
          </p:cNvPr>
          <p:cNvSpPr txBox="1"/>
          <p:nvPr/>
        </p:nvSpPr>
        <p:spPr>
          <a:xfrm>
            <a:off x="2590883" y="6393942"/>
            <a:ext cx="3931920" cy="400110"/>
          </a:xfrm>
          <a:prstGeom prst="rect">
            <a:avLst/>
          </a:prstGeom>
          <a:noFill/>
        </p:spPr>
        <p:txBody>
          <a:bodyPr wrap="square" lIns="45720" tIns="45720" rIns="45720" bIns="45720" rtlCol="0" anchor="ctr">
            <a:spAutoFit/>
          </a:bodyPr>
          <a:lstStyle/>
          <a:p>
            <a:pPr marL="228600" indent="-228600">
              <a:buAutoNum type="arabicParenBoth"/>
            </a:pPr>
            <a:r>
              <a:rPr lang="en-US" sz="1000" i="1" dirty="0">
                <a:latin typeface="Calibri" panose="020F0502020204030204" pitchFamily="34" charset="0"/>
                <a:ea typeface="Calibri" panose="020F0502020204030204" pitchFamily="34" charset="0"/>
              </a:rPr>
              <a:t>See following page for detailed depiction of additions and removals</a:t>
            </a:r>
          </a:p>
          <a:p>
            <a:pPr marL="228600" indent="-228600">
              <a:buAutoNum type="arabicParenBoth"/>
            </a:pPr>
            <a:r>
              <a:rPr lang="en-US" sz="1000" i="1" dirty="0">
                <a:latin typeface="Calibri" panose="020F0502020204030204" pitchFamily="34" charset="0"/>
                <a:ea typeface="Calibri" panose="020F0502020204030204" pitchFamily="34" charset="0"/>
              </a:rPr>
              <a:t>ISS’ peer group does not have one Goofy peer, Mettler-Toledo</a:t>
            </a:r>
          </a:p>
        </p:txBody>
      </p:sp>
      <p:sp>
        <p:nvSpPr>
          <p:cNvPr id="7" name="TextBox 6">
            <a:extLst>
              <a:ext uri="{FF2B5EF4-FFF2-40B4-BE49-F238E27FC236}">
                <a16:creationId xmlns:a16="http://schemas.microsoft.com/office/drawing/2014/main" id="{E532D7B8-A110-7CC9-7DA9-3DEDC74BD04D}"/>
              </a:ext>
            </a:extLst>
          </p:cNvPr>
          <p:cNvSpPr txBox="1"/>
          <p:nvPr/>
        </p:nvSpPr>
        <p:spPr>
          <a:xfrm>
            <a:off x="7007678" y="1221432"/>
            <a:ext cx="1361837" cy="246221"/>
          </a:xfrm>
          <a:prstGeom prst="rect">
            <a:avLst/>
          </a:prstGeom>
          <a:noFill/>
        </p:spPr>
        <p:txBody>
          <a:bodyPr wrap="square" rtlCol="0" anchor="ctr">
            <a:spAutoFit/>
          </a:bodyPr>
          <a:lstStyle/>
          <a:p>
            <a:r>
              <a:rPr lang="en-US" sz="1000" b="1" i="1"/>
              <a:t>Key:</a:t>
            </a:r>
          </a:p>
        </p:txBody>
      </p:sp>
      <p:graphicFrame>
        <p:nvGraphicFramePr>
          <p:cNvPr id="8" name="Table 7">
            <a:extLst>
              <a:ext uri="{FF2B5EF4-FFF2-40B4-BE49-F238E27FC236}">
                <a16:creationId xmlns:a16="http://schemas.microsoft.com/office/drawing/2014/main" id="{9C725872-48D8-26ED-F14D-88F8707EF1A7}"/>
              </a:ext>
            </a:extLst>
          </p:cNvPr>
          <p:cNvGraphicFramePr>
            <a:graphicFrameLocks noGrp="1"/>
          </p:cNvGraphicFramePr>
          <p:nvPr>
            <p:extLst>
              <p:ext uri="{D42A27DB-BD31-4B8C-83A1-F6EECF244321}">
                <p14:modId xmlns:p14="http://schemas.microsoft.com/office/powerpoint/2010/main" val="3041936690"/>
              </p:ext>
            </p:extLst>
          </p:nvPr>
        </p:nvGraphicFramePr>
        <p:xfrm>
          <a:off x="2590883" y="1264158"/>
          <a:ext cx="4063564" cy="5139944"/>
        </p:xfrm>
        <a:graphic>
          <a:graphicData uri="http://schemas.openxmlformats.org/drawingml/2006/table">
            <a:tbl>
              <a:tblPr/>
              <a:tblGrid>
                <a:gridCol w="1647391">
                  <a:extLst>
                    <a:ext uri="{9D8B030D-6E8A-4147-A177-3AD203B41FA5}">
                      <a16:colId xmlns:a16="http://schemas.microsoft.com/office/drawing/2014/main" val="1288122401"/>
                    </a:ext>
                  </a:extLst>
                </a:gridCol>
                <a:gridCol w="658956">
                  <a:extLst>
                    <a:ext uri="{9D8B030D-6E8A-4147-A177-3AD203B41FA5}">
                      <a16:colId xmlns:a16="http://schemas.microsoft.com/office/drawing/2014/main" val="2946814763"/>
                    </a:ext>
                  </a:extLst>
                </a:gridCol>
                <a:gridCol w="658956">
                  <a:extLst>
                    <a:ext uri="{9D8B030D-6E8A-4147-A177-3AD203B41FA5}">
                      <a16:colId xmlns:a16="http://schemas.microsoft.com/office/drawing/2014/main" val="2065712697"/>
                    </a:ext>
                  </a:extLst>
                </a:gridCol>
                <a:gridCol w="1098261">
                  <a:extLst>
                    <a:ext uri="{9D8B030D-6E8A-4147-A177-3AD203B41FA5}">
                      <a16:colId xmlns:a16="http://schemas.microsoft.com/office/drawing/2014/main" val="3428892975"/>
                    </a:ext>
                  </a:extLst>
                </a:gridCol>
              </a:tblGrid>
              <a:tr h="0">
                <a:tc>
                  <a:txBody>
                    <a:bodyPr/>
                    <a:lstStyle/>
                    <a:p>
                      <a:pPr algn="l" fontAlgn="b"/>
                      <a:r>
                        <a:rPr lang="en-US" sz="1000" b="1" i="0" u="none" strike="noStrike" dirty="0">
                          <a:solidFill>
                            <a:srgbClr val="FFFFFF"/>
                          </a:solidFill>
                          <a:effectLst/>
                          <a:latin typeface="Calibri" panose="020F0502020204030204" pitchFamily="34" charset="0"/>
                        </a:rPr>
                        <a:t>($MM)</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dirty="0">
                          <a:solidFill>
                            <a:srgbClr val="FFFFFF"/>
                          </a:solidFill>
                          <a:effectLst/>
                          <a:latin typeface="Calibri" panose="020F0502020204030204" pitchFamily="34" charset="0"/>
                        </a:rPr>
                        <a:t>FYE</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Market Cap</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extLst>
                  <a:ext uri="{0D108BD9-81ED-4DB2-BD59-A6C34878D82A}">
                    <a16:rowId xmlns:a16="http://schemas.microsoft.com/office/drawing/2014/main" val="2596345066"/>
                  </a:ext>
                </a:extLst>
              </a:tr>
              <a:tr h="0">
                <a:tc>
                  <a:txBody>
                    <a:bodyPr/>
                    <a:lstStyle/>
                    <a:p>
                      <a:pPr algn="ctr" fontAlgn="b"/>
                      <a:r>
                        <a:rPr lang="en-US" sz="1000" b="1" i="0" u="none" strike="noStrike">
                          <a:solidFill>
                            <a:srgbClr val="FFFFFF"/>
                          </a:solidFill>
                          <a:effectLst/>
                          <a:latin typeface="Calibri" panose="020F0502020204030204" pitchFamily="34" charset="0"/>
                        </a:rPr>
                        <a:t>Company Name</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dirty="0">
                          <a:solidFill>
                            <a:srgbClr val="FFFFFF"/>
                          </a:solidFill>
                          <a:effectLst/>
                          <a:latin typeface="Calibri" panose="020F0502020204030204" pitchFamily="34" charset="0"/>
                        </a:rPr>
                        <a:t>Revenue</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dirty="0">
                          <a:solidFill>
                            <a:srgbClr val="FFFFFF"/>
                          </a:solidFill>
                          <a:effectLst/>
                          <a:latin typeface="Calibri" panose="020F0502020204030204" pitchFamily="34" charset="0"/>
                        </a:rPr>
                        <a:t>as of 4/10/2025</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807702467"/>
                  </a:ext>
                </a:extLst>
              </a:tr>
              <a:tr h="0">
                <a:tc gridSpan="4">
                  <a:txBody>
                    <a:bodyPr/>
                    <a:lstStyle/>
                    <a:p>
                      <a:pPr algn="l" fontAlgn="ctr"/>
                      <a:r>
                        <a:rPr lang="en-US" sz="1000" b="1" i="0" u="none" strike="noStrike" dirty="0">
                          <a:effectLst/>
                          <a:latin typeface="Calibri" panose="020F0502020204030204" pitchFamily="34" charset="0"/>
                        </a:rPr>
                        <a:t>ISS and Goofy Current Peer</a:t>
                      </a:r>
                    </a:p>
                  </a:txBody>
                  <a:tcPr marL="27432" marR="27432"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44813097"/>
                  </a:ext>
                </a:extLst>
              </a:tr>
              <a:tr h="0">
                <a:tc>
                  <a:txBody>
                    <a:bodyPr/>
                    <a:lstStyle/>
                    <a:p>
                      <a:pPr algn="l" fontAlgn="ctr"/>
                      <a:r>
                        <a:rPr lang="en-US" sz="1000" b="0" i="0" u="none" strike="noStrike">
                          <a:effectLst/>
                          <a:latin typeface="Calibri" panose="020F0502020204030204" pitchFamily="34" charset="0"/>
                        </a:rPr>
                        <a:t>Zoetis</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$9,256</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$65,571</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2543115"/>
                  </a:ext>
                </a:extLst>
              </a:tr>
              <a:tr h="0">
                <a:tc>
                  <a:txBody>
                    <a:bodyPr/>
                    <a:lstStyle/>
                    <a:p>
                      <a:pPr algn="l" fontAlgn="ctr"/>
                      <a:r>
                        <a:rPr lang="en-US" sz="1000" b="0" i="0" u="none" strike="noStrike">
                          <a:effectLst/>
                          <a:latin typeface="Calibri" panose="020F0502020204030204" pitchFamily="34" charset="0"/>
                        </a:rPr>
                        <a:t>Intuitive Surgical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$8,352</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$175,383</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857601166"/>
                  </a:ext>
                </a:extLst>
              </a:tr>
              <a:tr h="0">
                <a:tc>
                  <a:txBody>
                    <a:bodyPr/>
                    <a:lstStyle/>
                    <a:p>
                      <a:pPr algn="l" fontAlgn="ctr"/>
                      <a:r>
                        <a:rPr lang="en-US" sz="1000" b="0" i="0" u="none" strike="noStrike">
                          <a:effectLst/>
                          <a:latin typeface="Calibri" panose="020F0502020204030204" pitchFamily="34" charset="0"/>
                        </a:rPr>
                        <a:t>Agilent Technologies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$6,510</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$28,496</a:t>
                      </a:r>
                    </a:p>
                  </a:txBody>
                  <a:tcPr marL="27432" marR="27432" marT="0" marB="0" anchor="ctr">
                    <a:lnL>
                      <a:noFill/>
                    </a:lnL>
                    <a:lnR>
                      <a:noFill/>
                    </a:lnR>
                    <a:lnT>
                      <a:noFill/>
                    </a:lnT>
                    <a:lnB>
                      <a:noFill/>
                    </a:lnB>
                    <a:noFill/>
                  </a:tcPr>
                </a:tc>
                <a:extLst>
                  <a:ext uri="{0D108BD9-81ED-4DB2-BD59-A6C34878D82A}">
                    <a16:rowId xmlns:a16="http://schemas.microsoft.com/office/drawing/2014/main" val="1491443984"/>
                  </a:ext>
                </a:extLst>
              </a:tr>
              <a:tr h="0">
                <a:tc>
                  <a:txBody>
                    <a:bodyPr/>
                    <a:lstStyle/>
                    <a:p>
                      <a:pPr algn="l" fontAlgn="ctr"/>
                      <a:r>
                        <a:rPr lang="en-US" sz="1000" b="0" i="0" u="none" strike="noStrike" dirty="0">
                          <a:effectLst/>
                          <a:latin typeface="Calibri" panose="020F0502020204030204" pitchFamily="34" charset="0"/>
                        </a:rPr>
                        <a:t>Edwards Lifesciences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$5,440</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$39,984</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815250486"/>
                  </a:ext>
                </a:extLst>
              </a:tr>
              <a:tr h="0">
                <a:tc>
                  <a:txBody>
                    <a:bodyPr/>
                    <a:lstStyle/>
                    <a:p>
                      <a:pPr algn="l" fontAlgn="ctr"/>
                      <a:r>
                        <a:rPr lang="en-US" sz="1000" b="0" i="0" u="none" strike="noStrike" dirty="0">
                          <a:effectLst/>
                          <a:latin typeface="Calibri" panose="020F0502020204030204" pitchFamily="34" charset="0"/>
                        </a:rPr>
                        <a:t>STERIS plc</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$5,139</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$21,332</a:t>
                      </a:r>
                    </a:p>
                  </a:txBody>
                  <a:tcPr marL="27432" marR="27432" marT="0" marB="0" anchor="ctr">
                    <a:lnL>
                      <a:noFill/>
                    </a:lnL>
                    <a:lnR>
                      <a:noFill/>
                    </a:lnR>
                    <a:lnT>
                      <a:noFill/>
                    </a:lnT>
                    <a:lnB>
                      <a:noFill/>
                    </a:lnB>
                    <a:noFill/>
                  </a:tcPr>
                </a:tc>
                <a:extLst>
                  <a:ext uri="{0D108BD9-81ED-4DB2-BD59-A6C34878D82A}">
                    <a16:rowId xmlns:a16="http://schemas.microsoft.com/office/drawing/2014/main" val="785564215"/>
                  </a:ext>
                </a:extLst>
              </a:tr>
              <a:tr h="0">
                <a:tc>
                  <a:txBody>
                    <a:bodyPr/>
                    <a:lstStyle/>
                    <a:p>
                      <a:pPr algn="l" fontAlgn="ctr"/>
                      <a:r>
                        <a:rPr lang="en-US" sz="1000" b="0" i="0" u="none" strike="noStrike">
                          <a:effectLst/>
                          <a:latin typeface="Calibri" panose="020F0502020204030204" pitchFamily="34" charset="0"/>
                        </a:rPr>
                        <a:t>ResMed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$4,685</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$30,862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62688481"/>
                  </a:ext>
                </a:extLst>
              </a:tr>
              <a:tr h="0">
                <a:tc>
                  <a:txBody>
                    <a:bodyPr/>
                    <a:lstStyle/>
                    <a:p>
                      <a:pPr algn="l" fontAlgn="ctr"/>
                      <a:r>
                        <a:rPr lang="en-US" sz="1000" b="0" i="0" u="none" strike="noStrike" dirty="0">
                          <a:effectLst/>
                          <a:latin typeface="Calibri" panose="020F0502020204030204" pitchFamily="34" charset="0"/>
                        </a:rPr>
                        <a:t>Elanco Animal Health</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$4,439</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$4,324</a:t>
                      </a:r>
                    </a:p>
                  </a:txBody>
                  <a:tcPr marL="27432" marR="27432" marT="0" marB="0" anchor="ctr">
                    <a:lnL>
                      <a:noFill/>
                    </a:lnL>
                    <a:lnR>
                      <a:noFill/>
                    </a:lnR>
                    <a:lnT>
                      <a:noFill/>
                    </a:lnT>
                    <a:lnB>
                      <a:noFill/>
                    </a:lnB>
                    <a:noFill/>
                  </a:tcPr>
                </a:tc>
                <a:extLst>
                  <a:ext uri="{0D108BD9-81ED-4DB2-BD59-A6C34878D82A}">
                    <a16:rowId xmlns:a16="http://schemas.microsoft.com/office/drawing/2014/main" val="2157018344"/>
                  </a:ext>
                </a:extLst>
              </a:tr>
              <a:tr h="0">
                <a:tc>
                  <a:txBody>
                    <a:bodyPr/>
                    <a:lstStyle/>
                    <a:p>
                      <a:pPr algn="l" fontAlgn="ctr"/>
                      <a:r>
                        <a:rPr lang="en-US" sz="1000" b="0" i="0" u="none" strike="noStrike" dirty="0">
                          <a:effectLst/>
                          <a:latin typeface="Calibri" panose="020F0502020204030204" pitchFamily="34" charset="0"/>
                        </a:rPr>
                        <a:t>Illumina</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$4,372</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$11,278</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891682922"/>
                  </a:ext>
                </a:extLst>
              </a:tr>
              <a:tr h="0">
                <a:tc>
                  <a:txBody>
                    <a:bodyPr/>
                    <a:lstStyle/>
                    <a:p>
                      <a:pPr algn="l" fontAlgn="ctr"/>
                      <a:r>
                        <a:rPr lang="en-US" sz="1000" b="0" i="0" u="none" strike="noStrike" dirty="0" err="1">
                          <a:effectLst/>
                          <a:latin typeface="Calibri" panose="020F0502020204030204" pitchFamily="34" charset="0"/>
                        </a:rPr>
                        <a:t>DexCom</a:t>
                      </a:r>
                      <a:endParaRPr lang="en-US" sz="1000" b="0" i="0" u="none" strike="noStrike" dirty="0">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$4,033</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$26,389</a:t>
                      </a:r>
                    </a:p>
                  </a:txBody>
                  <a:tcPr marL="27432" marR="27432" marT="0" marB="0" anchor="ctr">
                    <a:lnL>
                      <a:noFill/>
                    </a:lnL>
                    <a:lnR>
                      <a:noFill/>
                    </a:lnR>
                    <a:lnT>
                      <a:noFill/>
                    </a:lnT>
                    <a:lnB>
                      <a:noFill/>
                    </a:lnB>
                    <a:noFill/>
                  </a:tcPr>
                </a:tc>
                <a:extLst>
                  <a:ext uri="{0D108BD9-81ED-4DB2-BD59-A6C34878D82A}">
                    <a16:rowId xmlns:a16="http://schemas.microsoft.com/office/drawing/2014/main" val="3506533192"/>
                  </a:ext>
                </a:extLst>
              </a:tr>
              <a:tr h="0">
                <a:tc>
                  <a:txBody>
                    <a:bodyPr/>
                    <a:lstStyle/>
                    <a:p>
                      <a:pPr algn="l" fontAlgn="ctr"/>
                      <a:r>
                        <a:rPr lang="en-US" sz="1000" b="0" i="0" u="none" strike="noStrike">
                          <a:effectLst/>
                          <a:latin typeface="Calibri" panose="020F0502020204030204" pitchFamily="34" charset="0"/>
                        </a:rPr>
                        <a:t>Hologic</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$4,030</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$12,826</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326912945"/>
                  </a:ext>
                </a:extLst>
              </a:tr>
              <a:tr h="0">
                <a:tc>
                  <a:txBody>
                    <a:bodyPr/>
                    <a:lstStyle/>
                    <a:p>
                      <a:pPr algn="l" fontAlgn="ctr"/>
                      <a:r>
                        <a:rPr lang="en-US" sz="1000" b="0" i="0" u="none" strike="noStrike">
                          <a:effectLst/>
                          <a:latin typeface="Calibri" panose="020F0502020204030204" pitchFamily="34" charset="0"/>
                        </a:rPr>
                        <a:t>Align Technology</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$3,999</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$11,724</a:t>
                      </a:r>
                    </a:p>
                  </a:txBody>
                  <a:tcPr marL="27432" marR="27432" marT="0" marB="0" anchor="ctr">
                    <a:lnL>
                      <a:noFill/>
                    </a:lnL>
                    <a:lnR>
                      <a:noFill/>
                    </a:lnR>
                    <a:lnT>
                      <a:noFill/>
                    </a:lnT>
                    <a:lnB>
                      <a:noFill/>
                    </a:lnB>
                    <a:noFill/>
                  </a:tcPr>
                </a:tc>
                <a:extLst>
                  <a:ext uri="{0D108BD9-81ED-4DB2-BD59-A6C34878D82A}">
                    <a16:rowId xmlns:a16="http://schemas.microsoft.com/office/drawing/2014/main" val="4034061636"/>
                  </a:ext>
                </a:extLst>
              </a:tr>
              <a:tr h="0">
                <a:tc>
                  <a:txBody>
                    <a:bodyPr/>
                    <a:lstStyle/>
                    <a:p>
                      <a:pPr algn="l" fontAlgn="ctr"/>
                      <a:r>
                        <a:rPr lang="en-US" sz="1000" b="0" i="0" u="none" strike="noStrike">
                          <a:effectLst/>
                          <a:latin typeface="Calibri" panose="020F0502020204030204" pitchFamily="34" charset="0"/>
                        </a:rPr>
                        <a:t>Cooper Companies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$3,895</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$15,073</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832028463"/>
                  </a:ext>
                </a:extLst>
              </a:tr>
              <a:tr h="0">
                <a:tc>
                  <a:txBody>
                    <a:bodyPr/>
                    <a:lstStyle/>
                    <a:p>
                      <a:pPr algn="l" fontAlgn="ctr"/>
                      <a:r>
                        <a:rPr lang="en-US" sz="1000" b="0" i="0" u="none" strike="noStrike">
                          <a:effectLst/>
                          <a:latin typeface="Calibri" panose="020F0502020204030204" pitchFamily="34" charset="0"/>
                        </a:rPr>
                        <a:t>Waters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$2,958</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$18,694</a:t>
                      </a:r>
                    </a:p>
                  </a:txBody>
                  <a:tcPr marL="27432" marR="27432" marT="0" marB="0" anchor="ctr">
                    <a:lnL>
                      <a:noFill/>
                    </a:lnL>
                    <a:lnR>
                      <a:noFill/>
                    </a:lnR>
                    <a:lnT>
                      <a:noFill/>
                    </a:lnT>
                    <a:lnB>
                      <a:noFill/>
                    </a:lnB>
                    <a:noFill/>
                  </a:tcPr>
                </a:tc>
                <a:extLst>
                  <a:ext uri="{0D108BD9-81ED-4DB2-BD59-A6C34878D82A}">
                    <a16:rowId xmlns:a16="http://schemas.microsoft.com/office/drawing/2014/main" val="4227045682"/>
                  </a:ext>
                </a:extLst>
              </a:tr>
              <a:tr h="0">
                <a:tc>
                  <a:txBody>
                    <a:bodyPr/>
                    <a:lstStyle/>
                    <a:p>
                      <a:pPr algn="l" fontAlgn="ctr"/>
                      <a:r>
                        <a:rPr lang="en-US" sz="1000" b="0" i="0" u="none" strike="noStrike">
                          <a:effectLst/>
                          <a:latin typeface="Calibri" panose="020F0502020204030204" pitchFamily="34" charset="0"/>
                        </a:rPr>
                        <a:t>Revvity</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$2,755</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$11,176</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41272637"/>
                  </a:ext>
                </a:extLst>
              </a:tr>
              <a:tr h="0">
                <a:tc>
                  <a:txBody>
                    <a:bodyPr/>
                    <a:lstStyle/>
                    <a:p>
                      <a:pPr algn="l" fontAlgn="ctr"/>
                      <a:r>
                        <a:rPr lang="en-US" sz="1000" b="0" i="0" u="none" strike="noStrike">
                          <a:effectLst/>
                          <a:latin typeface="Calibri" panose="020F0502020204030204" pitchFamily="34" charset="0"/>
                        </a:rPr>
                        <a:t>Bio-Rad Laboratories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$2,567</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$6,471</a:t>
                      </a:r>
                    </a:p>
                  </a:txBody>
                  <a:tcPr marL="27432" marR="27432" marT="0" marB="0" anchor="ctr">
                    <a:lnL>
                      <a:noFill/>
                    </a:lnL>
                    <a:lnR>
                      <a:noFill/>
                    </a:lnR>
                    <a:lnT>
                      <a:noFill/>
                    </a:lnT>
                    <a:lnB>
                      <a:noFill/>
                    </a:lnB>
                    <a:noFill/>
                  </a:tcPr>
                </a:tc>
                <a:extLst>
                  <a:ext uri="{0D108BD9-81ED-4DB2-BD59-A6C34878D82A}">
                    <a16:rowId xmlns:a16="http://schemas.microsoft.com/office/drawing/2014/main" val="3325096601"/>
                  </a:ext>
                </a:extLst>
              </a:tr>
              <a:tr h="0">
                <a:tc>
                  <a:txBody>
                    <a:bodyPr/>
                    <a:lstStyle/>
                    <a:p>
                      <a:pPr algn="l"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endParaRPr lang="en-US" sz="100" b="0" i="0" u="none" strike="noStrike">
                        <a:effectLst/>
                        <a:latin typeface="Calibri" panose="020F0502020204030204" pitchFamily="34" charset="0"/>
                      </a:endParaRP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1844325"/>
                  </a:ext>
                </a:extLst>
              </a:tr>
              <a:tr h="0">
                <a:tc gridSpan="4">
                  <a:txBody>
                    <a:bodyPr/>
                    <a:lstStyle/>
                    <a:p>
                      <a:pPr algn="l" fontAlgn="ctr"/>
                      <a:r>
                        <a:rPr lang="en-US" sz="1000" b="1" i="0" u="none" strike="noStrike" dirty="0">
                          <a:effectLst/>
                          <a:latin typeface="Calibri" panose="020F0502020204030204" pitchFamily="34" charset="0"/>
                        </a:rPr>
                        <a:t>ISS Peers Not Part of Goofy Current Peers</a:t>
                      </a:r>
                    </a:p>
                  </a:txBody>
                  <a:tcPr marL="27432" marR="27432"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0" marR="0" marT="0" marB="0" anchor="ctr">
                    <a:lnL>
                      <a:noFill/>
                    </a:lnL>
                    <a:lnR>
                      <a:noFill/>
                    </a:lnR>
                    <a:lnT>
                      <a:noFill/>
                    </a:lnT>
                    <a:lnB>
                      <a:noFill/>
                    </a:lnB>
                    <a:noFill/>
                  </a:tcPr>
                </a:tc>
                <a:tc hMerge="1">
                  <a:txBody>
                    <a:bodyPr/>
                    <a:lstStyle/>
                    <a:p>
                      <a:pPr algn="ctr" fontAlgn="ctr"/>
                      <a:endParaRPr lang="en-US" sz="1000" b="0" i="0" u="none" strike="noStrike">
                        <a:effectLst/>
                        <a:latin typeface="Calibri" panose="020F0502020204030204" pitchFamily="34" charset="0"/>
                      </a:endParaRPr>
                    </a:p>
                  </a:txBody>
                  <a:tcPr marL="0" marR="0" marT="0" marB="0" anchor="ctr">
                    <a:lnL>
                      <a:noFill/>
                    </a:lnL>
                    <a:lnR>
                      <a:noFill/>
                    </a:lnR>
                    <a:lnT>
                      <a:noFill/>
                    </a:lnT>
                    <a:lnB>
                      <a:noFill/>
                    </a:lnB>
                    <a:noFill/>
                  </a:tcPr>
                </a:tc>
                <a:tc hMerge="1">
                  <a:txBody>
                    <a:bodyPr/>
                    <a:lstStyle/>
                    <a:p>
                      <a:pPr algn="ctr" fontAlgn="ctr"/>
                      <a:endParaRPr lang="en-US" sz="1000" b="0" i="0" u="none" strike="noStrike">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1543394208"/>
                  </a:ext>
                </a:extLst>
              </a:tr>
              <a:tr h="0">
                <a:tc>
                  <a:txBody>
                    <a:bodyPr/>
                    <a:lstStyle/>
                    <a:p>
                      <a:pPr algn="l" fontAlgn="ctr"/>
                      <a:r>
                        <a:rPr lang="en-US" sz="1000" b="0" i="0" u="none" strike="noStrike">
                          <a:effectLst/>
                          <a:latin typeface="Calibri" panose="020F0502020204030204" pitchFamily="34" charset="0"/>
                        </a:rPr>
                        <a:t>Zimmer Biomet</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$7,679</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$20,356</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59499"/>
                  </a:ext>
                </a:extLst>
              </a:tr>
              <a:tr h="0">
                <a:tc>
                  <a:txBody>
                    <a:bodyPr/>
                    <a:lstStyle/>
                    <a:p>
                      <a:pPr algn="l" fontAlgn="ctr"/>
                      <a:r>
                        <a:rPr lang="en-US" sz="1000" b="0" i="0" u="none" strike="noStrike">
                          <a:effectLst/>
                          <a:latin typeface="Calibri" panose="020F0502020204030204" pitchFamily="34" charset="0"/>
                        </a:rPr>
                        <a:t>Teleflex Incorporated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$3,047</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$5,767</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965853125"/>
                  </a:ext>
                </a:extLst>
              </a:tr>
              <a:tr h="0">
                <a:tc>
                  <a:txBody>
                    <a:bodyPr/>
                    <a:lstStyle/>
                    <a:p>
                      <a:pPr algn="l" fontAlgn="ctr"/>
                      <a:r>
                        <a:rPr lang="en-US" sz="1000" b="0" i="0" u="none" strike="noStrike">
                          <a:effectLst/>
                          <a:latin typeface="Calibri" panose="020F0502020204030204" pitchFamily="34" charset="0"/>
                        </a:rPr>
                        <a:t>QuidelOrtho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$2,783</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$1,782</a:t>
                      </a:r>
                    </a:p>
                  </a:txBody>
                  <a:tcPr marL="27432" marR="27432" marT="0" marB="0" anchor="ctr">
                    <a:lnL>
                      <a:noFill/>
                    </a:lnL>
                    <a:lnR>
                      <a:noFill/>
                    </a:lnR>
                    <a:lnT>
                      <a:noFill/>
                    </a:lnT>
                    <a:lnB>
                      <a:noFill/>
                    </a:lnB>
                    <a:noFill/>
                  </a:tcPr>
                </a:tc>
                <a:extLst>
                  <a:ext uri="{0D108BD9-81ED-4DB2-BD59-A6C34878D82A}">
                    <a16:rowId xmlns:a16="http://schemas.microsoft.com/office/drawing/2014/main" val="1306935919"/>
                  </a:ext>
                </a:extLst>
              </a:tr>
              <a:tr h="0">
                <a:tc>
                  <a:txBody>
                    <a:bodyPr/>
                    <a:lstStyle/>
                    <a:p>
                      <a:pPr algn="l" fontAlgn="ctr"/>
                      <a:r>
                        <a:rPr lang="en-US" sz="1000" b="0" i="0" u="none" strike="noStrike">
                          <a:effectLst/>
                          <a:latin typeface="Calibri" panose="020F0502020204030204" pitchFamily="34" charset="0"/>
                        </a:rPr>
                        <a:t>Globus Medical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$2,519</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$9,763</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076479172"/>
                  </a:ext>
                </a:extLst>
              </a:tr>
              <a:tr h="0">
                <a:tc>
                  <a:txBody>
                    <a:bodyPr/>
                    <a:lstStyle/>
                    <a:p>
                      <a:pPr algn="l" fontAlgn="ctr"/>
                      <a:r>
                        <a:rPr lang="en-US" sz="1000" b="0" i="0" u="none" strike="noStrike">
                          <a:effectLst/>
                          <a:latin typeface="Calibri" panose="020F0502020204030204" pitchFamily="34" charset="0"/>
                        </a:rPr>
                        <a:t>Envista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$2,511</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$2,676</a:t>
                      </a:r>
                    </a:p>
                  </a:txBody>
                  <a:tcPr marL="27432" marR="27432" marT="0" marB="0" anchor="ctr">
                    <a:lnL>
                      <a:noFill/>
                    </a:lnL>
                    <a:lnR>
                      <a:noFill/>
                    </a:lnR>
                    <a:lnT>
                      <a:noFill/>
                    </a:lnT>
                    <a:lnB>
                      <a:noFill/>
                    </a:lnB>
                    <a:noFill/>
                  </a:tcPr>
                </a:tc>
                <a:extLst>
                  <a:ext uri="{0D108BD9-81ED-4DB2-BD59-A6C34878D82A}">
                    <a16:rowId xmlns:a16="http://schemas.microsoft.com/office/drawing/2014/main" val="2098356414"/>
                  </a:ext>
                </a:extLst>
              </a:tr>
              <a:tr h="0">
                <a:tc>
                  <a:txBody>
                    <a:bodyPr/>
                    <a:lstStyle/>
                    <a:p>
                      <a:pPr algn="l" fontAlgn="ctr"/>
                      <a:r>
                        <a:rPr lang="en-US" sz="1000" b="0" i="0" u="none" strike="noStrike">
                          <a:effectLst/>
                          <a:latin typeface="Calibri" panose="020F0502020204030204" pitchFamily="34" charset="0"/>
                        </a:rPr>
                        <a:t>Enovis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$2,108</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$1,829</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460397653"/>
                  </a:ext>
                </a:extLst>
              </a:tr>
              <a:tr h="0">
                <a:tc>
                  <a:txBody>
                    <a:bodyPr/>
                    <a:lstStyle/>
                    <a:p>
                      <a:pPr algn="l" fontAlgn="ctr"/>
                      <a:r>
                        <a:rPr lang="en-US" sz="1000" b="0" i="0" u="none" strike="noStrike">
                          <a:effectLst/>
                          <a:latin typeface="Calibri" panose="020F0502020204030204" pitchFamily="34" charset="0"/>
                        </a:rPr>
                        <a:t>Masimo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$2,094</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$8,201</a:t>
                      </a:r>
                    </a:p>
                  </a:txBody>
                  <a:tcPr marL="27432" marR="27432" marT="0" marB="0" anchor="ctr">
                    <a:lnL>
                      <a:noFill/>
                    </a:lnL>
                    <a:lnR>
                      <a:noFill/>
                    </a:lnR>
                    <a:lnT>
                      <a:noFill/>
                    </a:lnT>
                    <a:lnB>
                      <a:noFill/>
                    </a:lnB>
                    <a:noFill/>
                  </a:tcPr>
                </a:tc>
                <a:extLst>
                  <a:ext uri="{0D108BD9-81ED-4DB2-BD59-A6C34878D82A}">
                    <a16:rowId xmlns:a16="http://schemas.microsoft.com/office/drawing/2014/main" val="246620977"/>
                  </a:ext>
                </a:extLst>
              </a:tr>
              <a:tr h="0">
                <a:tc>
                  <a:txBody>
                    <a:bodyPr/>
                    <a:lstStyle/>
                    <a:p>
                      <a:pPr algn="l" fontAlgn="ctr"/>
                      <a:r>
                        <a:rPr lang="en-US" sz="1000" b="0" i="0" u="none" strike="noStrike">
                          <a:effectLst/>
                          <a:latin typeface="Calibri" panose="020F0502020204030204" pitchFamily="34" charset="0"/>
                        </a:rPr>
                        <a:t>Insulet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$2,072</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$17,660</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118953350"/>
                  </a:ext>
                </a:extLst>
              </a:tr>
              <a:tr h="0">
                <a:tc>
                  <a:txBody>
                    <a:bodyPr/>
                    <a:lstStyle/>
                    <a:p>
                      <a:pPr algn="l" fontAlgn="ctr"/>
                      <a:r>
                        <a:rPr lang="en-US" sz="1000" b="0" i="0" u="none" strike="noStrike">
                          <a:effectLst/>
                          <a:latin typeface="Calibri" panose="020F0502020204030204" pitchFamily="34" charset="0"/>
                        </a:rPr>
                        <a:t>Integer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$1,717</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$3,972</a:t>
                      </a:r>
                    </a:p>
                  </a:txBody>
                  <a:tcPr marL="27432" marR="27432" marT="0" marB="0" anchor="ctr">
                    <a:lnL>
                      <a:noFill/>
                    </a:lnL>
                    <a:lnR>
                      <a:noFill/>
                    </a:lnR>
                    <a:lnT>
                      <a:noFill/>
                    </a:lnT>
                    <a:lnB>
                      <a:noFill/>
                    </a:lnB>
                    <a:noFill/>
                  </a:tcPr>
                </a:tc>
                <a:extLst>
                  <a:ext uri="{0D108BD9-81ED-4DB2-BD59-A6C34878D82A}">
                    <a16:rowId xmlns:a16="http://schemas.microsoft.com/office/drawing/2014/main" val="3893376343"/>
                  </a:ext>
                </a:extLst>
              </a:tr>
              <a:tr h="0">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2745290"/>
                  </a:ext>
                </a:extLst>
              </a:tr>
              <a:tr h="0">
                <a:tc>
                  <a:txBody>
                    <a:bodyPr/>
                    <a:lstStyle/>
                    <a:p>
                      <a:pPr algn="l" fontAlgn="ctr"/>
                      <a:r>
                        <a:rPr lang="en-US" sz="1000" b="0" i="0" u="none" strike="noStrike">
                          <a:effectLst/>
                          <a:latin typeface="Calibri" panose="020F0502020204030204" pitchFamily="34" charset="0"/>
                        </a:rPr>
                        <a:t>75th %ile</a:t>
                      </a:r>
                    </a:p>
                  </a:txBody>
                  <a:tcPr marL="27432" marR="27432"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ctr"/>
                      <a:r>
                        <a:rPr lang="en-US" sz="1000" b="0" i="0" u="none" strike="noStrike">
                          <a:effectLst/>
                          <a:latin typeface="Calibri" panose="020F0502020204030204" pitchFamily="34" charset="0"/>
                        </a:rPr>
                        <a:t>$4,799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ctr"/>
                      <a:r>
                        <a:rPr lang="en-US" sz="1000" b="0" i="0" u="none" strike="noStrike">
                          <a:effectLst/>
                          <a:latin typeface="Calibri" panose="020F0502020204030204" pitchFamily="34" charset="0"/>
                        </a:rPr>
                        <a:t>$22,596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819495751"/>
                  </a:ext>
                </a:extLst>
              </a:tr>
              <a:tr h="0">
                <a:tc>
                  <a:txBody>
                    <a:bodyPr/>
                    <a:lstStyle/>
                    <a:p>
                      <a:pPr algn="l" fontAlgn="ctr"/>
                      <a:r>
                        <a:rPr lang="en-US" sz="1000" b="1" i="0" u="none" strike="noStrike">
                          <a:effectLst/>
                          <a:latin typeface="Calibri" panose="020F0502020204030204" pitchFamily="34" charset="0"/>
                        </a:rPr>
                        <a:t>Median</a:t>
                      </a:r>
                    </a:p>
                  </a:txBody>
                  <a:tcPr marL="27432" marR="27432" marT="9144" marB="9144" anchor="ctr">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ctr" fontAlgn="ctr"/>
                      <a:r>
                        <a:rPr lang="en-US" sz="1000" b="1" i="0" u="none" strike="noStrike">
                          <a:effectLst/>
                          <a:latin typeface="Calibri" panose="020F0502020204030204" pitchFamily="34" charset="0"/>
                        </a:rPr>
                        <a:t>$3,947</a:t>
                      </a:r>
                    </a:p>
                  </a:txBody>
                  <a:tcPr marL="0" marR="0" marT="0" marB="0" anchor="ctr">
                    <a:lnL>
                      <a:noFill/>
                    </a:lnL>
                    <a:lnR>
                      <a:noFill/>
                    </a:lnR>
                    <a:lnT>
                      <a:noFill/>
                    </a:lnT>
                    <a:lnB>
                      <a:noFill/>
                    </a:lnB>
                    <a:solidFill>
                      <a:srgbClr val="FFFFDB"/>
                    </a:solidFill>
                  </a:tcPr>
                </a:tc>
                <a:tc>
                  <a:txBody>
                    <a:bodyPr/>
                    <a:lstStyle/>
                    <a:p>
                      <a:pPr algn="ctr" fontAlgn="ctr"/>
                      <a:r>
                        <a:rPr lang="en-US" sz="1000" b="1" i="0" u="none" strike="noStrike">
                          <a:effectLst/>
                          <a:latin typeface="Calibri" panose="020F0502020204030204" pitchFamily="34" charset="0"/>
                        </a:rPr>
                        <a:t>$12,275</a:t>
                      </a:r>
                    </a:p>
                  </a:txBody>
                  <a:tcPr marL="0" marR="0" marT="0" marB="0" anchor="ctr">
                    <a:lnL>
                      <a:noFill/>
                    </a:lnL>
                    <a:lnR>
                      <a:noFill/>
                    </a:lnR>
                    <a:lnT>
                      <a:noFill/>
                    </a:lnT>
                    <a:lnB>
                      <a:noFill/>
                    </a:lnB>
                    <a:solidFill>
                      <a:srgbClr val="FFFFDB"/>
                    </a:solidFill>
                  </a:tcPr>
                </a:tc>
                <a:extLst>
                  <a:ext uri="{0D108BD9-81ED-4DB2-BD59-A6C34878D82A}">
                    <a16:rowId xmlns:a16="http://schemas.microsoft.com/office/drawing/2014/main" val="2817790508"/>
                  </a:ext>
                </a:extLst>
              </a:tr>
              <a:tr h="0">
                <a:tc>
                  <a:txBody>
                    <a:bodyPr/>
                    <a:lstStyle/>
                    <a:p>
                      <a:pPr algn="l" fontAlgn="ctr"/>
                      <a:r>
                        <a:rPr lang="en-US" sz="1000" b="0" i="0" u="none" strike="noStrike">
                          <a:effectLst/>
                          <a:latin typeface="Calibri" panose="020F0502020204030204" pitchFamily="34" charset="0"/>
                        </a:rPr>
                        <a:t>25th %ile</a:t>
                      </a:r>
                    </a:p>
                  </a:txBody>
                  <a:tcPr marL="27432" marR="27432"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ctr"/>
                      <a:r>
                        <a:rPr lang="en-US" sz="1000" b="0" i="0" u="none" strike="noStrike">
                          <a:effectLst/>
                          <a:latin typeface="Calibri" panose="020F0502020204030204" pitchFamily="34" charset="0"/>
                        </a:rPr>
                        <a:t>$2,555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ctr"/>
                      <a:r>
                        <a:rPr lang="en-US" sz="1000" b="0" i="0" u="none" strike="noStrike">
                          <a:effectLst/>
                          <a:latin typeface="Calibri" panose="020F0502020204030204" pitchFamily="34" charset="0"/>
                        </a:rPr>
                        <a:t>$6,295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016346662"/>
                  </a:ext>
                </a:extLst>
              </a:tr>
              <a:tr h="0">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4972677"/>
                  </a:ext>
                </a:extLst>
              </a:tr>
              <a:tr h="0">
                <a:tc>
                  <a:txBody>
                    <a:bodyPr/>
                    <a:lstStyle/>
                    <a:p>
                      <a:pPr algn="l" fontAlgn="b"/>
                      <a:r>
                        <a:rPr lang="en-US" sz="1000" b="1" i="0" u="none" strike="noStrike" dirty="0">
                          <a:effectLst/>
                          <a:latin typeface="Calibri" panose="020F0502020204030204" pitchFamily="34" charset="0"/>
                        </a:rPr>
                        <a:t>Goofy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1000" b="1" i="0" u="none" strike="noStrike">
                          <a:effectLst/>
                          <a:latin typeface="Calibri" panose="020F0502020204030204" pitchFamily="34" charset="0"/>
                        </a:rPr>
                        <a:t>HCE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1000" b="1" i="0" u="none" strike="noStrike">
                          <a:effectLst/>
                          <a:latin typeface="Calibri" panose="020F0502020204030204" pitchFamily="34" charset="0"/>
                        </a:rPr>
                        <a:t>$3,898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r>
                        <a:rPr lang="en-US" sz="1000" b="1" i="0" u="none" strike="noStrike" dirty="0">
                          <a:effectLst/>
                          <a:latin typeface="Calibri" panose="020F0502020204030204" pitchFamily="34" charset="0"/>
                        </a:rPr>
                        <a:t>$30,943</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624223949"/>
                  </a:ext>
                </a:extLst>
              </a:tr>
            </a:tbl>
          </a:graphicData>
        </a:graphic>
      </p:graphicFrame>
      <p:graphicFrame>
        <p:nvGraphicFramePr>
          <p:cNvPr id="9" name="Table 14">
            <a:extLst>
              <a:ext uri="{FF2B5EF4-FFF2-40B4-BE49-F238E27FC236}">
                <a16:creationId xmlns:a16="http://schemas.microsoft.com/office/drawing/2014/main" id="{C333145A-2DF1-735A-2D51-BA629CB7CD6A}"/>
              </a:ext>
            </a:extLst>
          </p:cNvPr>
          <p:cNvGraphicFramePr>
            <a:graphicFrameLocks noGrp="1"/>
          </p:cNvGraphicFramePr>
          <p:nvPr/>
        </p:nvGraphicFramePr>
        <p:xfrm>
          <a:off x="7061573" y="1534228"/>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0" name="TextBox 9">
            <a:extLst>
              <a:ext uri="{FF2B5EF4-FFF2-40B4-BE49-F238E27FC236}">
                <a16:creationId xmlns:a16="http://schemas.microsoft.com/office/drawing/2014/main" id="{4636FDC6-335E-5687-9A22-25D798CD36F3}"/>
              </a:ext>
            </a:extLst>
          </p:cNvPr>
          <p:cNvSpPr txBox="1"/>
          <p:nvPr/>
        </p:nvSpPr>
        <p:spPr>
          <a:xfrm>
            <a:off x="200868" y="1290104"/>
            <a:ext cx="2213399" cy="355097"/>
          </a:xfrm>
          <a:prstGeom prst="rect">
            <a:avLst/>
          </a:prstGeom>
          <a:solidFill>
            <a:schemeClr val="accent3"/>
          </a:solidFill>
          <a:ln>
            <a:solidFill>
              <a:schemeClr val="tx1"/>
            </a:solidFill>
          </a:ln>
        </p:spPr>
        <p:txBody>
          <a:bodyPr vert="horz" wrap="square" lIns="45720" tIns="45720" rIns="45720" bIns="45720" rtlCol="0" anchor="ctr">
            <a:spAutoFit/>
          </a:bodyPr>
          <a:lstStyle/>
          <a:p>
            <a:pPr algn="ctr">
              <a:lnSpc>
                <a:spcPct val="85000"/>
              </a:lnSpc>
            </a:pPr>
            <a:r>
              <a:rPr lang="en-US" sz="1000" dirty="0"/>
              <a:t>To be updated after ISS report is received from Goofy</a:t>
            </a:r>
          </a:p>
        </p:txBody>
      </p:sp>
    </p:spTree>
    <p:extLst>
      <p:ext uri="{BB962C8B-B14F-4D97-AF65-F5344CB8AC3E}">
        <p14:creationId xmlns:p14="http://schemas.microsoft.com/office/powerpoint/2010/main" val="162470856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E9E64-649F-0029-A2A9-F321E2EE2F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51F04B-0B4D-8867-FA8C-EB7C55B16957}"/>
              </a:ext>
            </a:extLst>
          </p:cNvPr>
          <p:cNvSpPr>
            <a:spLocks noGrp="1"/>
          </p:cNvSpPr>
          <p:nvPr>
            <p:ph type="title"/>
          </p:nvPr>
        </p:nvSpPr>
        <p:spPr>
          <a:xfrm>
            <a:off x="882797" y="44215"/>
            <a:ext cx="8074152" cy="1292899"/>
          </a:xfrm>
        </p:spPr>
        <p:txBody>
          <a:bodyPr/>
          <a:lstStyle/>
          <a:p>
            <a:r>
              <a:rPr lang="en-US" dirty="0"/>
              <a:t>ISS added one new company to its Goofy peer group and removed one company from the group for 2025</a:t>
            </a:r>
          </a:p>
        </p:txBody>
      </p:sp>
      <p:sp>
        <p:nvSpPr>
          <p:cNvPr id="4" name="Slide Number Placeholder 3">
            <a:extLst>
              <a:ext uri="{FF2B5EF4-FFF2-40B4-BE49-F238E27FC236}">
                <a16:creationId xmlns:a16="http://schemas.microsoft.com/office/drawing/2014/main" id="{B0300ED5-43F8-B8BC-87F5-55DCE053BE56}"/>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13</a:t>
            </a:fld>
            <a:endParaRPr lang="en-US"/>
          </a:p>
        </p:txBody>
      </p:sp>
      <p:sp>
        <p:nvSpPr>
          <p:cNvPr id="6" name="TextBox 5">
            <a:extLst>
              <a:ext uri="{FF2B5EF4-FFF2-40B4-BE49-F238E27FC236}">
                <a16:creationId xmlns:a16="http://schemas.microsoft.com/office/drawing/2014/main" id="{E51487C6-B38B-44B3-4BF0-A888F1298932}"/>
              </a:ext>
            </a:extLst>
          </p:cNvPr>
          <p:cNvSpPr txBox="1"/>
          <p:nvPr/>
        </p:nvSpPr>
        <p:spPr>
          <a:xfrm>
            <a:off x="3025725" y="1081120"/>
            <a:ext cx="2257413" cy="286232"/>
          </a:xfrm>
          <a:prstGeom prst="rect">
            <a:avLst/>
          </a:prstGeom>
          <a:noFill/>
        </p:spPr>
        <p:txBody>
          <a:bodyPr wrap="none" lIns="45720" tIns="45720" rIns="45720" bIns="45720" rtlCol="0" anchor="ctr">
            <a:spAutoFit/>
          </a:bodyPr>
          <a:lstStyle/>
          <a:p>
            <a:pPr algn="ctr">
              <a:lnSpc>
                <a:spcPct val="90000"/>
              </a:lnSpc>
            </a:pPr>
            <a:r>
              <a:rPr lang="en-US" sz="1400" b="1"/>
              <a:t>ISS Peer Group 2025 Changes</a:t>
            </a:r>
            <a:endParaRPr lang="en-US" sz="1400" b="1" baseline="30000"/>
          </a:p>
        </p:txBody>
      </p:sp>
      <p:sp>
        <p:nvSpPr>
          <p:cNvPr id="7" name="Rectangle 6">
            <a:extLst>
              <a:ext uri="{FF2B5EF4-FFF2-40B4-BE49-F238E27FC236}">
                <a16:creationId xmlns:a16="http://schemas.microsoft.com/office/drawing/2014/main" id="{A982CCE2-EF50-5E17-D3C8-B1EC4127C8F2}"/>
              </a:ext>
            </a:extLst>
          </p:cNvPr>
          <p:cNvSpPr/>
          <p:nvPr/>
        </p:nvSpPr>
        <p:spPr>
          <a:xfrm>
            <a:off x="6334927" y="2125628"/>
            <a:ext cx="274320" cy="137160"/>
          </a:xfrm>
          <a:prstGeom prst="rect">
            <a:avLst/>
          </a:prstGeom>
          <a:solidFill>
            <a:schemeClr val="accent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8" name="TextBox 7">
            <a:extLst>
              <a:ext uri="{FF2B5EF4-FFF2-40B4-BE49-F238E27FC236}">
                <a16:creationId xmlns:a16="http://schemas.microsoft.com/office/drawing/2014/main" id="{69ECAFA8-7906-8212-0D26-178A7E051596}"/>
              </a:ext>
            </a:extLst>
          </p:cNvPr>
          <p:cNvSpPr txBox="1"/>
          <p:nvPr/>
        </p:nvSpPr>
        <p:spPr>
          <a:xfrm>
            <a:off x="6568233" y="2274111"/>
            <a:ext cx="2367259" cy="230832"/>
          </a:xfrm>
          <a:prstGeom prst="rect">
            <a:avLst/>
          </a:prstGeom>
          <a:noFill/>
        </p:spPr>
        <p:txBody>
          <a:bodyPr wrap="square" rtlCol="0" anchor="ctr">
            <a:spAutoFit/>
          </a:bodyPr>
          <a:lstStyle/>
          <a:p>
            <a:r>
              <a:rPr lang="en-US" sz="900"/>
              <a:t>Company removed from ISS peer group</a:t>
            </a:r>
          </a:p>
        </p:txBody>
      </p:sp>
      <p:sp>
        <p:nvSpPr>
          <p:cNvPr id="9" name="Rectangle 8">
            <a:extLst>
              <a:ext uri="{FF2B5EF4-FFF2-40B4-BE49-F238E27FC236}">
                <a16:creationId xmlns:a16="http://schemas.microsoft.com/office/drawing/2014/main" id="{017CE459-D5A9-2F08-4AA3-E8A337607165}"/>
              </a:ext>
            </a:extLst>
          </p:cNvPr>
          <p:cNvSpPr/>
          <p:nvPr/>
        </p:nvSpPr>
        <p:spPr>
          <a:xfrm>
            <a:off x="6334927" y="2322463"/>
            <a:ext cx="274320" cy="137160"/>
          </a:xfrm>
          <a:prstGeom prst="rec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10" name="TextBox 9">
            <a:extLst>
              <a:ext uri="{FF2B5EF4-FFF2-40B4-BE49-F238E27FC236}">
                <a16:creationId xmlns:a16="http://schemas.microsoft.com/office/drawing/2014/main" id="{CE2FFDEB-4793-566E-F4B0-2B844C2926F7}"/>
              </a:ext>
            </a:extLst>
          </p:cNvPr>
          <p:cNvSpPr txBox="1"/>
          <p:nvPr/>
        </p:nvSpPr>
        <p:spPr>
          <a:xfrm>
            <a:off x="6576853" y="2087501"/>
            <a:ext cx="2332600" cy="230832"/>
          </a:xfrm>
          <a:prstGeom prst="rect">
            <a:avLst/>
          </a:prstGeom>
          <a:noFill/>
        </p:spPr>
        <p:txBody>
          <a:bodyPr wrap="square" rtlCol="0" anchor="ctr">
            <a:spAutoFit/>
          </a:bodyPr>
          <a:lstStyle/>
          <a:p>
            <a:r>
              <a:rPr lang="en-US" sz="900"/>
              <a:t>Company added to ISS peer group</a:t>
            </a:r>
          </a:p>
        </p:txBody>
      </p:sp>
      <p:sp>
        <p:nvSpPr>
          <p:cNvPr id="11" name="TextBox 10">
            <a:extLst>
              <a:ext uri="{FF2B5EF4-FFF2-40B4-BE49-F238E27FC236}">
                <a16:creationId xmlns:a16="http://schemas.microsoft.com/office/drawing/2014/main" id="{3CB11D7E-BDA4-E14E-4651-1CD8CF1DE603}"/>
              </a:ext>
            </a:extLst>
          </p:cNvPr>
          <p:cNvSpPr txBox="1"/>
          <p:nvPr/>
        </p:nvSpPr>
        <p:spPr>
          <a:xfrm>
            <a:off x="6262210" y="1159643"/>
            <a:ext cx="1361837" cy="166895"/>
          </a:xfrm>
          <a:prstGeom prst="rect">
            <a:avLst/>
          </a:prstGeom>
          <a:noFill/>
        </p:spPr>
        <p:txBody>
          <a:bodyPr wrap="square" rtlCol="0" anchor="ctr">
            <a:spAutoFit/>
          </a:bodyPr>
          <a:lstStyle/>
          <a:p>
            <a:r>
              <a:rPr lang="en-US" sz="1000" b="1" i="1"/>
              <a:t>Legend:</a:t>
            </a:r>
          </a:p>
        </p:txBody>
      </p:sp>
      <p:graphicFrame>
        <p:nvGraphicFramePr>
          <p:cNvPr id="13" name="Table 12">
            <a:extLst>
              <a:ext uri="{FF2B5EF4-FFF2-40B4-BE49-F238E27FC236}">
                <a16:creationId xmlns:a16="http://schemas.microsoft.com/office/drawing/2014/main" id="{F63F38C0-C1A2-43D8-1086-B0642D21ADD6}"/>
              </a:ext>
            </a:extLst>
          </p:cNvPr>
          <p:cNvGraphicFramePr>
            <a:graphicFrameLocks noGrp="1"/>
          </p:cNvGraphicFramePr>
          <p:nvPr>
            <p:extLst>
              <p:ext uri="{D42A27DB-BD31-4B8C-83A1-F6EECF244321}">
                <p14:modId xmlns:p14="http://schemas.microsoft.com/office/powerpoint/2010/main" val="303513247"/>
              </p:ext>
            </p:extLst>
          </p:nvPr>
        </p:nvGraphicFramePr>
        <p:xfrm>
          <a:off x="1847571" y="1323108"/>
          <a:ext cx="4389120" cy="5273040"/>
        </p:xfrm>
        <a:graphic>
          <a:graphicData uri="http://schemas.openxmlformats.org/drawingml/2006/table">
            <a:tbl>
              <a:tblPr/>
              <a:tblGrid>
                <a:gridCol w="1557604">
                  <a:extLst>
                    <a:ext uri="{9D8B030D-6E8A-4147-A177-3AD203B41FA5}">
                      <a16:colId xmlns:a16="http://schemas.microsoft.com/office/drawing/2014/main" val="3250873083"/>
                    </a:ext>
                  </a:extLst>
                </a:gridCol>
                <a:gridCol w="667547">
                  <a:extLst>
                    <a:ext uri="{9D8B030D-6E8A-4147-A177-3AD203B41FA5}">
                      <a16:colId xmlns:a16="http://schemas.microsoft.com/office/drawing/2014/main" val="3726537592"/>
                    </a:ext>
                  </a:extLst>
                </a:gridCol>
                <a:gridCol w="556295">
                  <a:extLst>
                    <a:ext uri="{9D8B030D-6E8A-4147-A177-3AD203B41FA5}">
                      <a16:colId xmlns:a16="http://schemas.microsoft.com/office/drawing/2014/main" val="3860207607"/>
                    </a:ext>
                  </a:extLst>
                </a:gridCol>
                <a:gridCol w="445030">
                  <a:extLst>
                    <a:ext uri="{9D8B030D-6E8A-4147-A177-3AD203B41FA5}">
                      <a16:colId xmlns:a16="http://schemas.microsoft.com/office/drawing/2014/main" val="1660173184"/>
                    </a:ext>
                  </a:extLst>
                </a:gridCol>
                <a:gridCol w="445030">
                  <a:extLst>
                    <a:ext uri="{9D8B030D-6E8A-4147-A177-3AD203B41FA5}">
                      <a16:colId xmlns:a16="http://schemas.microsoft.com/office/drawing/2014/main" val="2127136201"/>
                    </a:ext>
                  </a:extLst>
                </a:gridCol>
                <a:gridCol w="717614">
                  <a:extLst>
                    <a:ext uri="{9D8B030D-6E8A-4147-A177-3AD203B41FA5}">
                      <a16:colId xmlns:a16="http://schemas.microsoft.com/office/drawing/2014/main" val="1403927394"/>
                    </a:ext>
                  </a:extLst>
                </a:gridCol>
              </a:tblGrid>
              <a:tr h="140245">
                <a:tc>
                  <a:txBody>
                    <a:bodyPr/>
                    <a:lstStyle/>
                    <a:p>
                      <a:pPr algn="l" fontAlgn="b"/>
                      <a:r>
                        <a:rPr lang="en-US" sz="1000" b="1" i="0" u="none" strike="noStrike" dirty="0">
                          <a:solidFill>
                            <a:srgbClr val="FFFFFF"/>
                          </a:solidFill>
                          <a:effectLst/>
                          <a:latin typeface="Calibri" panose="020F0502020204030204" pitchFamily="34" charset="0"/>
                        </a:rPr>
                        <a:t>($MM)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Current</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2024</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2025</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FYE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extLst>
                  <a:ext uri="{0D108BD9-81ED-4DB2-BD59-A6C34878D82A}">
                    <a16:rowId xmlns:a16="http://schemas.microsoft.com/office/drawing/2014/main" val="941830919"/>
                  </a:ext>
                </a:extLst>
              </a:tr>
              <a:tr h="140245">
                <a:tc>
                  <a:txBody>
                    <a:bodyPr/>
                    <a:lstStyle/>
                    <a:p>
                      <a:pPr algn="ctr" fontAlgn="b"/>
                      <a:r>
                        <a:rPr lang="en-US" sz="1000" b="1" i="0" u="none" strike="noStrike">
                          <a:solidFill>
                            <a:srgbClr val="FFFFFF"/>
                          </a:solidFill>
                          <a:effectLst/>
                          <a:latin typeface="Calibri" panose="020F0502020204030204" pitchFamily="34" charset="0"/>
                        </a:rPr>
                        <a:t>Company</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Industry</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Peer</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ISS</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ISS</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Revenue</a:t>
                      </a:r>
                      <a:r>
                        <a:rPr lang="en-US" sz="1000" b="1" i="0" u="none" strike="noStrike" baseline="30000">
                          <a:solidFill>
                            <a:srgbClr val="FFFFFF"/>
                          </a:solidFill>
                          <a:effectLst/>
                          <a:latin typeface="Calibri" panose="020F0502020204030204" pitchFamily="34" charset="0"/>
                        </a:rPr>
                        <a:t>(1)</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27755799"/>
                  </a:ext>
                </a:extLst>
              </a:tr>
              <a:tr h="140245">
                <a:tc gridSpan="6">
                  <a:txBody>
                    <a:bodyPr/>
                    <a:lstStyle/>
                    <a:p>
                      <a:pPr algn="l" fontAlgn="ctr"/>
                      <a:r>
                        <a:rPr lang="en-US" sz="1000" b="1" i="0" u="none" strike="noStrike" dirty="0">
                          <a:effectLst/>
                          <a:latin typeface="Calibri" panose="020F0502020204030204" pitchFamily="34" charset="0"/>
                        </a:rPr>
                        <a:t>Goofy Peers</a:t>
                      </a:r>
                    </a:p>
                  </a:txBody>
                  <a:tcPr marL="27432" marR="27432"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0" i="0" u="none" strike="noStrike">
                        <a:effectLst/>
                        <a:latin typeface="Calibri" panose="020F0502020204030204" pitchFamily="34" charset="0"/>
                      </a:endParaRPr>
                    </a:p>
                  </a:txBody>
                  <a:tcPr marL="9144" marR="9144"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38192044"/>
                  </a:ext>
                </a:extLst>
              </a:tr>
              <a:tr h="140245">
                <a:tc>
                  <a:txBody>
                    <a:bodyPr/>
                    <a:lstStyle/>
                    <a:p>
                      <a:pPr algn="l" fontAlgn="ctr"/>
                      <a:r>
                        <a:rPr lang="en-US" sz="1000" b="0" i="0" u="none" strike="noStrike">
                          <a:effectLst/>
                          <a:latin typeface="Calibri" panose="020F0502020204030204" pitchFamily="34" charset="0"/>
                        </a:rPr>
                        <a:t>Zoetis</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$9,256</a:t>
                      </a:r>
                    </a:p>
                  </a:txBody>
                  <a:tcPr marL="27432" marR="27432"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31559139"/>
                  </a:ext>
                </a:extLst>
              </a:tr>
              <a:tr h="140245">
                <a:tc>
                  <a:txBody>
                    <a:bodyPr/>
                    <a:lstStyle/>
                    <a:p>
                      <a:pPr algn="l" fontAlgn="ctr"/>
                      <a:r>
                        <a:rPr lang="en-US" sz="1000" b="0" i="0" u="none" strike="noStrike">
                          <a:effectLst/>
                          <a:latin typeface="Calibri" panose="020F0502020204030204" pitchFamily="34" charset="0"/>
                        </a:rPr>
                        <a:t>Intuitive Surgical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$8,352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545382567"/>
                  </a:ext>
                </a:extLst>
              </a:tr>
              <a:tr h="140245">
                <a:tc>
                  <a:txBody>
                    <a:bodyPr/>
                    <a:lstStyle/>
                    <a:p>
                      <a:pPr algn="l" fontAlgn="ctr"/>
                      <a:r>
                        <a:rPr lang="en-US" sz="1000" b="0" i="0" u="none" strike="noStrike">
                          <a:effectLst/>
                          <a:latin typeface="Calibri" panose="020F0502020204030204" pitchFamily="34" charset="0"/>
                        </a:rPr>
                        <a:t>Agilent Technologies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$6,510</a:t>
                      </a:r>
                    </a:p>
                  </a:txBody>
                  <a:tcPr marL="27432" marR="27432" marT="0" marB="0" anchor="ctr">
                    <a:lnL>
                      <a:noFill/>
                    </a:lnL>
                    <a:lnR>
                      <a:noFill/>
                    </a:lnR>
                    <a:lnT>
                      <a:noFill/>
                    </a:lnT>
                    <a:lnB>
                      <a:noFill/>
                    </a:lnB>
                    <a:noFill/>
                  </a:tcPr>
                </a:tc>
                <a:extLst>
                  <a:ext uri="{0D108BD9-81ED-4DB2-BD59-A6C34878D82A}">
                    <a16:rowId xmlns:a16="http://schemas.microsoft.com/office/drawing/2014/main" val="3771459934"/>
                  </a:ext>
                </a:extLst>
              </a:tr>
              <a:tr h="140245">
                <a:tc>
                  <a:txBody>
                    <a:bodyPr/>
                    <a:lstStyle/>
                    <a:p>
                      <a:pPr algn="l" fontAlgn="ctr"/>
                      <a:r>
                        <a:rPr lang="en-US" sz="1000" b="0" i="0" u="none" strike="noStrike">
                          <a:effectLst/>
                          <a:latin typeface="Calibri" panose="020F0502020204030204" pitchFamily="34" charset="0"/>
                        </a:rPr>
                        <a:t>Edwards Lifesciences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$5,440</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96906131"/>
                  </a:ext>
                </a:extLst>
              </a:tr>
              <a:tr h="140245">
                <a:tc>
                  <a:txBody>
                    <a:bodyPr/>
                    <a:lstStyle/>
                    <a:p>
                      <a:pPr algn="l" fontAlgn="ctr"/>
                      <a:r>
                        <a:rPr lang="en-US" sz="1000" b="0" i="0" u="none" strike="noStrike">
                          <a:effectLst/>
                          <a:latin typeface="Calibri" panose="020F0502020204030204" pitchFamily="34" charset="0"/>
                        </a:rPr>
                        <a:t>STERIS plc</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$5,139</a:t>
                      </a:r>
                    </a:p>
                  </a:txBody>
                  <a:tcPr marL="27432" marR="27432" marT="0" marB="0" anchor="ctr">
                    <a:lnL>
                      <a:noFill/>
                    </a:lnL>
                    <a:lnR>
                      <a:noFill/>
                    </a:lnR>
                    <a:lnT>
                      <a:noFill/>
                    </a:lnT>
                    <a:lnB>
                      <a:noFill/>
                    </a:lnB>
                    <a:noFill/>
                  </a:tcPr>
                </a:tc>
                <a:extLst>
                  <a:ext uri="{0D108BD9-81ED-4DB2-BD59-A6C34878D82A}">
                    <a16:rowId xmlns:a16="http://schemas.microsoft.com/office/drawing/2014/main" val="3803720904"/>
                  </a:ext>
                </a:extLst>
              </a:tr>
              <a:tr h="140245">
                <a:tc>
                  <a:txBody>
                    <a:bodyPr/>
                    <a:lstStyle/>
                    <a:p>
                      <a:pPr algn="l" fontAlgn="ctr"/>
                      <a:r>
                        <a:rPr lang="en-US" sz="1000" b="0" i="0" u="none" strike="noStrike">
                          <a:effectLst/>
                          <a:latin typeface="Calibri" panose="020F0502020204030204" pitchFamily="34" charset="0"/>
                        </a:rPr>
                        <a:t>ResMed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$4,685</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390123229"/>
                  </a:ext>
                </a:extLst>
              </a:tr>
              <a:tr h="140245">
                <a:tc>
                  <a:txBody>
                    <a:bodyPr/>
                    <a:lstStyle/>
                    <a:p>
                      <a:pPr algn="l" fontAlgn="ctr"/>
                      <a:r>
                        <a:rPr lang="en-US" sz="1000" b="0" i="0" u="none" strike="noStrike">
                          <a:effectLst/>
                          <a:latin typeface="Calibri" panose="020F0502020204030204" pitchFamily="34" charset="0"/>
                        </a:rPr>
                        <a:t>Elanco Animal Health</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$4,439</a:t>
                      </a:r>
                    </a:p>
                  </a:txBody>
                  <a:tcPr marL="27432" marR="27432" marT="0" marB="0" anchor="ctr">
                    <a:lnL>
                      <a:noFill/>
                    </a:lnL>
                    <a:lnR>
                      <a:noFill/>
                    </a:lnR>
                    <a:lnT>
                      <a:noFill/>
                    </a:lnT>
                    <a:lnB>
                      <a:noFill/>
                    </a:lnB>
                    <a:noFill/>
                  </a:tcPr>
                </a:tc>
                <a:extLst>
                  <a:ext uri="{0D108BD9-81ED-4DB2-BD59-A6C34878D82A}">
                    <a16:rowId xmlns:a16="http://schemas.microsoft.com/office/drawing/2014/main" val="1352216278"/>
                  </a:ext>
                </a:extLst>
              </a:tr>
              <a:tr h="140245">
                <a:tc>
                  <a:txBody>
                    <a:bodyPr/>
                    <a:lstStyle/>
                    <a:p>
                      <a:pPr algn="l" fontAlgn="ctr"/>
                      <a:r>
                        <a:rPr lang="en-US" sz="1000" b="0" i="0" u="none" strike="noStrike">
                          <a:effectLst/>
                          <a:latin typeface="Calibri" panose="020F0502020204030204" pitchFamily="34" charset="0"/>
                        </a:rPr>
                        <a:t>Illumina</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$4,372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983660746"/>
                  </a:ext>
                </a:extLst>
              </a:tr>
              <a:tr h="140245">
                <a:tc>
                  <a:txBody>
                    <a:bodyPr/>
                    <a:lstStyle/>
                    <a:p>
                      <a:pPr algn="l" fontAlgn="ctr"/>
                      <a:r>
                        <a:rPr lang="en-US" sz="1000" b="0" i="0" u="none" strike="noStrike">
                          <a:effectLst/>
                          <a:latin typeface="Calibri" panose="020F0502020204030204" pitchFamily="34" charset="0"/>
                        </a:rPr>
                        <a:t>DexCom</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$4,033</a:t>
                      </a:r>
                    </a:p>
                  </a:txBody>
                  <a:tcPr marL="27432" marR="27432" marT="0" marB="0" anchor="ctr">
                    <a:lnL>
                      <a:noFill/>
                    </a:lnL>
                    <a:lnR>
                      <a:noFill/>
                    </a:lnR>
                    <a:lnT>
                      <a:noFill/>
                    </a:lnT>
                    <a:lnB>
                      <a:noFill/>
                    </a:lnB>
                    <a:noFill/>
                  </a:tcPr>
                </a:tc>
                <a:extLst>
                  <a:ext uri="{0D108BD9-81ED-4DB2-BD59-A6C34878D82A}">
                    <a16:rowId xmlns:a16="http://schemas.microsoft.com/office/drawing/2014/main" val="3355628228"/>
                  </a:ext>
                </a:extLst>
              </a:tr>
              <a:tr h="140245">
                <a:tc>
                  <a:txBody>
                    <a:bodyPr/>
                    <a:lstStyle/>
                    <a:p>
                      <a:pPr algn="l" fontAlgn="ctr"/>
                      <a:r>
                        <a:rPr lang="en-US" sz="1000" b="0" i="0" u="none" strike="noStrike">
                          <a:effectLst/>
                          <a:latin typeface="Calibri" panose="020F0502020204030204" pitchFamily="34" charset="0"/>
                        </a:rPr>
                        <a:t>Hologic</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$4,030</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3138519823"/>
                  </a:ext>
                </a:extLst>
              </a:tr>
              <a:tr h="140245">
                <a:tc>
                  <a:txBody>
                    <a:bodyPr/>
                    <a:lstStyle/>
                    <a:p>
                      <a:pPr algn="l" fontAlgn="ctr"/>
                      <a:r>
                        <a:rPr lang="en-US" sz="1000" b="0" i="0" u="none" strike="noStrike">
                          <a:effectLst/>
                          <a:latin typeface="Calibri" panose="020F0502020204030204" pitchFamily="34" charset="0"/>
                        </a:rPr>
                        <a:t>Align Technology</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$3,999</a:t>
                      </a:r>
                    </a:p>
                  </a:txBody>
                  <a:tcPr marL="27432" marR="27432" marT="0" marB="0" anchor="ctr">
                    <a:lnL>
                      <a:noFill/>
                    </a:lnL>
                    <a:lnR>
                      <a:noFill/>
                    </a:lnR>
                    <a:lnT>
                      <a:noFill/>
                    </a:lnT>
                    <a:lnB>
                      <a:noFill/>
                    </a:lnB>
                    <a:noFill/>
                  </a:tcPr>
                </a:tc>
                <a:extLst>
                  <a:ext uri="{0D108BD9-81ED-4DB2-BD59-A6C34878D82A}">
                    <a16:rowId xmlns:a16="http://schemas.microsoft.com/office/drawing/2014/main" val="1318055868"/>
                  </a:ext>
                </a:extLst>
              </a:tr>
              <a:tr h="140245">
                <a:tc>
                  <a:txBody>
                    <a:bodyPr/>
                    <a:lstStyle/>
                    <a:p>
                      <a:pPr algn="l" fontAlgn="ctr"/>
                      <a:r>
                        <a:rPr lang="en-US" sz="1000" b="0" i="0" u="none" strike="noStrike">
                          <a:effectLst/>
                          <a:latin typeface="Calibri" panose="020F0502020204030204" pitchFamily="34" charset="0"/>
                        </a:rPr>
                        <a:t>Cooper Companies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$3,895</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666725483"/>
                  </a:ext>
                </a:extLst>
              </a:tr>
              <a:tr h="140245">
                <a:tc>
                  <a:txBody>
                    <a:bodyPr/>
                    <a:lstStyle/>
                    <a:p>
                      <a:pPr algn="l" fontAlgn="ctr"/>
                      <a:r>
                        <a:rPr lang="en-US" sz="1000" b="0" i="0" u="none" strike="noStrike">
                          <a:effectLst/>
                          <a:latin typeface="Calibri" panose="020F0502020204030204" pitchFamily="34" charset="0"/>
                        </a:rPr>
                        <a:t>Mettler-Toledo International</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$3,872</a:t>
                      </a:r>
                    </a:p>
                  </a:txBody>
                  <a:tcPr marL="27432" marR="27432" marT="0" marB="0" anchor="ctr">
                    <a:lnL>
                      <a:noFill/>
                    </a:lnL>
                    <a:lnR>
                      <a:noFill/>
                    </a:lnR>
                    <a:lnT>
                      <a:noFill/>
                    </a:lnT>
                    <a:lnB>
                      <a:noFill/>
                    </a:lnB>
                    <a:noFill/>
                  </a:tcPr>
                </a:tc>
                <a:extLst>
                  <a:ext uri="{0D108BD9-81ED-4DB2-BD59-A6C34878D82A}">
                    <a16:rowId xmlns:a16="http://schemas.microsoft.com/office/drawing/2014/main" val="1394838632"/>
                  </a:ext>
                </a:extLst>
              </a:tr>
              <a:tr h="140245">
                <a:tc>
                  <a:txBody>
                    <a:bodyPr/>
                    <a:lstStyle/>
                    <a:p>
                      <a:pPr algn="l" fontAlgn="ctr"/>
                      <a:r>
                        <a:rPr lang="en-US" sz="1000" b="0" i="0" u="none" strike="noStrike">
                          <a:effectLst/>
                          <a:latin typeface="Calibri" panose="020F0502020204030204" pitchFamily="34" charset="0"/>
                        </a:rPr>
                        <a:t>Waters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$2,958</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548293582"/>
                  </a:ext>
                </a:extLst>
              </a:tr>
              <a:tr h="140245">
                <a:tc>
                  <a:txBody>
                    <a:bodyPr/>
                    <a:lstStyle/>
                    <a:p>
                      <a:pPr algn="l" fontAlgn="ctr"/>
                      <a:r>
                        <a:rPr lang="en-US" sz="1000" b="0" i="0" u="none" strike="noStrike">
                          <a:effectLst/>
                          <a:latin typeface="Calibri" panose="020F0502020204030204" pitchFamily="34" charset="0"/>
                        </a:rPr>
                        <a:t>Revvity</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$2,755</a:t>
                      </a:r>
                    </a:p>
                  </a:txBody>
                  <a:tcPr marL="27432" marR="27432" marT="0" marB="0" anchor="ctr">
                    <a:lnL>
                      <a:noFill/>
                    </a:lnL>
                    <a:lnR>
                      <a:noFill/>
                    </a:lnR>
                    <a:lnT>
                      <a:noFill/>
                    </a:lnT>
                    <a:lnB>
                      <a:noFill/>
                    </a:lnB>
                    <a:noFill/>
                  </a:tcPr>
                </a:tc>
                <a:extLst>
                  <a:ext uri="{0D108BD9-81ED-4DB2-BD59-A6C34878D82A}">
                    <a16:rowId xmlns:a16="http://schemas.microsoft.com/office/drawing/2014/main" val="3995456278"/>
                  </a:ext>
                </a:extLst>
              </a:tr>
              <a:tr h="140245">
                <a:tc>
                  <a:txBody>
                    <a:bodyPr/>
                    <a:lstStyle/>
                    <a:p>
                      <a:pPr algn="l" fontAlgn="ctr"/>
                      <a:r>
                        <a:rPr lang="en-US" sz="1000" b="0" i="0" u="none" strike="noStrike">
                          <a:effectLst/>
                          <a:latin typeface="Calibri" panose="020F0502020204030204" pitchFamily="34" charset="0"/>
                        </a:rPr>
                        <a:t>Bio-Rad Laboratories</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$2,567</a:t>
                      </a:r>
                    </a:p>
                  </a:txBody>
                  <a:tcPr marL="27432" marR="27432" marT="0" marB="0"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51489745"/>
                  </a:ext>
                </a:extLst>
              </a:tr>
              <a:tr h="140245">
                <a:tc gridSpan="6">
                  <a:txBody>
                    <a:bodyPr/>
                    <a:lstStyle/>
                    <a:p>
                      <a:pPr algn="l" fontAlgn="ctr"/>
                      <a:r>
                        <a:rPr lang="en-US" sz="1000" b="1" i="0" u="none" strike="noStrike" dirty="0">
                          <a:effectLst/>
                          <a:latin typeface="Calibri" panose="020F0502020204030204" pitchFamily="34" charset="0"/>
                        </a:rPr>
                        <a:t>ISS Peers Not Part of Goofy Peers</a:t>
                      </a:r>
                    </a:p>
                  </a:txBody>
                  <a:tcPr marL="27432" marR="27432"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9144" marR="9144"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02869881"/>
                  </a:ext>
                </a:extLst>
              </a:tr>
              <a:tr h="140245">
                <a:tc>
                  <a:txBody>
                    <a:bodyPr/>
                    <a:lstStyle/>
                    <a:p>
                      <a:pPr algn="l" fontAlgn="ctr"/>
                      <a:r>
                        <a:rPr lang="en-US" sz="1000" b="0" i="0" u="none" strike="noStrike">
                          <a:effectLst/>
                          <a:latin typeface="Calibri" panose="020F0502020204030204" pitchFamily="34" charset="0"/>
                        </a:rPr>
                        <a:t>Zimmer Biomet</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$7,679</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751081636"/>
                  </a:ext>
                </a:extLst>
              </a:tr>
              <a:tr h="140245">
                <a:tc>
                  <a:txBody>
                    <a:bodyPr/>
                    <a:lstStyle/>
                    <a:p>
                      <a:pPr algn="l" fontAlgn="ctr"/>
                      <a:r>
                        <a:rPr lang="en-US" sz="1000" b="0" i="0" u="none" strike="noStrike">
                          <a:effectLst/>
                          <a:latin typeface="Calibri" panose="020F0502020204030204" pitchFamily="34" charset="0"/>
                        </a:rPr>
                        <a:t>Teleflex Incorporated</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$3,047</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999298100"/>
                  </a:ext>
                </a:extLst>
              </a:tr>
              <a:tr h="140245">
                <a:tc>
                  <a:txBody>
                    <a:bodyPr/>
                    <a:lstStyle/>
                    <a:p>
                      <a:pPr algn="l" fontAlgn="ctr"/>
                      <a:r>
                        <a:rPr lang="en-US" sz="1000" b="0" i="0" u="none" strike="noStrike">
                          <a:effectLst/>
                          <a:latin typeface="Calibri" panose="020F0502020204030204" pitchFamily="34" charset="0"/>
                        </a:rPr>
                        <a:t>QuidelOrtho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$2,783</a:t>
                      </a:r>
                    </a:p>
                  </a:txBody>
                  <a:tcPr marL="27432" marR="27432" marT="0" marB="0" anchor="ctr">
                    <a:lnL>
                      <a:noFill/>
                    </a:lnL>
                    <a:lnR>
                      <a:noFill/>
                    </a:lnR>
                    <a:lnT>
                      <a:noFill/>
                    </a:lnT>
                    <a:lnB>
                      <a:noFill/>
                    </a:lnB>
                    <a:noFill/>
                  </a:tcPr>
                </a:tc>
                <a:extLst>
                  <a:ext uri="{0D108BD9-81ED-4DB2-BD59-A6C34878D82A}">
                    <a16:rowId xmlns:a16="http://schemas.microsoft.com/office/drawing/2014/main" val="1779692235"/>
                  </a:ext>
                </a:extLst>
              </a:tr>
              <a:tr h="140245">
                <a:tc>
                  <a:txBody>
                    <a:bodyPr/>
                    <a:lstStyle/>
                    <a:p>
                      <a:pPr algn="l" fontAlgn="ctr"/>
                      <a:r>
                        <a:rPr lang="en-US" sz="1000" b="0" i="0" u="none" strike="noStrike">
                          <a:effectLst/>
                          <a:latin typeface="Calibri" panose="020F0502020204030204" pitchFamily="34" charset="0"/>
                        </a:rPr>
                        <a:t>Globus Medical</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accent2">
                        <a:lumMod val="20000"/>
                        <a:lumOff val="80000"/>
                      </a:schemeClr>
                    </a:solidFill>
                  </a:tcPr>
                </a:tc>
                <a:tc>
                  <a:txBody>
                    <a:bodyPr/>
                    <a:lstStyle/>
                    <a:p>
                      <a:pPr algn="ctr" fontAlgn="ctr"/>
                      <a:r>
                        <a:rPr lang="en-US" sz="1000" b="0" i="0" u="none" strike="noStrike">
                          <a:effectLst/>
                          <a:latin typeface="Calibri" panose="020F0502020204030204" pitchFamily="34" charset="0"/>
                        </a:rPr>
                        <a:t>$2,519</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740010537"/>
                  </a:ext>
                </a:extLst>
              </a:tr>
              <a:tr h="140245">
                <a:tc>
                  <a:txBody>
                    <a:bodyPr/>
                    <a:lstStyle/>
                    <a:p>
                      <a:pPr algn="l" fontAlgn="ctr"/>
                      <a:r>
                        <a:rPr lang="en-US" sz="1000" b="0" i="0" u="none" strike="noStrike">
                          <a:effectLst/>
                          <a:latin typeface="Calibri" panose="020F0502020204030204" pitchFamily="34" charset="0"/>
                        </a:rPr>
                        <a:t>Envista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$2,511</a:t>
                      </a:r>
                    </a:p>
                  </a:txBody>
                  <a:tcPr marL="27432" marR="27432" marT="0" marB="0" anchor="ctr">
                    <a:lnL>
                      <a:noFill/>
                    </a:lnL>
                    <a:lnR>
                      <a:noFill/>
                    </a:lnR>
                    <a:lnT>
                      <a:noFill/>
                    </a:lnT>
                    <a:lnB>
                      <a:noFill/>
                    </a:lnB>
                    <a:noFill/>
                  </a:tcPr>
                </a:tc>
                <a:extLst>
                  <a:ext uri="{0D108BD9-81ED-4DB2-BD59-A6C34878D82A}">
                    <a16:rowId xmlns:a16="http://schemas.microsoft.com/office/drawing/2014/main" val="134529914"/>
                  </a:ext>
                </a:extLst>
              </a:tr>
              <a:tr h="140245">
                <a:tc>
                  <a:txBody>
                    <a:bodyPr/>
                    <a:lstStyle/>
                    <a:p>
                      <a:pPr algn="l" fontAlgn="ctr"/>
                      <a:r>
                        <a:rPr lang="en-US" sz="1000" b="0" i="0" u="none" strike="noStrike">
                          <a:effectLst/>
                          <a:latin typeface="Calibri" panose="020F0502020204030204" pitchFamily="34" charset="0"/>
                        </a:rPr>
                        <a:t>Enovis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$2,108</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734537973"/>
                  </a:ext>
                </a:extLst>
              </a:tr>
              <a:tr h="140245">
                <a:tc>
                  <a:txBody>
                    <a:bodyPr/>
                    <a:lstStyle/>
                    <a:p>
                      <a:pPr algn="l" fontAlgn="ctr"/>
                      <a:r>
                        <a:rPr lang="en-US" sz="1000" b="0" i="0" u="none" strike="noStrike">
                          <a:effectLst/>
                          <a:latin typeface="Calibri" panose="020F0502020204030204" pitchFamily="34" charset="0"/>
                        </a:rPr>
                        <a:t>Masimo Corporation</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$2,094</a:t>
                      </a:r>
                    </a:p>
                  </a:txBody>
                  <a:tcPr marL="27432" marR="27432" marT="0" marB="0" anchor="ctr">
                    <a:lnL>
                      <a:noFill/>
                    </a:lnL>
                    <a:lnR>
                      <a:noFill/>
                    </a:lnR>
                    <a:lnT>
                      <a:noFill/>
                    </a:lnT>
                    <a:lnB>
                      <a:noFill/>
                    </a:lnB>
                    <a:noFill/>
                  </a:tcPr>
                </a:tc>
                <a:extLst>
                  <a:ext uri="{0D108BD9-81ED-4DB2-BD59-A6C34878D82A}">
                    <a16:rowId xmlns:a16="http://schemas.microsoft.com/office/drawing/2014/main" val="2269030187"/>
                  </a:ext>
                </a:extLst>
              </a:tr>
              <a:tr h="140245">
                <a:tc>
                  <a:txBody>
                    <a:bodyPr/>
                    <a:lstStyle/>
                    <a:p>
                      <a:pPr algn="l" fontAlgn="ctr"/>
                      <a:r>
                        <a:rPr lang="en-US" sz="1000" b="0" i="0" u="none" strike="noStrike">
                          <a:effectLst/>
                          <a:latin typeface="Calibri" panose="020F0502020204030204" pitchFamily="34" charset="0"/>
                        </a:rPr>
                        <a:t>Insulet Corporation</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$2,072</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601804036"/>
                  </a:ext>
                </a:extLst>
              </a:tr>
              <a:tr h="140245">
                <a:tc>
                  <a:txBody>
                    <a:bodyPr/>
                    <a:lstStyle/>
                    <a:p>
                      <a:pPr algn="l" fontAlgn="ctr"/>
                      <a:r>
                        <a:rPr lang="en-US" sz="1000" b="0" i="0" u="none" strike="noStrike">
                          <a:effectLst/>
                          <a:latin typeface="Calibri" panose="020F0502020204030204" pitchFamily="34" charset="0"/>
                        </a:rPr>
                        <a:t>Integer Holdings</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$1,717</a:t>
                      </a:r>
                    </a:p>
                  </a:txBody>
                  <a:tcPr marL="27432" marR="27432" marT="0" marB="0" anchor="ctr">
                    <a:lnL>
                      <a:noFill/>
                    </a:lnL>
                    <a:lnR>
                      <a:noFill/>
                    </a:lnR>
                    <a:lnT>
                      <a:noFill/>
                    </a:lnT>
                    <a:lnB>
                      <a:noFill/>
                    </a:lnB>
                    <a:noFill/>
                  </a:tcPr>
                </a:tc>
                <a:extLst>
                  <a:ext uri="{0D108BD9-81ED-4DB2-BD59-A6C34878D82A}">
                    <a16:rowId xmlns:a16="http://schemas.microsoft.com/office/drawing/2014/main" val="2095763524"/>
                  </a:ext>
                </a:extLst>
              </a:tr>
              <a:tr h="140245">
                <a:tc>
                  <a:txBody>
                    <a:bodyPr/>
                    <a:lstStyle/>
                    <a:p>
                      <a:pPr algn="l" fontAlgn="ctr"/>
                      <a:r>
                        <a:rPr lang="en-US" sz="1000" b="0" i="0" u="none" strike="noStrike">
                          <a:effectLst/>
                          <a:latin typeface="Calibri" panose="020F0502020204030204" pitchFamily="34" charset="0"/>
                        </a:rPr>
                        <a:t>Integra LifeSciences</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0" marB="0"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 </a:t>
                      </a:r>
                    </a:p>
                  </a:txBody>
                  <a:tcPr marL="27432" marR="27432" marT="0" marB="0" anchor="ctr">
                    <a:lnL>
                      <a:noFill/>
                    </a:lnL>
                    <a:lnR>
                      <a:noFill/>
                    </a:lnR>
                    <a:lnT>
                      <a:noFill/>
                    </a:lnT>
                    <a:lnB>
                      <a:noFill/>
                    </a:lnB>
                    <a:solidFill>
                      <a:schemeClr val="accent4">
                        <a:lumMod val="20000"/>
                        <a:lumOff val="80000"/>
                      </a:schemeClr>
                    </a:solidFill>
                  </a:tcPr>
                </a:tc>
                <a:tc>
                  <a:txBody>
                    <a:bodyPr/>
                    <a:lstStyle/>
                    <a:p>
                      <a:pPr algn="ctr" fontAlgn="ctr"/>
                      <a:r>
                        <a:rPr lang="en-US" sz="1000" b="0" i="0" u="none" strike="noStrike">
                          <a:effectLst/>
                          <a:latin typeface="Calibri" panose="020F0502020204030204" pitchFamily="34" charset="0"/>
                        </a:rPr>
                        <a:t>$1,611</a:t>
                      </a:r>
                    </a:p>
                  </a:txBody>
                  <a:tcPr marL="27432" marR="27432"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1312869312"/>
                  </a:ext>
                </a:extLst>
              </a:tr>
              <a:tr h="42074">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2911764"/>
                  </a:ext>
                </a:extLst>
              </a:tr>
              <a:tr h="140245">
                <a:tc>
                  <a:txBody>
                    <a:bodyPr/>
                    <a:lstStyle/>
                    <a:p>
                      <a:pPr algn="l" fontAlgn="b"/>
                      <a:r>
                        <a:rPr lang="en-US" sz="1000" b="1" i="0" u="none" strike="noStrike" dirty="0">
                          <a:effectLst/>
                          <a:latin typeface="Calibri" panose="020F0502020204030204" pitchFamily="34" charset="0"/>
                        </a:rPr>
                        <a:t>Count</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dirty="0">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dirty="0">
                          <a:effectLst/>
                          <a:latin typeface="Calibri" panose="020F0502020204030204" pitchFamily="34" charset="0"/>
                        </a:rPr>
                        <a:t>16</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dirty="0">
                          <a:effectLst/>
                          <a:latin typeface="Calibri" panose="020F0502020204030204" pitchFamily="34" charset="0"/>
                        </a:rPr>
                        <a:t>24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dirty="0">
                          <a:effectLst/>
                          <a:latin typeface="Calibri" panose="020F0502020204030204" pitchFamily="34" charset="0"/>
                        </a:rPr>
                        <a:t>24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dirty="0">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158276"/>
                  </a:ext>
                </a:extLst>
              </a:tr>
              <a:tr h="42074">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300" b="0" i="0" u="none" strike="noStrike">
                        <a:effectLst/>
                        <a:latin typeface="Calibri" panose="020F0502020204030204" pitchFamily="34" charset="0"/>
                      </a:endParaRP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8642149"/>
                  </a:ext>
                </a:extLst>
              </a:tr>
              <a:tr h="140245">
                <a:tc>
                  <a:txBody>
                    <a:bodyPr/>
                    <a:lstStyle/>
                    <a:p>
                      <a:pPr algn="l" fontAlgn="b"/>
                      <a:r>
                        <a:rPr lang="en-US" sz="1000" b="0" i="0" u="none" strike="noStrike">
                          <a:effectLst/>
                          <a:latin typeface="Calibri" panose="020F0502020204030204" pitchFamily="34" charset="0"/>
                        </a:rPr>
                        <a:t>75th %ile</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1000" b="0" i="0" u="none" strike="noStrike">
                          <a:effectLst/>
                          <a:latin typeface="Calibri" panose="020F0502020204030204" pitchFamily="34" charset="0"/>
                        </a:rPr>
                        <a:t>$4,799</a:t>
                      </a:r>
                    </a:p>
                  </a:txBody>
                  <a:tcPr marL="27432" marR="27432"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038465702"/>
                  </a:ext>
                </a:extLst>
              </a:tr>
              <a:tr h="140245">
                <a:tc>
                  <a:txBody>
                    <a:bodyPr/>
                    <a:lstStyle/>
                    <a:p>
                      <a:pPr algn="l" fontAlgn="b"/>
                      <a:r>
                        <a:rPr lang="en-US" sz="1000" b="1" i="0" u="none" strike="noStrike" dirty="0">
                          <a:effectLst/>
                          <a:latin typeface="Calibri" panose="020F0502020204030204" pitchFamily="34" charset="0"/>
                        </a:rPr>
                        <a:t>Median</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0" marB="0" anchor="b">
                    <a:lnL>
                      <a:noFill/>
                    </a:lnL>
                    <a:lnR>
                      <a:noFill/>
                    </a:lnR>
                    <a:lnT>
                      <a:noFill/>
                    </a:lnT>
                    <a:lnB>
                      <a:noFill/>
                    </a:lnB>
                    <a:solidFill>
                      <a:srgbClr val="FFFFDB"/>
                    </a:solidFill>
                  </a:tcPr>
                </a:tc>
                <a:tc>
                  <a:txBody>
                    <a:bodyPr/>
                    <a:lstStyle/>
                    <a:p>
                      <a:pPr algn="ctr" fontAlgn="b"/>
                      <a:r>
                        <a:rPr lang="en-US" sz="1000" b="1" i="0" u="none" strike="noStrike">
                          <a:effectLst/>
                          <a:latin typeface="Calibri" panose="020F0502020204030204" pitchFamily="34" charset="0"/>
                        </a:rPr>
                        <a:t>$3,947</a:t>
                      </a:r>
                    </a:p>
                  </a:txBody>
                  <a:tcPr marL="27432" marR="27432" marT="0" marB="0" anchor="b">
                    <a:lnL>
                      <a:noFill/>
                    </a:lnL>
                    <a:lnR>
                      <a:noFill/>
                    </a:lnR>
                    <a:lnT>
                      <a:noFill/>
                    </a:lnT>
                    <a:lnB>
                      <a:noFill/>
                    </a:lnB>
                    <a:solidFill>
                      <a:srgbClr val="FFFFDB"/>
                    </a:solidFill>
                  </a:tcPr>
                </a:tc>
                <a:extLst>
                  <a:ext uri="{0D108BD9-81ED-4DB2-BD59-A6C34878D82A}">
                    <a16:rowId xmlns:a16="http://schemas.microsoft.com/office/drawing/2014/main" val="1397857449"/>
                  </a:ext>
                </a:extLst>
              </a:tr>
              <a:tr h="140245">
                <a:tc>
                  <a:txBody>
                    <a:bodyPr/>
                    <a:lstStyle/>
                    <a:p>
                      <a:pPr algn="l" fontAlgn="b"/>
                      <a:r>
                        <a:rPr lang="en-US" sz="1000" b="0" i="0" u="none" strike="noStrike">
                          <a:effectLst/>
                          <a:latin typeface="Calibri" panose="020F0502020204030204" pitchFamily="34" charset="0"/>
                        </a:rPr>
                        <a:t>25th %ile</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1000" b="0" i="0" u="none" strike="noStrike" dirty="0">
                          <a:effectLst/>
                          <a:latin typeface="Calibri" panose="020F0502020204030204" pitchFamily="34" charset="0"/>
                        </a:rPr>
                        <a:t>$2,555</a:t>
                      </a:r>
                    </a:p>
                  </a:txBody>
                  <a:tcPr marL="27432" marR="27432"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341301163"/>
                  </a:ext>
                </a:extLst>
              </a:tr>
            </a:tbl>
          </a:graphicData>
        </a:graphic>
      </p:graphicFrame>
      <p:graphicFrame>
        <p:nvGraphicFramePr>
          <p:cNvPr id="14" name="Table 14">
            <a:extLst>
              <a:ext uri="{FF2B5EF4-FFF2-40B4-BE49-F238E27FC236}">
                <a16:creationId xmlns:a16="http://schemas.microsoft.com/office/drawing/2014/main" id="{56157F85-86BF-CFF8-252A-47525B86CE9D}"/>
              </a:ext>
            </a:extLst>
          </p:cNvPr>
          <p:cNvGraphicFramePr>
            <a:graphicFrameLocks noGrp="1"/>
          </p:cNvGraphicFramePr>
          <p:nvPr>
            <p:extLst>
              <p:ext uri="{D42A27DB-BD31-4B8C-83A1-F6EECF244321}">
                <p14:modId xmlns:p14="http://schemas.microsoft.com/office/powerpoint/2010/main" val="3500819838"/>
              </p:ext>
            </p:extLst>
          </p:nvPr>
        </p:nvGraphicFramePr>
        <p:xfrm>
          <a:off x="6334927" y="1379160"/>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15" name="TextBox 14">
            <a:extLst>
              <a:ext uri="{FF2B5EF4-FFF2-40B4-BE49-F238E27FC236}">
                <a16:creationId xmlns:a16="http://schemas.microsoft.com/office/drawing/2014/main" id="{746D8808-6DF8-BD0C-B635-69DD2F59A083}"/>
              </a:ext>
            </a:extLst>
          </p:cNvPr>
          <p:cNvSpPr txBox="1"/>
          <p:nvPr/>
        </p:nvSpPr>
        <p:spPr>
          <a:xfrm>
            <a:off x="1849431" y="6560467"/>
            <a:ext cx="4967145" cy="246221"/>
          </a:xfrm>
          <a:prstGeom prst="rect">
            <a:avLst/>
          </a:prstGeom>
          <a:noFill/>
        </p:spPr>
        <p:txBody>
          <a:bodyPr wrap="square" lIns="45720" tIns="45720" rIns="45720" bIns="45720" rtlCol="0" anchor="ctr">
            <a:spAutoFit/>
          </a:bodyPr>
          <a:lstStyle/>
          <a:p>
            <a:pPr marL="228600" indent="-228600">
              <a:buAutoNum type="arabicParenBoth"/>
            </a:pPr>
            <a:r>
              <a:rPr lang="en-US" sz="1000" i="1"/>
              <a:t>Summary statistics include only the companies listed as 2025 ISS peers</a:t>
            </a:r>
          </a:p>
        </p:txBody>
      </p:sp>
      <p:sp>
        <p:nvSpPr>
          <p:cNvPr id="2" name="TextBox 1">
            <a:extLst>
              <a:ext uri="{FF2B5EF4-FFF2-40B4-BE49-F238E27FC236}">
                <a16:creationId xmlns:a16="http://schemas.microsoft.com/office/drawing/2014/main" id="{488F32B4-1F89-BF67-C683-C701C3878E17}"/>
              </a:ext>
            </a:extLst>
          </p:cNvPr>
          <p:cNvSpPr txBox="1"/>
          <p:nvPr/>
        </p:nvSpPr>
        <p:spPr>
          <a:xfrm>
            <a:off x="160986" y="1424225"/>
            <a:ext cx="2213399" cy="355097"/>
          </a:xfrm>
          <a:prstGeom prst="rect">
            <a:avLst/>
          </a:prstGeom>
          <a:solidFill>
            <a:schemeClr val="accent3"/>
          </a:solidFill>
          <a:ln>
            <a:solidFill>
              <a:schemeClr val="tx1"/>
            </a:solidFill>
          </a:ln>
        </p:spPr>
        <p:txBody>
          <a:bodyPr vert="horz" wrap="square" lIns="45720" tIns="45720" rIns="45720" bIns="45720" rtlCol="0" anchor="ctr">
            <a:spAutoFit/>
          </a:bodyPr>
          <a:lstStyle/>
          <a:p>
            <a:pPr algn="ctr">
              <a:lnSpc>
                <a:spcPct val="85000"/>
              </a:lnSpc>
            </a:pPr>
            <a:r>
              <a:rPr lang="en-US" sz="1000" dirty="0"/>
              <a:t>To be updated after ISS report is received from Goofy</a:t>
            </a:r>
          </a:p>
        </p:txBody>
      </p:sp>
    </p:spTree>
    <p:extLst>
      <p:ext uri="{BB962C8B-B14F-4D97-AF65-F5344CB8AC3E}">
        <p14:creationId xmlns:p14="http://schemas.microsoft.com/office/powerpoint/2010/main" val="17118679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6735-0A80-966D-175B-A782E405914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AB4550-ABB3-542D-13B4-E1A63E07174F}"/>
              </a:ext>
            </a:extLst>
          </p:cNvPr>
          <p:cNvSpPr>
            <a:spLocks noGrp="1"/>
          </p:cNvSpPr>
          <p:nvPr>
            <p:ph type="title"/>
          </p:nvPr>
        </p:nvSpPr>
        <p:spPr>
          <a:xfrm>
            <a:off x="882797" y="44215"/>
            <a:ext cx="8074152" cy="1292899"/>
          </a:xfrm>
        </p:spPr>
        <p:txBody>
          <a:bodyPr/>
          <a:lstStyle/>
          <a:p>
            <a:r>
              <a:rPr lang="en-US" dirty="0"/>
              <a:t>Glass Lewis removed two peers and added two peers to </a:t>
            </a:r>
            <a:r>
              <a:rPr lang="en-US" dirty="0" err="1"/>
              <a:t>Goofy’s</a:t>
            </a:r>
            <a:r>
              <a:rPr lang="en-US" dirty="0"/>
              <a:t> 2025 peer group</a:t>
            </a:r>
          </a:p>
        </p:txBody>
      </p:sp>
      <p:sp>
        <p:nvSpPr>
          <p:cNvPr id="4" name="Slide Number Placeholder 3">
            <a:extLst>
              <a:ext uri="{FF2B5EF4-FFF2-40B4-BE49-F238E27FC236}">
                <a16:creationId xmlns:a16="http://schemas.microsoft.com/office/drawing/2014/main" id="{E03B82BD-0178-1319-8D57-C95CBFA4EEE1}"/>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14</a:t>
            </a:fld>
            <a:endParaRPr lang="en-US"/>
          </a:p>
        </p:txBody>
      </p:sp>
      <p:sp>
        <p:nvSpPr>
          <p:cNvPr id="2" name="TextBox 1">
            <a:extLst>
              <a:ext uri="{FF2B5EF4-FFF2-40B4-BE49-F238E27FC236}">
                <a16:creationId xmlns:a16="http://schemas.microsoft.com/office/drawing/2014/main" id="{37FC3260-2D5B-F607-6E1E-A48E5E628FC0}"/>
              </a:ext>
            </a:extLst>
          </p:cNvPr>
          <p:cNvSpPr txBox="1"/>
          <p:nvPr/>
        </p:nvSpPr>
        <p:spPr>
          <a:xfrm>
            <a:off x="2557635" y="1371880"/>
            <a:ext cx="3289298" cy="286232"/>
          </a:xfrm>
          <a:prstGeom prst="rect">
            <a:avLst/>
          </a:prstGeom>
          <a:noFill/>
        </p:spPr>
        <p:txBody>
          <a:bodyPr wrap="square" lIns="45720" tIns="45720" rIns="45720" bIns="45720" rtlCol="0" anchor="ctr">
            <a:spAutoFit/>
          </a:bodyPr>
          <a:lstStyle/>
          <a:p>
            <a:pPr algn="ctr">
              <a:lnSpc>
                <a:spcPct val="90000"/>
              </a:lnSpc>
            </a:pPr>
            <a:r>
              <a:rPr lang="en-US" sz="1400" b="1"/>
              <a:t>Glass Lewis Peer Group 2025 Changes</a:t>
            </a:r>
          </a:p>
        </p:txBody>
      </p:sp>
      <p:sp>
        <p:nvSpPr>
          <p:cNvPr id="6" name="TextBox 5">
            <a:extLst>
              <a:ext uri="{FF2B5EF4-FFF2-40B4-BE49-F238E27FC236}">
                <a16:creationId xmlns:a16="http://schemas.microsoft.com/office/drawing/2014/main" id="{F23459E9-99B4-8995-B94B-C0F443235E3D}"/>
              </a:ext>
            </a:extLst>
          </p:cNvPr>
          <p:cNvSpPr txBox="1"/>
          <p:nvPr/>
        </p:nvSpPr>
        <p:spPr>
          <a:xfrm>
            <a:off x="1811902" y="6516107"/>
            <a:ext cx="4389120" cy="246221"/>
          </a:xfrm>
          <a:prstGeom prst="rect">
            <a:avLst/>
          </a:prstGeom>
          <a:noFill/>
        </p:spPr>
        <p:txBody>
          <a:bodyPr wrap="square" lIns="45720" tIns="45720" rIns="45720" bIns="45720" rtlCol="0" anchor="ctr">
            <a:spAutoFit/>
          </a:bodyPr>
          <a:lstStyle/>
          <a:p>
            <a:pPr marL="228600" indent="-228600">
              <a:buAutoNum type="arabicParenBoth"/>
            </a:pPr>
            <a:r>
              <a:rPr lang="en-US" sz="1000" i="1"/>
              <a:t>Summary statistics include only the companies listed as 2025 Glass Lewis peers</a:t>
            </a:r>
          </a:p>
        </p:txBody>
      </p:sp>
      <p:sp>
        <p:nvSpPr>
          <p:cNvPr id="7" name="Rectangle 6">
            <a:extLst>
              <a:ext uri="{FF2B5EF4-FFF2-40B4-BE49-F238E27FC236}">
                <a16:creationId xmlns:a16="http://schemas.microsoft.com/office/drawing/2014/main" id="{BFCFBB1A-2813-CDCC-E179-5C26F9C163CC}"/>
              </a:ext>
            </a:extLst>
          </p:cNvPr>
          <p:cNvSpPr/>
          <p:nvPr/>
        </p:nvSpPr>
        <p:spPr>
          <a:xfrm>
            <a:off x="6334927" y="2500532"/>
            <a:ext cx="274320" cy="137160"/>
          </a:xfrm>
          <a:prstGeom prst="rect">
            <a:avLst/>
          </a:prstGeom>
          <a:solidFill>
            <a:schemeClr val="accent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8" name="Rectangle 7">
            <a:extLst>
              <a:ext uri="{FF2B5EF4-FFF2-40B4-BE49-F238E27FC236}">
                <a16:creationId xmlns:a16="http://schemas.microsoft.com/office/drawing/2014/main" id="{090D6318-EFCA-1F33-5F2B-5979853108E4}"/>
              </a:ext>
            </a:extLst>
          </p:cNvPr>
          <p:cNvSpPr/>
          <p:nvPr/>
        </p:nvSpPr>
        <p:spPr>
          <a:xfrm>
            <a:off x="6334927" y="2697367"/>
            <a:ext cx="274320" cy="137160"/>
          </a:xfrm>
          <a:prstGeom prst="rec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9" name="TextBox 8">
            <a:extLst>
              <a:ext uri="{FF2B5EF4-FFF2-40B4-BE49-F238E27FC236}">
                <a16:creationId xmlns:a16="http://schemas.microsoft.com/office/drawing/2014/main" id="{24837AD4-4CB2-0416-DFF9-133A089EA10A}"/>
              </a:ext>
            </a:extLst>
          </p:cNvPr>
          <p:cNvSpPr txBox="1"/>
          <p:nvPr/>
        </p:nvSpPr>
        <p:spPr>
          <a:xfrm>
            <a:off x="6227061" y="1609471"/>
            <a:ext cx="1361837" cy="166895"/>
          </a:xfrm>
          <a:prstGeom prst="rect">
            <a:avLst/>
          </a:prstGeom>
          <a:noFill/>
        </p:spPr>
        <p:txBody>
          <a:bodyPr wrap="square" rtlCol="0" anchor="ctr">
            <a:spAutoFit/>
          </a:bodyPr>
          <a:lstStyle/>
          <a:p>
            <a:r>
              <a:rPr lang="en-US" sz="1000" b="1" i="1"/>
              <a:t>Legend:</a:t>
            </a:r>
          </a:p>
        </p:txBody>
      </p:sp>
      <p:graphicFrame>
        <p:nvGraphicFramePr>
          <p:cNvPr id="10" name="Table 9">
            <a:extLst>
              <a:ext uri="{FF2B5EF4-FFF2-40B4-BE49-F238E27FC236}">
                <a16:creationId xmlns:a16="http://schemas.microsoft.com/office/drawing/2014/main" id="{7EEBDF4E-CD63-72ED-C572-DF446A273F0A}"/>
              </a:ext>
            </a:extLst>
          </p:cNvPr>
          <p:cNvGraphicFramePr>
            <a:graphicFrameLocks noGrp="1"/>
          </p:cNvGraphicFramePr>
          <p:nvPr>
            <p:extLst>
              <p:ext uri="{D42A27DB-BD31-4B8C-83A1-F6EECF244321}">
                <p14:modId xmlns:p14="http://schemas.microsoft.com/office/powerpoint/2010/main" val="139823133"/>
              </p:ext>
            </p:extLst>
          </p:nvPr>
        </p:nvGraphicFramePr>
        <p:xfrm>
          <a:off x="1811902" y="1640138"/>
          <a:ext cx="4389120" cy="4866640"/>
        </p:xfrm>
        <a:graphic>
          <a:graphicData uri="http://schemas.openxmlformats.org/drawingml/2006/table">
            <a:tbl>
              <a:tblPr/>
              <a:tblGrid>
                <a:gridCol w="1645920">
                  <a:extLst>
                    <a:ext uri="{9D8B030D-6E8A-4147-A177-3AD203B41FA5}">
                      <a16:colId xmlns:a16="http://schemas.microsoft.com/office/drawing/2014/main" val="189046131"/>
                    </a:ext>
                  </a:extLst>
                </a:gridCol>
                <a:gridCol w="548640">
                  <a:extLst>
                    <a:ext uri="{9D8B030D-6E8A-4147-A177-3AD203B41FA5}">
                      <a16:colId xmlns:a16="http://schemas.microsoft.com/office/drawing/2014/main" val="3266166983"/>
                    </a:ext>
                  </a:extLst>
                </a:gridCol>
                <a:gridCol w="457200">
                  <a:extLst>
                    <a:ext uri="{9D8B030D-6E8A-4147-A177-3AD203B41FA5}">
                      <a16:colId xmlns:a16="http://schemas.microsoft.com/office/drawing/2014/main" val="774650952"/>
                    </a:ext>
                  </a:extLst>
                </a:gridCol>
                <a:gridCol w="548640">
                  <a:extLst>
                    <a:ext uri="{9D8B030D-6E8A-4147-A177-3AD203B41FA5}">
                      <a16:colId xmlns:a16="http://schemas.microsoft.com/office/drawing/2014/main" val="3788330082"/>
                    </a:ext>
                  </a:extLst>
                </a:gridCol>
                <a:gridCol w="548640">
                  <a:extLst>
                    <a:ext uri="{9D8B030D-6E8A-4147-A177-3AD203B41FA5}">
                      <a16:colId xmlns:a16="http://schemas.microsoft.com/office/drawing/2014/main" val="1265053092"/>
                    </a:ext>
                  </a:extLst>
                </a:gridCol>
                <a:gridCol w="640080">
                  <a:extLst>
                    <a:ext uri="{9D8B030D-6E8A-4147-A177-3AD203B41FA5}">
                      <a16:colId xmlns:a16="http://schemas.microsoft.com/office/drawing/2014/main" val="4086555956"/>
                    </a:ext>
                  </a:extLst>
                </a:gridCol>
              </a:tblGrid>
              <a:tr h="0">
                <a:tc>
                  <a:txBody>
                    <a:bodyPr/>
                    <a:lstStyle/>
                    <a:p>
                      <a:pPr algn="l" fontAlgn="b"/>
                      <a:r>
                        <a:rPr lang="en-US" sz="1000" b="1" i="0" u="none" strike="noStrike" dirty="0">
                          <a:solidFill>
                            <a:srgbClr val="FFFFFF"/>
                          </a:solidFill>
                          <a:effectLst/>
                          <a:latin typeface="Calibri" panose="020F0502020204030204" pitchFamily="34" charset="0"/>
                        </a:rPr>
                        <a:t>($MM)</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Current</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l" fontAlgn="b"/>
                      <a:r>
                        <a:rPr lang="en-US" sz="1000" b="1" i="0" u="none" strike="noStrike">
                          <a:solidFill>
                            <a:srgbClr val="FFFFFF"/>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FYE</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006EBE"/>
                    </a:solidFill>
                  </a:tcPr>
                </a:tc>
                <a:extLst>
                  <a:ext uri="{0D108BD9-81ED-4DB2-BD59-A6C34878D82A}">
                    <a16:rowId xmlns:a16="http://schemas.microsoft.com/office/drawing/2014/main" val="2147918211"/>
                  </a:ext>
                </a:extLst>
              </a:tr>
              <a:tr h="0">
                <a:tc>
                  <a:txBody>
                    <a:bodyPr/>
                    <a:lstStyle/>
                    <a:p>
                      <a:pPr algn="ctr" fontAlgn="b"/>
                      <a:r>
                        <a:rPr lang="en-US" sz="1000" b="1" i="0" u="none" strike="noStrike">
                          <a:solidFill>
                            <a:srgbClr val="FFFFFF"/>
                          </a:solidFill>
                          <a:effectLst/>
                          <a:latin typeface="Calibri" panose="020F0502020204030204" pitchFamily="34" charset="0"/>
                        </a:rPr>
                        <a:t>Company</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Peer</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GL 2024</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GL 2025</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Revenue</a:t>
                      </a:r>
                      <a:r>
                        <a:rPr lang="en-US" sz="1000" b="1" i="0" u="none" strike="noStrike" baseline="30000">
                          <a:solidFill>
                            <a:srgbClr val="FFFFFF"/>
                          </a:solidFill>
                          <a:effectLst/>
                          <a:latin typeface="Calibri" panose="020F0502020204030204" pitchFamily="34" charset="0"/>
                        </a:rPr>
                        <a:t>(1)</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769162591"/>
                  </a:ext>
                </a:extLst>
              </a:tr>
              <a:tr h="0">
                <a:tc>
                  <a:txBody>
                    <a:bodyPr/>
                    <a:lstStyle/>
                    <a:p>
                      <a:pPr algn="l" fontAlgn="ctr"/>
                      <a:r>
                        <a:rPr lang="en-US" sz="1000" b="1" i="0" u="none" strike="noStrike" dirty="0">
                          <a:effectLst/>
                          <a:latin typeface="Calibri" panose="020F0502020204030204" pitchFamily="34" charset="0"/>
                        </a:rPr>
                        <a:t>Goofy Peers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10771386"/>
                  </a:ext>
                </a:extLst>
              </a:tr>
              <a:tr h="0">
                <a:tc>
                  <a:txBody>
                    <a:bodyPr/>
                    <a:lstStyle/>
                    <a:p>
                      <a:pPr algn="l" fontAlgn="ctr"/>
                      <a:r>
                        <a:rPr lang="en-US" sz="1000" b="0" i="0" u="none" strike="noStrike">
                          <a:effectLst/>
                          <a:latin typeface="Calibri" panose="020F0502020204030204" pitchFamily="34" charset="0"/>
                        </a:rPr>
                        <a:t>Zoetis</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dirty="0">
                          <a:effectLst/>
                          <a:latin typeface="Calibri" panose="020F0502020204030204" pitchFamily="34" charset="0"/>
                        </a:rPr>
                        <a:t>$9,256</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108301607"/>
                  </a:ext>
                </a:extLst>
              </a:tr>
              <a:tr h="50793">
                <a:tc>
                  <a:txBody>
                    <a:bodyPr/>
                    <a:lstStyle/>
                    <a:p>
                      <a:pPr algn="l" fontAlgn="ctr"/>
                      <a:r>
                        <a:rPr lang="en-US" sz="1000" b="0" i="0" u="none" strike="noStrike">
                          <a:effectLst/>
                          <a:latin typeface="Calibri" panose="020F0502020204030204" pitchFamily="34" charset="0"/>
                        </a:rPr>
                        <a:t>Intuitive Surgical</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$8,352</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460068477"/>
                  </a:ext>
                </a:extLst>
              </a:tr>
              <a:tr h="0">
                <a:tc>
                  <a:txBody>
                    <a:bodyPr/>
                    <a:lstStyle/>
                    <a:p>
                      <a:pPr algn="l" fontAlgn="ctr"/>
                      <a:r>
                        <a:rPr lang="en-US" sz="1000" b="0" i="0" u="none" strike="noStrike">
                          <a:effectLst/>
                          <a:latin typeface="Calibri" panose="020F0502020204030204" pitchFamily="34" charset="0"/>
                        </a:rPr>
                        <a:t>Agilent Technologies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$6,510</a:t>
                      </a:r>
                    </a:p>
                  </a:txBody>
                  <a:tcPr marL="27432" marR="27432" marT="9144" marB="9144" anchor="ctr">
                    <a:lnL>
                      <a:noFill/>
                    </a:lnL>
                    <a:lnR>
                      <a:noFill/>
                    </a:lnR>
                    <a:lnT>
                      <a:noFill/>
                    </a:lnT>
                    <a:lnB>
                      <a:noFill/>
                    </a:lnB>
                    <a:noFill/>
                  </a:tcPr>
                </a:tc>
                <a:extLst>
                  <a:ext uri="{0D108BD9-81ED-4DB2-BD59-A6C34878D82A}">
                    <a16:rowId xmlns:a16="http://schemas.microsoft.com/office/drawing/2014/main" val="3296783677"/>
                  </a:ext>
                </a:extLst>
              </a:tr>
              <a:tr h="0">
                <a:tc>
                  <a:txBody>
                    <a:bodyPr/>
                    <a:lstStyle/>
                    <a:p>
                      <a:pPr algn="l" fontAlgn="ctr"/>
                      <a:r>
                        <a:rPr lang="en-US" sz="1000" b="0" i="0" u="none" strike="noStrike">
                          <a:effectLst/>
                          <a:latin typeface="Calibri" panose="020F0502020204030204" pitchFamily="34" charset="0"/>
                        </a:rPr>
                        <a:t>Edwards Lifesciences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$5,440</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429979402"/>
                  </a:ext>
                </a:extLst>
              </a:tr>
              <a:tr h="0">
                <a:tc>
                  <a:txBody>
                    <a:bodyPr/>
                    <a:lstStyle/>
                    <a:p>
                      <a:pPr algn="l" fontAlgn="ctr"/>
                      <a:r>
                        <a:rPr lang="en-US" sz="1000" b="0" i="0" u="none" strike="noStrike">
                          <a:effectLst/>
                          <a:latin typeface="Calibri" panose="020F0502020204030204" pitchFamily="34" charset="0"/>
                        </a:rPr>
                        <a:t>STERIS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$5,139</a:t>
                      </a:r>
                    </a:p>
                  </a:txBody>
                  <a:tcPr marL="27432" marR="27432" marT="9144" marB="9144" anchor="ctr">
                    <a:lnL>
                      <a:noFill/>
                    </a:lnL>
                    <a:lnR>
                      <a:noFill/>
                    </a:lnR>
                    <a:lnT>
                      <a:noFill/>
                    </a:lnT>
                    <a:lnB>
                      <a:noFill/>
                    </a:lnB>
                    <a:noFill/>
                  </a:tcPr>
                </a:tc>
                <a:extLst>
                  <a:ext uri="{0D108BD9-81ED-4DB2-BD59-A6C34878D82A}">
                    <a16:rowId xmlns:a16="http://schemas.microsoft.com/office/drawing/2014/main" val="2400611066"/>
                  </a:ext>
                </a:extLst>
              </a:tr>
              <a:tr h="0">
                <a:tc>
                  <a:txBody>
                    <a:bodyPr/>
                    <a:lstStyle/>
                    <a:p>
                      <a:pPr algn="l" fontAlgn="ctr"/>
                      <a:r>
                        <a:rPr lang="en-US" sz="1000" b="0" i="0" u="none" strike="noStrike">
                          <a:effectLst/>
                          <a:latin typeface="Calibri" panose="020F0502020204030204" pitchFamily="34" charset="0"/>
                        </a:rPr>
                        <a:t>ResMed</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$4,685</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732275259"/>
                  </a:ext>
                </a:extLst>
              </a:tr>
              <a:tr h="0">
                <a:tc>
                  <a:txBody>
                    <a:bodyPr/>
                    <a:lstStyle/>
                    <a:p>
                      <a:pPr algn="l" fontAlgn="ctr"/>
                      <a:r>
                        <a:rPr lang="en-US" sz="1000" b="0" i="0" u="none" strike="noStrike">
                          <a:effectLst/>
                          <a:latin typeface="Calibri" panose="020F0502020204030204" pitchFamily="34" charset="0"/>
                        </a:rPr>
                        <a:t>Elanco Animal Health</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P</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$4,439</a:t>
                      </a:r>
                    </a:p>
                  </a:txBody>
                  <a:tcPr marL="27432" marR="27432" marT="9144" marB="9144" anchor="ctr">
                    <a:lnL>
                      <a:noFill/>
                    </a:lnL>
                    <a:lnR>
                      <a:noFill/>
                    </a:lnR>
                    <a:lnT>
                      <a:noFill/>
                    </a:lnT>
                    <a:lnB>
                      <a:noFill/>
                    </a:lnB>
                    <a:noFill/>
                  </a:tcPr>
                </a:tc>
                <a:extLst>
                  <a:ext uri="{0D108BD9-81ED-4DB2-BD59-A6C34878D82A}">
                    <a16:rowId xmlns:a16="http://schemas.microsoft.com/office/drawing/2014/main" val="463957324"/>
                  </a:ext>
                </a:extLst>
              </a:tr>
              <a:tr h="0">
                <a:tc>
                  <a:txBody>
                    <a:bodyPr/>
                    <a:lstStyle/>
                    <a:p>
                      <a:pPr algn="l" fontAlgn="ctr"/>
                      <a:r>
                        <a:rPr lang="en-US" sz="1000" b="0" i="0" u="none" strike="noStrike">
                          <a:effectLst/>
                          <a:latin typeface="Calibri" panose="020F0502020204030204" pitchFamily="34" charset="0"/>
                        </a:rPr>
                        <a:t>Illumina</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$4,372</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2297695784"/>
                  </a:ext>
                </a:extLst>
              </a:tr>
              <a:tr h="0">
                <a:tc>
                  <a:txBody>
                    <a:bodyPr/>
                    <a:lstStyle/>
                    <a:p>
                      <a:pPr algn="l" fontAlgn="ctr"/>
                      <a:r>
                        <a:rPr lang="en-US" sz="1000" b="0" i="0" u="none" strike="noStrike">
                          <a:effectLst/>
                          <a:latin typeface="Calibri" panose="020F0502020204030204" pitchFamily="34" charset="0"/>
                        </a:rPr>
                        <a:t>DexCom</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$4,033</a:t>
                      </a:r>
                    </a:p>
                  </a:txBody>
                  <a:tcPr marL="27432" marR="27432" marT="9144" marB="9144" anchor="ctr">
                    <a:lnL>
                      <a:noFill/>
                    </a:lnL>
                    <a:lnR>
                      <a:noFill/>
                    </a:lnR>
                    <a:lnT>
                      <a:noFill/>
                    </a:lnT>
                    <a:lnB>
                      <a:noFill/>
                    </a:lnB>
                    <a:noFill/>
                  </a:tcPr>
                </a:tc>
                <a:extLst>
                  <a:ext uri="{0D108BD9-81ED-4DB2-BD59-A6C34878D82A}">
                    <a16:rowId xmlns:a16="http://schemas.microsoft.com/office/drawing/2014/main" val="1508227816"/>
                  </a:ext>
                </a:extLst>
              </a:tr>
              <a:tr h="0">
                <a:tc>
                  <a:txBody>
                    <a:bodyPr/>
                    <a:lstStyle/>
                    <a:p>
                      <a:pPr algn="l" fontAlgn="ctr"/>
                      <a:r>
                        <a:rPr lang="en-US" sz="1000" b="0" i="0" u="none" strike="noStrike">
                          <a:effectLst/>
                          <a:latin typeface="Calibri" panose="020F0502020204030204" pitchFamily="34" charset="0"/>
                        </a:rPr>
                        <a:t>Hologic</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$4,030</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098753571"/>
                  </a:ext>
                </a:extLst>
              </a:tr>
              <a:tr h="0">
                <a:tc>
                  <a:txBody>
                    <a:bodyPr/>
                    <a:lstStyle/>
                    <a:p>
                      <a:pPr algn="l" fontAlgn="ctr"/>
                      <a:r>
                        <a:rPr lang="en-US" sz="1000" b="0" i="0" u="none" strike="noStrike">
                          <a:effectLst/>
                          <a:latin typeface="Calibri" panose="020F0502020204030204" pitchFamily="34" charset="0"/>
                        </a:rPr>
                        <a:t>Align Technology</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$3,999</a:t>
                      </a:r>
                    </a:p>
                  </a:txBody>
                  <a:tcPr marL="27432" marR="27432" marT="9144" marB="9144" anchor="ctr">
                    <a:lnL>
                      <a:noFill/>
                    </a:lnL>
                    <a:lnR>
                      <a:noFill/>
                    </a:lnR>
                    <a:lnT>
                      <a:noFill/>
                    </a:lnT>
                    <a:lnB>
                      <a:noFill/>
                    </a:lnB>
                    <a:noFill/>
                  </a:tcPr>
                </a:tc>
                <a:extLst>
                  <a:ext uri="{0D108BD9-81ED-4DB2-BD59-A6C34878D82A}">
                    <a16:rowId xmlns:a16="http://schemas.microsoft.com/office/drawing/2014/main" val="144838696"/>
                  </a:ext>
                </a:extLst>
              </a:tr>
              <a:tr h="0">
                <a:tc>
                  <a:txBody>
                    <a:bodyPr/>
                    <a:lstStyle/>
                    <a:p>
                      <a:pPr algn="l" fontAlgn="ctr"/>
                      <a:r>
                        <a:rPr lang="en-US" sz="1000" b="0" i="0" u="none" strike="noStrike">
                          <a:effectLst/>
                          <a:latin typeface="Calibri" panose="020F0502020204030204" pitchFamily="34" charset="0"/>
                        </a:rPr>
                        <a:t>Cooper Companies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$3,895</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267588416"/>
                  </a:ext>
                </a:extLst>
              </a:tr>
              <a:tr h="0">
                <a:tc>
                  <a:txBody>
                    <a:bodyPr/>
                    <a:lstStyle/>
                    <a:p>
                      <a:pPr algn="l" fontAlgn="ctr"/>
                      <a:r>
                        <a:rPr lang="en-US" sz="1000" b="0" i="0" u="none" strike="noStrike">
                          <a:effectLst/>
                          <a:latin typeface="Calibri" panose="020F0502020204030204" pitchFamily="34" charset="0"/>
                        </a:rPr>
                        <a:t>Mettler-Toledo International</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accent4">
                        <a:lumMod val="20000"/>
                        <a:lumOff val="80000"/>
                      </a:schemeClr>
                    </a:solidFill>
                  </a:tcPr>
                </a:tc>
                <a:tc>
                  <a:txBody>
                    <a:bodyPr/>
                    <a:lstStyle/>
                    <a:p>
                      <a:pPr algn="ctr" fontAlgn="ctr"/>
                      <a:r>
                        <a:rPr lang="en-US" sz="1000" b="0" i="0" u="none" strike="noStrike">
                          <a:effectLst/>
                          <a:latin typeface="Calibri" panose="020F0502020204030204" pitchFamily="34" charset="0"/>
                        </a:rPr>
                        <a:t>$3,872</a:t>
                      </a:r>
                    </a:p>
                  </a:txBody>
                  <a:tcPr marL="27432" marR="27432" marT="9144" marB="9144" anchor="ctr">
                    <a:lnL>
                      <a:noFill/>
                    </a:lnL>
                    <a:lnR>
                      <a:noFill/>
                    </a:lnR>
                    <a:lnT>
                      <a:noFill/>
                    </a:lnT>
                    <a:lnB>
                      <a:noFill/>
                    </a:lnB>
                    <a:noFill/>
                  </a:tcPr>
                </a:tc>
                <a:extLst>
                  <a:ext uri="{0D108BD9-81ED-4DB2-BD59-A6C34878D82A}">
                    <a16:rowId xmlns:a16="http://schemas.microsoft.com/office/drawing/2014/main" val="848301905"/>
                  </a:ext>
                </a:extLst>
              </a:tr>
              <a:tr h="0">
                <a:tc>
                  <a:txBody>
                    <a:bodyPr/>
                    <a:lstStyle/>
                    <a:p>
                      <a:pPr algn="l" fontAlgn="ctr"/>
                      <a:r>
                        <a:rPr lang="en-US" sz="1000" b="0" i="0" u="none" strike="noStrike">
                          <a:effectLst/>
                          <a:latin typeface="Calibri" panose="020F0502020204030204" pitchFamily="34" charset="0"/>
                        </a:rPr>
                        <a:t>Waters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$2,958</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2192790367"/>
                  </a:ext>
                </a:extLst>
              </a:tr>
              <a:tr h="0">
                <a:tc>
                  <a:txBody>
                    <a:bodyPr/>
                    <a:lstStyle/>
                    <a:p>
                      <a:pPr algn="l" fontAlgn="ctr"/>
                      <a:r>
                        <a:rPr lang="en-US" sz="1000" b="0" i="0" u="none" strike="noStrike">
                          <a:effectLst/>
                          <a:latin typeface="Calibri" panose="020F0502020204030204" pitchFamily="34" charset="0"/>
                        </a:rPr>
                        <a:t>Revvity</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$2,755</a:t>
                      </a:r>
                    </a:p>
                  </a:txBody>
                  <a:tcPr marL="27432" marR="27432" marT="9144" marB="9144" anchor="ctr">
                    <a:lnL>
                      <a:noFill/>
                    </a:lnL>
                    <a:lnR>
                      <a:noFill/>
                    </a:lnR>
                    <a:lnT>
                      <a:noFill/>
                    </a:lnT>
                    <a:lnB>
                      <a:noFill/>
                    </a:lnB>
                    <a:noFill/>
                  </a:tcPr>
                </a:tc>
                <a:extLst>
                  <a:ext uri="{0D108BD9-81ED-4DB2-BD59-A6C34878D82A}">
                    <a16:rowId xmlns:a16="http://schemas.microsoft.com/office/drawing/2014/main" val="411480680"/>
                  </a:ext>
                </a:extLst>
              </a:tr>
              <a:tr h="0">
                <a:tc>
                  <a:txBody>
                    <a:bodyPr/>
                    <a:lstStyle/>
                    <a:p>
                      <a:pPr algn="l" fontAlgn="ctr"/>
                      <a:r>
                        <a:rPr lang="en-US" sz="1000" b="0" i="0" u="none" strike="noStrike">
                          <a:effectLst/>
                          <a:latin typeface="Calibri" panose="020F0502020204030204" pitchFamily="34" charset="0"/>
                        </a:rPr>
                        <a:t>Bio-Rad Laboratories</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LS</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$2,567</a:t>
                      </a:r>
                    </a:p>
                  </a:txBody>
                  <a:tcPr marL="27432" marR="27432" marT="9144" marB="9144" anchor="ctr">
                    <a:lnL>
                      <a:noFill/>
                    </a:lnL>
                    <a:lnR>
                      <a:noFill/>
                    </a:lnR>
                    <a:lnT>
                      <a:noFill/>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35744852"/>
                  </a:ext>
                </a:extLst>
              </a:tr>
              <a:tr h="0">
                <a:tc gridSpan="6">
                  <a:txBody>
                    <a:bodyPr/>
                    <a:lstStyle/>
                    <a:p>
                      <a:pPr algn="l" fontAlgn="ctr"/>
                      <a:r>
                        <a:rPr lang="en-US" sz="1000" b="1" i="0" u="none" strike="noStrike" dirty="0">
                          <a:effectLst/>
                          <a:latin typeface="Calibri" panose="020F0502020204030204" pitchFamily="34" charset="0"/>
                        </a:rPr>
                        <a:t>GL Peers Not Part of Goofy Peers</a:t>
                      </a: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algn="ctr" fontAlgn="ctr"/>
                      <a:endParaRPr lang="en-US" sz="1000" b="1"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35010936"/>
                  </a:ext>
                </a:extLst>
              </a:tr>
              <a:tr h="0">
                <a:tc>
                  <a:txBody>
                    <a:bodyPr/>
                    <a:lstStyle/>
                    <a:p>
                      <a:pPr algn="l" fontAlgn="ctr"/>
                      <a:r>
                        <a:rPr lang="en-US" sz="1000" b="0" i="0" u="none" strike="noStrike">
                          <a:effectLst/>
                          <a:latin typeface="Calibri" panose="020F0502020204030204" pitchFamily="34" charset="0"/>
                        </a:rPr>
                        <a:t>Boston Scientific</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ctr"/>
                      <a:r>
                        <a:rPr lang="en-US" sz="1000" b="0" i="0" u="none" strike="noStrike">
                          <a:effectLst/>
                          <a:latin typeface="Calibri" panose="020F0502020204030204" pitchFamily="34" charset="0"/>
                        </a:rPr>
                        <a:t>$16,747</a:t>
                      </a:r>
                    </a:p>
                  </a:txBody>
                  <a:tcPr marL="27432" marR="27432" marT="9144" marB="9144"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00261091"/>
                  </a:ext>
                </a:extLst>
              </a:tr>
              <a:tr h="0">
                <a:tc>
                  <a:txBody>
                    <a:bodyPr/>
                    <a:lstStyle/>
                    <a:p>
                      <a:pPr algn="l" fontAlgn="ctr"/>
                      <a:r>
                        <a:rPr lang="en-US" sz="1000" b="0" i="0" u="none" strike="noStrike">
                          <a:effectLst/>
                          <a:latin typeface="Calibri" panose="020F0502020204030204" pitchFamily="34" charset="0"/>
                        </a:rPr>
                        <a:t>Zimmer Biomet Holdings</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$7,679</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1944234129"/>
                  </a:ext>
                </a:extLst>
              </a:tr>
              <a:tr h="0">
                <a:tc>
                  <a:txBody>
                    <a:bodyPr/>
                    <a:lstStyle/>
                    <a:p>
                      <a:pPr algn="l" fontAlgn="ctr"/>
                      <a:r>
                        <a:rPr lang="en-US" sz="1000" b="0" i="0" u="none" strike="noStrike">
                          <a:effectLst/>
                          <a:latin typeface="Calibri" panose="020F0502020204030204" pitchFamily="34" charset="0"/>
                        </a:rPr>
                        <a:t>DENTSPLY SIRONA</a:t>
                      </a: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HCS</a:t>
                      </a: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no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accent2">
                        <a:lumMod val="20000"/>
                        <a:lumOff val="80000"/>
                      </a:schemeClr>
                    </a:solidFill>
                  </a:tcPr>
                </a:tc>
                <a:tc>
                  <a:txBody>
                    <a:bodyPr/>
                    <a:lstStyle/>
                    <a:p>
                      <a:pPr algn="ctr" fontAlgn="ctr"/>
                      <a:r>
                        <a:rPr lang="en-US" sz="1000" b="0" i="0" u="none" strike="noStrike">
                          <a:effectLst/>
                          <a:latin typeface="Calibri" panose="020F0502020204030204" pitchFamily="34" charset="0"/>
                        </a:rPr>
                        <a:t>$3,793</a:t>
                      </a:r>
                    </a:p>
                  </a:txBody>
                  <a:tcPr marL="27432" marR="27432" marT="9144" marB="9144" anchor="ctr">
                    <a:lnL>
                      <a:noFill/>
                    </a:lnL>
                    <a:lnR>
                      <a:noFill/>
                    </a:lnR>
                    <a:lnT>
                      <a:noFill/>
                    </a:lnT>
                    <a:lnB>
                      <a:noFill/>
                    </a:lnB>
                    <a:noFill/>
                  </a:tcPr>
                </a:tc>
                <a:extLst>
                  <a:ext uri="{0D108BD9-81ED-4DB2-BD59-A6C34878D82A}">
                    <a16:rowId xmlns:a16="http://schemas.microsoft.com/office/drawing/2014/main" val="2831713839"/>
                  </a:ext>
                </a:extLst>
              </a:tr>
              <a:tr h="0">
                <a:tc>
                  <a:txBody>
                    <a:bodyPr/>
                    <a:lstStyle/>
                    <a:p>
                      <a:pPr algn="l" fontAlgn="ctr"/>
                      <a:r>
                        <a:rPr lang="en-US" sz="1000" b="0" i="0" u="none" strike="noStrike">
                          <a:effectLst/>
                          <a:latin typeface="Calibri" panose="020F0502020204030204" pitchFamily="34" charset="0"/>
                        </a:rPr>
                        <a:t>Teleflex Incorporated</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HCE</a:t>
                      </a:r>
                    </a:p>
                  </a:txBody>
                  <a:tcPr marL="27432" marR="27432" marT="9144" marB="9144"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bg1">
                        <a:lumMod val="95000"/>
                      </a:schemeClr>
                    </a:solidFill>
                  </a:tcPr>
                </a:tc>
                <a:tc>
                  <a:txBody>
                    <a:bodyPr/>
                    <a:lstStyle/>
                    <a:p>
                      <a:pPr algn="ctr" fontAlgn="ctr"/>
                      <a:endParaRPr lang="en-US" sz="1000" b="0" i="0" u="none" strike="noStrike">
                        <a:effectLst/>
                        <a:latin typeface="Calibri" panose="020F0502020204030204" pitchFamily="34" charset="0"/>
                      </a:endParaRPr>
                    </a:p>
                  </a:txBody>
                  <a:tcPr marL="27432" marR="27432" marT="9144" marB="9144" anchor="ctr">
                    <a:lnL>
                      <a:noFill/>
                    </a:lnL>
                    <a:lnR>
                      <a:noFill/>
                    </a:lnR>
                    <a:lnT>
                      <a:noFill/>
                    </a:lnT>
                    <a:lnB>
                      <a:noFill/>
                    </a:lnB>
                    <a:solidFill>
                      <a:schemeClr val="bg1">
                        <a:lumMod val="95000"/>
                      </a:schemeClr>
                    </a:solidFill>
                  </a:tcPr>
                </a:tc>
                <a:tc>
                  <a:txBody>
                    <a:bodyPr/>
                    <a:lstStyle/>
                    <a:p>
                      <a:pPr algn="ctr" fontAlgn="ctr"/>
                      <a:r>
                        <a:rPr lang="en-US" sz="1000" b="0" i="0" u="none" strike="noStrike">
                          <a:effectLst/>
                          <a:latin typeface="Calibri" panose="020F0502020204030204" pitchFamily="34" charset="0"/>
                        </a:rPr>
                        <a:t>X</a:t>
                      </a:r>
                    </a:p>
                  </a:txBody>
                  <a:tcPr marL="27432" marR="27432" marT="9144" marB="9144" anchor="ctr">
                    <a:lnL>
                      <a:noFill/>
                    </a:lnL>
                    <a:lnR>
                      <a:noFill/>
                    </a:lnR>
                    <a:lnT>
                      <a:noFill/>
                    </a:lnT>
                    <a:lnB>
                      <a:noFill/>
                    </a:lnB>
                    <a:solidFill>
                      <a:schemeClr val="accent2">
                        <a:lumMod val="20000"/>
                        <a:lumOff val="80000"/>
                      </a:schemeClr>
                    </a:solidFill>
                  </a:tcPr>
                </a:tc>
                <a:tc>
                  <a:txBody>
                    <a:bodyPr/>
                    <a:lstStyle/>
                    <a:p>
                      <a:pPr algn="ctr" fontAlgn="ctr"/>
                      <a:r>
                        <a:rPr lang="en-US" sz="1000" b="0" i="0" u="none" strike="noStrike">
                          <a:effectLst/>
                          <a:latin typeface="Calibri" panose="020F0502020204030204" pitchFamily="34" charset="0"/>
                        </a:rPr>
                        <a:t>$3,047</a:t>
                      </a:r>
                    </a:p>
                  </a:txBody>
                  <a:tcPr marL="27432" marR="27432" marT="9144" marB="9144" anchor="ctr">
                    <a:lnL>
                      <a:noFill/>
                    </a:lnL>
                    <a:lnR>
                      <a:noFill/>
                    </a:lnR>
                    <a:lnT>
                      <a:noFill/>
                    </a:lnT>
                    <a:lnB>
                      <a:noFill/>
                    </a:lnB>
                    <a:solidFill>
                      <a:schemeClr val="bg1">
                        <a:lumMod val="95000"/>
                      </a:schemeClr>
                    </a:solidFill>
                  </a:tcPr>
                </a:tc>
                <a:extLst>
                  <a:ext uri="{0D108BD9-81ED-4DB2-BD59-A6C34878D82A}">
                    <a16:rowId xmlns:a16="http://schemas.microsoft.com/office/drawing/2014/main" val="885117146"/>
                  </a:ext>
                </a:extLst>
              </a:tr>
              <a:tr h="0">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1320834"/>
                  </a:ext>
                </a:extLst>
              </a:tr>
              <a:tr h="0">
                <a:tc>
                  <a:txBody>
                    <a:bodyPr/>
                    <a:lstStyle/>
                    <a:p>
                      <a:pPr algn="l" fontAlgn="b"/>
                      <a:r>
                        <a:rPr lang="en-US" sz="1000" b="1" i="0" u="none" strike="noStrike">
                          <a:effectLst/>
                          <a:latin typeface="Calibri" panose="020F0502020204030204" pitchFamily="34" charset="0"/>
                        </a:rPr>
                        <a:t>Count</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a:effectLst/>
                          <a:latin typeface="Calibri" panose="020F0502020204030204" pitchFamily="34" charset="0"/>
                        </a:rPr>
                        <a:t>16</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a:effectLst/>
                          <a:latin typeface="Calibri" panose="020F0502020204030204" pitchFamily="34" charset="0"/>
                        </a:rPr>
                        <a:t>15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r>
                        <a:rPr lang="en-US" sz="1000" b="1" i="0" u="none" strike="noStrike">
                          <a:effectLst/>
                          <a:latin typeface="Calibri" panose="020F0502020204030204" pitchFamily="34" charset="0"/>
                        </a:rPr>
                        <a:t>15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416470246"/>
                  </a:ext>
                </a:extLst>
              </a:tr>
              <a:tr h="0">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 b="0" i="0" u="none" strike="noStrike">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5248626"/>
                  </a:ext>
                </a:extLst>
              </a:tr>
              <a:tr h="0">
                <a:tc>
                  <a:txBody>
                    <a:bodyPr/>
                    <a:lstStyle/>
                    <a:p>
                      <a:pPr algn="l" fontAlgn="b"/>
                      <a:r>
                        <a:rPr lang="en-US" sz="1000" b="0" i="0" u="none" strike="noStrike">
                          <a:effectLst/>
                          <a:latin typeface="Calibri" panose="020F0502020204030204" pitchFamily="34" charset="0"/>
                        </a:rPr>
                        <a:t>75th %ile</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r>
                        <a:rPr lang="en-US" sz="1000" b="0" i="0" u="none" strike="noStrike">
                          <a:effectLst/>
                          <a:latin typeface="Calibri" panose="020F0502020204030204" pitchFamily="34" charset="0"/>
                        </a:rPr>
                        <a:t>$5,289</a:t>
                      </a:r>
                    </a:p>
                  </a:txBody>
                  <a:tcPr marL="27432" marR="27432" marT="9144" marB="9144" anchor="ctr">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509642743"/>
                  </a:ext>
                </a:extLst>
              </a:tr>
              <a:tr h="0">
                <a:tc>
                  <a:txBody>
                    <a:bodyPr/>
                    <a:lstStyle/>
                    <a:p>
                      <a:pPr algn="l" fontAlgn="b"/>
                      <a:r>
                        <a:rPr lang="en-US" sz="1000" b="1" i="0" u="none" strike="noStrike">
                          <a:effectLst/>
                          <a:latin typeface="Calibri" panose="020F0502020204030204" pitchFamily="34" charset="0"/>
                        </a:rPr>
                        <a:t>Median</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l" fontAlgn="b"/>
                      <a:r>
                        <a:rPr lang="en-US" sz="1000" b="1" i="0" u="none" strike="noStrike">
                          <a:effectLst/>
                          <a:latin typeface="Calibri" panose="020F0502020204030204" pitchFamily="34" charset="0"/>
                        </a:rPr>
                        <a:t> </a:t>
                      </a:r>
                    </a:p>
                  </a:txBody>
                  <a:tcPr marL="27432" marR="27432" marT="9144" marB="9144" anchor="b">
                    <a:lnL>
                      <a:noFill/>
                    </a:lnL>
                    <a:lnR>
                      <a:noFill/>
                    </a:lnR>
                    <a:lnT>
                      <a:noFill/>
                    </a:lnT>
                    <a:lnB>
                      <a:noFill/>
                    </a:lnB>
                    <a:solidFill>
                      <a:srgbClr val="FFFFDB"/>
                    </a:solidFill>
                  </a:tcPr>
                </a:tc>
                <a:tc>
                  <a:txBody>
                    <a:bodyPr/>
                    <a:lstStyle/>
                    <a:p>
                      <a:pPr algn="ctr" fontAlgn="b"/>
                      <a:r>
                        <a:rPr lang="en-US" sz="1000" b="1" i="0" u="none" strike="noStrike">
                          <a:effectLst/>
                          <a:latin typeface="Calibri" panose="020F0502020204030204" pitchFamily="34" charset="0"/>
                        </a:rPr>
                        <a:t>$4,033</a:t>
                      </a:r>
                    </a:p>
                  </a:txBody>
                  <a:tcPr marL="27432" marR="27432" marT="9144" marB="9144" anchor="ctr">
                    <a:lnL>
                      <a:noFill/>
                    </a:lnL>
                    <a:lnR>
                      <a:noFill/>
                    </a:lnR>
                    <a:lnT>
                      <a:noFill/>
                    </a:lnT>
                    <a:lnB>
                      <a:noFill/>
                    </a:lnB>
                    <a:solidFill>
                      <a:srgbClr val="FFFFDB"/>
                    </a:solidFill>
                  </a:tcPr>
                </a:tc>
                <a:extLst>
                  <a:ext uri="{0D108BD9-81ED-4DB2-BD59-A6C34878D82A}">
                    <a16:rowId xmlns:a16="http://schemas.microsoft.com/office/drawing/2014/main" val="3244225872"/>
                  </a:ext>
                </a:extLst>
              </a:tr>
              <a:tr h="0">
                <a:tc>
                  <a:txBody>
                    <a:bodyPr/>
                    <a:lstStyle/>
                    <a:p>
                      <a:pPr algn="l" fontAlgn="b"/>
                      <a:r>
                        <a:rPr lang="en-US" sz="1000" b="0" i="0" u="none" strike="noStrike">
                          <a:effectLst/>
                          <a:latin typeface="Calibri" panose="020F0502020204030204" pitchFamily="34" charset="0"/>
                        </a:rPr>
                        <a:t>25th %ile</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r>
                        <a:rPr lang="en-US" sz="1000" b="0" i="0" u="none" strike="noStrike">
                          <a:effectLst/>
                          <a:latin typeface="Calibri" panose="020F0502020204030204" pitchFamily="34" charset="0"/>
                        </a:rPr>
                        <a:t> </a:t>
                      </a:r>
                    </a:p>
                  </a:txBody>
                  <a:tcPr marL="27432" marR="27432"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r>
                        <a:rPr lang="en-US" sz="1000" b="0" i="0" u="none" strike="noStrike" dirty="0">
                          <a:effectLst/>
                          <a:latin typeface="Calibri" panose="020F0502020204030204" pitchFamily="34" charset="0"/>
                        </a:rPr>
                        <a:t>$3,844</a:t>
                      </a:r>
                    </a:p>
                  </a:txBody>
                  <a:tcPr marL="27432" marR="27432" marT="9144" marB="9144" anchor="ctr">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752279458"/>
                  </a:ext>
                </a:extLst>
              </a:tr>
            </a:tbl>
          </a:graphicData>
        </a:graphic>
      </p:graphicFrame>
      <p:graphicFrame>
        <p:nvGraphicFramePr>
          <p:cNvPr id="11" name="Table 14">
            <a:extLst>
              <a:ext uri="{FF2B5EF4-FFF2-40B4-BE49-F238E27FC236}">
                <a16:creationId xmlns:a16="http://schemas.microsoft.com/office/drawing/2014/main" id="{26928CBF-A516-A5EF-5FFD-2C3BAF7C7450}"/>
              </a:ext>
            </a:extLst>
          </p:cNvPr>
          <p:cNvGraphicFramePr>
            <a:graphicFrameLocks noGrp="1"/>
          </p:cNvGraphicFramePr>
          <p:nvPr/>
        </p:nvGraphicFramePr>
        <p:xfrm>
          <a:off x="6334927" y="1780078"/>
          <a:ext cx="2011680" cy="686793"/>
        </p:xfrm>
        <a:graphic>
          <a:graphicData uri="http://schemas.openxmlformats.org/drawingml/2006/table">
            <a:tbl>
              <a:tblPr firstRow="1" bandRow="1">
                <a:tableStyleId>{5940675A-B579-460E-94D1-54222C63F5DA}</a:tableStyleId>
              </a:tblPr>
              <a:tblGrid>
                <a:gridCol w="274320">
                  <a:extLst>
                    <a:ext uri="{9D8B030D-6E8A-4147-A177-3AD203B41FA5}">
                      <a16:colId xmlns:a16="http://schemas.microsoft.com/office/drawing/2014/main" val="1448559794"/>
                    </a:ext>
                  </a:extLst>
                </a:gridCol>
                <a:gridCol w="1737360">
                  <a:extLst>
                    <a:ext uri="{9D8B030D-6E8A-4147-A177-3AD203B41FA5}">
                      <a16:colId xmlns:a16="http://schemas.microsoft.com/office/drawing/2014/main" val="1242357177"/>
                    </a:ext>
                  </a:extLst>
                </a:gridCol>
              </a:tblGrid>
              <a:tr h="127044">
                <a:tc>
                  <a:txBody>
                    <a:bodyPr/>
                    <a:lstStyle/>
                    <a:p>
                      <a:pPr algn="ctr"/>
                      <a:r>
                        <a:rPr lang="en-US" sz="900"/>
                        <a:t>HCE</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Equipment</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415924"/>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45465110"/>
                  </a:ext>
                </a:extLst>
              </a:tr>
              <a:tr h="127044">
                <a:tc>
                  <a:txBody>
                    <a:bodyPr/>
                    <a:lstStyle/>
                    <a:p>
                      <a:pPr algn="ctr"/>
                      <a:r>
                        <a:rPr lang="en-US" sz="900"/>
                        <a:t>HCS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Health Care Supplies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03461171"/>
                  </a:ext>
                </a:extLst>
              </a:tr>
              <a:tr h="46051">
                <a:tc>
                  <a:txBody>
                    <a:bodyPr/>
                    <a:lstStyle/>
                    <a:p>
                      <a:pPr algn="ctr"/>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7313861"/>
                  </a:ext>
                </a:extLst>
              </a:tr>
              <a:tr h="127044">
                <a:tc>
                  <a:txBody>
                    <a:bodyPr/>
                    <a:lstStyle/>
                    <a:p>
                      <a:pPr algn="ctr"/>
                      <a:r>
                        <a:rPr lang="en-US" sz="900"/>
                        <a:t>P</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a:t>  Pharmaceuticals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63960339"/>
                  </a:ext>
                </a:extLst>
              </a:tr>
              <a:tr h="46051">
                <a:tc>
                  <a:txBody>
                    <a:bodyPr/>
                    <a:lstStyle/>
                    <a:p>
                      <a:endParaRPr lang="en-US" sz="100"/>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5780605"/>
                  </a:ext>
                </a:extLst>
              </a:tr>
              <a:tr h="127044">
                <a:tc>
                  <a:txBody>
                    <a:bodyPr/>
                    <a:lstStyle/>
                    <a:p>
                      <a:pPr algn="ctr"/>
                      <a:r>
                        <a:rPr lang="en-US" sz="900"/>
                        <a:t>LS</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a:t>  Life Sciences Tools &amp; Svcs</a:t>
                      </a:r>
                    </a:p>
                  </a:txBody>
                  <a:tcPr marL="0" marR="0" marT="0" marB="0" anchor="ctr">
                    <a:lnL w="635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1939"/>
                  </a:ext>
                </a:extLst>
              </a:tr>
            </a:tbl>
          </a:graphicData>
        </a:graphic>
      </p:graphicFrame>
      <p:sp>
        <p:nvSpPr>
          <p:cNvPr id="3" name="TextBox 2">
            <a:extLst>
              <a:ext uri="{FF2B5EF4-FFF2-40B4-BE49-F238E27FC236}">
                <a16:creationId xmlns:a16="http://schemas.microsoft.com/office/drawing/2014/main" id="{B0873793-342C-82B4-FEF7-66FE3493CA06}"/>
              </a:ext>
            </a:extLst>
          </p:cNvPr>
          <p:cNvSpPr txBox="1"/>
          <p:nvPr/>
        </p:nvSpPr>
        <p:spPr>
          <a:xfrm>
            <a:off x="210331" y="1427823"/>
            <a:ext cx="2213399" cy="355097"/>
          </a:xfrm>
          <a:prstGeom prst="rect">
            <a:avLst/>
          </a:prstGeom>
          <a:solidFill>
            <a:schemeClr val="accent3"/>
          </a:solidFill>
          <a:ln>
            <a:solidFill>
              <a:schemeClr val="tx1"/>
            </a:solidFill>
          </a:ln>
        </p:spPr>
        <p:txBody>
          <a:bodyPr vert="horz" wrap="square" lIns="45720" tIns="45720" rIns="45720" bIns="45720" rtlCol="0" anchor="ctr">
            <a:spAutoFit/>
          </a:bodyPr>
          <a:lstStyle/>
          <a:p>
            <a:pPr algn="ctr">
              <a:lnSpc>
                <a:spcPct val="85000"/>
              </a:lnSpc>
            </a:pPr>
            <a:r>
              <a:rPr lang="en-US" sz="1000" dirty="0"/>
              <a:t>To be updated after GL report is received from Goofy</a:t>
            </a:r>
          </a:p>
        </p:txBody>
      </p:sp>
    </p:spTree>
    <p:extLst>
      <p:ext uri="{BB962C8B-B14F-4D97-AF65-F5344CB8AC3E}">
        <p14:creationId xmlns:p14="http://schemas.microsoft.com/office/powerpoint/2010/main" val="57416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3E3AA-5691-FE4E-B352-BAD13699C6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8D7B9AA-CFC3-1B7E-98C7-C20EC371309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CE7D35C-AC91-9C17-B636-7AEBE5DA8E62}"/>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a:t>
            </a:r>
          </a:p>
        </p:txBody>
      </p:sp>
      <p:sp>
        <p:nvSpPr>
          <p:cNvPr id="4" name="Slide Number Placeholder 3">
            <a:extLst>
              <a:ext uri="{FF2B5EF4-FFF2-40B4-BE49-F238E27FC236}">
                <a16:creationId xmlns:a16="http://schemas.microsoft.com/office/drawing/2014/main" id="{D2694D6B-3BD0-7607-C1B8-2A595B6B7C32}"/>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15</a:t>
            </a:fld>
            <a:endParaRPr lang="en-US"/>
          </a:p>
        </p:txBody>
      </p:sp>
      <p:sp>
        <p:nvSpPr>
          <p:cNvPr id="2" name="TextBox 1">
            <a:extLst>
              <a:ext uri="{FF2B5EF4-FFF2-40B4-BE49-F238E27FC236}">
                <a16:creationId xmlns:a16="http://schemas.microsoft.com/office/drawing/2014/main" id="{67C0E403-05F7-6F74-AF34-01E699C3FAC9}"/>
              </a:ext>
            </a:extLst>
          </p:cNvPr>
          <p:cNvSpPr txBox="1"/>
          <p:nvPr/>
        </p:nvSpPr>
        <p:spPr>
          <a:xfrm>
            <a:off x="1593273" y="1083884"/>
            <a:ext cx="5957455" cy="307777"/>
          </a:xfrm>
          <a:prstGeom prst="rect">
            <a:avLst/>
          </a:prstGeom>
          <a:noFill/>
        </p:spPr>
        <p:txBody>
          <a:bodyPr wrap="square" lIns="45720" tIns="45720" rIns="45720" bIns="45720" rtlCol="0" anchor="ctr">
            <a:spAutoFit/>
          </a:bodyPr>
          <a:lstStyle/>
          <a:p>
            <a:pPr algn="ctr"/>
            <a:r>
              <a:rPr lang="en-US" sz="1400" b="1"/>
              <a:t>Business Descriptions of Current Peers</a:t>
            </a:r>
          </a:p>
        </p:txBody>
      </p:sp>
      <p:graphicFrame>
        <p:nvGraphicFramePr>
          <p:cNvPr id="6" name="Table 5">
            <a:extLst>
              <a:ext uri="{FF2B5EF4-FFF2-40B4-BE49-F238E27FC236}">
                <a16:creationId xmlns:a16="http://schemas.microsoft.com/office/drawing/2014/main" id="{0A62ADD7-D627-D4D2-1514-4D2AAA9BC8B0}"/>
              </a:ext>
            </a:extLst>
          </p:cNvPr>
          <p:cNvGraphicFramePr>
            <a:graphicFrameLocks noGrp="1"/>
          </p:cNvGraphicFramePr>
          <p:nvPr>
            <p:extLst>
              <p:ext uri="{D42A27DB-BD31-4B8C-83A1-F6EECF244321}">
                <p14:modId xmlns:p14="http://schemas.microsoft.com/office/powerpoint/2010/main" val="1952486946"/>
              </p:ext>
            </p:extLst>
          </p:nvPr>
        </p:nvGraphicFramePr>
        <p:xfrm>
          <a:off x="86593" y="1407050"/>
          <a:ext cx="8983836" cy="3895344"/>
        </p:xfrm>
        <a:graphic>
          <a:graphicData uri="http://schemas.openxmlformats.org/drawingml/2006/table">
            <a:tbl>
              <a:tblPr/>
              <a:tblGrid>
                <a:gridCol w="717016">
                  <a:extLst>
                    <a:ext uri="{9D8B030D-6E8A-4147-A177-3AD203B41FA5}">
                      <a16:colId xmlns:a16="http://schemas.microsoft.com/office/drawing/2014/main" val="2847594257"/>
                    </a:ext>
                  </a:extLst>
                </a:gridCol>
                <a:gridCol w="1007029">
                  <a:extLst>
                    <a:ext uri="{9D8B030D-6E8A-4147-A177-3AD203B41FA5}">
                      <a16:colId xmlns:a16="http://schemas.microsoft.com/office/drawing/2014/main" val="2325195630"/>
                    </a:ext>
                  </a:extLst>
                </a:gridCol>
                <a:gridCol w="7259791">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solidFill>
                            <a:srgbClr val="000000"/>
                          </a:solidFill>
                          <a:effectLst/>
                          <a:latin typeface="+mn-lt"/>
                        </a:rPr>
                        <a:t>Intuitive</a:t>
                      </a:r>
                    </a:p>
                    <a:p>
                      <a:pPr algn="l" fontAlgn="ctr"/>
                      <a:r>
                        <a:rPr lang="en-US" sz="900" b="1" i="0" u="none" strike="noStrike">
                          <a:solidFill>
                            <a:srgbClr val="000000"/>
                          </a:solidFill>
                          <a:effectLst/>
                          <a:latin typeface="+mn-lt"/>
                        </a:rPr>
                        <a:t>Surgical</a:t>
                      </a:r>
                    </a:p>
                  </a:txBody>
                  <a:tcPr marL="27432" marR="27432" marT="27432" marB="27432"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solidFill>
                            <a:srgbClr val="000000"/>
                          </a:solidFill>
                          <a:effectLst/>
                          <a:latin typeface="+mn-lt"/>
                        </a:rPr>
                        <a:t>$10,065</a:t>
                      </a:r>
                    </a:p>
                  </a:txBody>
                  <a:tcPr marL="27432" marR="27432" marT="27432" marB="27432"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markets products that enable physicians and healthcare providers to enhance the quality of and access to minimally invasive care in the United States and internationally</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the da Vinci Surgical System that enables surgical procedures using a minimally invasive approach; and Ion endoluminal system, which extends its commercial offerings beyond surgery into diagnostic endoluminal procedures enabling minimally invasive biopsies in the lung </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a suite of stapling, energy, and core instrumentation for its multi-port da Vinci surgical systems; progressive learning pathways to support the use of its technology; infrastructure of customer service and support specialists, a complement of services to its customers, including installation, repair, maintenance, 24/7 technical support, and proactive system health monitoring; and integrated digital capabilities providing connected offerings, streamlining performance for hospitals with program-enhancing insights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86701"/>
                  </a:ext>
                </a:extLst>
              </a:tr>
              <a:tr h="0">
                <a:tc>
                  <a:txBody>
                    <a:bodyPr/>
                    <a:lstStyle/>
                    <a:p>
                      <a:pPr algn="l" fontAlgn="ctr"/>
                      <a:r>
                        <a:rPr lang="en-US" sz="900" b="1" i="0" u="none" strike="noStrike">
                          <a:solidFill>
                            <a:srgbClr val="000000"/>
                          </a:solidFill>
                          <a:effectLst/>
                          <a:latin typeface="+mn-lt"/>
                        </a:rPr>
                        <a:t>Zoetis</a:t>
                      </a:r>
                    </a:p>
                  </a:txBody>
                  <a:tcPr marL="27432" marR="27432" marT="27432" marB="27432"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solidFill>
                            <a:srgbClr val="000000"/>
                          </a:solidFill>
                          <a:effectLst/>
                          <a:latin typeface="+mn-lt"/>
                        </a:rPr>
                        <a:t>$9,467</a:t>
                      </a:r>
                    </a:p>
                  </a:txBody>
                  <a:tcPr marL="27432" marR="27432" marT="27432" marB="27432"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Engages in the discovery, development, manufacture, and commercialization of medicines, vaccines, diagnostic products and services, biodevices, genetic tests, and precision animal health solutions for the animal health industry in the United States and internationally</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Commercializes products primarily across companion animals comprising dogs, cats, and horses; and species, including livestock, such as cattle, swine, poultry, fish, and sheep</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parasiticides, vaccines, dermatology, anti-infectives, pain and sedation, other pharmaceutical, and animal health diagnostics</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animal health diagnostics, including point-of-care diagnostic products, instruments and reagents, rapid immunoassay tests, reference laboratory kits and services, and blood glucose monitors; and other non-pharmaceutical products, which include nutritionals, as well as products and services in biodevices, genetic tests, and precision animal health</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Markets its products to veterinarians, livestock producers, and pet owners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solidFill>
                            <a:srgbClr val="000000"/>
                          </a:solidFill>
                          <a:effectLst/>
                          <a:latin typeface="+mn-lt"/>
                        </a:rPr>
                        <a:t>Agilent</a:t>
                      </a:r>
                    </a:p>
                    <a:p>
                      <a:pPr algn="l" fontAlgn="ctr"/>
                      <a:r>
                        <a:rPr lang="en-US" sz="900" b="1" i="0" u="none" strike="noStrike">
                          <a:solidFill>
                            <a:srgbClr val="000000"/>
                          </a:solidFill>
                          <a:effectLst/>
                          <a:latin typeface="+mn-lt"/>
                        </a:rPr>
                        <a:t>Technologies</a:t>
                      </a:r>
                    </a:p>
                  </a:txBody>
                  <a:tcPr marL="27432" marR="27432" marT="27432" marB="27432"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$6,948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application focused solutions to the life sciences, diagnostics, and applied chemical markets worldwide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Operates through three segments: Life Sciences and Diagnostics Markets, Agilent CrossLab, and Applied Markets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Involved in the genomics, contract development and manufacturing organization, pathology, companion diagnostics, and biomolecular analysis businesses.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liquid chromatography systems and components, and liquid chromatography mass spectrometry systems, gas chromatography, gas chromatography and liquid chromatography columns, mass spectrometry, spectroscopy, vacuum technology, sample preparation products, custom chemistries, laboratory supplies, and remarketed instruments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Provides various services, including repairs, parts, maintenance, installations, training, compliance support, software as a service, asset management, consulting, and other custom services.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8849602"/>
                  </a:ext>
                </a:extLst>
              </a:tr>
            </a:tbl>
          </a:graphicData>
        </a:graphic>
      </p:graphicFrame>
    </p:spTree>
    <p:extLst>
      <p:ext uri="{BB962C8B-B14F-4D97-AF65-F5344CB8AC3E}">
        <p14:creationId xmlns:p14="http://schemas.microsoft.com/office/powerpoint/2010/main" val="281144743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2ABC6-E35D-B9BF-B809-842F67C25D8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85D45D-781E-2BB0-1D7C-AD836E185575}"/>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D0A750A6-8B60-4384-9C1E-206E0564E772}"/>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E9B1622C-313E-E502-3119-C78A940A7D56}"/>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16</a:t>
            </a:fld>
            <a:endParaRPr lang="en-US"/>
          </a:p>
        </p:txBody>
      </p:sp>
      <p:sp>
        <p:nvSpPr>
          <p:cNvPr id="2" name="TextBox 1">
            <a:extLst>
              <a:ext uri="{FF2B5EF4-FFF2-40B4-BE49-F238E27FC236}">
                <a16:creationId xmlns:a16="http://schemas.microsoft.com/office/drawing/2014/main" id="{DD54C35A-4F9B-6D16-A722-910DDBDEEA27}"/>
              </a:ext>
            </a:extLst>
          </p:cNvPr>
          <p:cNvSpPr txBox="1"/>
          <p:nvPr/>
        </p:nvSpPr>
        <p:spPr>
          <a:xfrm>
            <a:off x="1593272" y="1235399"/>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p>
        </p:txBody>
      </p:sp>
      <p:graphicFrame>
        <p:nvGraphicFramePr>
          <p:cNvPr id="6" name="Table 5">
            <a:extLst>
              <a:ext uri="{FF2B5EF4-FFF2-40B4-BE49-F238E27FC236}">
                <a16:creationId xmlns:a16="http://schemas.microsoft.com/office/drawing/2014/main" id="{AC7AB911-46DF-966A-31B5-3E4580E9634E}"/>
              </a:ext>
            </a:extLst>
          </p:cNvPr>
          <p:cNvGraphicFramePr>
            <a:graphicFrameLocks noGrp="1"/>
          </p:cNvGraphicFramePr>
          <p:nvPr>
            <p:extLst>
              <p:ext uri="{D42A27DB-BD31-4B8C-83A1-F6EECF244321}">
                <p14:modId xmlns:p14="http://schemas.microsoft.com/office/powerpoint/2010/main" val="2725146801"/>
              </p:ext>
            </p:extLst>
          </p:nvPr>
        </p:nvGraphicFramePr>
        <p:xfrm>
          <a:off x="86592" y="1529977"/>
          <a:ext cx="8970816" cy="471830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Edwards Lifesciences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$6,068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products and technologies to treat advanced cardiovascular diseases in the United States, Europe, Japan, and internationally</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It offers transcatheter heart valve replacement products for minimally invasive replacement of aortic heart valves under the Edwards SAPIEN family of valves system; and transcatheter heart valve repair and replacement products to treat mitral and tricuspid valve diseases under the PASCAL and EVOQUE brands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The company also provides surgical structural heart solutions, such as aortic surgical valve under the INSPIRIS brand name; INSPIRIS RESILIA aortic valve, which offers RESILIA tissue and VFit technology; KONECT RESILIA, a pre-assembled tissue valve conduit for complex combined procedures; and MITRIS RESILIA valve </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286701"/>
                  </a:ext>
                </a:extLst>
              </a:tr>
              <a:tr h="0">
                <a:tc>
                  <a:txBody>
                    <a:bodyPr/>
                    <a:lstStyle/>
                    <a:p>
                      <a:pPr algn="l" fontAlgn="ctr"/>
                      <a:r>
                        <a:rPr lang="en-US" sz="900" b="1" i="0" u="none" strike="noStrike">
                          <a:effectLst/>
                          <a:latin typeface="+mn-lt"/>
                        </a:rPr>
                        <a:t>STERIS plc</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$5,460</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Operates through three segments: Healthcare, Applied Sterilization Technologies (AST), and Life Sciences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cleaning chemistries and sterility assurance products; automated endoscope reprocessing system and tracking products; endoscopy accessories, washers, sterilizers, and other pieces of capital equipment for the operation of a sterile processing department; and equipment used directly in procedure rooms, including surgical tables, lights, and connectivity solutions, as well as equipment management services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Provides capital equipment installation, maintenance, upgradation, repair, and troubleshooting services; preventive maintenance programs and repair services; instrument, devices, and endoscope repair and maintenance services; and custom process improvement consulting and outsourced instrument sterile processing services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Provides contract sterilization and testing services for medical device and pharmaceutical manufacturers through a network of contract sterilization and laboratory facilities, as well as integrated sterilization equipment and control systems to medical device manufacturers and research institutions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Designs, manufactures, and sells consumable products, such as pharmaceutical detergents, cleanroom disinfectants and sterilants, pharmaceutical grade and research sterilizers and washers, sterility assurance and maintenance products, vaporized hydrogen peroxide room decontamination systems and sterilizers, and high purity water and pure steam generators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Serves hospitals, other healthcare providers, and pharmaceutical manufacturers</a:t>
                      </a:r>
                      <a:endParaRPr lang="en-US" sz="900" b="0" i="0" u="none" strike="noStrike">
                        <a:solidFill>
                          <a:schemeClr val="tx1"/>
                        </a:solidFill>
                        <a:effectLst/>
                        <a:latin typeface="Calibri" panose="020F0502020204030204" pitchFamily="34" charset="0"/>
                      </a:endParaRP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effectLst/>
                          <a:latin typeface="+mn-lt"/>
                        </a:rPr>
                        <a:t>ResMed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$5,146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Develops, manufactures, distributes, and markets medical devices and cloud-based software applications to diagnose, treat, and manage respiratory disorders in the United States and internationally</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Operates in two segments, Sleep and Breathing Health, and Residential Care Software </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sleep recorders for the diagnosis and titration of sleep apnea in sleep clinics, hospitals, and at home, including ApneaLink Air, a portable diagnostic device that measures oximetry, respiratory effort, pulse, nasal flow, and snoring; NightOwl, a portable, cloud-connected, and disposable diagnostic device that measures AHI based on derived peripheral arterial tone, actigraphy, and oximetry; and EasyCare Tx, a sleep lab solution</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AirView, a cloud-based system that enables remote monitoring and changing of patients’ device settings; myAir, a personalized therapy management application for patients with sleep apnea that provides support, education, and troubleshooting tools for increased patient engagement and improved compliance; and connectivity module which provides a cellular connection between compatible ventilation devices and AirView system</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out-of-hospital software solution, such as Brightree business management software and service solutions to providers of HME, pharmacy, home infusion, orthotics, and prosthetics services; MatrixCare care management and related ancillary solutions to senior living, skilled nursing, life plan communities, home health, home care, and hospice organizations, as well as related accountable care organizations; and HEALTHCAREfirst that offers electronic health record, software, billing and coding services, and analytics for home health and hospice agencies</a:t>
                      </a:r>
                      <a:endParaRPr lang="en-US" sz="900" b="0" i="0" u="none" strike="noStrike">
                        <a:solidFill>
                          <a:schemeClr val="tx1"/>
                        </a:solidFill>
                        <a:effectLst/>
                        <a:latin typeface="Calibri" panose="020F0502020204030204" pitchFamily="34" charset="0"/>
                      </a:endParaRP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9908096"/>
                  </a:ext>
                </a:extLst>
              </a:tr>
            </a:tbl>
          </a:graphicData>
        </a:graphic>
      </p:graphicFrame>
    </p:spTree>
    <p:extLst>
      <p:ext uri="{BB962C8B-B14F-4D97-AF65-F5344CB8AC3E}">
        <p14:creationId xmlns:p14="http://schemas.microsoft.com/office/powerpoint/2010/main" val="15189599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CFB2D-404B-9A37-7FE3-C0D28427862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78D3EB0-0D58-DDAC-E32E-F04FB19C9C5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FC35150F-9B42-7292-DB55-B8529E756184}"/>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0031070F-CA1C-79A9-7D0D-7338FDB93294}"/>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17</a:t>
            </a:fld>
            <a:endParaRPr lang="en-US"/>
          </a:p>
        </p:txBody>
      </p:sp>
      <p:sp>
        <p:nvSpPr>
          <p:cNvPr id="2" name="TextBox 1">
            <a:extLst>
              <a:ext uri="{FF2B5EF4-FFF2-40B4-BE49-F238E27FC236}">
                <a16:creationId xmlns:a16="http://schemas.microsoft.com/office/drawing/2014/main" id="{98DB4987-2455-7215-E577-3A173F9CABD5}"/>
              </a:ext>
            </a:extLst>
          </p:cNvPr>
          <p:cNvSpPr txBox="1"/>
          <p:nvPr/>
        </p:nvSpPr>
        <p:spPr>
          <a:xfrm>
            <a:off x="1593272" y="1078045"/>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endParaRPr lang="en-US" sz="1400" b="1"/>
          </a:p>
        </p:txBody>
      </p:sp>
      <p:graphicFrame>
        <p:nvGraphicFramePr>
          <p:cNvPr id="6" name="Table 5">
            <a:extLst>
              <a:ext uri="{FF2B5EF4-FFF2-40B4-BE49-F238E27FC236}">
                <a16:creationId xmlns:a16="http://schemas.microsoft.com/office/drawing/2014/main" id="{F054443A-AADA-926A-7867-38FA763ED7A9}"/>
              </a:ext>
            </a:extLst>
          </p:cNvPr>
          <p:cNvGraphicFramePr>
            <a:graphicFrameLocks noGrp="1"/>
          </p:cNvGraphicFramePr>
          <p:nvPr>
            <p:extLst>
              <p:ext uri="{D42A27DB-BD31-4B8C-83A1-F6EECF244321}">
                <p14:modId xmlns:p14="http://schemas.microsoft.com/office/powerpoint/2010/main" val="291045208"/>
              </p:ext>
            </p:extLst>
          </p:nvPr>
        </p:nvGraphicFramePr>
        <p:xfrm>
          <a:off x="86592" y="1385822"/>
          <a:ext cx="8970816" cy="499262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Elanco Animal Health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$4,715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Innovates, develops, manufactures, and markets products for pets and farm animals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Offers pet health disease prevention products, such as parasiticide and vaccine products that protect pets from worms, fleas, and ticks under the Seresto, Advantage, Advantix, and Advocate brands; pet health therapeutics for pain, osteoarthritis, ear infections, cardiovascular, and dermatology indications in canines and felines under the Galliprant and Claro brands; vaccines, antibiotics, parasiticides, and other products for use in poultry and aquaculture production, as well as nutritional health products, including enzymes, probiotics, and prebiotics; and a range of vaccines, antibiotics, implants, parasiticides, and other products used in ruminant and swine production under the Rumensin and Baytril brands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2961211"/>
                  </a:ext>
                </a:extLst>
              </a:tr>
              <a:tr h="0">
                <a:tc>
                  <a:txBody>
                    <a:bodyPr/>
                    <a:lstStyle/>
                    <a:p>
                      <a:pPr algn="l" fontAlgn="ctr"/>
                      <a:r>
                        <a:rPr lang="en-US" sz="900" b="1" i="0" u="none" strike="noStrike">
                          <a:effectLst/>
                          <a:latin typeface="+mn-lt"/>
                        </a:rPr>
                        <a:t>Dexcom</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$4,662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Focuses on the design, development, and commercialization of continuous glucose monitoring (CGM) systems for the management of diabetes and metabolic health in the United States and internationally</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Dexcom G7 and G7 15 Day, an integrated continuous glucose monitoring system; Dexcom G6, a CGM system; Dexcom ONE+ to replace fingerstick blood glucose testing for diabetes treatment decisions; Stelo, a biosensor designed for adults with prediabetes and Type 2 diabetes who do not use insulin; Dexcom Share, a remote monitoring system; and Dexcom Follow application</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Markets its products directly to endocrinologists, physicians, and diabetes educators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8286701"/>
                  </a:ext>
                </a:extLst>
              </a:tr>
              <a:tr h="0">
                <a:tc>
                  <a:txBody>
                    <a:bodyPr/>
                    <a:lstStyle/>
                    <a:p>
                      <a:pPr algn="l" fontAlgn="ctr"/>
                      <a:r>
                        <a:rPr lang="en-US" sz="900" b="1" i="0" u="none" strike="noStrike">
                          <a:effectLst/>
                          <a:latin typeface="+mn-lt"/>
                        </a:rPr>
                        <a:t>Illumina</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$4,343</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sequencing- and array-based solutions for genetic and genomic analysis in the Americas, Europe, Greater China, the Asia Pacific, the Middle East, and Africa</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sequencing- and array-based instruments and consumables, which include reagents, flow cells, and library preparation; whole-genome sequencing kits, which sequence entire genomes of various size and complexity; and targeted resequencing kits, which sequence exomes, specific genes, and RNA or other genomic regions of interest</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whole-genome sequencing, genotyping, noninvasive prenatal testing, and product support services. The company serves genomic research centers, academic institutions, government laboratories, and hospitals, as well as pharmaceutical, biotechnology, commercial molecular diagnostic laboratories, and consumer genomics companies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849602"/>
                  </a:ext>
                </a:extLst>
              </a:tr>
              <a:tr h="0">
                <a:tc>
                  <a:txBody>
                    <a:bodyPr/>
                    <a:lstStyle/>
                    <a:p>
                      <a:pPr algn="l" fontAlgn="ctr"/>
                      <a:r>
                        <a:rPr lang="en-US" sz="900" b="1" i="0" u="none" strike="noStrike">
                          <a:effectLst/>
                          <a:latin typeface="+mn-lt"/>
                        </a:rPr>
                        <a:t>Hologic</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$4,101</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Engages in the development, manufacture, and supply of diagnostics products, medical imaging systems, and surgical products for women's health through early detection and treatment worldwide</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Operates through four segments: Diagnostics, Breast Health, GYN Surgical, and Skeletal Health</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Aptima molecular diagnostic assays to detect the infectious microorganisms; Aptima viral load assays for Hepatitis B virus, Hepatitis C virus, human immunodeficiency virus, and human cytomegalo virus; Aptima bacterial vaginosis and candida vaginitis assays for the diagnosis of vaginitis; Aptima SARS-CoV-2 and Panther Fusion SARS-CoV-2 assays to detect SARS-CoV-2; ThinPrep System for cytology applications; and Rapid Fetal Fibronectin Test that assists physicians in assessing the risk of pre-term birth</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breast cancer care solutions in the areas of radiology, breast surgery, pathology, and treatment, such as 3D digital mammography systems, image analysis software, reading workstations, minimally invasive breast biopsy guidance systems, breast biopsy site markers, localization, and specimen radiology systems; and breast conserving surgery products</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MyoSure Hysteroscopic Tissue Removal System for the removal of fibroids and polyps in the uterus; NovaSure Endometrial Ablation System to treat abnormal uterine bleeding; Fluent Fluid Management System that provides liquid distention during diagnostic and operative hysteroscopic procedures; Acessa ProVu system to treat various fibroids; and CoolSeal portfolio, such as bipolar vessel sealing devices. </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Horizon DXA, a dual energy X-ray system</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16806331"/>
                  </a:ext>
                </a:extLst>
              </a:tr>
            </a:tbl>
          </a:graphicData>
        </a:graphic>
      </p:graphicFrame>
    </p:spTree>
    <p:extLst>
      <p:ext uri="{BB962C8B-B14F-4D97-AF65-F5344CB8AC3E}">
        <p14:creationId xmlns:p14="http://schemas.microsoft.com/office/powerpoint/2010/main" val="426299668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1BEF-A9F7-3741-7C4A-D402F9EA354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DC5C49-310C-11BB-6A27-A35E35ADE2F4}"/>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F4B6F8E2-E123-80B2-C653-1F4DED8B5C83}"/>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2925510B-604B-14CA-8228-367F3DEA20A0}"/>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18</a:t>
            </a:fld>
            <a:endParaRPr lang="en-US"/>
          </a:p>
        </p:txBody>
      </p:sp>
      <p:sp>
        <p:nvSpPr>
          <p:cNvPr id="2" name="TextBox 1">
            <a:extLst>
              <a:ext uri="{FF2B5EF4-FFF2-40B4-BE49-F238E27FC236}">
                <a16:creationId xmlns:a16="http://schemas.microsoft.com/office/drawing/2014/main" id="{B70B318C-5568-A1D1-F786-AE4F089DCA47}"/>
              </a:ext>
            </a:extLst>
          </p:cNvPr>
          <p:cNvSpPr txBox="1"/>
          <p:nvPr/>
        </p:nvSpPr>
        <p:spPr>
          <a:xfrm>
            <a:off x="1593272" y="1078045"/>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endParaRPr lang="en-US" sz="1400" b="1"/>
          </a:p>
        </p:txBody>
      </p:sp>
      <p:graphicFrame>
        <p:nvGraphicFramePr>
          <p:cNvPr id="6" name="Table 5">
            <a:extLst>
              <a:ext uri="{FF2B5EF4-FFF2-40B4-BE49-F238E27FC236}">
                <a16:creationId xmlns:a16="http://schemas.microsoft.com/office/drawing/2014/main" id="{8B0B602E-6198-5ABB-1561-9DB2ECDD2C7D}"/>
              </a:ext>
            </a:extLst>
          </p:cNvPr>
          <p:cNvGraphicFramePr>
            <a:graphicFrameLocks noGrp="1"/>
          </p:cNvGraphicFramePr>
          <p:nvPr>
            <p:extLst>
              <p:ext uri="{D42A27DB-BD31-4B8C-83A1-F6EECF244321}">
                <p14:modId xmlns:p14="http://schemas.microsoft.com/office/powerpoint/2010/main" val="2550940714"/>
              </p:ext>
            </p:extLst>
          </p:nvPr>
        </p:nvGraphicFramePr>
        <p:xfrm>
          <a:off x="86592" y="1385822"/>
          <a:ext cx="8970816" cy="403250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marL="0" marR="0" lvl="0" indent="0" algn="l" defTabSz="914378" rtl="0" eaLnBrk="1" fontAlgn="ctr" latinLnBrk="0" hangingPunct="1">
                        <a:lnSpc>
                          <a:spcPct val="100000"/>
                        </a:lnSpc>
                        <a:spcBef>
                          <a:spcPts val="0"/>
                        </a:spcBef>
                        <a:spcAft>
                          <a:spcPts val="0"/>
                        </a:spcAft>
                        <a:buClrTx/>
                        <a:buSzTx/>
                        <a:buFontTx/>
                        <a:buNone/>
                        <a:tabLst/>
                        <a:defRPr/>
                      </a:pPr>
                      <a:r>
                        <a:rPr lang="en-US" sz="900" b="1" i="0" u="none" strike="noStrike">
                          <a:effectLst/>
                          <a:latin typeface="+mn-lt"/>
                        </a:rPr>
                        <a:t>Cooper Companies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a:effectLst/>
                          <a:latin typeface="+mn-lt"/>
                        </a:rPr>
                        <a:t>$4,092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Develops, manufactures, and markets contact lens wearers</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Operates in two segments, CooperVision and CooperSurgical</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Provides spherical, toric, and multifocal contact lenses that address vision challenges, such as astigmatism, presbyopia, and myopia. </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family and women’s health care, which provides fertility products and services, medical devices, and contraception, as well as cryostorage, such as cord blood and cord tissue storage</a:t>
                      </a:r>
                    </a:p>
                    <a:p>
                      <a:pPr marL="171450" indent="-171450" algn="l" fontAlgn="b">
                        <a:buFont typeface="Wingdings" panose="05000000000000000000" pitchFamily="2" charset="2"/>
                        <a:buChar char="§"/>
                      </a:pPr>
                      <a:r>
                        <a:rPr lang="en-US" sz="900" b="0" i="0" u="none" strike="noStrike">
                          <a:solidFill>
                            <a:schemeClr val="tx1"/>
                          </a:solidFill>
                          <a:effectLst/>
                          <a:latin typeface="Calibri" panose="020F0502020204030204" pitchFamily="34" charset="0"/>
                        </a:rPr>
                        <a:t>Offers Paragard, a hormone-free intrauterine device; and fertility consumables and equipment, donor gamete services, and genomic services, including genetic testing</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2961211"/>
                  </a:ext>
                </a:extLst>
              </a:tr>
              <a:tr h="0">
                <a:tc>
                  <a:txBody>
                    <a:bodyPr/>
                    <a:lstStyle/>
                    <a:p>
                      <a:pPr algn="l" fontAlgn="ctr"/>
                      <a:r>
                        <a:rPr lang="en-US" sz="900" b="1" i="0" u="none" strike="noStrike">
                          <a:effectLst/>
                          <a:latin typeface="+mn-lt"/>
                        </a:rPr>
                        <a:t>Align Technologies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$4,035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Designs, manufactures, and markets Invisalign clear aligners, Vivera retainers, and iTero intraoral scanners and services in the United States, Switzerland, and internationally</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in two segments: Clear Aligner and Imaging Systems and CAD/CAM Services (Systems and Services)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comprehensive products, including Invisalign comprehensive package that addresses the orthodontic needs of teenage patients, such as mandibular advancement, compliance indicators, and compensation for tooth eruption; and Invisalign First Phase I and Invisalign First Comprehensive Phase 2 package for younger patients generally between the ages of seven and ten years, which is a mixture of primary/baby and permanent teeth</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iTero intraoral scanning system, a single hardware platform with software options for restorative or orthodontic procedures; restorative software for general practitioner dentists, prosthodontists, periodontists, and oral surgeons; and software for orthodontists for digital records storage, orthodontic diagnosis, and for the fabrication of printed models and retainers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Align Oral Health Suite a digital interface for dental consultations</a:t>
                      </a:r>
                      <a:endParaRPr kumimoji="0" lang="en-US" sz="900" b="0" i="0" u="none" strike="noStrike" kern="1200" cap="none" spc="0" normalizeH="0" baseline="0" noProof="0">
                        <a:ln>
                          <a:noFill/>
                        </a:ln>
                        <a:solidFill>
                          <a:schemeClr val="tx1"/>
                        </a:solidFill>
                        <a:effectLst/>
                        <a:uLnTx/>
                        <a:uFillTx/>
                        <a:latin typeface="Calibri" panose="020F0502020204030204" pitchFamily="34" charset="0"/>
                        <a:ea typeface="+mn-ea"/>
                        <a:cs typeface="+mn-cs"/>
                      </a:endParaRP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8286701"/>
                  </a:ext>
                </a:extLst>
              </a:tr>
              <a:tr h="0">
                <a:tc>
                  <a:txBody>
                    <a:bodyPr/>
                    <a:lstStyle/>
                    <a:p>
                      <a:pPr algn="l" fontAlgn="ctr"/>
                      <a:r>
                        <a:rPr lang="en-US" sz="900" b="1" i="0" u="none" strike="noStrike">
                          <a:effectLst/>
                          <a:latin typeface="+mn-lt"/>
                        </a:rPr>
                        <a:t>Mettler-Toledo International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900" b="0" i="0" u="none" strike="noStrike">
                          <a:effectLst/>
                          <a:latin typeface="+mn-lt"/>
                        </a:rPr>
                        <a:t>$4,026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Manufactures and supplies precision instruments and services in the United States and internationally</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five segments: U.S. Operations, Swiss Operations, Western European Operations, Chinese Operations, and Other</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laboratory instruments including laboratory balances, liquid pipetting solutions, automated laboratory reactors, titrators, pH meters, process analytics sensors and analyzer technologies, physical value analyzers, density and refractometry, thermal analysis systems, and other analytical instruments; and LabX, a laboratory software platform to manage and analyze data generated from its instruments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industrial instruments such as industrial weighing instruments and related terminals, automatic dimensional measurement and data capture solutions, vehicle scale systems, industrial software, metal detection equipment, x-ray systems, check weighing equipment, camera-based imaging equipment, track-and-trace solutions, and product inspection systems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u="none" strike="noStrike">
                          <a:solidFill>
                            <a:schemeClr val="tx1"/>
                          </a:solidFill>
                          <a:effectLst/>
                        </a:rPr>
                        <a:t>Offers retail weighing solutions consisting of weighing and software solutions, AI-driven image recognition solutions for fresh goods, and automated packaging and labeling solutions for the meat backroom</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0539770"/>
                  </a:ext>
                </a:extLst>
              </a:tr>
            </a:tbl>
          </a:graphicData>
        </a:graphic>
      </p:graphicFrame>
    </p:spTree>
    <p:extLst>
      <p:ext uri="{BB962C8B-B14F-4D97-AF65-F5344CB8AC3E}">
        <p14:creationId xmlns:p14="http://schemas.microsoft.com/office/powerpoint/2010/main" val="39456350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2F932-1DE0-D655-AD68-58E93AEBC8E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184C2F9-177C-26DC-9BE8-F7AFCD6E081E}"/>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EA43E8A1-1625-4727-9780-F5C5A068EDE1}"/>
              </a:ext>
            </a:extLst>
          </p:cNvPr>
          <p:cNvSpPr>
            <a:spLocks noGrp="1"/>
          </p:cNvSpPr>
          <p:nvPr>
            <p:ph type="title"/>
          </p:nvPr>
        </p:nvSpPr>
        <p:spPr>
          <a:xfrm>
            <a:off x="882797" y="44215"/>
            <a:ext cx="8074152" cy="1292899"/>
          </a:xfrm>
        </p:spPr>
        <p:txBody>
          <a:bodyPr/>
          <a:lstStyle/>
          <a:p>
            <a:r>
              <a:rPr lang="en-US" dirty="0"/>
              <a:t>Business descriptions for </a:t>
            </a:r>
            <a:r>
              <a:rPr lang="en-US" dirty="0" err="1"/>
              <a:t>Goofy’s</a:t>
            </a:r>
            <a:r>
              <a:rPr lang="en-US" dirty="0"/>
              <a:t> current compensation peers are as follows: </a:t>
            </a:r>
            <a:r>
              <a:rPr lang="en-US" i="1" dirty="0"/>
              <a:t>(continued)</a:t>
            </a:r>
            <a:endParaRPr lang="en-US" dirty="0"/>
          </a:p>
        </p:txBody>
      </p:sp>
      <p:sp>
        <p:nvSpPr>
          <p:cNvPr id="4" name="Slide Number Placeholder 3">
            <a:extLst>
              <a:ext uri="{FF2B5EF4-FFF2-40B4-BE49-F238E27FC236}">
                <a16:creationId xmlns:a16="http://schemas.microsoft.com/office/drawing/2014/main" id="{164F9B1D-752F-A752-4F03-39572A15B53C}"/>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19</a:t>
            </a:fld>
            <a:endParaRPr lang="en-US"/>
          </a:p>
        </p:txBody>
      </p:sp>
      <p:sp>
        <p:nvSpPr>
          <p:cNvPr id="2" name="TextBox 1">
            <a:extLst>
              <a:ext uri="{FF2B5EF4-FFF2-40B4-BE49-F238E27FC236}">
                <a16:creationId xmlns:a16="http://schemas.microsoft.com/office/drawing/2014/main" id="{3A55D609-BABE-0BBF-6820-19FCF5443CAF}"/>
              </a:ext>
            </a:extLst>
          </p:cNvPr>
          <p:cNvSpPr txBox="1"/>
          <p:nvPr/>
        </p:nvSpPr>
        <p:spPr>
          <a:xfrm>
            <a:off x="1593272" y="1222200"/>
            <a:ext cx="5957455" cy="307777"/>
          </a:xfrm>
          <a:prstGeom prst="rect">
            <a:avLst/>
          </a:prstGeom>
          <a:noFill/>
        </p:spPr>
        <p:txBody>
          <a:bodyPr wrap="square" lIns="45720" tIns="45720" rIns="45720" bIns="45720" rtlCol="0" anchor="ctr">
            <a:spAutoFit/>
          </a:bodyPr>
          <a:lstStyle/>
          <a:p>
            <a:pPr algn="ctr"/>
            <a:r>
              <a:rPr lang="en-US" sz="1400" b="1"/>
              <a:t>Business Descriptions of Current Peers </a:t>
            </a:r>
            <a:r>
              <a:rPr lang="en-US" sz="1400" b="1" i="1"/>
              <a:t>(continued)</a:t>
            </a:r>
            <a:endParaRPr lang="en-US" sz="1400" b="1"/>
          </a:p>
        </p:txBody>
      </p:sp>
      <p:graphicFrame>
        <p:nvGraphicFramePr>
          <p:cNvPr id="6" name="Table 5">
            <a:extLst>
              <a:ext uri="{FF2B5EF4-FFF2-40B4-BE49-F238E27FC236}">
                <a16:creationId xmlns:a16="http://schemas.microsoft.com/office/drawing/2014/main" id="{8C4F7DA9-6093-29AA-1DDD-BB0095AA2042}"/>
              </a:ext>
            </a:extLst>
          </p:cNvPr>
          <p:cNvGraphicFramePr>
            <a:graphicFrameLocks noGrp="1"/>
          </p:cNvGraphicFramePr>
          <p:nvPr>
            <p:extLst>
              <p:ext uri="{D42A27DB-BD31-4B8C-83A1-F6EECF244321}">
                <p14:modId xmlns:p14="http://schemas.microsoft.com/office/powerpoint/2010/main" val="1462615450"/>
              </p:ext>
            </p:extLst>
          </p:nvPr>
        </p:nvGraphicFramePr>
        <p:xfrm>
          <a:off x="86592" y="1529977"/>
          <a:ext cx="8970816" cy="430682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Current Peer</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Waters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$3,165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analytical workflow solutions in Asia, the Americas, and Europe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two segments: Waters and TA</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Designs, manufactures, sells, and services high and ultra-performance liquid chromatography, as well as mass spectrometry (MS) technology systems and support products, including chromatography columns, other consumable products, and post-warranty service plans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Designs, manufactures, sells, and services thermal analysis, rheometry, and calorimetry instruments; and develops and supplies software-based products that interface with its instruments, as well as other manufacturers' instruments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Offers thermal analysis, rheometry, and calorimetry instruments for use in predicting the suitability and stability of fine chemicals, pharmaceuticals, water, polymers, metals, and viscous liquids for various industrial, consumer good, and healthcare products, as well as for life science research</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MS technology, which is used in drug discovery and development comprising clinical trial testing, the analysis of proteins in disease processes, nutritional safety analysis, and environmental testingproducts are used by clinical, pharmaceutical, biochemical, industrial, nutritional safety, environmental, academic, and governmental customers working in research and development, quality assurance, and other laboratory applications</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Revvity</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$2,856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Provides products, services, and solutions to the diagnostics, life sciences, and applied services markets worldwide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two segments: Life Sciences and Diagnostics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Offers instruments, reagents, software, subscriptions, detection and imaging technologies, extended warranties, training and services; and instruments, reagents, assay platforms and software products for early detection of common and rare conditions, such as pregnancy and early childhood, as well as infectious disease testing in the diagnostics market</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Develops technologies that enable and support genomic workflows using protein coupled receptor and next-generation DNA sequencing for oncology, immunodiagnostics, and drug discovery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Serves pharmaceutical and biotechnology companies, laboratories, academic and research institutions, public health authorities, private healthcare organizations, doctors, and government agencies</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effectLst/>
                          <a:latin typeface="+mn-lt"/>
                        </a:rPr>
                        <a:t>Bio-Rad Laboratories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$2,853</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Manufactures, and distributes life science research and clinical diagnostic products in the United States, Europe, Asia, Canada, and Latin America</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Operates through two segments: Life Science and Clinical Diagnostics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Develops, manufactures, and markets instruments, systems, reagents, and consumables to separate, purify, characterize, and quantify biological materials, including cells, proteins, and nucleic acids used in research and biopharmaceutical laboratory environments, as well as for biopharmaceutical manufacturing, quality control process, food safety, and science education applications. </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Designs, manufactures, markets, and supports diagnostic test systems, informatics systems, test kits, and specialized quality controls for clinical, hospital, diagnostic reference, and transfusion and physician office laboratories, as well as software</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chemeClr val="tx1"/>
                          </a:solidFill>
                          <a:effectLst/>
                          <a:latin typeface="Calibri" panose="020F0502020204030204" pitchFamily="34" charset="0"/>
                        </a:rPr>
                        <a:t>Serves universities and medical schools, industrial research organizations, government agencies, pharmaceutical manufacturers, biotechnology companies, food producers, and testing laboratories as well as hospitals and laboratories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849602"/>
                  </a:ext>
                </a:extLst>
              </a:tr>
            </a:tbl>
          </a:graphicData>
        </a:graphic>
      </p:graphicFrame>
    </p:spTree>
    <p:extLst>
      <p:ext uri="{BB962C8B-B14F-4D97-AF65-F5344CB8AC3E}">
        <p14:creationId xmlns:p14="http://schemas.microsoft.com/office/powerpoint/2010/main" val="386941489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F173-25C8-7B12-A0C1-85CCEAD6FC9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FD57A9-FFD5-1761-1A41-7DD5F5C6209E}"/>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E105DEDB-3EA4-2D6B-B0B4-D3B05F202DD4}"/>
              </a:ext>
            </a:extLst>
          </p:cNvPr>
          <p:cNvSpPr>
            <a:spLocks noGrp="1"/>
          </p:cNvSpPr>
          <p:nvPr>
            <p:ph type="title"/>
          </p:nvPr>
        </p:nvSpPr>
        <p:spPr>
          <a:xfrm>
            <a:off x="882797" y="44215"/>
            <a:ext cx="8074152" cy="1292899"/>
          </a:xfrm>
        </p:spPr>
        <p:txBody>
          <a:bodyPr/>
          <a:lstStyle/>
          <a:p>
            <a:r>
              <a:rPr lang="en-US" dirty="0"/>
              <a:t>ACME evaluated five additional companies new to the screen this year, but none warrant inclusion at this time:</a:t>
            </a:r>
          </a:p>
        </p:txBody>
      </p:sp>
      <p:sp>
        <p:nvSpPr>
          <p:cNvPr id="4" name="Slide Number Placeholder 3">
            <a:extLst>
              <a:ext uri="{FF2B5EF4-FFF2-40B4-BE49-F238E27FC236}">
                <a16:creationId xmlns:a16="http://schemas.microsoft.com/office/drawing/2014/main" id="{02575CC4-D15C-FAB3-FA3E-3CC8D1C4D797}"/>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20</a:t>
            </a:fld>
            <a:endParaRPr lang="en-US"/>
          </a:p>
        </p:txBody>
      </p:sp>
      <p:sp>
        <p:nvSpPr>
          <p:cNvPr id="2" name="TextBox 1">
            <a:extLst>
              <a:ext uri="{FF2B5EF4-FFF2-40B4-BE49-F238E27FC236}">
                <a16:creationId xmlns:a16="http://schemas.microsoft.com/office/drawing/2014/main" id="{191BB799-6089-A397-E988-260B97AEA654}"/>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New to the Screen</a:t>
            </a:r>
          </a:p>
        </p:txBody>
      </p:sp>
      <p:graphicFrame>
        <p:nvGraphicFramePr>
          <p:cNvPr id="6" name="Table 5">
            <a:extLst>
              <a:ext uri="{FF2B5EF4-FFF2-40B4-BE49-F238E27FC236}">
                <a16:creationId xmlns:a16="http://schemas.microsoft.com/office/drawing/2014/main" id="{B57E3253-2CF9-2107-3D97-FAB152BAFCF3}"/>
              </a:ext>
            </a:extLst>
          </p:cNvPr>
          <p:cNvGraphicFramePr>
            <a:graphicFrameLocks noGrp="1"/>
          </p:cNvGraphicFramePr>
          <p:nvPr>
            <p:extLst>
              <p:ext uri="{D42A27DB-BD31-4B8C-83A1-F6EECF244321}">
                <p14:modId xmlns:p14="http://schemas.microsoft.com/office/powerpoint/2010/main" val="211843666"/>
              </p:ext>
            </p:extLst>
          </p:nvPr>
        </p:nvGraphicFramePr>
        <p:xfrm>
          <a:off x="86592" y="1529977"/>
          <a:ext cx="8970816" cy="334670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Accendra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$2,762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as a healthcare solutions company in the United States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a range of products and services for in-home care and delivery for diabetes treatment; home respiratory therapy, including home oxygen and non-invasive ventilation services; obstructive sleep apnea treatment, such as continuous positive airway pressure and bi-level positive airway pressure devices, and patient support services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Supplies other home medical equipment, patient care product lines including ostomy, wound care and negative pressure wound therapy, urology, incontinence, and other products and services. It serves patients and home health agencies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Insulet</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$2,708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sells insulin delivery systems for people with insulin-dependent diabetes in the United States and internationally</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Omnipod platform products comprising Omnipod 5 automated insulin delivery system, which includes a proprietary AID algorithm embedded in the pod that integrates with a third-party continuous glucose monitor to obtain glucose values through wireless Bluetooth communication; Omnipod DASH insulin management system that features a Bluetooth enabled pod that is controlled by a smartphone-like personal diabetes manager with a color touch screen user interface; and the Omnipod Insulin Management System</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pods for Amgen for use in the Neulasta Onpro kit, which is a delivery system to help reduce the risk of infection after intense chemotherapy.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Sells its products to end-users through the pharmacy channel; and independent distributors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72179374"/>
                  </a:ext>
                </a:extLst>
              </a:tr>
              <a:tr h="0">
                <a:tc>
                  <a:txBody>
                    <a:bodyPr/>
                    <a:lstStyle/>
                    <a:p>
                      <a:pPr algn="l" fontAlgn="ctr"/>
                      <a:r>
                        <a:rPr lang="en-US" sz="900" b="1" i="0" u="none" strike="noStrike">
                          <a:effectLst/>
                          <a:latin typeface="+mn-lt"/>
                        </a:rPr>
                        <a:t>Concentra</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$2,163</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occupational health services in the United States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in three segments: Occupational Health centers, Onsite health clinics, and Other business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occupational health services, including workers compensation, employer, and consumer health services; and employer-sponsored primary care services at workplace, including mobile health and episodic specialty testing services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Concentra Telemed, a telemedicine platform for the treatment of work-related injuries and illnesses; Concentra Pharmacy for distributing repackaged medications; and Concentra Medical Compliance Administration, a third-party administrator that helps to manage abuse testing programs for employers with regulated or non-regulated workforces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injury care, primary care, urgent care, preventive care, clinical testing, physical examinations and evaluations, drug and alcohol screenings, clinical testing, vaccinations and other preventive care, and a range of consultative services designed to protect employees from workplace hazards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0539770"/>
                  </a:ext>
                </a:extLst>
              </a:tr>
            </a:tbl>
          </a:graphicData>
        </a:graphic>
      </p:graphicFrame>
    </p:spTree>
    <p:extLst>
      <p:ext uri="{BB962C8B-B14F-4D97-AF65-F5344CB8AC3E}">
        <p14:creationId xmlns:p14="http://schemas.microsoft.com/office/powerpoint/2010/main" val="393166762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4147A-2EDE-7156-1B0C-1DCFBAFCAB2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1EEA487-AD9E-9E44-1006-9A3F8E3CF9F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4F26923-F683-55B8-CFA8-4720719D0F04}"/>
              </a:ext>
            </a:extLst>
          </p:cNvPr>
          <p:cNvSpPr>
            <a:spLocks noGrp="1"/>
          </p:cNvSpPr>
          <p:nvPr>
            <p:ph type="title"/>
          </p:nvPr>
        </p:nvSpPr>
        <p:spPr>
          <a:xfrm>
            <a:off x="882797" y="44215"/>
            <a:ext cx="8074152" cy="1292899"/>
          </a:xfrm>
        </p:spPr>
        <p:txBody>
          <a:bodyPr/>
          <a:lstStyle/>
          <a:p>
            <a:r>
              <a:rPr lang="en-US" dirty="0"/>
              <a:t>ACME evaluated five additional companies new to the screen this year, but none warrant inclusion at this time </a:t>
            </a:r>
            <a:r>
              <a:rPr lang="en-US" i="1" dirty="0"/>
              <a:t>(continued)</a:t>
            </a:r>
            <a:r>
              <a:rPr lang="en-US" dirty="0"/>
              <a:t>:</a:t>
            </a:r>
          </a:p>
        </p:txBody>
      </p:sp>
      <p:sp>
        <p:nvSpPr>
          <p:cNvPr id="4" name="Slide Number Placeholder 3">
            <a:extLst>
              <a:ext uri="{FF2B5EF4-FFF2-40B4-BE49-F238E27FC236}">
                <a16:creationId xmlns:a16="http://schemas.microsoft.com/office/drawing/2014/main" id="{5F439EF8-94E7-7467-2C03-D1D70D036265}"/>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21</a:t>
            </a:fld>
            <a:endParaRPr lang="en-US"/>
          </a:p>
        </p:txBody>
      </p:sp>
      <p:sp>
        <p:nvSpPr>
          <p:cNvPr id="2" name="TextBox 1">
            <a:extLst>
              <a:ext uri="{FF2B5EF4-FFF2-40B4-BE49-F238E27FC236}">
                <a16:creationId xmlns:a16="http://schemas.microsoft.com/office/drawing/2014/main" id="{73AFD60B-9B6D-23F4-C58E-B8943A6459A9}"/>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New to the Screen </a:t>
            </a:r>
            <a:r>
              <a:rPr lang="en-US" sz="1400" b="1" i="1"/>
              <a:t>(continued)</a:t>
            </a:r>
          </a:p>
        </p:txBody>
      </p:sp>
      <p:graphicFrame>
        <p:nvGraphicFramePr>
          <p:cNvPr id="6" name="Table 5">
            <a:extLst>
              <a:ext uri="{FF2B5EF4-FFF2-40B4-BE49-F238E27FC236}">
                <a16:creationId xmlns:a16="http://schemas.microsoft.com/office/drawing/2014/main" id="{281D8230-1CD8-3D11-FBBC-5222889675F1}"/>
              </a:ext>
            </a:extLst>
          </p:cNvPr>
          <p:cNvGraphicFramePr>
            <a:graphicFrameLocks noGrp="1"/>
          </p:cNvGraphicFramePr>
          <p:nvPr>
            <p:extLst>
              <p:ext uri="{D42A27DB-BD31-4B8C-83A1-F6EECF244321}">
                <p14:modId xmlns:p14="http://schemas.microsoft.com/office/powerpoint/2010/main" val="3258746480"/>
              </p:ext>
            </p:extLst>
          </p:nvPr>
        </p:nvGraphicFramePr>
        <p:xfrm>
          <a:off x="86592" y="1529977"/>
          <a:ext cx="8970816" cy="307238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93464">
                <a:tc>
                  <a:txBody>
                    <a:bodyPr/>
                    <a:lstStyle/>
                    <a:p>
                      <a:pPr algn="l" fontAlgn="ctr"/>
                      <a:r>
                        <a:rPr lang="en-US" sz="900" b="1" i="0" u="none" strike="noStrike">
                          <a:effectLst/>
                          <a:latin typeface="+mn-lt"/>
                        </a:rPr>
                        <a:t>PTC Therapeutics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$1,731</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Focuses on the discovery, development, and commercialization of medicines to children and adults living with rare disorders in the United States and internationally</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a:t>
                      </a:r>
                      <a:r>
                        <a:rPr lang="en-US" sz="900" b="0" i="0" u="none" strike="noStrike" err="1">
                          <a:solidFill>
                            <a:srgbClr val="000000"/>
                          </a:solidFill>
                          <a:effectLst/>
                          <a:latin typeface="Calibri" panose="020F0502020204030204" pitchFamily="34" charset="0"/>
                        </a:rPr>
                        <a:t>Translarna</a:t>
                      </a:r>
                      <a:r>
                        <a:rPr lang="en-US" sz="900" b="0" i="0" u="none" strike="noStrike">
                          <a:solidFill>
                            <a:srgbClr val="000000"/>
                          </a:solidFill>
                          <a:effectLst/>
                          <a:latin typeface="Calibri" panose="020F0502020204030204" pitchFamily="34" charset="0"/>
                        </a:rPr>
                        <a:t> and </a:t>
                      </a:r>
                      <a:r>
                        <a:rPr lang="en-US" sz="900" b="0" i="0" u="none" strike="noStrike" err="1">
                          <a:solidFill>
                            <a:srgbClr val="000000"/>
                          </a:solidFill>
                          <a:effectLst/>
                          <a:latin typeface="Calibri" panose="020F0502020204030204" pitchFamily="34" charset="0"/>
                        </a:rPr>
                        <a:t>Emflaza</a:t>
                      </a:r>
                      <a:r>
                        <a:rPr lang="en-US" sz="900" b="0" i="0" u="none" strike="noStrike">
                          <a:solidFill>
                            <a:srgbClr val="000000"/>
                          </a:solidFill>
                          <a:effectLst/>
                          <a:latin typeface="Calibri" panose="020F0502020204030204" pitchFamily="34" charset="0"/>
                        </a:rPr>
                        <a:t> for the treatment of Duchenne muscular dystrophy; </a:t>
                      </a:r>
                      <a:r>
                        <a:rPr lang="en-US" sz="900" b="0" i="0" u="none" strike="noStrike" err="1">
                          <a:solidFill>
                            <a:srgbClr val="000000"/>
                          </a:solidFill>
                          <a:effectLst/>
                          <a:latin typeface="Calibri" panose="020F0502020204030204" pitchFamily="34" charset="0"/>
                        </a:rPr>
                        <a:t>Upstaza</a:t>
                      </a:r>
                      <a:r>
                        <a:rPr lang="en-US" sz="900" b="0" i="0" u="none" strike="noStrike">
                          <a:solidFill>
                            <a:srgbClr val="000000"/>
                          </a:solidFill>
                          <a:effectLst/>
                          <a:latin typeface="Calibri" panose="020F0502020204030204" pitchFamily="34" charset="0"/>
                        </a:rPr>
                        <a:t> to treat aromatic l-amino acid </a:t>
                      </a:r>
                      <a:r>
                        <a:rPr lang="en-US" sz="900" b="0" i="0" u="none" strike="noStrike" err="1">
                          <a:solidFill>
                            <a:srgbClr val="000000"/>
                          </a:solidFill>
                          <a:effectLst/>
                          <a:latin typeface="Calibri" panose="020F0502020204030204" pitchFamily="34" charset="0"/>
                        </a:rPr>
                        <a:t>decarboxylas</a:t>
                      </a:r>
                      <a:r>
                        <a:rPr lang="en-US" sz="900" b="0" i="0" u="none" strike="noStrike">
                          <a:solidFill>
                            <a:srgbClr val="000000"/>
                          </a:solidFill>
                          <a:effectLst/>
                          <a:latin typeface="Calibri" panose="020F0502020204030204" pitchFamily="34" charset="0"/>
                        </a:rPr>
                        <a:t> (AADC) deficiency, a central nervous system disorder; </a:t>
                      </a:r>
                      <a:r>
                        <a:rPr lang="en-US" sz="900" b="0" i="0" u="none" strike="noStrike" err="1">
                          <a:solidFill>
                            <a:srgbClr val="000000"/>
                          </a:solidFill>
                          <a:effectLst/>
                          <a:latin typeface="Calibri" panose="020F0502020204030204" pitchFamily="34" charset="0"/>
                        </a:rPr>
                        <a:t>Tegsedi</a:t>
                      </a:r>
                      <a:r>
                        <a:rPr lang="en-US" sz="900" b="0" i="0" u="none" strike="noStrike">
                          <a:solidFill>
                            <a:srgbClr val="000000"/>
                          </a:solidFill>
                          <a:effectLst/>
                          <a:latin typeface="Calibri" panose="020F0502020204030204" pitchFamily="34" charset="0"/>
                        </a:rPr>
                        <a:t> and </a:t>
                      </a:r>
                      <a:r>
                        <a:rPr lang="en-US" sz="900" b="0" i="0" u="none" strike="noStrike" err="1">
                          <a:solidFill>
                            <a:srgbClr val="000000"/>
                          </a:solidFill>
                          <a:effectLst/>
                          <a:latin typeface="Calibri" panose="020F0502020204030204" pitchFamily="34" charset="0"/>
                        </a:rPr>
                        <a:t>Waylivra</a:t>
                      </a:r>
                      <a:r>
                        <a:rPr lang="en-US" sz="900" b="0" i="0" u="none" strike="noStrike">
                          <a:solidFill>
                            <a:srgbClr val="000000"/>
                          </a:solidFill>
                          <a:effectLst/>
                          <a:latin typeface="Calibri" panose="020F0502020204030204" pitchFamily="34" charset="0"/>
                        </a:rPr>
                        <a:t> for the treatment of rare diseases; and </a:t>
                      </a:r>
                      <a:r>
                        <a:rPr lang="en-US" sz="900" b="0" i="0" u="none" strike="noStrike" err="1">
                          <a:solidFill>
                            <a:srgbClr val="000000"/>
                          </a:solidFill>
                          <a:effectLst/>
                          <a:latin typeface="Calibri" panose="020F0502020204030204" pitchFamily="34" charset="0"/>
                        </a:rPr>
                        <a:t>Evrysdi</a:t>
                      </a:r>
                      <a:r>
                        <a:rPr lang="en-US" sz="900" b="0" i="0" u="none" strike="noStrike">
                          <a:solidFill>
                            <a:srgbClr val="000000"/>
                          </a:solidFill>
                          <a:effectLst/>
                          <a:latin typeface="Calibri" panose="020F0502020204030204" pitchFamily="34" charset="0"/>
                        </a:rPr>
                        <a:t> to treat spinal muscular atrophy (SMA) in adults and children</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Development pipeline products include </a:t>
                      </a:r>
                      <a:r>
                        <a:rPr lang="en-US" sz="900" b="0" i="0" u="none" strike="noStrike" err="1">
                          <a:solidFill>
                            <a:srgbClr val="000000"/>
                          </a:solidFill>
                          <a:effectLst/>
                          <a:latin typeface="Calibri" panose="020F0502020204030204" pitchFamily="34" charset="0"/>
                        </a:rPr>
                        <a:t>Sepiapterin</a:t>
                      </a:r>
                      <a:r>
                        <a:rPr lang="en-US" sz="900" b="0" i="0" u="none" strike="noStrike">
                          <a:solidFill>
                            <a:srgbClr val="000000"/>
                          </a:solidFill>
                          <a:effectLst/>
                          <a:latin typeface="Calibri" panose="020F0502020204030204" pitchFamily="34" charset="0"/>
                        </a:rPr>
                        <a:t> for the treatment of phenylketonuria; PTC518 splicing platform, which is being developed for the treatment of Huntington’s disease; and inflammation and ferroptosis platforms, including </a:t>
                      </a:r>
                      <a:r>
                        <a:rPr lang="en-US" sz="900" b="0" i="0" u="none" strike="noStrike" err="1">
                          <a:solidFill>
                            <a:srgbClr val="000000"/>
                          </a:solidFill>
                          <a:effectLst/>
                          <a:latin typeface="Calibri" panose="020F0502020204030204" pitchFamily="34" charset="0"/>
                        </a:rPr>
                        <a:t>vatiquinone</a:t>
                      </a:r>
                      <a:r>
                        <a:rPr lang="en-US" sz="900" b="0" i="0" u="none" strike="noStrike">
                          <a:solidFill>
                            <a:srgbClr val="000000"/>
                          </a:solidFill>
                          <a:effectLst/>
                          <a:latin typeface="Calibri" panose="020F0502020204030204" pitchFamily="34" charset="0"/>
                        </a:rPr>
                        <a:t> to treat Friedreich’s ataxia</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Distributes its products through third-party distributors</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Has license and collaboration agreements with Novartis Pharmaceuticals Corporation to develop PTC518 Huntington's disease program</a:t>
                      </a:r>
                    </a:p>
                    <a:p>
                      <a:pPr marL="171450" indent="-171450" algn="l" fontAlgn="b">
                        <a:buFont typeface="Wingdings" panose="05000000000000000000" pitchFamily="2" charset="2"/>
                        <a:buChar char="§"/>
                      </a:pPr>
                      <a:r>
                        <a:rPr lang="en-US" sz="900" b="0" i="0" u="none" strike="noStrike">
                          <a:solidFill>
                            <a:srgbClr val="000000"/>
                          </a:solidFill>
                          <a:effectLst/>
                          <a:latin typeface="Calibri" panose="020F0502020204030204" pitchFamily="34" charset="0"/>
                        </a:rPr>
                        <a:t>Markets </a:t>
                      </a:r>
                      <a:r>
                        <a:rPr lang="en-US" sz="900" b="0" i="0" u="none" strike="noStrike" err="1">
                          <a:solidFill>
                            <a:srgbClr val="000000"/>
                          </a:solidFill>
                          <a:effectLst/>
                          <a:latin typeface="Calibri" panose="020F0502020204030204" pitchFamily="34" charset="0"/>
                        </a:rPr>
                        <a:t>Upstaza</a:t>
                      </a:r>
                      <a:r>
                        <a:rPr lang="en-US" sz="900" b="0" i="0" u="none" strike="noStrike">
                          <a:solidFill>
                            <a:srgbClr val="000000"/>
                          </a:solidFill>
                          <a:effectLst/>
                          <a:latin typeface="Calibri" panose="020F0502020204030204" pitchFamily="34" charset="0"/>
                        </a:rPr>
                        <a:t>, a gene therapy with the brand name </a:t>
                      </a:r>
                      <a:r>
                        <a:rPr lang="en-US" sz="900" b="0" i="0" u="none" strike="noStrike" err="1">
                          <a:solidFill>
                            <a:srgbClr val="000000"/>
                          </a:solidFill>
                          <a:effectLst/>
                          <a:latin typeface="Calibri" panose="020F0502020204030204" pitchFamily="34" charset="0"/>
                        </a:rPr>
                        <a:t>Kebilidi</a:t>
                      </a:r>
                      <a:r>
                        <a:rPr lang="en-US" sz="900" b="0" i="0" u="none" strike="noStrike">
                          <a:solidFill>
                            <a:srgbClr val="000000"/>
                          </a:solidFill>
                          <a:effectLst/>
                          <a:latin typeface="Calibri" panose="020F0502020204030204" pitchFamily="34" charset="0"/>
                        </a:rPr>
                        <a:t> in the United States</a:t>
                      </a:r>
                    </a:p>
                  </a:txBody>
                  <a:tcPr marL="0" marR="0" marT="0" marB="0"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Masimo</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$1,527</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Engages in the development, manufacture, and marketing of various patient monitoring technologies, and automation and connectivity solutions worldwide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Masimo Signal Extraction Technology (SET) pulse oximetry with measure-through motion and low perfusion pulse oximetry monitoring to address the primary limitations of conventional pulse oximetry; Masimo Rainbow SET platform, including rainbow SET Pulse CO-Oximetry products that allows noninvasive monitoring of oxygen, carboxyhemoglobin, and methemoglobin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brain function and hemodynamic monitoring solutions; patient position and activity tracking, and neuromodulation technology solutions; and Masimo Hospital Automation platform, including hospital automation solutions, including Patient SafetyNet, Iris, iSirona, Replica, and </a:t>
                      </a:r>
                      <a:r>
                        <a:rPr lang="en-US" sz="900" b="0" i="0" u="none" strike="noStrike" err="1">
                          <a:solidFill>
                            <a:srgbClr val="000000"/>
                          </a:solidFill>
                          <a:effectLst/>
                          <a:latin typeface="Calibri" panose="020F0502020204030204" pitchFamily="34" charset="0"/>
                        </a:rPr>
                        <a:t>UniView</a:t>
                      </a:r>
                      <a:r>
                        <a:rPr lang="en-US" sz="900" b="0" i="0" u="none" strike="noStrike">
                          <a:solidFill>
                            <a:srgbClr val="000000"/>
                          </a:solidFill>
                          <a:effectLst/>
                          <a:latin typeface="Calibri" panose="020F0502020204030204" pitchFamily="34" charset="0"/>
                        </a:rPr>
                        <a:t>; and brain function monitoring, hemodynamic monitoring, regional oximetry, acoustic respiration rate monitoring, capnography and gas monitoring, and telehealth solutions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its products through direct sales force, distributors, and original equipment manufacturers partners to hospitals, emergency medical service and home care providers, long-term care facilities, physician offices, veterinarians, and consumers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72179374"/>
                  </a:ext>
                </a:extLst>
              </a:tr>
            </a:tbl>
          </a:graphicData>
        </a:graphic>
      </p:graphicFrame>
    </p:spTree>
    <p:extLst>
      <p:ext uri="{BB962C8B-B14F-4D97-AF65-F5344CB8AC3E}">
        <p14:creationId xmlns:p14="http://schemas.microsoft.com/office/powerpoint/2010/main" val="39845639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0DD6-3B4F-9EDB-8878-8C73530367F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FEFB303-6125-E021-9F39-05F67844840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64F6D4AC-C841-C175-47BA-E02288741015}"/>
              </a:ext>
            </a:extLst>
          </p:cNvPr>
          <p:cNvSpPr>
            <a:spLocks noGrp="1"/>
          </p:cNvSpPr>
          <p:nvPr>
            <p:ph type="title"/>
          </p:nvPr>
        </p:nvSpPr>
        <p:spPr>
          <a:xfrm>
            <a:off x="882797" y="44215"/>
            <a:ext cx="8074152" cy="1292899"/>
          </a:xfrm>
        </p:spPr>
        <p:txBody>
          <a:bodyPr/>
          <a:lstStyle/>
          <a:p>
            <a:r>
              <a:rPr lang="en-US" dirty="0"/>
              <a:t>ACME also evaluated companies considered last year, but none warrant inclusion at this time:</a:t>
            </a:r>
          </a:p>
        </p:txBody>
      </p:sp>
      <p:sp>
        <p:nvSpPr>
          <p:cNvPr id="4" name="Slide Number Placeholder 3">
            <a:extLst>
              <a:ext uri="{FF2B5EF4-FFF2-40B4-BE49-F238E27FC236}">
                <a16:creationId xmlns:a16="http://schemas.microsoft.com/office/drawing/2014/main" id="{D3A0EAC4-0864-738B-B62F-A19486D3267B}"/>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22</a:t>
            </a:fld>
            <a:endParaRPr lang="en-US"/>
          </a:p>
        </p:txBody>
      </p:sp>
      <p:graphicFrame>
        <p:nvGraphicFramePr>
          <p:cNvPr id="6" name="Table 5">
            <a:extLst>
              <a:ext uri="{FF2B5EF4-FFF2-40B4-BE49-F238E27FC236}">
                <a16:creationId xmlns:a16="http://schemas.microsoft.com/office/drawing/2014/main" id="{62B1CA07-BAAC-E0ED-209C-30ADAB3FD782}"/>
              </a:ext>
            </a:extLst>
          </p:cNvPr>
          <p:cNvGraphicFramePr>
            <a:graphicFrameLocks noGrp="1"/>
          </p:cNvGraphicFramePr>
          <p:nvPr>
            <p:extLst>
              <p:ext uri="{D42A27DB-BD31-4B8C-83A1-F6EECF244321}">
                <p14:modId xmlns:p14="http://schemas.microsoft.com/office/powerpoint/2010/main" val="3617803339"/>
              </p:ext>
            </p:extLst>
          </p:nvPr>
        </p:nvGraphicFramePr>
        <p:xfrm>
          <a:off x="86592" y="1529977"/>
          <a:ext cx="8970816" cy="458114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0">
                <a:tc>
                  <a:txBody>
                    <a:bodyPr/>
                    <a:lstStyle/>
                    <a:p>
                      <a:pPr algn="l" fontAlgn="ctr"/>
                      <a:r>
                        <a:rPr lang="en-US" sz="900" b="1" i="0" u="none" strike="noStrike">
                          <a:effectLst/>
                          <a:latin typeface="+mn-lt"/>
                        </a:rPr>
                        <a:t>Baxter International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$11,244</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effectLst/>
                          <a:latin typeface="+mn-lt"/>
                        </a:rPr>
                        <a:t>Provides a portfolio of healthcare products in the United States and internationally</a:t>
                      </a:r>
                    </a:p>
                    <a:p>
                      <a:pPr marL="171450" indent="-171450" algn="l" fontAlgn="ctr">
                        <a:buFont typeface="Wingdings" panose="05000000000000000000" pitchFamily="2" charset="2"/>
                        <a:buChar char="§"/>
                      </a:pPr>
                      <a:r>
                        <a:rPr lang="en-US" sz="900" b="0" i="0" u="none" strike="noStrike">
                          <a:effectLst/>
                          <a:latin typeface="+mn-lt"/>
                        </a:rPr>
                        <a:t>Operates through three segments: Medical Products and Therapies, Healthcare Systems and Technologies, and Pharmaceuticals</a:t>
                      </a:r>
                    </a:p>
                    <a:p>
                      <a:pPr marL="171450" indent="-171450" algn="l" fontAlgn="ctr">
                        <a:buFont typeface="Wingdings" panose="05000000000000000000" pitchFamily="2" charset="2"/>
                        <a:buChar char="§"/>
                      </a:pPr>
                      <a:r>
                        <a:rPr lang="en-US" sz="900" b="0" i="0" u="none" strike="noStrike">
                          <a:effectLst/>
                          <a:latin typeface="+mn-lt"/>
                        </a:rPr>
                        <a:t>Offers sterile intravenous (IV) solutions; infusion systems and devices; parenteral nutrition therapies; administrative sets; generic injectable pharmaceuticals; surgical hemostat and sealant products; advanced surgical equipment; smart bed systems; patient monitoring and diagnostic technologies; and respiratory health devices, as well as advanced equipment for the surgical space comprising operating room integration technologies, precision positioning devices, and other accessories</a:t>
                      </a:r>
                    </a:p>
                    <a:p>
                      <a:pPr marL="171450" indent="-171450" algn="l" fontAlgn="ctr">
                        <a:buFont typeface="Wingdings" panose="05000000000000000000" pitchFamily="2" charset="2"/>
                        <a:buChar char="§"/>
                      </a:pPr>
                      <a:r>
                        <a:rPr lang="en-US" sz="900" b="0" i="0" u="none" strike="noStrike">
                          <a:effectLst/>
                          <a:latin typeface="+mn-lt"/>
                        </a:rPr>
                        <a:t>Provides specialty injectable pharmaceuticals, inhaled anesthetics, and drug compounding services. Its products are used in hospitals, nursing homes, rehabilitation centers, ambulatory surgery centers, doctors’ offices, kidney dialysis centers, and patients at home under physician supervision</a:t>
                      </a:r>
                    </a:p>
                    <a:p>
                      <a:pPr marL="171450" indent="-171450" algn="l" fontAlgn="ctr">
                        <a:buFont typeface="Wingdings" panose="05000000000000000000" pitchFamily="2" charset="2"/>
                        <a:buChar char="§"/>
                      </a:pPr>
                      <a:r>
                        <a:rPr lang="en-US" sz="900" b="0" i="0" u="none" strike="noStrike">
                          <a:effectLst/>
                          <a:latin typeface="+mn-lt"/>
                        </a:rPr>
                        <a:t>Sells its products through independent distributors, drug wholesalers, and specialty pharmacy or other alternate site providers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Solventum</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$8,325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commercializes a portfolio of solutions to address critical customer and patient needs in the United States and internationally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through three segments: Medsurg, Dental Solutions, and Health Information Systems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Medsurg segment offers solutions, such as negative pressure wound therapy, advanced wound dressings, advanced skin care, synthetic tissue matrices, I.V. site management, sterilization assurance, temperature management, surgical supplies, medical tapes and wraps, stethoscopes, medical electrodes, and medical technologies for original equipment manufacturers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Dental Solutions segment provides dental and orthodontic products, including brackets, aligners, restorative cements, and bonding agents to span the life of the tooth, and products for preventative dental care, direct and indirect restoration, and orthodontic needs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Health Information Systems segment offers healthcare systems with software solutions comprising computer-assisted physician documentation, direct-to-bill and coding automation, classification methodologies, speech recognition, and data visualization platforms.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The company sells its products and services through direct-to-consumer, distribution, key account management, inside sales, and e-commerce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Formed as a result of a spin-off from 3M on April 1, 2024</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r h="0">
                <a:tc>
                  <a:txBody>
                    <a:bodyPr/>
                    <a:lstStyle/>
                    <a:p>
                      <a:pPr algn="l" fontAlgn="ctr"/>
                      <a:r>
                        <a:rPr lang="en-US" sz="900" b="1" i="0" u="none" strike="noStrike">
                          <a:effectLst/>
                          <a:latin typeface="+mn-lt"/>
                        </a:rPr>
                        <a:t>Avantor</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$6,552</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effectLst/>
                          <a:latin typeface="+mn-lt"/>
                        </a:rPr>
                        <a:t>Provides  mission-critical products and services to customers in the biopharma, healthcare, education and government, advanced technologies, and applied materials industries in the Americas, Europe, Asia, the Middle East, and Africa</a:t>
                      </a:r>
                    </a:p>
                    <a:p>
                      <a:pPr marL="171450" indent="-171450" algn="l" fontAlgn="ctr">
                        <a:buFont typeface="Wingdings" panose="05000000000000000000" pitchFamily="2" charset="2"/>
                        <a:buChar char="§"/>
                      </a:pPr>
                      <a:r>
                        <a:rPr lang="en-US" sz="900" b="0" i="0" u="none" strike="noStrike">
                          <a:effectLst/>
                          <a:latin typeface="+mn-lt"/>
                        </a:rPr>
                        <a:t>Offers materials and consumables, such as purity chemicals and reagents, lab products and supplies, formulated silicone materials, customized excipients, customized single-use assemblies, process chromatography resins and columns, analytical sample prep kits, education and microbiology products, clinical trial kits, and fluid handling tips</a:t>
                      </a:r>
                    </a:p>
                    <a:p>
                      <a:pPr marL="171450" indent="-171450" algn="l" fontAlgn="ctr">
                        <a:buFont typeface="Wingdings" panose="05000000000000000000" pitchFamily="2" charset="2"/>
                        <a:buChar char="§"/>
                      </a:pPr>
                      <a:r>
                        <a:rPr lang="en-US" sz="900" b="0" i="0" u="none" strike="noStrike">
                          <a:effectLst/>
                          <a:latin typeface="+mn-lt"/>
                        </a:rPr>
                        <a:t>Provides equipment and instrumentation products, including filtration systems, virus inactivation systems, incubators, analytical instruments, evaporators, ultra-low-temperature freezers, biological safety cabinets, peristaltic pumps, and critical environment supplies. </a:t>
                      </a:r>
                    </a:p>
                    <a:p>
                      <a:pPr marL="171450" indent="-171450" algn="l" fontAlgn="ctr">
                        <a:buFont typeface="Wingdings" panose="05000000000000000000" pitchFamily="2" charset="2"/>
                        <a:buChar char="§"/>
                      </a:pPr>
                      <a:r>
                        <a:rPr lang="en-US" sz="900" b="0" i="0" u="none" strike="noStrike">
                          <a:effectLst/>
                          <a:latin typeface="+mn-lt"/>
                        </a:rPr>
                        <a:t>Offers services and specialty procurements comprising onsite lab and production, clinical, equipment, procurement and sourcing, and biopharmaceutical material scale-up and development services</a:t>
                      </a:r>
                    </a:p>
                    <a:p>
                      <a:pPr marL="171450" indent="-171450" algn="l" fontAlgn="ctr">
                        <a:buFont typeface="Wingdings" panose="05000000000000000000" pitchFamily="2" charset="2"/>
                        <a:buChar char="§"/>
                      </a:pPr>
                      <a:r>
                        <a:rPr lang="en-US" sz="900" b="0" i="0" u="none" strike="noStrike">
                          <a:effectLst/>
                          <a:latin typeface="+mn-lt"/>
                        </a:rPr>
                        <a:t>Provides scientific research support services such as DNA extraction, bioreactor servicing, clinical and biorepository, compound management, cleanroom control, monitoring, maintenance, and sanitization services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849602"/>
                  </a:ext>
                </a:extLst>
              </a:tr>
            </a:tbl>
          </a:graphicData>
        </a:graphic>
      </p:graphicFrame>
      <p:sp>
        <p:nvSpPr>
          <p:cNvPr id="9" name="TextBox 8">
            <a:extLst>
              <a:ext uri="{FF2B5EF4-FFF2-40B4-BE49-F238E27FC236}">
                <a16:creationId xmlns:a16="http://schemas.microsoft.com/office/drawing/2014/main" id="{EBF06E77-1380-BA01-FDFE-CE50DE9D711D}"/>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Considered Last Year</a:t>
            </a:r>
            <a:endParaRPr lang="en-US" sz="1400" b="1" baseline="30000"/>
          </a:p>
        </p:txBody>
      </p:sp>
    </p:spTree>
    <p:extLst>
      <p:ext uri="{BB962C8B-B14F-4D97-AF65-F5344CB8AC3E}">
        <p14:creationId xmlns:p14="http://schemas.microsoft.com/office/powerpoint/2010/main" val="396257360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34377-0BA3-50BE-5127-63E7608D78D5}"/>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7389D1E-E68C-F811-C8D9-E5BC26B75FF8}"/>
              </a:ext>
            </a:extLst>
          </p:cNvPr>
          <p:cNvGraphicFramePr>
            <a:graphicFrameLocks noGrp="1"/>
          </p:cNvGraphicFramePr>
          <p:nvPr>
            <p:extLst>
              <p:ext uri="{D42A27DB-BD31-4B8C-83A1-F6EECF244321}">
                <p14:modId xmlns:p14="http://schemas.microsoft.com/office/powerpoint/2010/main" val="2960064958"/>
              </p:ext>
            </p:extLst>
          </p:nvPr>
        </p:nvGraphicFramePr>
        <p:xfrm>
          <a:off x="86592" y="1491877"/>
          <a:ext cx="8970816" cy="416966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153366">
                <a:tc>
                  <a:txBody>
                    <a:bodyPr/>
                    <a:lstStyle/>
                    <a:p>
                      <a:pPr algn="l" fontAlgn="ctr"/>
                      <a:r>
                        <a:rPr lang="en-US" sz="900" b="1" i="0" u="none" strike="noStrike">
                          <a:effectLst/>
                          <a:latin typeface="+mn-lt"/>
                        </a:rPr>
                        <a:t>DENTSPLY SIRONA</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$3,680</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markets dental equipment supported by cloud-enabled solutions, dental products, and healthcare consumable products in urology and enterology worldwide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through four segments: Connected Technology Solutions, Essential Dental Solutions, Orthodontic and Implant Solutions, and Wellspect Healthcare</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Connected Technology Solutions segment offers imaging equipment, motorized dental handpieces, treatment centers, and other instruments; and intraoral scanners, 3-D printers, and mills, as well as CEREC, a full-chairside economical restoration of esthetic ceramic dentistry offering</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Essential Dental Solutions segment provides motorized endodontic handpieces, files, sealers, irrigation needles, and other tools for root canal procedures; restorative products; curing light and dental diagnostic systems; ultrasonic scalers and polishers; and dental anesthetics, prophylaxis paste, dental sealants, and impression materials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Orthodontic and Implant Solutions segment offers SureSmile, a clear aligner solution that includes whitening kits and retainers; VPro, a high frequency vibration technology device; SureSmile Simulator; DS Core platform, which creates 3D visualization of patient outcomes; dental implant products; digital dentures; crown and bridge porcelain products; bone regenerative and restorative solutions; treatment planning software; educational programs; custom abutments; tapered immediate load screws; regenerative bone growth factor; artificial teeth; and precious metal dental alloys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Wellspect Healthcare segment offers medical devices, including catheters for urinary retention and advanced irrigation systems to help people suffering from chronic or severe constipation</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841235"/>
                  </a:ext>
                </a:extLst>
              </a:tr>
              <a:tr h="0">
                <a:tc>
                  <a:txBody>
                    <a:bodyPr/>
                    <a:lstStyle/>
                    <a:p>
                      <a:pPr algn="l" fontAlgn="ctr"/>
                      <a:r>
                        <a:rPr lang="en-US" sz="900" b="1" i="0" u="none" strike="noStrike">
                          <a:effectLst/>
                          <a:latin typeface="+mn-lt"/>
                        </a:rPr>
                        <a:t>Bruker Corporation</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$3,437</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Develops, manufactures, and distributes scientific instruments, and analytical and diagnostic solutions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Operates through four segments: Bruker Scientific Instruments (BSI) BioSpin, BSI CALID, BSI Nano, and Bruker Energy &amp; Supercon Technologies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magnetic resonance spectroscop, preclinical imaging, biopharma and applied, services and lifecycle support, integrated data solution, and automation; life science tools; innovative nuclear magnetic resonance (NMR) and electron paramagnetic resonance (EPR) products; solutions for in-vivo processes and drug discovery; aftermarket solutions; solutions for lab automation and digitalization; mass spectrometry solution and test kits, DNA test strips, and fluorescence-based PCR technologies; genotype and fluorotype molecular diagnostics kits; and research, analytical, and process analysis instruments and solutions</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Provides range of portable analytical and bioanalytical detection systems, and related products; X-ray instruments; analytical tools for electron microscopes, as well as handheld, portable, and mobile X-ray fluorescence spectrometry instruments; atomic force microscopy instrumentation; non-contact nanometer resolution solution topography; and automated X-ray metrology, automated AFM defect-detection, and photomask repair and cleaning equipment </a:t>
                      </a:r>
                    </a:p>
                    <a:p>
                      <a:pPr marL="171450" indent="-171450" algn="l" fontAlgn="ctr">
                        <a:buFont typeface="Wingdings" panose="05000000000000000000" pitchFamily="2" charset="2"/>
                        <a:buChar char="§"/>
                      </a:pPr>
                      <a:r>
                        <a:rPr lang="en-US" sz="900" b="0" i="0" u="none" strike="noStrike">
                          <a:solidFill>
                            <a:srgbClr val="000000"/>
                          </a:solidFill>
                          <a:effectLst/>
                          <a:latin typeface="Calibri" panose="020F0502020204030204" pitchFamily="34" charset="0"/>
                        </a:rPr>
                        <a:t>Offers advanced optical fluorescence microscopy instruments; services for transcriptional profiling and multiomic analysis; superconducting materials, such as metallic low temperature superconductors; multifilament round and rectangular LTS wires in both monolithic and wire-in-channel formats; designs and manufactures Cuponal; metallic low temperature superconductors; and non-superconducting high technology tools, such as synchrotron and beamline instrumentation. </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90539770"/>
                  </a:ext>
                </a:extLst>
              </a:tr>
            </a:tbl>
          </a:graphicData>
        </a:graphic>
      </p:graphicFrame>
      <p:sp>
        <p:nvSpPr>
          <p:cNvPr id="5" name="Title 4">
            <a:extLst>
              <a:ext uri="{FF2B5EF4-FFF2-40B4-BE49-F238E27FC236}">
                <a16:creationId xmlns:a16="http://schemas.microsoft.com/office/drawing/2014/main" id="{7648A6B8-0903-6E4C-7D6F-25007E4F2DBC}"/>
              </a:ext>
            </a:extLst>
          </p:cNvPr>
          <p:cNvSpPr>
            <a:spLocks noGrp="1"/>
          </p:cNvSpPr>
          <p:nvPr>
            <p:ph type="title"/>
          </p:nvPr>
        </p:nvSpPr>
        <p:spPr>
          <a:xfrm>
            <a:off x="882797" y="44215"/>
            <a:ext cx="8074152" cy="1292899"/>
          </a:xfrm>
        </p:spPr>
        <p:txBody>
          <a:bodyPr/>
          <a:lstStyle/>
          <a:p>
            <a:r>
              <a:rPr lang="en-US" dirty="0"/>
              <a:t>ACME also evaluated companies considered last year, but none warrant inclusion at this time: </a:t>
            </a:r>
            <a:r>
              <a:rPr lang="en-US" i="1" dirty="0"/>
              <a:t>(continued)</a:t>
            </a:r>
            <a:endParaRPr lang="en-US" dirty="0"/>
          </a:p>
        </p:txBody>
      </p:sp>
      <p:sp>
        <p:nvSpPr>
          <p:cNvPr id="4" name="Slide Number Placeholder 3">
            <a:extLst>
              <a:ext uri="{FF2B5EF4-FFF2-40B4-BE49-F238E27FC236}">
                <a16:creationId xmlns:a16="http://schemas.microsoft.com/office/drawing/2014/main" id="{7AB0B77C-41D0-F665-DF76-F2FD77D53E73}"/>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23</a:t>
            </a:fld>
            <a:endParaRPr lang="en-US"/>
          </a:p>
        </p:txBody>
      </p:sp>
      <p:sp>
        <p:nvSpPr>
          <p:cNvPr id="10" name="TextBox 9">
            <a:extLst>
              <a:ext uri="{FF2B5EF4-FFF2-40B4-BE49-F238E27FC236}">
                <a16:creationId xmlns:a16="http://schemas.microsoft.com/office/drawing/2014/main" id="{C214A704-EF4A-6146-C004-42B90B1311BC}"/>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Considered Last Year</a:t>
            </a:r>
            <a:r>
              <a:rPr lang="en-US" sz="1400" b="1" i="1"/>
              <a:t> (continued)</a:t>
            </a:r>
            <a:endParaRPr lang="en-US" sz="1400" b="1" baseline="30000"/>
          </a:p>
        </p:txBody>
      </p:sp>
    </p:spTree>
    <p:extLst>
      <p:ext uri="{BB962C8B-B14F-4D97-AF65-F5344CB8AC3E}">
        <p14:creationId xmlns:p14="http://schemas.microsoft.com/office/powerpoint/2010/main" val="246170220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AA06-A9F5-77C9-DA7E-CF4CF280CAA4}"/>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4CA177A-F40E-CF17-763C-7999C01869FA}"/>
              </a:ext>
            </a:extLst>
          </p:cNvPr>
          <p:cNvGraphicFramePr>
            <a:graphicFrameLocks noGrp="1"/>
          </p:cNvGraphicFramePr>
          <p:nvPr>
            <p:extLst>
              <p:ext uri="{D42A27DB-BD31-4B8C-83A1-F6EECF244321}">
                <p14:modId xmlns:p14="http://schemas.microsoft.com/office/powerpoint/2010/main" val="2385236042"/>
              </p:ext>
            </p:extLst>
          </p:nvPr>
        </p:nvGraphicFramePr>
        <p:xfrm>
          <a:off x="86592" y="1491877"/>
          <a:ext cx="8970816" cy="4169664"/>
        </p:xfrm>
        <a:graphic>
          <a:graphicData uri="http://schemas.openxmlformats.org/drawingml/2006/table">
            <a:tbl>
              <a:tblPr/>
              <a:tblGrid>
                <a:gridCol w="739861">
                  <a:extLst>
                    <a:ext uri="{9D8B030D-6E8A-4147-A177-3AD203B41FA5}">
                      <a16:colId xmlns:a16="http://schemas.microsoft.com/office/drawing/2014/main" val="2847594257"/>
                    </a:ext>
                  </a:extLst>
                </a:gridCol>
                <a:gridCol w="739861">
                  <a:extLst>
                    <a:ext uri="{9D8B030D-6E8A-4147-A177-3AD203B41FA5}">
                      <a16:colId xmlns:a16="http://schemas.microsoft.com/office/drawing/2014/main" val="2325195630"/>
                    </a:ext>
                  </a:extLst>
                </a:gridCol>
                <a:gridCol w="7491094">
                  <a:extLst>
                    <a:ext uri="{9D8B030D-6E8A-4147-A177-3AD203B41FA5}">
                      <a16:colId xmlns:a16="http://schemas.microsoft.com/office/drawing/2014/main" val="2715828596"/>
                    </a:ext>
                  </a:extLst>
                </a:gridCol>
              </a:tblGrid>
              <a:tr h="0">
                <a:tc>
                  <a:txBody>
                    <a:bodyPr/>
                    <a:lstStyle/>
                    <a:p>
                      <a:pPr algn="ctr" fontAlgn="b"/>
                      <a:r>
                        <a:rPr lang="en-US" sz="900" b="1" i="0" u="none" strike="noStrike">
                          <a:solidFill>
                            <a:srgbClr val="FFFFFF"/>
                          </a:solidFill>
                          <a:effectLst/>
                          <a:latin typeface="+mn-lt"/>
                        </a:rPr>
                        <a:t>Company</a:t>
                      </a:r>
                    </a:p>
                  </a:txBody>
                  <a:tcPr marL="27432" marR="27432" marT="27432" marB="27432" anchor="b">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FYE Revenue ($MM)</a:t>
                      </a:r>
                    </a:p>
                  </a:txBody>
                  <a:tcPr marL="27432" marR="27432" marT="27432" marB="27432"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r>
                        <a:rPr lang="en-US" sz="900" b="1" i="0" u="none" strike="noStrike">
                          <a:solidFill>
                            <a:srgbClr val="FFFFFF"/>
                          </a:solidFill>
                          <a:effectLst/>
                          <a:latin typeface="+mn-lt"/>
                        </a:rPr>
                        <a:t>Business Description</a:t>
                      </a:r>
                    </a:p>
                  </a:txBody>
                  <a:tcPr marL="27432" marR="27432" marT="27432" marB="27432" anchor="b">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632874250"/>
                  </a:ext>
                </a:extLst>
              </a:tr>
              <a:tr h="1280160">
                <a:tc>
                  <a:txBody>
                    <a:bodyPr/>
                    <a:lstStyle/>
                    <a:p>
                      <a:pPr algn="l" fontAlgn="ctr"/>
                      <a:r>
                        <a:rPr lang="en-US" sz="900" b="1" i="0" u="none" strike="noStrike">
                          <a:effectLst/>
                          <a:latin typeface="+mn-lt"/>
                        </a:rPr>
                        <a:t>Exact Sciences</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8" rtl="0" eaLnBrk="1" fontAlgn="ctr"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mn-lt"/>
                          <a:ea typeface="+mn-ea"/>
                          <a:cs typeface="+mn-cs"/>
                        </a:rPr>
                        <a:t>$3,247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Provides cancer screening and diagnostic test products in the United States and internationally</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Offers Cologuard, a non-invasive stool-based DNA screening test to detect DNA and hemoglobin biomarkers associated with colorectal cancer and pre-cancer; Cologuard Plus Tests; </a:t>
                      </a:r>
                      <a:r>
                        <a:rPr lang="en-US" sz="900" b="0" i="0" u="none" strike="noStrike" err="1">
                          <a:solidFill>
                            <a:srgbClr val="000000"/>
                          </a:solidFill>
                          <a:effectLst/>
                          <a:latin typeface="Calibri" panose="020F0502020204030204" pitchFamily="34" charset="0"/>
                        </a:rPr>
                        <a:t>Cancerguard</a:t>
                      </a:r>
                      <a:r>
                        <a:rPr lang="en-US" sz="900" b="0" i="0" u="none" strike="noStrike">
                          <a:solidFill>
                            <a:srgbClr val="000000"/>
                          </a:solidFill>
                          <a:effectLst/>
                          <a:latin typeface="Calibri" panose="020F0502020204030204" pitchFamily="34" charset="0"/>
                        </a:rPr>
                        <a:t> Test; and Genetic Testing</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Provides Oncotype DX Breast Recurrence Score Test; Oncotype DX Breast DCIS Score Test; Oncotype DX Colon Recurrence Score Test; </a:t>
                      </a:r>
                      <a:r>
                        <a:rPr lang="en-US" sz="900" b="0" i="0" u="none" strike="noStrike" err="1">
                          <a:solidFill>
                            <a:srgbClr val="000000"/>
                          </a:solidFill>
                          <a:effectLst/>
                          <a:latin typeface="Calibri" panose="020F0502020204030204" pitchFamily="34" charset="0"/>
                        </a:rPr>
                        <a:t>Oncodetect</a:t>
                      </a:r>
                      <a:r>
                        <a:rPr lang="en-US" sz="900" b="0" i="0" u="none" strike="noStrike">
                          <a:solidFill>
                            <a:srgbClr val="000000"/>
                          </a:solidFill>
                          <a:effectLst/>
                          <a:latin typeface="Calibri" panose="020F0502020204030204" pitchFamily="34" charset="0"/>
                        </a:rPr>
                        <a:t> </a:t>
                      </a:r>
                      <a:r>
                        <a:rPr lang="en-US" sz="900" b="0" i="0" u="none" strike="noStrike" err="1">
                          <a:solidFill>
                            <a:srgbClr val="000000"/>
                          </a:solidFill>
                          <a:effectLst/>
                          <a:latin typeface="Calibri" panose="020F0502020204030204" pitchFamily="34" charset="0"/>
                        </a:rPr>
                        <a:t>Test;OncoExTra</a:t>
                      </a:r>
                      <a:r>
                        <a:rPr lang="en-US" sz="900" b="0" i="0" u="none" strike="noStrike">
                          <a:solidFill>
                            <a:srgbClr val="000000"/>
                          </a:solidFill>
                          <a:effectLst/>
                          <a:latin typeface="Calibri" panose="020F0502020204030204" pitchFamily="34" charset="0"/>
                        </a:rPr>
                        <a:t> Test for tumor profiling for patients with advanced, metastatic, refractory, relapsed, or recurrent cancer; and </a:t>
                      </a:r>
                      <a:r>
                        <a:rPr lang="en-US" sz="900" b="0" i="0" u="none" strike="noStrike" err="1">
                          <a:solidFill>
                            <a:srgbClr val="000000"/>
                          </a:solidFill>
                          <a:effectLst/>
                          <a:latin typeface="Calibri" panose="020F0502020204030204" pitchFamily="34" charset="0"/>
                        </a:rPr>
                        <a:t>Riskguard</a:t>
                      </a:r>
                      <a:r>
                        <a:rPr lang="en-US" sz="900" b="0" i="0" u="none" strike="noStrike">
                          <a:solidFill>
                            <a:srgbClr val="000000"/>
                          </a:solidFill>
                          <a:effectLst/>
                          <a:latin typeface="Calibri" panose="020F0502020204030204" pitchFamily="34" charset="0"/>
                        </a:rPr>
                        <a:t> Test, a hereditary cancer test to understand their inherited risk of cancer</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Pipeline is focused on advancing screening and diagnostic products, including risk assessment, screening and prevention, early disease diagnosis, adjuvant and/or neoadjuvant disease treatment, metastatic disease treatment selection, and recurrence monitoring</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lang="en-US" sz="900" b="0" i="0" u="none" strike="noStrike">
                          <a:solidFill>
                            <a:srgbClr val="000000"/>
                          </a:solidFill>
                          <a:effectLst/>
                          <a:latin typeface="Calibri" panose="020F0502020204030204" pitchFamily="34" charset="0"/>
                        </a:rPr>
                        <a:t>The company has license agreements with MAYO Foundation for Medical Education and Research, and Johns Hopkins University, as well as </a:t>
                      </a:r>
                      <a:r>
                        <a:rPr lang="en-US" sz="900" b="0" i="0" u="none" strike="noStrike" err="1">
                          <a:solidFill>
                            <a:srgbClr val="000000"/>
                          </a:solidFill>
                          <a:effectLst/>
                          <a:latin typeface="Calibri" panose="020F0502020204030204" pitchFamily="34" charset="0"/>
                        </a:rPr>
                        <a:t>Freenome</a:t>
                      </a:r>
                      <a:r>
                        <a:rPr lang="en-US" sz="900" b="0" i="0" u="none" strike="noStrike">
                          <a:solidFill>
                            <a:srgbClr val="000000"/>
                          </a:solidFill>
                          <a:effectLst/>
                          <a:latin typeface="Calibri" panose="020F0502020204030204" pitchFamily="34" charset="0"/>
                        </a:rPr>
                        <a:t> Holdings, Inc</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437794"/>
                  </a:ext>
                </a:extLst>
              </a:tr>
              <a:tr h="0">
                <a:tc>
                  <a:txBody>
                    <a:bodyPr/>
                    <a:lstStyle/>
                    <a:p>
                      <a:pPr algn="l" fontAlgn="ctr"/>
                      <a:r>
                        <a:rPr lang="en-US" sz="900" b="1" i="0" u="none" strike="noStrike" err="1">
                          <a:effectLst/>
                          <a:latin typeface="+mn-lt"/>
                        </a:rPr>
                        <a:t>QuidelOrtho</a:t>
                      </a:r>
                      <a:endParaRPr lang="en-US" sz="900" b="1" i="0" u="none" strike="noStrike">
                        <a:effectLst/>
                        <a:latin typeface="+mn-lt"/>
                      </a:endParaRP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a:effectLst/>
                          <a:latin typeface="+mn-lt"/>
                        </a:rPr>
                        <a:t>$2,730</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Provides clinical chemistry laboratory instruments and tests that measure target chemicals in bodily fluids for the evaluation of health and the clinical management of patients; immunoassay laboratory instruments and tests, which measure proteins as they act as antigens in the spread of disease, antibodies in the immune response spurred by disease, or markers of proper organ function and health; testing products to detect and monitor disease progression across a spectrum of therapeutic areas; and specialized diagnostic solutions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Operates through Labs, Transfusion Medicine, Point-of-Care, and Molecular Diagnostics business units</a:t>
                      </a:r>
                    </a:p>
                    <a:p>
                      <a:pPr marL="171450" marR="0" lvl="0" indent="-171450" algn="l" defTabSz="914378" rtl="0" eaLnBrk="1" fontAlgn="b" latinLnBrk="0" hangingPunct="1">
                        <a:lnSpc>
                          <a:spcPct val="100000"/>
                        </a:lnSpc>
                        <a:spcBef>
                          <a:spcPts val="0"/>
                        </a:spcBef>
                        <a:spcAft>
                          <a:spcPts val="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Offers immunohematology instruments and tests used for blood typing to ensure patient-donor compatibility in blood transfusions; and donor screening instruments and tests used for blood and plasma screening for infectious diseases. The Point-of-Care business unit provides instruments and tests to provide rapid results across a continuum of point-of-care settings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5593046"/>
                  </a:ext>
                </a:extLst>
              </a:tr>
              <a:tr h="0">
                <a:tc>
                  <a:txBody>
                    <a:bodyPr/>
                    <a:lstStyle/>
                    <a:p>
                      <a:pPr algn="l" fontAlgn="ctr"/>
                      <a:r>
                        <a:rPr lang="en-US" sz="900" b="1" i="0" u="none" strike="noStrike">
                          <a:effectLst/>
                          <a:latin typeface="+mn-lt"/>
                        </a:rPr>
                        <a:t>Phibro Animal Health </a:t>
                      </a:r>
                    </a:p>
                  </a:txBody>
                  <a:tcPr marL="27432" marR="27432" marT="0" marB="0" anchor="ctr">
                    <a:lnL w="6350" cap="flat" cmpd="sng" algn="ctr">
                      <a:no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a:effectLst/>
                          <a:latin typeface="+mn-lt"/>
                        </a:rPr>
                        <a:t>$1,296</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Wingdings" panose="05000000000000000000" pitchFamily="2" charset="2"/>
                        <a:buChar char="§"/>
                      </a:pPr>
                      <a:r>
                        <a:rPr lang="en-US" sz="900" b="0" i="0" u="none" strike="noStrike">
                          <a:effectLst/>
                          <a:latin typeface="+mn-lt"/>
                        </a:rPr>
                        <a:t>Operates as an animal health and mineral nutrition company in the United States and internationally</a:t>
                      </a:r>
                    </a:p>
                    <a:p>
                      <a:pPr marL="171450" indent="-171450" algn="l" fontAlgn="ctr">
                        <a:buFont typeface="Wingdings" panose="05000000000000000000" pitchFamily="2" charset="2"/>
                        <a:buChar char="§"/>
                      </a:pPr>
                      <a:r>
                        <a:rPr lang="en-US" sz="900" b="0" i="0" u="none" strike="noStrike">
                          <a:effectLst/>
                          <a:latin typeface="+mn-lt"/>
                        </a:rPr>
                        <a:t>Operates through three segments: Animal Health, Mineral Nutrition, and Performance Products</a:t>
                      </a:r>
                    </a:p>
                    <a:p>
                      <a:pPr marL="171450" indent="-171450" algn="l" fontAlgn="ctr">
                        <a:buFont typeface="Wingdings" panose="05000000000000000000" pitchFamily="2" charset="2"/>
                        <a:buChar char="§"/>
                      </a:pPr>
                      <a:r>
                        <a:rPr lang="en-US" sz="900" b="0" i="0" u="none" strike="noStrike">
                          <a:effectLst/>
                          <a:latin typeface="+mn-lt"/>
                        </a:rPr>
                        <a:t>Develops, manufactures, and markets products for food and companion animals including poultry, swine, beef and dairy cattle, aquaculture, and dogs</a:t>
                      </a:r>
                    </a:p>
                    <a:p>
                      <a:pPr marL="171450" indent="-171450" algn="l" fontAlgn="ctr">
                        <a:buFont typeface="Wingdings" panose="05000000000000000000" pitchFamily="2" charset="2"/>
                        <a:buChar char="§"/>
                      </a:pPr>
                      <a:r>
                        <a:rPr lang="en-US" sz="900" b="0" i="0" u="none" strike="noStrike">
                          <a:effectLst/>
                          <a:latin typeface="+mn-lt"/>
                        </a:rPr>
                        <a:t>Offers animal health products, such as antibacterials, anticoccidials, nutritional specialty, and vaccines and vaccine adjuvants for animal’s health and performance, food safety, and animal welfare; and engages in development, manufacturing, and marketing of microbial and bioproducts for various applications serving animal health and nutrition, industrial, environmental, and agricultural customers</a:t>
                      </a:r>
                    </a:p>
                    <a:p>
                      <a:pPr marL="171450" indent="-171450" algn="l" fontAlgn="ctr">
                        <a:buFont typeface="Wingdings" panose="05000000000000000000" pitchFamily="2" charset="2"/>
                        <a:buChar char="§"/>
                      </a:pPr>
                      <a:r>
                        <a:rPr lang="en-US" sz="900" b="0" i="0" u="none" strike="noStrike">
                          <a:effectLst/>
                          <a:latin typeface="+mn-lt"/>
                        </a:rPr>
                        <a:t>Develops, manufactures, and markets conventionally licensed and autogenous vaccine products, as well as adjuvants for animal vaccine manufacturers</a:t>
                      </a:r>
                    </a:p>
                    <a:p>
                      <a:pPr marL="171450" indent="-171450" algn="l" fontAlgn="ctr">
                        <a:buFont typeface="Wingdings" panose="05000000000000000000" pitchFamily="2" charset="2"/>
                        <a:buChar char="§"/>
                      </a:pPr>
                      <a:r>
                        <a:rPr lang="en-US" sz="900" b="0" i="0" u="none" strike="noStrike">
                          <a:effectLst/>
                          <a:latin typeface="+mn-lt"/>
                        </a:rPr>
                        <a:t>Provides formulations and concentrations of trace minerals, such as zinc, manganese, copper, iron, and other compounds to fortify the daily feed requirements of their livestock’s diets and maintain optimal balance of trace elements in animals</a:t>
                      </a:r>
                    </a:p>
                    <a:p>
                      <a:pPr marL="171450" indent="-171450" algn="l" fontAlgn="ctr">
                        <a:buFont typeface="Wingdings" panose="05000000000000000000" pitchFamily="2" charset="2"/>
                        <a:buChar char="§"/>
                      </a:pPr>
                      <a:r>
                        <a:rPr lang="en-US" sz="900" b="0" i="0" u="none" strike="noStrike">
                          <a:effectLst/>
                          <a:latin typeface="+mn-lt"/>
                        </a:rPr>
                        <a:t>Offers specialty ingredients for personal care, industrial chemical, and chemical catalyst industries</a:t>
                      </a:r>
                    </a:p>
                  </a:txBody>
                  <a:tcPr marL="0" marR="0" marT="0" marB="0" anchor="ctr">
                    <a:lnL>
                      <a:noFill/>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0539770"/>
                  </a:ext>
                </a:extLst>
              </a:tr>
            </a:tbl>
          </a:graphicData>
        </a:graphic>
      </p:graphicFrame>
      <p:sp>
        <p:nvSpPr>
          <p:cNvPr id="5" name="Title 4">
            <a:extLst>
              <a:ext uri="{FF2B5EF4-FFF2-40B4-BE49-F238E27FC236}">
                <a16:creationId xmlns:a16="http://schemas.microsoft.com/office/drawing/2014/main" id="{CBB43E26-22D3-374A-851A-85246836934B}"/>
              </a:ext>
            </a:extLst>
          </p:cNvPr>
          <p:cNvSpPr>
            <a:spLocks noGrp="1"/>
          </p:cNvSpPr>
          <p:nvPr>
            <p:ph type="title"/>
          </p:nvPr>
        </p:nvSpPr>
        <p:spPr>
          <a:xfrm>
            <a:off x="882797" y="44215"/>
            <a:ext cx="8074152" cy="1292899"/>
          </a:xfrm>
        </p:spPr>
        <p:txBody>
          <a:bodyPr/>
          <a:lstStyle/>
          <a:p>
            <a:r>
              <a:rPr lang="en-US" dirty="0"/>
              <a:t>ACME also evaluated companies considered last year, but none warrant inclusion at this time: </a:t>
            </a:r>
            <a:r>
              <a:rPr lang="en-US" i="1" dirty="0"/>
              <a:t>(continued)</a:t>
            </a:r>
            <a:endParaRPr lang="en-US" dirty="0"/>
          </a:p>
        </p:txBody>
      </p:sp>
      <p:sp>
        <p:nvSpPr>
          <p:cNvPr id="4" name="Slide Number Placeholder 3">
            <a:extLst>
              <a:ext uri="{FF2B5EF4-FFF2-40B4-BE49-F238E27FC236}">
                <a16:creationId xmlns:a16="http://schemas.microsoft.com/office/drawing/2014/main" id="{252478B4-B790-4F69-BDE3-F0EB365EC7D1}"/>
              </a:ext>
            </a:extLst>
          </p:cNvPr>
          <p:cNvSpPr>
            <a:spLocks noGrp="1"/>
          </p:cNvSpPr>
          <p:nvPr>
            <p:ph type="sldNum" sz="quarter" idx="12"/>
          </p:nvPr>
        </p:nvSpPr>
        <p:spPr>
          <a:xfrm>
            <a:off x="8581802" y="6577909"/>
            <a:ext cx="352260" cy="211339"/>
          </a:xfrm>
        </p:spPr>
        <p:txBody>
          <a:bodyPr/>
          <a:lstStyle/>
          <a:p>
            <a:fld id="{91690BAF-E217-4185-92FD-0CEA06F2B7C8}" type="slidenum">
              <a:rPr lang="en-US" smtClean="0"/>
              <a:pPr/>
              <a:t>24</a:t>
            </a:fld>
            <a:endParaRPr lang="en-US"/>
          </a:p>
        </p:txBody>
      </p:sp>
      <p:sp>
        <p:nvSpPr>
          <p:cNvPr id="7" name="Footer Placeholder 2">
            <a:extLst>
              <a:ext uri="{FF2B5EF4-FFF2-40B4-BE49-F238E27FC236}">
                <a16:creationId xmlns:a16="http://schemas.microsoft.com/office/drawing/2014/main" id="{3C24958D-0C91-9047-45AB-04DD4DA4EFB8}"/>
              </a:ext>
            </a:extLst>
          </p:cNvPr>
          <p:cNvSpPr>
            <a:spLocks noGrp="1"/>
          </p:cNvSpPr>
          <p:nvPr>
            <p:ph type="ftr" sz="quarter" idx="11"/>
          </p:nvPr>
        </p:nvSpPr>
        <p:spPr>
          <a:xfrm>
            <a:off x="863745" y="6696278"/>
            <a:ext cx="7416510" cy="184151"/>
          </a:xfrm>
        </p:spPr>
        <p:txBody>
          <a:bodyPr/>
          <a:lstStyle/>
          <a:p>
            <a:r>
              <a:rPr lang="en-US"/>
              <a:t>These materials are confidential and to be used only by the client to whom they are addressed</a:t>
            </a:r>
          </a:p>
        </p:txBody>
      </p:sp>
      <p:sp>
        <p:nvSpPr>
          <p:cNvPr id="9" name="TextBox 8">
            <a:extLst>
              <a:ext uri="{FF2B5EF4-FFF2-40B4-BE49-F238E27FC236}">
                <a16:creationId xmlns:a16="http://schemas.microsoft.com/office/drawing/2014/main" id="{4A068782-EC83-2C6F-5A0F-B1A863AC509B}"/>
              </a:ext>
            </a:extLst>
          </p:cNvPr>
          <p:cNvSpPr txBox="1"/>
          <p:nvPr/>
        </p:nvSpPr>
        <p:spPr>
          <a:xfrm>
            <a:off x="1593273" y="1206811"/>
            <a:ext cx="5957455" cy="307777"/>
          </a:xfrm>
          <a:prstGeom prst="rect">
            <a:avLst/>
          </a:prstGeom>
          <a:noFill/>
        </p:spPr>
        <p:txBody>
          <a:bodyPr wrap="square" lIns="45720" tIns="45720" rIns="45720" bIns="45720" rtlCol="0" anchor="ctr">
            <a:spAutoFit/>
          </a:bodyPr>
          <a:lstStyle/>
          <a:p>
            <a:pPr algn="ctr"/>
            <a:r>
              <a:rPr lang="en-US" sz="1400" b="1"/>
              <a:t>Business Descriptions for Companies Considered Last Year </a:t>
            </a:r>
            <a:r>
              <a:rPr lang="en-US" sz="1400" b="1" i="1"/>
              <a:t>(continued)</a:t>
            </a:r>
            <a:endParaRPr lang="en-US" sz="1400" b="1" baseline="30000"/>
          </a:p>
        </p:txBody>
      </p:sp>
    </p:spTree>
    <p:extLst>
      <p:ext uri="{BB962C8B-B14F-4D97-AF65-F5344CB8AC3E}">
        <p14:creationId xmlns:p14="http://schemas.microsoft.com/office/powerpoint/2010/main" val="138369850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40510 Farient Advisors PPT Template v.7.1 (002)  -  Read-Only" id="{4A862E4B-7047-48CC-B005-54C053602D56}" vid="{BB602DFA-2148-4036-B61F-D03CBE3E58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D365A76239BD548B8BDAF6C346F9511" ma:contentTypeVersion="12" ma:contentTypeDescription="Create a new document." ma:contentTypeScope="" ma:versionID="a67fa99a18e384210e6a8f40809ee959">
  <xsd:schema xmlns:xsd="http://www.w3.org/2001/XMLSchema" xmlns:xs="http://www.w3.org/2001/XMLSchema" xmlns:p="http://schemas.microsoft.com/office/2006/metadata/properties" xmlns:ns2="435d66b3-56a2-4d50-b7eb-de68e7e3c561" xmlns:ns3="543c82a0-0b70-4824-a8e4-c5e050a09ddb" targetNamespace="http://schemas.microsoft.com/office/2006/metadata/properties" ma:root="true" ma:fieldsID="a5b907e4ddd31801e64041dac96c7278" ns2:_="" ns3:_="">
    <xsd:import namespace="435d66b3-56a2-4d50-b7eb-de68e7e3c561"/>
    <xsd:import namespace="543c82a0-0b70-4824-a8e4-c5e050a09dd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5d66b3-56a2-4d50-b7eb-de68e7e3c5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3c82a0-0b70-4824-a8e4-c5e050a09dd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00C7E3-4356-4EFE-B7AB-B6AF087C0D2A}">
  <ds:schemaRefs>
    <ds:schemaRef ds:uri="435d66b3-56a2-4d50-b7eb-de68e7e3c561"/>
    <ds:schemaRef ds:uri="543c82a0-0b70-4824-a8e4-c5e050a09dd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1C5CD68-6BFE-44B9-98DE-D8B3611294A8}">
  <ds:schemaRefs>
    <ds:schemaRef ds:uri="http://schemas.microsoft.com/sharepoint/v3/contenttype/forms"/>
  </ds:schemaRefs>
</ds:datastoreItem>
</file>

<file path=customXml/itemProps3.xml><?xml version="1.0" encoding="utf-8"?>
<ds:datastoreItem xmlns:ds="http://schemas.openxmlformats.org/officeDocument/2006/customXml" ds:itemID="{8FB5FCA4-9B1D-4947-A58F-281C1211B016}">
  <ds:schemaRefs>
    <ds:schemaRef ds:uri="435d66b3-56a2-4d50-b7eb-de68e7e3c561"/>
    <ds:schemaRef ds:uri="543c82a0-0b70-4824-a8e4-c5e050a09d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Farient Advisors</Template>
  <TotalTime>49</TotalTime>
  <Words>10082</Words>
  <Application>Microsoft Macintosh PowerPoint</Application>
  <PresentationFormat>On-screen Show (4:3)</PresentationFormat>
  <Paragraphs>2064</Paragraphs>
  <Slides>24</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Tw Cen MT</vt:lpstr>
      <vt:lpstr>Wingdings</vt:lpstr>
      <vt:lpstr>Wingdings 2</vt:lpstr>
      <vt:lpstr>2024 Farient Advisors_Rev 3 TEST ONLY</vt:lpstr>
      <vt:lpstr>Peer Group Assessment</vt:lpstr>
      <vt:lpstr>Executive Summary: ACME recommends no changes to Goofy’s peer group at this time. Hologic removal is expected next year due to their acquisition by Blackstone/TPG</vt:lpstr>
      <vt:lpstr>Each year, ACME reviews Goofy’s Compensation Peer Group to ensure the best size, business, and strategic fit possible. Given the analytic work conducted by ACME in prior years, we took a more cursory approach this year, leveraging AI</vt:lpstr>
      <vt:lpstr>ACME suggests modest refinements to Goofy’s peer screening criteria given Goofy’s growth and strategic developments</vt:lpstr>
      <vt:lpstr>Goofy’s current peers continue to meet most of the screening criteria</vt:lpstr>
      <vt:lpstr>ACME evaluated five new-to-the-screen companies this year and eight from last year. Dentsply Sirona’s business model is converging with Goofy, but it still serves as a distributor of other companies’ products and uses distributors to sell its products</vt:lpstr>
      <vt:lpstr>Appendix</vt:lpstr>
      <vt:lpstr>Goofy’s peer group is used for evaluating the strength of pay levels, pay practices, and performance</vt:lpstr>
      <vt:lpstr>Two significant M&amp;A transactions occurred or are anticipated to close in 2026. Hologic’s planned acquisition may lead to its removal from the peer group next year, although no immediate action is needed</vt:lpstr>
      <vt:lpstr>ACME screens for potential peer companies for Goofy within the Health Care Sector</vt:lpstr>
      <vt:lpstr>Goofy’s peer group has been stable for the past three years</vt:lpstr>
      <vt:lpstr>ISS’ 2025 peer group for Goofy comprises 24 companies and heavily overlaps with Goofy’s current compensation peers</vt:lpstr>
      <vt:lpstr>ISS added one new company to its Goofy peer group and removed one company from the group for 2025</vt:lpstr>
      <vt:lpstr>Glass Lewis removed two peers and added two peers to Goofy’s 2025 peer group</vt:lpstr>
      <vt:lpstr>Business descriptions for Goofy’s current compensation peers are as follows:</vt:lpstr>
      <vt:lpstr>Business descriptions for Goofy’s current compensation peers are as follows: (continued)</vt:lpstr>
      <vt:lpstr>Business descriptions for Goofy’s current compensation peers are as follows: (continued)</vt:lpstr>
      <vt:lpstr>Business descriptions for Goofy’s current compensation peers are as follows: (continued)</vt:lpstr>
      <vt:lpstr>Business descriptions for Goofy’s current compensation peers are as follows: (continued)</vt:lpstr>
      <vt:lpstr>ACME evaluated five additional companies new to the screen this year, but none warrant inclusion at this time:</vt:lpstr>
      <vt:lpstr>ACME evaluated five additional companies new to the screen this year, but none warrant inclusion at this time (continued):</vt:lpstr>
      <vt:lpstr>ACME also evaluated companies considered last year, but none warrant inclusion at this time:</vt:lpstr>
      <vt:lpstr>ACME also evaluated companies considered last year, but none warrant inclusion at this time: (continued)</vt:lpstr>
      <vt:lpstr>ACME also evaluated companies considered last year, but none warrant inclusion at this time: (continued)</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Eric Hoffmann</dc:creator>
  <dc:description>PowerPoint Template Design By:
TLC Creative Services, Inc.
www.tlccreative.com</dc:description>
  <cp:lastModifiedBy>Pete Enestrom</cp:lastModifiedBy>
  <cp:revision>13</cp:revision>
  <cp:lastPrinted>2026-03-20T15:09:23Z</cp:lastPrinted>
  <dcterms:created xsi:type="dcterms:W3CDTF">2024-07-26T14:33:00Z</dcterms:created>
  <dcterms:modified xsi:type="dcterms:W3CDTF">2026-05-13T13:06:44Z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0x0101006D365A76239BD548B8BDAF6C346F9511</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