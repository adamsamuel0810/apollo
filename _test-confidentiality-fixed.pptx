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9"/>
  </p:notesMasterIdLst>
  <p:handoutMasterIdLst>
    <p:handoutMasterId r:id="rId30"/>
  </p:handoutMasterIdLst>
  <p:sldIdLst>
    <p:sldId id="2161" r:id="rId5"/>
    <p:sldId id="2265" r:id="rId6"/>
    <p:sldId id="2261" r:id="rId7"/>
    <p:sldId id="2172" r:id="rId8"/>
    <p:sldId id="2260" r:id="rId9"/>
    <p:sldId id="2206" r:id="rId10"/>
    <p:sldId id="2259" r:id="rId11"/>
    <p:sldId id="2183" r:id="rId12"/>
    <p:sldId id="2180" r:id="rId13"/>
    <p:sldId id="2184" r:id="rId14"/>
    <p:sldId id="2196" r:id="rId15"/>
    <p:sldId id="2186" r:id="rId16"/>
    <p:sldId id="2187" r:id="rId17"/>
    <p:sldId id="2188" r:id="rId18"/>
    <p:sldId id="2189" r:id="rId19"/>
    <p:sldId id="2190" r:id="rId20"/>
    <p:sldId id="2191" r:id="rId21"/>
    <p:sldId id="2192" r:id="rId22"/>
    <p:sldId id="2193" r:id="rId23"/>
    <p:sldId id="2207" r:id="rId24"/>
    <p:sldId id="2264" r:id="rId25"/>
    <p:sldId id="2208" r:id="rId26"/>
    <p:sldId id="2209" r:id="rId27"/>
    <p:sldId id="2210" r:id="rId28"/>
  </p:sldIdLst>
  <p:sldSz cx="9144000" cy="6858000" type="screen4x3"/>
  <p:notesSz cx="7010400" cy="9296400"/>
  <p:custDataLst>
    <p:tags r:id="rId31"/>
  </p:custDataLst>
  <p:defaultTex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6D9EB45-38BB-5F45-92FB-B168711FE12F}" name="Lori Chollar" initials="LC" userId="S::Lori@tlccreative.com::29964550-6625-46c4-842b-098cbfe38ea2" providerId="AD"/>
  <p188:author id="{88C5875C-29D1-55D2-42EF-FE3B8CF11219}" name="Judy Warner" initials="JW" userId="4e9326dc1b9a1f62" providerId="Windows Live"/>
  <p188:author id="{0238B06B-A12A-B1C9-05F5-03F55F4447E4}" name="Judy Harrison Warner" initials="JW" userId="S::judy.warner@farient.com::bc590e20-c085-4655-8646-52d62502154b" providerId="AD"/>
  <p188:author id="{29E79C98-312D-C732-9C6C-1240B772E1CB}" name="Judy Harrison Warner" initials="JW" userId="S::Judy.Warner@farient.com::bc590e20-c085-4655-8646-52d62502154b" providerId="AD"/>
  <p188:author id="{6DED59D5-B209-16F4-92C8-C71C7E56286C}" name="Randi Caplan" initials="RC" userId="S::randi.caplan@farient.com::072d639b-d0cb-4548-ba6d-a4c3cbb3a5d8" providerId="AD"/>
  <p188:author id="{D1290BDF-8717-9B97-0DC2-65AF0458F208}" name="Eric Hoffmann" initials="EH" userId="S::eric.hoffmann@farient.com::4c14eaa7-5f48-4753-9543-6e6213656b9a"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104175"/>
    <a:srgbClr val="086DB6"/>
    <a:srgbClr val="00FF00"/>
    <a:srgbClr val="BFBFBF"/>
    <a:srgbClr val="79C8FF"/>
    <a:srgbClr val="1EBAFF"/>
    <a:srgbClr val="7DD7FF"/>
    <a:srgbClr val="006EBE"/>
    <a:srgbClr val="75FDF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806DE18-F818-4F12-949F-E701094B2F23}" v="4" dt="2026-03-30T17:03:24.196"/>
  </p1510:revLst>
</p1510:revInfo>
</file>

<file path=ppt/tableStyles.xml><?xml version="1.0" encoding="utf-8"?>
<a:tblStyleLst xmlns:a="http://schemas.openxmlformats.org/drawingml/2006/main" def="{A77E1047-C769-4665-AFDC-4AF39A3502B1}">
  <a:tblStyle styleId="{A77E1047-C769-4665-AFDC-4AF39A3502B1}" styleName="Farient Table">
    <a:wholeTbl>
      <a:tcTxStyle>
        <a:fontRef idx="minor">
          <a:prstClr val="black"/>
        </a:fontRef>
        <a:schemeClr val="dk1"/>
      </a:tcTxStyle>
      <a:tcStyle>
        <a:tcBdr>
          <a:left>
            <a:ln w="0" cmpd="sng">
              <a:noFill/>
            </a:ln>
          </a:left>
          <a:right>
            <a:ln w="0" cmpd="sng">
              <a:noFill/>
            </a:ln>
          </a:right>
          <a:top>
            <a:ln w="0" cmpd="sng">
              <a:noFill/>
            </a:ln>
          </a:top>
          <a:bottom>
            <a:ln w="0" cmpd="sng">
              <a:noFill/>
            </a:ln>
          </a:bottom>
          <a:insideH>
            <a:ln w="0" cmpd="sng">
              <a:noFill/>
            </a:ln>
          </a:insideH>
          <a:insideV>
            <a:ln w="0" cmpd="sng">
              <a:noFill/>
            </a:ln>
          </a:insideV>
        </a:tcBdr>
        <a:fill>
          <a:noFill/>
        </a:fill>
      </a:tcStyle>
    </a:wholeTbl>
    <a:band1H>
      <a:tcStyle>
        <a:tcBdr/>
      </a:tcStyle>
    </a:band1H>
    <a:band2H>
      <a:tcStyle>
        <a:tcBdr/>
        <a:fill>
          <a:solidFill>
            <a:schemeClr val="bg1">
              <a:lumMod val="95000"/>
            </a:schemeClr>
          </a:solidFill>
        </a:fill>
      </a:tcStyle>
    </a:band2H>
    <a:band1V>
      <a:tcStyle>
        <a:tcBdr/>
      </a:tcStyle>
    </a:band1V>
    <a:band2V>
      <a:tcStyle>
        <a:tcBdr/>
      </a:tcStyle>
    </a:band2V>
    <a:lastCol>
      <a:tcStyle>
        <a:tcBdr/>
      </a:tcStyle>
    </a:lastCol>
    <a:firstCol>
      <a:tcStyle>
        <a:tcBdr/>
      </a:tcStyle>
    </a:firstCol>
    <a:lastRow>
      <a:tcStyle>
        <a:tcBdr/>
      </a:tcStyle>
    </a:lastRow>
    <a:firstRow>
      <a:tcTxStyle b="on">
        <a:fontRef idx="minor">
          <a:prstClr val="white"/>
        </a:fontRef>
        <a:schemeClr val="lt1"/>
      </a:tcTxStyle>
      <a:tcStyle>
        <a:tcBdr>
          <a:top>
            <a:ln w="6350" cmpd="sng">
              <a:solidFill>
                <a:schemeClr val="dk1"/>
              </a:solidFill>
            </a:ln>
          </a:top>
          <a:bottom>
            <a:ln w="6350" cmpd="sng">
              <a:solidFill>
                <a:schemeClr val="dk1"/>
              </a:solidFill>
            </a:ln>
          </a:bottom>
        </a:tcBdr>
        <a:fill>
          <a:solidFill>
            <a:schemeClr val="dk2"/>
          </a:solidFill>
        </a:fill>
      </a:tcStyle>
    </a:firstRow>
  </a:tblStyle>
  <a:tblStyle styleId="{3C100BD7-E00A-4093-9257-03AC40AE46F4}" styleName="Farient Alternate Table">
    <a:wholeTbl>
      <a:tcTxStyle>
        <a:fontRef idx="minor">
          <a:prstClr val="black"/>
        </a:fontRef>
        <a:schemeClr val="dk1"/>
      </a:tcTxStyle>
      <a:tcStyle>
        <a:tcBdr>
          <a:left>
            <a:ln w="0" cmpd="sng">
              <a:noFill/>
            </a:ln>
          </a:left>
          <a:right>
            <a:ln w="0" cmpd="sng">
              <a:noFill/>
            </a:ln>
          </a:right>
          <a:top>
            <a:ln w="6350" cmpd="sng">
              <a:solidFill>
                <a:schemeClr val="dk1"/>
              </a:solidFill>
            </a:ln>
          </a:top>
          <a:bottom>
            <a:ln w="6350" cmpd="sng">
              <a:solidFill>
                <a:schemeClr val="dk1"/>
              </a:solidFill>
            </a:ln>
          </a:bottom>
          <a:insideH>
            <a:ln w="6350" cmpd="sng">
              <a:solidFill>
                <a:schemeClr val="dk1"/>
              </a:solidFill>
            </a:ln>
          </a:insideH>
          <a:insideV>
            <a:ln w="0" cmpd="sng">
              <a:noFill/>
            </a:ln>
          </a:insideV>
        </a:tcBdr>
        <a:fill>
          <a:noFill/>
        </a:fill>
      </a:tcStyle>
    </a:wholeTbl>
    <a:band1H>
      <a:tcStyle>
        <a:tcBdr>
          <a:top>
            <a:ln w="6350" cmpd="sng">
              <a:solidFill>
                <a:schemeClr val="dk1"/>
              </a:solidFill>
            </a:ln>
          </a:top>
          <a:bottom>
            <a:ln w="6350" cmpd="sng">
              <a:solidFill>
                <a:schemeClr val="dk1"/>
              </a:solidFill>
            </a:ln>
          </a:bottom>
        </a:tcBdr>
      </a:tcStyle>
    </a:band1H>
    <a:band2H>
      <a:tcStyle>
        <a:tcBdr>
          <a:top>
            <a:ln w="6350" cmpd="sng">
              <a:solidFill>
                <a:schemeClr val="dk1"/>
              </a:solidFill>
            </a:ln>
          </a:top>
          <a:bottom>
            <a:ln w="6350" cmpd="sng">
              <a:solidFill>
                <a:schemeClr val="dk1"/>
              </a:solidFill>
            </a:ln>
          </a:bottom>
        </a:tcBdr>
        <a:fill>
          <a:solidFill>
            <a:schemeClr val="bg1">
              <a:lumMod val="95000"/>
            </a:schemeClr>
          </a:solidFill>
        </a:fill>
      </a:tcStyle>
    </a:band2H>
    <a:band1V>
      <a:tcStyle>
        <a:tcBdr/>
      </a:tcStyle>
    </a:band1V>
    <a:band2V>
      <a:tcStyle>
        <a:tcBdr/>
      </a:tcStyle>
    </a:band2V>
    <a:lastCol>
      <a:tcStyle>
        <a:tcBdr/>
      </a:tcStyle>
    </a:lastCol>
    <a:firstCol>
      <a:tcStyle>
        <a:tcBdr/>
      </a:tcStyle>
    </a:firstCol>
    <a:lastRow>
      <a:tcStyle>
        <a:tcBdr/>
      </a:tcStyle>
    </a:lastRow>
    <a:firstRow>
      <a:tcTxStyle b="on">
        <a:fontRef idx="minor">
          <a:prstClr val="white"/>
        </a:fontRef>
        <a:schemeClr val="lt1"/>
      </a:tcTxStyle>
      <a:tcStyle>
        <a:tcBdr>
          <a:top>
            <a:ln w="6350" cmpd="sng">
              <a:solidFill>
                <a:schemeClr val="dk1"/>
              </a:solidFill>
            </a:ln>
          </a:top>
          <a:bottom>
            <a:ln w="6350" cmpd="sng">
              <a:solidFill>
                <a:schemeClr val="dk1"/>
              </a:solidFill>
            </a:ln>
          </a:bottom>
        </a:tcBdr>
        <a:fill>
          <a:solidFill>
            <a:schemeClr val="dk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940"/>
    <p:restoredTop sz="69932" autoAdjust="0"/>
  </p:normalViewPr>
  <p:slideViewPr>
    <p:cSldViewPr snapToGrid="0">
      <p:cViewPr varScale="1">
        <p:scale>
          <a:sx n="87" d="100"/>
          <a:sy n="87" d="100"/>
        </p:scale>
        <p:origin x="32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37"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gs" Target="tags/tag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handoutMaster" Target="handoutMasters/handoutMaster1.xml"/><Relationship Id="rId35"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1"/>
          <p:cNvSpPr>
            <a:spLocks noGrp="1"/>
          </p:cNvSpPr>
          <p:nvPr>
            <p:ph type="hdr" sz="quarter"/>
          </p:nvPr>
        </p:nvSpPr>
        <p:spPr>
          <a:xfrm>
            <a:off x="373888" y="197549"/>
            <a:ext cx="6332728" cy="464820"/>
          </a:xfrm>
          <a:prstGeom prst="rect">
            <a:avLst/>
          </a:prstGeom>
        </p:spPr>
        <p:txBody>
          <a:bodyPr vert="horz" lIns="93177" tIns="46589" rIns="93177" bIns="46589" rtlCol="0" anchor="b"/>
          <a:lstStyle>
            <a:lvl1pPr algn="l">
              <a:defRPr sz="1200"/>
            </a:lvl1pPr>
          </a:lstStyle>
          <a:p>
            <a:endParaRPr lang="en-US"/>
          </a:p>
        </p:txBody>
      </p:sp>
      <p:sp>
        <p:nvSpPr>
          <p:cNvPr id="7" name="Date Placeholder 2"/>
          <p:cNvSpPr>
            <a:spLocks noGrp="1"/>
          </p:cNvSpPr>
          <p:nvPr>
            <p:ph type="dt" idx="1"/>
          </p:nvPr>
        </p:nvSpPr>
        <p:spPr>
          <a:xfrm>
            <a:off x="5754371" y="8739584"/>
            <a:ext cx="1045718" cy="392514"/>
          </a:xfrm>
          <a:prstGeom prst="rect">
            <a:avLst/>
          </a:prstGeom>
        </p:spPr>
        <p:txBody>
          <a:bodyPr vert="horz" lIns="93177" tIns="46589" rIns="93177" bIns="46589" rtlCol="0" anchor="b"/>
          <a:lstStyle>
            <a:lvl1pPr algn="r">
              <a:defRPr sz="1200"/>
            </a:lvl1pPr>
          </a:lstStyle>
          <a:p>
            <a:fld id="{93176727-6A19-4DE8-B47E-7FD6EA47E672}" type="datetimeFigureOut">
              <a:rPr lang="en-US" smtClean="0"/>
              <a:t>5/13/26</a:t>
            </a:fld>
            <a:endParaRPr lang="en-US"/>
          </a:p>
        </p:txBody>
      </p:sp>
      <p:sp>
        <p:nvSpPr>
          <p:cNvPr id="8" name="Footer Placeholder 5"/>
          <p:cNvSpPr>
            <a:spLocks noGrp="1"/>
          </p:cNvSpPr>
          <p:nvPr>
            <p:ph type="ftr" sz="quarter" idx="2"/>
          </p:nvPr>
        </p:nvSpPr>
        <p:spPr>
          <a:xfrm>
            <a:off x="1022350" y="8738615"/>
            <a:ext cx="4615181" cy="393484"/>
          </a:xfrm>
          <a:prstGeom prst="rect">
            <a:avLst/>
          </a:prstGeom>
        </p:spPr>
        <p:txBody>
          <a:bodyPr vert="horz" lIns="93177" tIns="46589" rIns="93177" bIns="46589" rtlCol="0" anchor="b"/>
          <a:lstStyle>
            <a:lvl1pPr algn="l">
              <a:defRPr sz="1200"/>
            </a:lvl1pPr>
          </a:lstStyle>
          <a:p>
            <a:endParaRPr lang="en-US"/>
          </a:p>
        </p:txBody>
      </p:sp>
      <p:sp>
        <p:nvSpPr>
          <p:cNvPr id="9" name="Slide Number Placeholder 6"/>
          <p:cNvSpPr>
            <a:spLocks noGrp="1"/>
          </p:cNvSpPr>
          <p:nvPr>
            <p:ph type="sldNum" sz="quarter" idx="3"/>
          </p:nvPr>
        </p:nvSpPr>
        <p:spPr>
          <a:xfrm>
            <a:off x="362203" y="8738615"/>
            <a:ext cx="518966" cy="393484"/>
          </a:xfrm>
          <a:prstGeom prst="rect">
            <a:avLst/>
          </a:prstGeom>
        </p:spPr>
        <p:txBody>
          <a:bodyPr vert="horz" lIns="93177" tIns="46589" rIns="93177" bIns="46589" rtlCol="0" anchor="b"/>
          <a:lstStyle>
            <a:lvl1pPr algn="r">
              <a:defRPr sz="1200"/>
            </a:lvl1pPr>
          </a:lstStyle>
          <a:p>
            <a:fld id="{095BBE4E-8AFD-45B3-8A52-6FC96354F416}" type="slidenum">
              <a:rPr lang="en-US" smtClean="0"/>
              <a:t>‹#›</a:t>
            </a:fld>
            <a:endParaRPr lang="en-US"/>
          </a:p>
        </p:txBody>
      </p:sp>
      <p:cxnSp>
        <p:nvCxnSpPr>
          <p:cNvPr id="10" name="Straight Connector 9"/>
          <p:cNvCxnSpPr/>
          <p:nvPr/>
        </p:nvCxnSpPr>
        <p:spPr>
          <a:xfrm>
            <a:off x="954194" y="8749269"/>
            <a:ext cx="0" cy="38735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5720293" y="8749269"/>
            <a:ext cx="0" cy="38735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0758775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373888" y="197549"/>
            <a:ext cx="6027971" cy="464820"/>
          </a:xfrm>
          <a:prstGeom prst="rect">
            <a:avLst/>
          </a:prstGeom>
        </p:spPr>
        <p:txBody>
          <a:bodyPr vert="horz" lIns="93177" tIns="46589" rIns="93177" bIns="46589" rtlCol="0" anchor="b"/>
          <a:lstStyle>
            <a:lvl1pPr algn="l">
              <a:defRPr sz="1200"/>
            </a:lvl1pPr>
          </a:lstStyle>
          <a:p>
            <a:endParaRPr lang="en-US"/>
          </a:p>
        </p:txBody>
      </p:sp>
      <p:sp>
        <p:nvSpPr>
          <p:cNvPr id="3" name="Date Placeholder 2"/>
          <p:cNvSpPr>
            <a:spLocks noGrp="1"/>
          </p:cNvSpPr>
          <p:nvPr>
            <p:ph type="dt" idx="1"/>
          </p:nvPr>
        </p:nvSpPr>
        <p:spPr>
          <a:xfrm>
            <a:off x="5754371" y="8739584"/>
            <a:ext cx="1045718" cy="392514"/>
          </a:xfrm>
          <a:prstGeom prst="rect">
            <a:avLst/>
          </a:prstGeom>
        </p:spPr>
        <p:txBody>
          <a:bodyPr vert="horz" lIns="93177" tIns="46589" rIns="93177" bIns="46589" rtlCol="0" anchor="b"/>
          <a:lstStyle>
            <a:lvl1pPr algn="r">
              <a:defRPr sz="1200"/>
            </a:lvl1pPr>
          </a:lstStyle>
          <a:p>
            <a:fld id="{93176727-6A19-4DE8-B47E-7FD6EA47E672}" type="datetimeFigureOut">
              <a:rPr lang="en-US" smtClean="0"/>
              <a:t>5/13/26</a:t>
            </a:fld>
            <a:endParaRPr lang="en-US"/>
          </a:p>
        </p:txBody>
      </p:sp>
      <p:sp>
        <p:nvSpPr>
          <p:cNvPr id="4" name="Slide Image Placeholder 3"/>
          <p:cNvSpPr>
            <a:spLocks noGrp="1" noRot="1" noChangeAspect="1"/>
          </p:cNvSpPr>
          <p:nvPr>
            <p:ph type="sldImg" idx="2"/>
          </p:nvPr>
        </p:nvSpPr>
        <p:spPr>
          <a:xfrm>
            <a:off x="879475" y="696913"/>
            <a:ext cx="2968625" cy="2227262"/>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373888" y="2998089"/>
            <a:ext cx="6426200" cy="5601081"/>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022350" y="8738615"/>
            <a:ext cx="4615181" cy="393484"/>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62203" y="8738615"/>
            <a:ext cx="518966" cy="393484"/>
          </a:xfrm>
          <a:prstGeom prst="rect">
            <a:avLst/>
          </a:prstGeom>
        </p:spPr>
        <p:txBody>
          <a:bodyPr vert="horz" lIns="93177" tIns="46589" rIns="93177" bIns="46589" rtlCol="0" anchor="b"/>
          <a:lstStyle>
            <a:lvl1pPr algn="r">
              <a:defRPr sz="1200"/>
            </a:lvl1pPr>
          </a:lstStyle>
          <a:p>
            <a:fld id="{095BBE4E-8AFD-45B3-8A52-6FC96354F416}" type="slidenum">
              <a:rPr lang="en-US" smtClean="0"/>
              <a:t>‹#›</a:t>
            </a:fld>
            <a:endParaRPr lang="en-US"/>
          </a:p>
        </p:txBody>
      </p:sp>
      <p:cxnSp>
        <p:nvCxnSpPr>
          <p:cNvPr id="9" name="Straight Connector 8"/>
          <p:cNvCxnSpPr/>
          <p:nvPr/>
        </p:nvCxnSpPr>
        <p:spPr>
          <a:xfrm>
            <a:off x="954194" y="8749269"/>
            <a:ext cx="0" cy="38735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5720293" y="8749269"/>
            <a:ext cx="0" cy="38735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03374120"/>
      </p:ext>
    </p:extLst>
  </p:cSld>
  <p:clrMap bg1="lt1" tx1="dk1" bg2="lt2" tx2="dk2" accent1="accent1" accent2="accent2" accent3="accent3" accent4="accent4" accent5="accent5" accent6="accent6" hlink="hlink" folHlink="folHlink"/>
  <p:notesStyle>
    <a:lvl1pPr marL="0" algn="l" defTabSz="1219170" rtl="0" eaLnBrk="1" latinLnBrk="0" hangingPunct="1">
      <a:defRPr sz="1400" kern="1200">
        <a:solidFill>
          <a:schemeClr val="tx1"/>
        </a:solidFill>
        <a:latin typeface="+mn-lt"/>
        <a:ea typeface="+mn-ea"/>
        <a:cs typeface="+mn-cs"/>
      </a:defRPr>
    </a:lvl1pPr>
    <a:lvl2pPr marL="609585" algn="l" defTabSz="1219170" rtl="0" eaLnBrk="1" latinLnBrk="0" hangingPunct="1">
      <a:defRPr sz="1400" kern="1200">
        <a:solidFill>
          <a:schemeClr val="tx1"/>
        </a:solidFill>
        <a:latin typeface="+mn-lt"/>
        <a:ea typeface="+mn-ea"/>
        <a:cs typeface="+mn-cs"/>
      </a:defRPr>
    </a:lvl2pPr>
    <a:lvl3pPr marL="1219170" algn="l" defTabSz="1219170" rtl="0" eaLnBrk="1" latinLnBrk="0" hangingPunct="1">
      <a:defRPr sz="1400" kern="1200">
        <a:solidFill>
          <a:schemeClr val="tx1"/>
        </a:solidFill>
        <a:latin typeface="+mn-lt"/>
        <a:ea typeface="+mn-ea"/>
        <a:cs typeface="+mn-cs"/>
      </a:defRPr>
    </a:lvl3pPr>
    <a:lvl4pPr marL="1828754" algn="l" defTabSz="1219170" rtl="0" eaLnBrk="1" latinLnBrk="0" hangingPunct="1">
      <a:defRPr sz="1400" kern="1200">
        <a:solidFill>
          <a:schemeClr val="tx1"/>
        </a:solidFill>
        <a:latin typeface="+mn-lt"/>
        <a:ea typeface="+mn-ea"/>
        <a:cs typeface="+mn-cs"/>
      </a:defRPr>
    </a:lvl4pPr>
    <a:lvl5pPr marL="2438339" algn="l" defTabSz="1219170" rtl="0" eaLnBrk="1" latinLnBrk="0" hangingPunct="1">
      <a:defRPr sz="1400" kern="1200">
        <a:solidFill>
          <a:schemeClr val="tx1"/>
        </a:solidFill>
        <a:latin typeface="+mn-lt"/>
        <a:ea typeface="+mn-ea"/>
        <a:cs typeface="+mn-cs"/>
      </a:defRPr>
    </a:lvl5pPr>
    <a:lvl6pPr marL="3047924" algn="l" defTabSz="1219170" rtl="0" eaLnBrk="1" latinLnBrk="0" hangingPunct="1">
      <a:defRPr sz="1584" kern="1200">
        <a:solidFill>
          <a:schemeClr val="tx1"/>
        </a:solidFill>
        <a:latin typeface="+mn-lt"/>
        <a:ea typeface="+mn-ea"/>
        <a:cs typeface="+mn-cs"/>
      </a:defRPr>
    </a:lvl6pPr>
    <a:lvl7pPr marL="3657509" algn="l" defTabSz="1219170" rtl="0" eaLnBrk="1" latinLnBrk="0" hangingPunct="1">
      <a:defRPr sz="1584" kern="1200">
        <a:solidFill>
          <a:schemeClr val="tx1"/>
        </a:solidFill>
        <a:latin typeface="+mn-lt"/>
        <a:ea typeface="+mn-ea"/>
        <a:cs typeface="+mn-cs"/>
      </a:defRPr>
    </a:lvl7pPr>
    <a:lvl8pPr marL="4267093" algn="l" defTabSz="1219170" rtl="0" eaLnBrk="1" latinLnBrk="0" hangingPunct="1">
      <a:defRPr sz="1584" kern="1200">
        <a:solidFill>
          <a:schemeClr val="tx1"/>
        </a:solidFill>
        <a:latin typeface="+mn-lt"/>
        <a:ea typeface="+mn-ea"/>
        <a:cs typeface="+mn-cs"/>
      </a:defRPr>
    </a:lvl8pPr>
    <a:lvl9pPr marL="4876678" algn="l" defTabSz="1219170" rtl="0" eaLnBrk="1" latinLnBrk="0" hangingPunct="1">
      <a:defRPr sz="1584"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DRAFT Notice</a:t>
            </a:r>
          </a:p>
          <a:p>
            <a:endParaRPr lang="en-US" dirty="0"/>
          </a:p>
        </p:txBody>
      </p:sp>
      <p:sp>
        <p:nvSpPr>
          <p:cNvPr id="4" name="Slide Number Placeholder 3"/>
          <p:cNvSpPr>
            <a:spLocks noGrp="1"/>
          </p:cNvSpPr>
          <p:nvPr>
            <p:ph type="sldNum" sz="quarter" idx="5"/>
          </p:nvPr>
        </p:nvSpPr>
        <p:spPr/>
        <p:txBody>
          <a:bodyPr/>
          <a:lstStyle/>
          <a:p>
            <a:fld id="{095BBE4E-8AFD-45B3-8A52-6FC96354F416}" type="slidenum">
              <a:rPr lang="en-US" smtClean="0"/>
              <a:t>1</a:t>
            </a:fld>
            <a:endParaRPr lang="en-US"/>
          </a:p>
        </p:txBody>
      </p:sp>
    </p:spTree>
    <p:extLst>
      <p:ext uri="{BB962C8B-B14F-4D97-AF65-F5344CB8AC3E}">
        <p14:creationId xmlns:p14="http://schemas.microsoft.com/office/powerpoint/2010/main" val="1084716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Bullets not parallel in structure</a:t>
            </a:r>
          </a:p>
        </p:txBody>
      </p:sp>
      <p:sp>
        <p:nvSpPr>
          <p:cNvPr id="4" name="Slide Number Placeholder 3"/>
          <p:cNvSpPr>
            <a:spLocks noGrp="1"/>
          </p:cNvSpPr>
          <p:nvPr>
            <p:ph type="sldNum" sz="quarter" idx="5"/>
          </p:nvPr>
        </p:nvSpPr>
        <p:spPr/>
        <p:txBody>
          <a:bodyPr/>
          <a:lstStyle/>
          <a:p>
            <a:fld id="{095BBE4E-8AFD-45B3-8A52-6FC96354F416}" type="slidenum">
              <a:rPr lang="en-US" smtClean="0"/>
              <a:t>2</a:t>
            </a:fld>
            <a:endParaRPr lang="en-US"/>
          </a:p>
        </p:txBody>
      </p:sp>
    </p:spTree>
    <p:extLst>
      <p:ext uri="{BB962C8B-B14F-4D97-AF65-F5344CB8AC3E}">
        <p14:creationId xmlns:p14="http://schemas.microsoft.com/office/powerpoint/2010/main" val="31093327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a:t>
            </a:r>
          </a:p>
          <a:p>
            <a:pPr marL="285750" indent="-285750">
              <a:buFont typeface="Arial" panose="020B0604020202020204" pitchFamily="34" charset="0"/>
              <a:buChar char="•"/>
            </a:pPr>
            <a:r>
              <a:rPr lang="en-US" dirty="0"/>
              <a:t>Text and boxes not vertically spaced consistently in “key”</a:t>
            </a:r>
          </a:p>
          <a:p>
            <a:pPr marL="285750" indent="-285750">
              <a:buFont typeface="Arial" panose="020B0604020202020204" pitchFamily="34" charset="0"/>
              <a:buChar char="•"/>
            </a:pPr>
            <a:r>
              <a:rPr lang="en-US" dirty="0"/>
              <a:t>Box around key (inconsistency with other slides)</a:t>
            </a:r>
          </a:p>
          <a:p>
            <a:r>
              <a:rPr lang="en-US" dirty="0"/>
              <a:t>“How ACME Leveraged AI”: Bullets in not of parallel structure</a:t>
            </a:r>
          </a:p>
          <a:p>
            <a:r>
              <a:rPr lang="en-US" dirty="0"/>
              <a:t>Table:</a:t>
            </a:r>
          </a:p>
          <a:p>
            <a:pPr marL="285750" indent="-285750">
              <a:buFont typeface="Arial" panose="020B0604020202020204" pitchFamily="34" charset="0"/>
              <a:buChar char="•"/>
            </a:pPr>
            <a:r>
              <a:rPr lang="en-US" dirty="0"/>
              <a:t>Percentile spelled out</a:t>
            </a:r>
          </a:p>
          <a:p>
            <a:pPr marL="285750" indent="-285750">
              <a:buFont typeface="Arial" panose="020B0604020202020204" pitchFamily="34" charset="0"/>
              <a:buChar char="•"/>
            </a:pPr>
            <a:r>
              <a:rPr lang="en-US" dirty="0"/>
              <a:t>“Goofy Laboratories“ as client name (Other slides say just “Goofy”)</a:t>
            </a:r>
          </a:p>
          <a:p>
            <a:pPr marL="285750" indent="-285750">
              <a:buFont typeface="Arial" panose="020B0604020202020204" pitchFamily="34" charset="0"/>
              <a:buChar char="•"/>
            </a:pPr>
            <a:r>
              <a:rPr lang="en-US" dirty="0"/>
              <a:t>Title not centered over table</a:t>
            </a:r>
          </a:p>
          <a:p>
            <a:pPr marL="285750" indent="-285750">
              <a:buFont typeface="Arial" panose="020B0604020202020204" pitchFamily="34" charset="0"/>
              <a:buChar char="•"/>
            </a:pPr>
            <a:r>
              <a:rPr lang="en-US" dirty="0"/>
              <a:t>First column should be at .03 margin</a:t>
            </a:r>
          </a:p>
          <a:p>
            <a:r>
              <a:rPr lang="en-US" dirty="0"/>
              <a:t>Title</a:t>
            </a:r>
          </a:p>
          <a:p>
            <a:pPr marL="285750" indent="-285750">
              <a:buFont typeface="Arial" panose="020B0604020202020204" pitchFamily="34" charset="0"/>
              <a:buChar char="•"/>
            </a:pPr>
            <a:r>
              <a:rPr lang="en-US" dirty="0"/>
              <a:t>Moved from default</a:t>
            </a:r>
          </a:p>
          <a:p>
            <a:pPr marL="285750" indent="-285750">
              <a:buFont typeface="Arial" panose="020B0604020202020204" pitchFamily="34" charset="0"/>
              <a:buChar char="•"/>
            </a:pPr>
            <a:r>
              <a:rPr lang="en-US" dirty="0"/>
              <a:t>4 lines</a:t>
            </a:r>
          </a:p>
          <a:p>
            <a:endParaRPr lang="en-US" dirty="0"/>
          </a:p>
        </p:txBody>
      </p:sp>
      <p:sp>
        <p:nvSpPr>
          <p:cNvPr id="4" name="Slide Number Placeholder 3"/>
          <p:cNvSpPr>
            <a:spLocks noGrp="1"/>
          </p:cNvSpPr>
          <p:nvPr>
            <p:ph type="sldNum" sz="quarter" idx="5"/>
          </p:nvPr>
        </p:nvSpPr>
        <p:spPr/>
        <p:txBody>
          <a:bodyPr/>
          <a:lstStyle/>
          <a:p>
            <a:fld id="{095BBE4E-8AFD-45B3-8A52-6FC96354F416}" type="slidenum">
              <a:rPr lang="en-US" smtClean="0"/>
              <a:t>3</a:t>
            </a:fld>
            <a:endParaRPr lang="en-US"/>
          </a:p>
        </p:txBody>
      </p:sp>
    </p:spTree>
    <p:extLst>
      <p:ext uri="{BB962C8B-B14F-4D97-AF65-F5344CB8AC3E}">
        <p14:creationId xmlns:p14="http://schemas.microsoft.com/office/powerpoint/2010/main" val="26383728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Peer Screening Criteria: “Characteristic” 8pt font where other headers are 10pt</a:t>
            </a:r>
          </a:p>
          <a:p>
            <a:r>
              <a:rPr lang="en-US" dirty="0"/>
              <a:t>Title: Moved from default</a:t>
            </a:r>
          </a:p>
        </p:txBody>
      </p:sp>
      <p:sp>
        <p:nvSpPr>
          <p:cNvPr id="4" name="Slide Number Placeholder 3"/>
          <p:cNvSpPr>
            <a:spLocks noGrp="1"/>
          </p:cNvSpPr>
          <p:nvPr>
            <p:ph type="sldNum" sz="quarter" idx="5"/>
          </p:nvPr>
        </p:nvSpPr>
        <p:spPr/>
        <p:txBody>
          <a:bodyPr/>
          <a:lstStyle/>
          <a:p>
            <a:fld id="{095BBE4E-8AFD-45B3-8A52-6FC96354F416}" type="slidenum">
              <a:rPr lang="en-US" smtClean="0"/>
              <a:t>4</a:t>
            </a:fld>
            <a:endParaRPr lang="en-US"/>
          </a:p>
        </p:txBody>
      </p:sp>
    </p:spTree>
    <p:extLst>
      <p:ext uri="{BB962C8B-B14F-4D97-AF65-F5344CB8AC3E}">
        <p14:creationId xmlns:p14="http://schemas.microsoft.com/office/powerpoint/2010/main" val="20582759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a:t>
            </a:r>
          </a:p>
          <a:p>
            <a:pPr marL="285750" indent="-285750">
              <a:buFont typeface="Arial" panose="020B0604020202020204" pitchFamily="34" charset="0"/>
              <a:buChar char="•"/>
            </a:pPr>
            <a:r>
              <a:rPr lang="en-US" dirty="0"/>
              <a:t>Percentile spelled out</a:t>
            </a:r>
          </a:p>
          <a:p>
            <a:pPr marL="285750" indent="-285750">
              <a:buFont typeface="Arial" panose="020B0604020202020204" pitchFamily="34" charset="0"/>
              <a:buChar char="•"/>
            </a:pPr>
            <a:r>
              <a:rPr lang="en-US" dirty="0"/>
              <a:t>First column should be .03 in from edge</a:t>
            </a:r>
          </a:p>
          <a:p>
            <a:pPr marL="0" indent="0">
              <a:buFont typeface="Arial" panose="020B0604020202020204" pitchFamily="34" charset="0"/>
              <a:buNone/>
            </a:pPr>
            <a:endParaRPr lang="en-US" dirty="0"/>
          </a:p>
          <a:p>
            <a:pPr marL="0" indent="0">
              <a:buFont typeface="Arial" panose="020B0604020202020204" pitchFamily="34" charset="0"/>
              <a:buNone/>
            </a:pPr>
            <a:r>
              <a:rPr lang="en-US" dirty="0"/>
              <a:t>Key</a:t>
            </a:r>
          </a:p>
          <a:p>
            <a:pPr marL="0" indent="0">
              <a:buFont typeface="Arial" panose="020B0604020202020204" pitchFamily="34" charset="0"/>
              <a:buNone/>
            </a:pPr>
            <a:r>
              <a:rPr lang="en-US" dirty="0"/>
              <a:t>* Different order than previous slides (LS is last here, 3</a:t>
            </a:r>
            <a:r>
              <a:rPr lang="en-US" baseline="30000" dirty="0"/>
              <a:t>rd</a:t>
            </a:r>
            <a:r>
              <a:rPr lang="en-US" dirty="0"/>
              <a:t> on slide 2)</a:t>
            </a:r>
          </a:p>
        </p:txBody>
      </p:sp>
      <p:sp>
        <p:nvSpPr>
          <p:cNvPr id="4" name="Slide Number Placeholder 3"/>
          <p:cNvSpPr>
            <a:spLocks noGrp="1"/>
          </p:cNvSpPr>
          <p:nvPr>
            <p:ph type="sldNum" sz="quarter" idx="5"/>
          </p:nvPr>
        </p:nvSpPr>
        <p:spPr/>
        <p:txBody>
          <a:bodyPr/>
          <a:lstStyle/>
          <a:p>
            <a:fld id="{095BBE4E-8AFD-45B3-8A52-6FC96354F416}" type="slidenum">
              <a:rPr lang="en-US" smtClean="0"/>
              <a:t>5</a:t>
            </a:fld>
            <a:endParaRPr lang="en-US"/>
          </a:p>
        </p:txBody>
      </p:sp>
    </p:spTree>
    <p:extLst>
      <p:ext uri="{BB962C8B-B14F-4D97-AF65-F5344CB8AC3E}">
        <p14:creationId xmlns:p14="http://schemas.microsoft.com/office/powerpoint/2010/main" val="38189690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Table</a:t>
            </a:r>
          </a:p>
          <a:p>
            <a:pPr marL="285750" indent="-285750">
              <a:buFont typeface="Arial" panose="020B0604020202020204" pitchFamily="34" charset="0"/>
              <a:buChar char="•"/>
            </a:pPr>
            <a:r>
              <a:rPr lang="en-US" dirty="0"/>
              <a:t>Baxter Intl. and </a:t>
            </a:r>
            <a:r>
              <a:rPr lang="en-US" dirty="0" err="1"/>
              <a:t>Solventum</a:t>
            </a:r>
            <a:r>
              <a:rPr lang="en-US" dirty="0"/>
              <a:t> “Reason for Exclusion” has been merged. Not clear that that was intentional</a:t>
            </a:r>
          </a:p>
          <a:p>
            <a:pPr marL="285750" indent="-285750">
              <a:buFont typeface="Arial" panose="020B0604020202020204" pitchFamily="34" charset="0"/>
              <a:buChar char="•"/>
            </a:pPr>
            <a:r>
              <a:rPr lang="en-US" dirty="0"/>
              <a:t>First column should be .03 in from edge</a:t>
            </a:r>
          </a:p>
          <a:p>
            <a:pPr marL="285750" indent="-2857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095BBE4E-8AFD-45B3-8A52-6FC96354F416}" type="slidenum">
              <a:rPr lang="en-US" smtClean="0"/>
              <a:t>6</a:t>
            </a:fld>
            <a:endParaRPr lang="en-US"/>
          </a:p>
        </p:txBody>
      </p:sp>
    </p:spTree>
    <p:extLst>
      <p:ext uri="{BB962C8B-B14F-4D97-AF65-F5344CB8AC3E}">
        <p14:creationId xmlns:p14="http://schemas.microsoft.com/office/powerpoint/2010/main" val="11052214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95BBE4E-8AFD-45B3-8A52-6FC96354F416}" type="slidenum">
              <a:rPr lang="en-US" smtClean="0"/>
              <a:t>8</a:t>
            </a:fld>
            <a:endParaRPr lang="en-US"/>
          </a:p>
        </p:txBody>
      </p:sp>
    </p:spTree>
    <p:extLst>
      <p:ext uri="{BB962C8B-B14F-4D97-AF65-F5344CB8AC3E}">
        <p14:creationId xmlns:p14="http://schemas.microsoft.com/office/powerpoint/2010/main" val="9076894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a:t>
            </a:r>
          </a:p>
          <a:p>
            <a:pPr marL="285750" indent="-285750">
              <a:buFont typeface="Arial" panose="020B0604020202020204" pitchFamily="34" charset="0"/>
              <a:buChar char="•"/>
            </a:pPr>
            <a:r>
              <a:rPr lang="en-US" dirty="0"/>
              <a:t>4 lines</a:t>
            </a:r>
          </a:p>
          <a:p>
            <a:endParaRPr lang="en-US" dirty="0"/>
          </a:p>
        </p:txBody>
      </p:sp>
      <p:sp>
        <p:nvSpPr>
          <p:cNvPr id="4" name="Slide Number Placeholder 3"/>
          <p:cNvSpPr>
            <a:spLocks noGrp="1"/>
          </p:cNvSpPr>
          <p:nvPr>
            <p:ph type="sldNum" sz="quarter" idx="5"/>
          </p:nvPr>
        </p:nvSpPr>
        <p:spPr/>
        <p:txBody>
          <a:bodyPr/>
          <a:lstStyle/>
          <a:p>
            <a:fld id="{095BBE4E-8AFD-45B3-8A52-6FC96354F416}" type="slidenum">
              <a:rPr lang="en-US" smtClean="0"/>
              <a:t>9</a:t>
            </a:fld>
            <a:endParaRPr lang="en-US"/>
          </a:p>
        </p:txBody>
      </p:sp>
    </p:spTree>
    <p:extLst>
      <p:ext uri="{BB962C8B-B14F-4D97-AF65-F5344CB8AC3E}">
        <p14:creationId xmlns:p14="http://schemas.microsoft.com/office/powerpoint/2010/main" val="10453434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Confidentiality statement removed</a:t>
            </a:r>
          </a:p>
          <a:p>
            <a:r>
              <a:rPr lang="en-US" dirty="0"/>
              <a:t>Legend:</a:t>
            </a:r>
          </a:p>
          <a:p>
            <a:pPr marL="285750" indent="-285750">
              <a:buFont typeface="Arial" panose="020B0604020202020204" pitchFamily="34" charset="0"/>
              <a:buChar char="•"/>
            </a:pPr>
            <a:r>
              <a:rPr lang="en-US" dirty="0"/>
              <a:t>Called “key” on other slides</a:t>
            </a:r>
          </a:p>
          <a:p>
            <a:pPr marL="285750" indent="-285750">
              <a:buFont typeface="Arial" panose="020B0604020202020204" pitchFamily="34" charset="0"/>
              <a:buChar char="•"/>
            </a:pPr>
            <a:r>
              <a:rPr lang="en-US" dirty="0"/>
              <a:t>Boxes and text are not evenly spaced vertically</a:t>
            </a:r>
          </a:p>
          <a:p>
            <a:pPr marL="285750" indent="-2857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095BBE4E-8AFD-45B3-8A52-6FC96354F416}" type="slidenum">
              <a:rPr lang="en-US" smtClean="0"/>
              <a:t>10</a:t>
            </a:fld>
            <a:endParaRPr lang="en-US"/>
          </a:p>
        </p:txBody>
      </p:sp>
    </p:spTree>
    <p:extLst>
      <p:ext uri="{BB962C8B-B14F-4D97-AF65-F5344CB8AC3E}">
        <p14:creationId xmlns:p14="http://schemas.microsoft.com/office/powerpoint/2010/main" val="25855749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a:t>
            </a:r>
          </a:p>
          <a:p>
            <a:pPr marL="285750" indent="-285750">
              <a:buFont typeface="Arial" panose="020B0604020202020204" pitchFamily="34" charset="0"/>
              <a:buChar char="•"/>
            </a:pPr>
            <a:r>
              <a:rPr lang="en-US" dirty="0"/>
              <a:t>Items in different order than other slides</a:t>
            </a:r>
          </a:p>
          <a:p>
            <a:pPr marL="0" indent="0">
              <a:buFont typeface="Arial" panose="020B0604020202020204" pitchFamily="34" charset="0"/>
              <a:buNone/>
            </a:pPr>
            <a:r>
              <a:rPr lang="en-US" dirty="0"/>
              <a:t>Table</a:t>
            </a:r>
          </a:p>
          <a:p>
            <a:pPr marL="285750" indent="-285750">
              <a:buFont typeface="Arial" panose="020B0604020202020204" pitchFamily="34" charset="0"/>
              <a:buChar char="•"/>
            </a:pPr>
            <a:r>
              <a:rPr lang="en-US" dirty="0"/>
              <a:t>No scale on revenue ($MM)</a:t>
            </a:r>
          </a:p>
          <a:p>
            <a:pPr marL="285750" indent="-285750">
              <a:buFont typeface="Arial" panose="020B0604020202020204" pitchFamily="34" charset="0"/>
              <a:buChar char="•"/>
            </a:pPr>
            <a:r>
              <a:rPr lang="en-US" dirty="0"/>
              <a:t>C.R Bard missing “.” after “R”</a:t>
            </a:r>
          </a:p>
          <a:p>
            <a:pPr marL="0" indent="0">
              <a:buFont typeface="Arial" panose="020B0604020202020204" pitchFamily="34" charset="0"/>
              <a:buNone/>
            </a:pPr>
            <a:r>
              <a:rPr lang="en-US" dirty="0"/>
              <a:t>Footnote</a:t>
            </a:r>
          </a:p>
          <a:p>
            <a:pPr marL="285750" marR="0" lvl="0"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C.R Bard missing “.” after “R”</a:t>
            </a:r>
          </a:p>
          <a:p>
            <a:pPr marL="0" marR="0" lvl="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dirty="0"/>
          </a:p>
          <a:p>
            <a:pPr marL="0" indent="0">
              <a:buFont typeface="Arial" panose="020B0604020202020204" pitchFamily="34" charset="0"/>
              <a:buNone/>
            </a:pPr>
            <a:endParaRPr lang="en-US" dirty="0"/>
          </a:p>
          <a:p>
            <a:pPr marL="285750" indent="-2857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095BBE4E-8AFD-45B3-8A52-6FC96354F416}" type="slidenum">
              <a:rPr lang="en-US" smtClean="0"/>
              <a:t>11</a:t>
            </a:fld>
            <a:endParaRPr lang="en-US"/>
          </a:p>
        </p:txBody>
      </p:sp>
    </p:spTree>
    <p:extLst>
      <p:ext uri="{BB962C8B-B14F-4D97-AF65-F5344CB8AC3E}">
        <p14:creationId xmlns:p14="http://schemas.microsoft.com/office/powerpoint/2010/main" val="33464366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Privacy statement</a:t>
            </a:r>
          </a:p>
          <a:p>
            <a:pPr marL="285750" indent="-285750">
              <a:buFont typeface="Arial" panose="020B0604020202020204" pitchFamily="34" charset="0"/>
              <a:buChar char="•"/>
            </a:pPr>
            <a:r>
              <a:rPr lang="en-US" dirty="0"/>
              <a:t>Overlapped by footnotes</a:t>
            </a:r>
          </a:p>
          <a:p>
            <a:pPr marL="0" indent="0">
              <a:buFont typeface="Arial" panose="020B0604020202020204" pitchFamily="34" charset="0"/>
              <a:buNone/>
            </a:pPr>
            <a:r>
              <a:rPr lang="en-US" dirty="0"/>
              <a:t>Table</a:t>
            </a:r>
          </a:p>
          <a:p>
            <a:pPr marL="285750" indent="-285750">
              <a:buFont typeface="Arial" panose="020B0604020202020204" pitchFamily="34" charset="0"/>
              <a:buChar char="•"/>
            </a:pPr>
            <a:r>
              <a:rPr lang="en-US" dirty="0"/>
              <a:t>Believe that we want to label column as “Company” not “Company Name”</a:t>
            </a:r>
          </a:p>
          <a:p>
            <a:pPr marL="285750" indent="-2857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095BBE4E-8AFD-45B3-8A52-6FC96354F416}" type="slidenum">
              <a:rPr lang="en-US" smtClean="0"/>
              <a:t>12</a:t>
            </a:fld>
            <a:endParaRPr lang="en-US"/>
          </a:p>
        </p:txBody>
      </p:sp>
    </p:spTree>
    <p:extLst>
      <p:ext uri="{BB962C8B-B14F-4D97-AF65-F5344CB8AC3E}">
        <p14:creationId xmlns:p14="http://schemas.microsoft.com/office/powerpoint/2010/main" val="42393366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Confidentiality statement removed</a:t>
            </a:r>
          </a:p>
          <a:p>
            <a:r>
              <a:rPr lang="en-US" dirty="0"/>
              <a:t>Table:</a:t>
            </a:r>
          </a:p>
          <a:p>
            <a:pPr marL="285750" indent="-285750">
              <a:buFont typeface="Arial" panose="020B0604020202020204" pitchFamily="34" charset="0"/>
              <a:buChar char="•"/>
            </a:pPr>
            <a:r>
              <a:rPr lang="en-US" dirty="0"/>
              <a:t>Count row should be yellow (green is reserved for clients)</a:t>
            </a:r>
          </a:p>
          <a:p>
            <a:pPr marL="0" indent="0">
              <a:buFont typeface="Arial" panose="020B0604020202020204" pitchFamily="34" charset="0"/>
              <a:buNone/>
            </a:pPr>
            <a:r>
              <a:rPr lang="en-US" dirty="0"/>
              <a:t>Legend:</a:t>
            </a:r>
          </a:p>
          <a:p>
            <a:pPr marL="285750" indent="-285750">
              <a:buFont typeface="Arial" panose="020B0604020202020204" pitchFamily="34" charset="0"/>
              <a:buChar char="•"/>
            </a:pPr>
            <a:r>
              <a:rPr lang="en-US" dirty="0"/>
              <a:t>Alternating between key and legend</a:t>
            </a:r>
          </a:p>
          <a:p>
            <a:pPr mar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fld id="{095BBE4E-8AFD-45B3-8A52-6FC96354F416}" type="slidenum">
              <a:rPr lang="en-US" smtClean="0"/>
              <a:t>13</a:t>
            </a:fld>
            <a:endParaRPr lang="en-US"/>
          </a:p>
        </p:txBody>
      </p:sp>
    </p:spTree>
    <p:extLst>
      <p:ext uri="{BB962C8B-B14F-4D97-AF65-F5344CB8AC3E}">
        <p14:creationId xmlns:p14="http://schemas.microsoft.com/office/powerpoint/2010/main" val="42480567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Confidentiality statement removed</a:t>
            </a:r>
          </a:p>
          <a:p>
            <a:r>
              <a:rPr lang="en-US" dirty="0"/>
              <a:t>Table:</a:t>
            </a:r>
          </a:p>
          <a:p>
            <a:pPr marL="285750" indent="-285750">
              <a:buFont typeface="Arial" panose="020B0604020202020204" pitchFamily="34" charset="0"/>
              <a:buChar char="•"/>
            </a:pPr>
            <a:r>
              <a:rPr lang="en-US" dirty="0"/>
              <a:t>Count row should be yellow (green is reserved for clients)</a:t>
            </a:r>
          </a:p>
          <a:p>
            <a:pPr marL="0" indent="0">
              <a:buFont typeface="Arial" panose="020B0604020202020204" pitchFamily="34" charset="0"/>
              <a:buNone/>
            </a:pPr>
            <a:r>
              <a:rPr lang="en-US" dirty="0"/>
              <a:t>Legend:</a:t>
            </a:r>
          </a:p>
          <a:p>
            <a:pPr marL="285750" indent="-285750">
              <a:buFont typeface="Arial" panose="020B0604020202020204" pitchFamily="34" charset="0"/>
              <a:buChar char="•"/>
            </a:pPr>
            <a:r>
              <a:rPr lang="en-US" dirty="0"/>
              <a:t>Alternating between key and legend</a:t>
            </a:r>
          </a:p>
          <a:p>
            <a:pPr marL="285750" indent="-285750">
              <a:buFont typeface="Arial" panose="020B0604020202020204" pitchFamily="34" charset="0"/>
              <a:buChar char="•"/>
            </a:pPr>
            <a:r>
              <a:rPr lang="en-US" dirty="0"/>
              <a:t>Missing labels for green and red boxes</a:t>
            </a:r>
          </a:p>
          <a:p>
            <a:endParaRPr lang="en-US" dirty="0"/>
          </a:p>
        </p:txBody>
      </p:sp>
      <p:sp>
        <p:nvSpPr>
          <p:cNvPr id="4" name="Slide Number Placeholder 3"/>
          <p:cNvSpPr>
            <a:spLocks noGrp="1"/>
          </p:cNvSpPr>
          <p:nvPr>
            <p:ph type="sldNum" sz="quarter" idx="5"/>
          </p:nvPr>
        </p:nvSpPr>
        <p:spPr/>
        <p:txBody>
          <a:bodyPr/>
          <a:lstStyle/>
          <a:p>
            <a:fld id="{095BBE4E-8AFD-45B3-8A52-6FC96354F416}" type="slidenum">
              <a:rPr lang="en-US" smtClean="0"/>
              <a:t>14</a:t>
            </a:fld>
            <a:endParaRPr lang="en-US"/>
          </a:p>
        </p:txBody>
      </p:sp>
    </p:spTree>
    <p:extLst>
      <p:ext uri="{BB962C8B-B14F-4D97-AF65-F5344CB8AC3E}">
        <p14:creationId xmlns:p14="http://schemas.microsoft.com/office/powerpoint/2010/main" val="31389729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Privacy statement removed</a:t>
            </a:r>
          </a:p>
        </p:txBody>
      </p:sp>
      <p:sp>
        <p:nvSpPr>
          <p:cNvPr id="4" name="Slide Number Placeholder 3"/>
          <p:cNvSpPr>
            <a:spLocks noGrp="1"/>
          </p:cNvSpPr>
          <p:nvPr>
            <p:ph type="sldNum" sz="quarter" idx="5"/>
          </p:nvPr>
        </p:nvSpPr>
        <p:spPr/>
        <p:txBody>
          <a:bodyPr/>
          <a:lstStyle/>
          <a:p>
            <a:fld id="{095BBE4E-8AFD-45B3-8A52-6FC96354F416}" type="slidenum">
              <a:rPr lang="en-US" smtClean="0"/>
              <a:t>23</a:t>
            </a:fld>
            <a:endParaRPr lang="en-US"/>
          </a:p>
        </p:txBody>
      </p:sp>
    </p:spTree>
    <p:extLst>
      <p:ext uri="{BB962C8B-B14F-4D97-AF65-F5344CB8AC3E}">
        <p14:creationId xmlns:p14="http://schemas.microsoft.com/office/powerpoint/2010/main" val="39328537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Privacy statement moved</a:t>
            </a:r>
          </a:p>
        </p:txBody>
      </p:sp>
      <p:sp>
        <p:nvSpPr>
          <p:cNvPr id="4" name="Slide Number Placeholder 3"/>
          <p:cNvSpPr>
            <a:spLocks noGrp="1"/>
          </p:cNvSpPr>
          <p:nvPr>
            <p:ph type="sldNum" sz="quarter" idx="5"/>
          </p:nvPr>
        </p:nvSpPr>
        <p:spPr/>
        <p:txBody>
          <a:bodyPr/>
          <a:lstStyle/>
          <a:p>
            <a:fld id="{095BBE4E-8AFD-45B3-8A52-6FC96354F416}" type="slidenum">
              <a:rPr lang="en-US" smtClean="0"/>
              <a:t>24</a:t>
            </a:fld>
            <a:endParaRPr lang="en-US"/>
          </a:p>
        </p:txBody>
      </p:sp>
    </p:spTree>
    <p:extLst>
      <p:ext uri="{BB962C8B-B14F-4D97-AF65-F5344CB8AC3E}">
        <p14:creationId xmlns:p14="http://schemas.microsoft.com/office/powerpoint/2010/main" val="35435698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Globe">
    <p:spTree>
      <p:nvGrpSpPr>
        <p:cNvPr id="1" name=""/>
        <p:cNvGrpSpPr/>
        <p:nvPr/>
      </p:nvGrpSpPr>
      <p:grpSpPr>
        <a:xfrm>
          <a:off x="0" y="0"/>
          <a:ext cx="0" cy="0"/>
          <a:chOff x="0" y="0"/>
          <a:chExt cx="0" cy="0"/>
        </a:xfrm>
      </p:grpSpPr>
      <p:sp>
        <p:nvSpPr>
          <p:cNvPr id="2" name="Title 1"/>
          <p:cNvSpPr>
            <a:spLocks noGrp="1"/>
          </p:cNvSpPr>
          <p:nvPr userDrawn="1">
            <p:ph type="ctrTitle" hasCustomPrompt="1"/>
          </p:nvPr>
        </p:nvSpPr>
        <p:spPr>
          <a:xfrm>
            <a:off x="3022768" y="2174032"/>
            <a:ext cx="5911292" cy="709769"/>
          </a:xfrm>
        </p:spPr>
        <p:txBody>
          <a:bodyPr rIns="0" anchor="b">
            <a:noAutofit/>
          </a:bodyPr>
          <a:lstStyle>
            <a:lvl1pPr algn="l">
              <a:defRPr sz="2400"/>
            </a:lvl1pPr>
          </a:lstStyle>
          <a:p>
            <a:r>
              <a:rPr lang="en-US"/>
              <a:t>Calibri Bold 24 pt. Presentation Title </a:t>
            </a:r>
            <a:br>
              <a:rPr lang="en-US"/>
            </a:br>
            <a:r>
              <a:rPr lang="en-US"/>
              <a:t>with Text in Initial Caps and Bottom Aligned</a:t>
            </a:r>
          </a:p>
        </p:txBody>
      </p:sp>
      <p:sp>
        <p:nvSpPr>
          <p:cNvPr id="20" name="Text Placeholder 19">
            <a:extLst>
              <a:ext uri="{FF2B5EF4-FFF2-40B4-BE49-F238E27FC236}">
                <a16:creationId xmlns:a16="http://schemas.microsoft.com/office/drawing/2014/main" id="{D35484AE-FE97-CE91-D932-4B445424F40E}"/>
              </a:ext>
            </a:extLst>
          </p:cNvPr>
          <p:cNvSpPr>
            <a:spLocks noGrp="1"/>
          </p:cNvSpPr>
          <p:nvPr userDrawn="1">
            <p:ph type="body" sz="quarter" idx="13" hasCustomPrompt="1"/>
          </p:nvPr>
        </p:nvSpPr>
        <p:spPr>
          <a:xfrm>
            <a:off x="3028719" y="1766656"/>
            <a:ext cx="2924211" cy="203546"/>
          </a:xfrm>
        </p:spPr>
        <p:txBody>
          <a:bodyPr>
            <a:noAutofit/>
          </a:bodyPr>
          <a:lstStyle>
            <a:lvl1pPr marL="0" indent="0">
              <a:buNone/>
              <a:defRPr/>
            </a:lvl1pPr>
          </a:lstStyle>
          <a:p>
            <a:pPr lvl="0"/>
            <a:r>
              <a:rPr lang="en-US"/>
              <a:t>Date</a:t>
            </a:r>
          </a:p>
        </p:txBody>
      </p:sp>
      <p:sp>
        <p:nvSpPr>
          <p:cNvPr id="19" name="Footer Placeholder 18">
            <a:extLst>
              <a:ext uri="{FF2B5EF4-FFF2-40B4-BE49-F238E27FC236}">
                <a16:creationId xmlns:a16="http://schemas.microsoft.com/office/drawing/2014/main" id="{DD5BC995-AB24-3BA7-8728-520D96E0BF33}"/>
              </a:ext>
            </a:extLst>
          </p:cNvPr>
          <p:cNvSpPr>
            <a:spLocks noGrp="1"/>
          </p:cNvSpPr>
          <p:nvPr userDrawn="1">
            <p:ph type="ftr" sz="quarter" idx="16"/>
          </p:nvPr>
        </p:nvSpPr>
        <p:spPr/>
        <p:txBody>
          <a:bodyPr/>
          <a:lstStyle/>
          <a:p>
            <a:r>
              <a:rPr lang="en-US"/>
              <a:t>These materials are confidential and to be used only by the client to whom they are addressed</a:t>
            </a:r>
          </a:p>
        </p:txBody>
      </p:sp>
      <p:sp>
        <p:nvSpPr>
          <p:cNvPr id="21" name="Slide Number Placeholder 20" hidden="1">
            <a:extLst>
              <a:ext uri="{FF2B5EF4-FFF2-40B4-BE49-F238E27FC236}">
                <a16:creationId xmlns:a16="http://schemas.microsoft.com/office/drawing/2014/main" id="{E7760EE5-09EA-7D55-3743-B49956070BE7}"/>
              </a:ext>
            </a:extLst>
          </p:cNvPr>
          <p:cNvSpPr>
            <a:spLocks noGrp="1"/>
          </p:cNvSpPr>
          <p:nvPr userDrawn="1">
            <p:ph type="sldNum" sz="quarter" idx="17"/>
          </p:nvPr>
        </p:nvSpPr>
        <p:spPr/>
        <p:txBody>
          <a:bodyPr/>
          <a:lstStyle/>
          <a:p>
            <a:fld id="{91690BAF-E217-4185-92FD-0CEA06F2B7C8}" type="slidenum">
              <a:rPr lang="en-US" smtClean="0"/>
              <a:t>‹#›</a:t>
            </a:fld>
            <a:endParaRPr lang="en-US"/>
          </a:p>
        </p:txBody>
      </p:sp>
      <p:sp>
        <p:nvSpPr>
          <p:cNvPr id="13" name="Text Placeholder 12">
            <a:extLst>
              <a:ext uri="{FF2B5EF4-FFF2-40B4-BE49-F238E27FC236}">
                <a16:creationId xmlns:a16="http://schemas.microsoft.com/office/drawing/2014/main" id="{3E93126F-8774-2D75-3C52-49990A9D21EF}"/>
              </a:ext>
            </a:extLst>
          </p:cNvPr>
          <p:cNvSpPr>
            <a:spLocks noGrp="1"/>
          </p:cNvSpPr>
          <p:nvPr userDrawn="1">
            <p:ph type="body" sz="quarter" idx="19" hasCustomPrompt="1"/>
          </p:nvPr>
        </p:nvSpPr>
        <p:spPr>
          <a:xfrm>
            <a:off x="3022769" y="4997683"/>
            <a:ext cx="5911292" cy="582985"/>
          </a:xfrm>
        </p:spPr>
        <p:txBody>
          <a:bodyPr/>
          <a:lstStyle>
            <a:lvl1pPr marL="0" indent="0">
              <a:lnSpc>
                <a:spcPct val="100000"/>
              </a:lnSpc>
              <a:spcBef>
                <a:spcPts val="0"/>
              </a:spcBef>
              <a:buNone/>
              <a:defRPr b="0"/>
            </a:lvl1pPr>
            <a:lvl2pPr marL="182880" indent="0">
              <a:buNone/>
              <a:defRPr/>
            </a:lvl2pPr>
          </a:lstStyle>
          <a:p>
            <a:pPr lvl="0"/>
            <a:r>
              <a:rPr lang="en-US"/>
              <a:t>Author’s Name</a:t>
            </a:r>
          </a:p>
        </p:txBody>
      </p:sp>
      <p:sp>
        <p:nvSpPr>
          <p:cNvPr id="5" name="Slide Number Placeholder 5">
            <a:extLst>
              <a:ext uri="{FF2B5EF4-FFF2-40B4-BE49-F238E27FC236}">
                <a16:creationId xmlns:a16="http://schemas.microsoft.com/office/drawing/2014/main" id="{2FD32F9B-BD79-2F96-105D-E7605C8E14E1}"/>
              </a:ext>
            </a:extLst>
          </p:cNvPr>
          <p:cNvSpPr>
            <a:spLocks/>
          </p:cNvSpPr>
          <p:nvPr userDrawn="1"/>
        </p:nvSpPr>
        <p:spPr>
          <a:xfrm>
            <a:off x="8581802" y="6577909"/>
            <a:ext cx="352260" cy="211339"/>
          </a:xfrm>
          <a:prstGeom prst="rect">
            <a:avLst/>
          </a:prstGeom>
          <a:noFill/>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Tree>
    <p:extLst>
      <p:ext uri="{BB962C8B-B14F-4D97-AF65-F5344CB8AC3E}">
        <p14:creationId xmlns:p14="http://schemas.microsoft.com/office/powerpoint/2010/main" val="1965182770"/>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ection Header - Glob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9" name="Title 8"/>
          <p:cNvSpPr>
            <a:spLocks noGrp="1"/>
          </p:cNvSpPr>
          <p:nvPr>
            <p:ph type="title" hasCustomPrompt="1"/>
          </p:nvPr>
        </p:nvSpPr>
        <p:spPr>
          <a:xfrm>
            <a:off x="2855710" y="2447687"/>
            <a:ext cx="6078352" cy="1696756"/>
          </a:xfrm>
        </p:spPr>
        <p:txBody>
          <a:bodyPr anchor="ctr"/>
          <a:lstStyle>
            <a:lvl1pPr>
              <a:defRPr/>
            </a:lvl1pPr>
          </a:lstStyle>
          <a:p>
            <a:r>
              <a:rPr lang="en-US"/>
              <a:t>Calibri Bold 24 pt. </a:t>
            </a:r>
            <a:br>
              <a:rPr lang="en-US"/>
            </a:br>
            <a:r>
              <a:rPr lang="en-US"/>
              <a:t>Section Header Layout Intended For One to Three Lines of Copy and Vertically Centered</a:t>
            </a:r>
          </a:p>
        </p:txBody>
      </p:sp>
      <p:sp>
        <p:nvSpPr>
          <p:cNvPr id="13" name="Slide Number Placeholder 12" hidden="1">
            <a:extLst>
              <a:ext uri="{FF2B5EF4-FFF2-40B4-BE49-F238E27FC236}">
                <a16:creationId xmlns:a16="http://schemas.microsoft.com/office/drawing/2014/main" id="{197E4D5F-80CC-FF15-CEA8-40C906BAF007}"/>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2" name="Slide Number Placeholder 5">
            <a:extLst>
              <a:ext uri="{FF2B5EF4-FFF2-40B4-BE49-F238E27FC236}">
                <a16:creationId xmlns:a16="http://schemas.microsoft.com/office/drawing/2014/main" id="{A9786058-EA9A-B9A9-E702-365C9622F144}"/>
              </a:ext>
            </a:extLst>
          </p:cNvPr>
          <p:cNvSpPr>
            <a:spLocks/>
          </p:cNvSpPr>
          <p:nvPr userDrawn="1"/>
        </p:nvSpPr>
        <p:spPr>
          <a:xfrm>
            <a:off x="8581802" y="6577909"/>
            <a:ext cx="352260" cy="211339"/>
          </a:xfrm>
          <a:prstGeom prst="rect">
            <a:avLst/>
          </a:prstGeom>
          <a:noFill/>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Tree>
    <p:extLst>
      <p:ext uri="{BB962C8B-B14F-4D97-AF65-F5344CB8AC3E}">
        <p14:creationId xmlns:p14="http://schemas.microsoft.com/office/powerpoint/2010/main" val="829629211"/>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 Checkerboard">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022768" y="2174032"/>
            <a:ext cx="5911292" cy="709769"/>
          </a:xfrm>
        </p:spPr>
        <p:txBody>
          <a:bodyPr rIns="0" anchor="b">
            <a:noAutofit/>
          </a:bodyPr>
          <a:lstStyle>
            <a:lvl1pPr algn="l">
              <a:defRPr sz="2400"/>
            </a:lvl1pPr>
          </a:lstStyle>
          <a:p>
            <a:r>
              <a:rPr lang="en-US"/>
              <a:t>Calibri Bold 24 pt. Presentation Title </a:t>
            </a:r>
            <a:br>
              <a:rPr lang="en-US"/>
            </a:br>
            <a:r>
              <a:rPr lang="en-US"/>
              <a:t>with Text in Initial Caps and Bottom Aligned</a:t>
            </a:r>
          </a:p>
        </p:txBody>
      </p:sp>
      <p:sp>
        <p:nvSpPr>
          <p:cNvPr id="20" name="Text Placeholder 19">
            <a:extLst>
              <a:ext uri="{FF2B5EF4-FFF2-40B4-BE49-F238E27FC236}">
                <a16:creationId xmlns:a16="http://schemas.microsoft.com/office/drawing/2014/main" id="{D35484AE-FE97-CE91-D932-4B445424F40E}"/>
              </a:ext>
            </a:extLst>
          </p:cNvPr>
          <p:cNvSpPr>
            <a:spLocks noGrp="1"/>
          </p:cNvSpPr>
          <p:nvPr>
            <p:ph type="body" sz="quarter" idx="13" hasCustomPrompt="1"/>
          </p:nvPr>
        </p:nvSpPr>
        <p:spPr>
          <a:xfrm>
            <a:off x="3028719" y="1766656"/>
            <a:ext cx="2924211" cy="203546"/>
          </a:xfrm>
        </p:spPr>
        <p:txBody>
          <a:bodyPr>
            <a:noAutofit/>
          </a:bodyPr>
          <a:lstStyle>
            <a:lvl1pPr marL="0" indent="0">
              <a:buNone/>
              <a:defRPr/>
            </a:lvl1pPr>
          </a:lstStyle>
          <a:p>
            <a:pPr lvl="0"/>
            <a:r>
              <a:rPr lang="en-US"/>
              <a:t>Date</a:t>
            </a:r>
          </a:p>
        </p:txBody>
      </p:sp>
      <p:sp>
        <p:nvSpPr>
          <p:cNvPr id="19" name="Footer Placeholder 18">
            <a:extLst>
              <a:ext uri="{FF2B5EF4-FFF2-40B4-BE49-F238E27FC236}">
                <a16:creationId xmlns:a16="http://schemas.microsoft.com/office/drawing/2014/main" id="{DD5BC995-AB24-3BA7-8728-520D96E0BF33}"/>
              </a:ext>
            </a:extLst>
          </p:cNvPr>
          <p:cNvSpPr>
            <a:spLocks noGrp="1"/>
          </p:cNvSpPr>
          <p:nvPr>
            <p:ph type="ftr" sz="quarter" idx="16"/>
          </p:nvPr>
        </p:nvSpPr>
        <p:spPr/>
        <p:txBody>
          <a:bodyPr/>
          <a:lstStyle/>
          <a:p>
            <a:r>
              <a:rPr lang="en-US"/>
              <a:t>These materials are confidential and to be used only by the client to whom they are addressed</a:t>
            </a:r>
          </a:p>
        </p:txBody>
      </p:sp>
      <p:sp>
        <p:nvSpPr>
          <p:cNvPr id="21" name="Slide Number Placeholder 20" hidden="1">
            <a:extLst>
              <a:ext uri="{FF2B5EF4-FFF2-40B4-BE49-F238E27FC236}">
                <a16:creationId xmlns:a16="http://schemas.microsoft.com/office/drawing/2014/main" id="{E7760EE5-09EA-7D55-3743-B49956070BE7}"/>
              </a:ext>
            </a:extLst>
          </p:cNvPr>
          <p:cNvSpPr>
            <a:spLocks noGrp="1"/>
          </p:cNvSpPr>
          <p:nvPr>
            <p:ph type="sldNum" sz="quarter" idx="17"/>
          </p:nvPr>
        </p:nvSpPr>
        <p:spPr/>
        <p:txBody>
          <a:bodyPr/>
          <a:lstStyle/>
          <a:p>
            <a:fld id="{91690BAF-E217-4185-92FD-0CEA06F2B7C8}" type="slidenum">
              <a:rPr lang="en-US" smtClean="0"/>
              <a:t>‹#›</a:t>
            </a:fld>
            <a:endParaRPr lang="en-US"/>
          </a:p>
        </p:txBody>
      </p:sp>
      <p:sp>
        <p:nvSpPr>
          <p:cNvPr id="11" name="Text Placeholder 12">
            <a:extLst>
              <a:ext uri="{FF2B5EF4-FFF2-40B4-BE49-F238E27FC236}">
                <a16:creationId xmlns:a16="http://schemas.microsoft.com/office/drawing/2014/main" id="{27FE7AD9-F9FF-6349-E68A-8B000D864994}"/>
              </a:ext>
            </a:extLst>
          </p:cNvPr>
          <p:cNvSpPr>
            <a:spLocks noGrp="1"/>
          </p:cNvSpPr>
          <p:nvPr>
            <p:ph type="body" sz="quarter" idx="19" hasCustomPrompt="1"/>
          </p:nvPr>
        </p:nvSpPr>
        <p:spPr>
          <a:xfrm>
            <a:off x="3022769" y="4997683"/>
            <a:ext cx="5911292" cy="582985"/>
          </a:xfrm>
        </p:spPr>
        <p:txBody>
          <a:bodyPr/>
          <a:lstStyle>
            <a:lvl1pPr marL="0" indent="0">
              <a:lnSpc>
                <a:spcPct val="100000"/>
              </a:lnSpc>
              <a:spcBef>
                <a:spcPts val="0"/>
              </a:spcBef>
              <a:buNone/>
              <a:defRPr b="0"/>
            </a:lvl1pPr>
            <a:lvl2pPr marL="182880" indent="0">
              <a:buNone/>
              <a:defRPr/>
            </a:lvl2pPr>
          </a:lstStyle>
          <a:p>
            <a:pPr lvl="0"/>
            <a:r>
              <a:rPr lang="en-US"/>
              <a:t>Author’s Name</a:t>
            </a:r>
          </a:p>
        </p:txBody>
      </p:sp>
      <p:sp>
        <p:nvSpPr>
          <p:cNvPr id="6" name="Slide Number Placeholder 5">
            <a:extLst>
              <a:ext uri="{FF2B5EF4-FFF2-40B4-BE49-F238E27FC236}">
                <a16:creationId xmlns:a16="http://schemas.microsoft.com/office/drawing/2014/main" id="{E0196B06-2742-3305-E983-9F796F07B944}"/>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Tree>
    <p:extLst>
      <p:ext uri="{BB962C8B-B14F-4D97-AF65-F5344CB8AC3E}">
        <p14:creationId xmlns:p14="http://schemas.microsoft.com/office/powerpoint/2010/main" val="819567895"/>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 Checkerboar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9" name="Title 8"/>
          <p:cNvSpPr>
            <a:spLocks noGrp="1"/>
          </p:cNvSpPr>
          <p:nvPr>
            <p:ph type="title" hasCustomPrompt="1"/>
          </p:nvPr>
        </p:nvSpPr>
        <p:spPr>
          <a:xfrm>
            <a:off x="2852928" y="2447687"/>
            <a:ext cx="6081134" cy="1696756"/>
          </a:xfrm>
        </p:spPr>
        <p:txBody>
          <a:bodyPr anchor="ctr"/>
          <a:lstStyle>
            <a:lvl1pPr>
              <a:defRPr/>
            </a:lvl1pPr>
          </a:lstStyle>
          <a:p>
            <a:r>
              <a:rPr lang="en-US"/>
              <a:t>Calibri Bold 24 pt. </a:t>
            </a:r>
            <a:br>
              <a:rPr lang="en-US"/>
            </a:br>
            <a:r>
              <a:rPr lang="en-US"/>
              <a:t>Section Header Layout Intended For One to Three Lines of Copy and Vertically Centered</a:t>
            </a:r>
          </a:p>
        </p:txBody>
      </p:sp>
      <p:sp>
        <p:nvSpPr>
          <p:cNvPr id="13" name="Slide Number Placeholder 12" hidden="1">
            <a:extLst>
              <a:ext uri="{FF2B5EF4-FFF2-40B4-BE49-F238E27FC236}">
                <a16:creationId xmlns:a16="http://schemas.microsoft.com/office/drawing/2014/main" id="{197E4D5F-80CC-FF15-CEA8-40C906BAF007}"/>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2" name="Slide Number Placeholder 5">
            <a:extLst>
              <a:ext uri="{FF2B5EF4-FFF2-40B4-BE49-F238E27FC236}">
                <a16:creationId xmlns:a16="http://schemas.microsoft.com/office/drawing/2014/main" id="{B3E6E51F-8894-694C-F5F7-DFFC471D1F0D}"/>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Tree>
    <p:extLst>
      <p:ext uri="{BB962C8B-B14F-4D97-AF65-F5344CB8AC3E}">
        <p14:creationId xmlns:p14="http://schemas.microsoft.com/office/powerpoint/2010/main" val="1305993253"/>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 FA logo">
    <p:spTree>
      <p:nvGrpSpPr>
        <p:cNvPr id="1" name=""/>
        <p:cNvGrpSpPr/>
        <p:nvPr/>
      </p:nvGrpSpPr>
      <p:grpSpPr>
        <a:xfrm>
          <a:off x="0" y="0"/>
          <a:ext cx="0" cy="0"/>
          <a:chOff x="0" y="0"/>
          <a:chExt cx="0" cy="0"/>
        </a:xfrm>
      </p:grpSpPr>
      <p:sp>
        <p:nvSpPr>
          <p:cNvPr id="20" name="Text Placeholder 19">
            <a:extLst>
              <a:ext uri="{FF2B5EF4-FFF2-40B4-BE49-F238E27FC236}">
                <a16:creationId xmlns:a16="http://schemas.microsoft.com/office/drawing/2014/main" id="{D35484AE-FE97-CE91-D932-4B445424F40E}"/>
              </a:ext>
            </a:extLst>
          </p:cNvPr>
          <p:cNvSpPr>
            <a:spLocks noGrp="1"/>
          </p:cNvSpPr>
          <p:nvPr userDrawn="1">
            <p:ph type="body" sz="quarter" idx="13" hasCustomPrompt="1"/>
          </p:nvPr>
        </p:nvSpPr>
        <p:spPr>
          <a:xfrm>
            <a:off x="3028719" y="1766656"/>
            <a:ext cx="2924211" cy="203546"/>
          </a:xfrm>
        </p:spPr>
        <p:txBody>
          <a:bodyPr>
            <a:noAutofit/>
          </a:bodyPr>
          <a:lstStyle>
            <a:lvl1pPr marL="0" indent="0">
              <a:buNone/>
              <a:defRPr/>
            </a:lvl1pPr>
          </a:lstStyle>
          <a:p>
            <a:pPr lvl="0"/>
            <a:r>
              <a:rPr lang="en-US"/>
              <a:t>Date</a:t>
            </a:r>
          </a:p>
        </p:txBody>
      </p:sp>
      <p:sp>
        <p:nvSpPr>
          <p:cNvPr id="2" name="Title 1"/>
          <p:cNvSpPr>
            <a:spLocks noGrp="1"/>
          </p:cNvSpPr>
          <p:nvPr userDrawn="1">
            <p:ph type="ctrTitle" hasCustomPrompt="1"/>
          </p:nvPr>
        </p:nvSpPr>
        <p:spPr>
          <a:xfrm>
            <a:off x="3022768" y="2174032"/>
            <a:ext cx="5911292" cy="709769"/>
          </a:xfrm>
        </p:spPr>
        <p:txBody>
          <a:bodyPr rIns="0" anchor="b">
            <a:noAutofit/>
          </a:bodyPr>
          <a:lstStyle>
            <a:lvl1pPr algn="l">
              <a:defRPr sz="2400"/>
            </a:lvl1pPr>
          </a:lstStyle>
          <a:p>
            <a:r>
              <a:rPr lang="en-US"/>
              <a:t>Calibri Bold 24 pt. Presentation Title </a:t>
            </a:r>
            <a:br>
              <a:rPr lang="en-US"/>
            </a:br>
            <a:r>
              <a:rPr lang="en-US"/>
              <a:t>with Text in Initial Caps and Bottom Aligned</a:t>
            </a:r>
          </a:p>
        </p:txBody>
      </p:sp>
      <p:sp>
        <p:nvSpPr>
          <p:cNvPr id="19" name="Footer Placeholder 18">
            <a:extLst>
              <a:ext uri="{FF2B5EF4-FFF2-40B4-BE49-F238E27FC236}">
                <a16:creationId xmlns:a16="http://schemas.microsoft.com/office/drawing/2014/main" id="{DD5BC995-AB24-3BA7-8728-520D96E0BF33}"/>
              </a:ext>
            </a:extLst>
          </p:cNvPr>
          <p:cNvSpPr>
            <a:spLocks noGrp="1"/>
          </p:cNvSpPr>
          <p:nvPr userDrawn="1">
            <p:ph type="ftr" sz="quarter" idx="16"/>
          </p:nvPr>
        </p:nvSpPr>
        <p:spPr/>
        <p:txBody>
          <a:bodyPr/>
          <a:lstStyle/>
          <a:p>
            <a:r>
              <a:rPr lang="en-US"/>
              <a:t>These materials are confidential and to be used only by the client to whom they are addressed</a:t>
            </a:r>
          </a:p>
        </p:txBody>
      </p:sp>
      <p:sp>
        <p:nvSpPr>
          <p:cNvPr id="21" name="Slide Number Placeholder 20" hidden="1">
            <a:extLst>
              <a:ext uri="{FF2B5EF4-FFF2-40B4-BE49-F238E27FC236}">
                <a16:creationId xmlns:a16="http://schemas.microsoft.com/office/drawing/2014/main" id="{E7760EE5-09EA-7D55-3743-B49956070BE7}"/>
              </a:ext>
            </a:extLst>
          </p:cNvPr>
          <p:cNvSpPr>
            <a:spLocks noGrp="1"/>
          </p:cNvSpPr>
          <p:nvPr userDrawn="1">
            <p:ph type="sldNum" sz="quarter" idx="17"/>
          </p:nvPr>
        </p:nvSpPr>
        <p:spPr/>
        <p:txBody>
          <a:bodyPr/>
          <a:lstStyle/>
          <a:p>
            <a:fld id="{91690BAF-E217-4185-92FD-0CEA06F2B7C8}" type="slidenum">
              <a:rPr lang="en-US" smtClean="0"/>
              <a:t>‹#›</a:t>
            </a:fld>
            <a:endParaRPr lang="en-US"/>
          </a:p>
        </p:txBody>
      </p:sp>
      <p:sp>
        <p:nvSpPr>
          <p:cNvPr id="11" name="Text Placeholder 12">
            <a:extLst>
              <a:ext uri="{FF2B5EF4-FFF2-40B4-BE49-F238E27FC236}">
                <a16:creationId xmlns:a16="http://schemas.microsoft.com/office/drawing/2014/main" id="{27FE7AD9-F9FF-6349-E68A-8B000D864994}"/>
              </a:ext>
            </a:extLst>
          </p:cNvPr>
          <p:cNvSpPr>
            <a:spLocks noGrp="1"/>
          </p:cNvSpPr>
          <p:nvPr userDrawn="1">
            <p:ph type="body" sz="quarter" idx="19" hasCustomPrompt="1"/>
          </p:nvPr>
        </p:nvSpPr>
        <p:spPr>
          <a:xfrm>
            <a:off x="3022769" y="4997683"/>
            <a:ext cx="5911292" cy="582985"/>
          </a:xfrm>
        </p:spPr>
        <p:txBody>
          <a:bodyPr/>
          <a:lstStyle>
            <a:lvl1pPr marL="0" indent="0">
              <a:lnSpc>
                <a:spcPct val="100000"/>
              </a:lnSpc>
              <a:spcBef>
                <a:spcPts val="0"/>
              </a:spcBef>
              <a:buNone/>
              <a:defRPr b="0"/>
            </a:lvl1pPr>
            <a:lvl2pPr marL="182880" indent="0">
              <a:buNone/>
              <a:defRPr/>
            </a:lvl2pPr>
          </a:lstStyle>
          <a:p>
            <a:pPr lvl="0"/>
            <a:r>
              <a:rPr lang="en-US"/>
              <a:t>Author’s Name</a:t>
            </a:r>
          </a:p>
        </p:txBody>
      </p:sp>
      <p:sp>
        <p:nvSpPr>
          <p:cNvPr id="6" name="Slide Number Placeholder 5">
            <a:extLst>
              <a:ext uri="{FF2B5EF4-FFF2-40B4-BE49-F238E27FC236}">
                <a16:creationId xmlns:a16="http://schemas.microsoft.com/office/drawing/2014/main" id="{E0196B06-2742-3305-E983-9F796F07B944}"/>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
        <p:nvSpPr>
          <p:cNvPr id="27" name="TextBox 26">
            <a:extLst>
              <a:ext uri="{FF2B5EF4-FFF2-40B4-BE49-F238E27FC236}">
                <a16:creationId xmlns:a16="http://schemas.microsoft.com/office/drawing/2014/main" id="{32DCE86B-4583-572D-71AB-6D52A4E1ED21}"/>
              </a:ext>
            </a:extLst>
          </p:cNvPr>
          <p:cNvSpPr txBox="1"/>
          <p:nvPr userDrawn="1"/>
        </p:nvSpPr>
        <p:spPr>
          <a:xfrm>
            <a:off x="7233832" y="1282079"/>
            <a:ext cx="92397" cy="277064"/>
          </a:xfrm>
          <a:prstGeom prst="rect">
            <a:avLst/>
          </a:prstGeom>
          <a:noFill/>
        </p:spPr>
        <p:txBody>
          <a:bodyPr vert="horz" wrap="none" lIns="45720" tIns="45720" rIns="45720" bIns="45720" rtlCol="0" anchor="ctr">
            <a:spAutoFit/>
          </a:bodyPr>
          <a:lstStyle/>
          <a:p>
            <a:pPr algn="ctr">
              <a:lnSpc>
                <a:spcPct val="85000"/>
              </a:lnSpc>
            </a:pPr>
            <a:endParaRPr lang="en-US" sz="1400"/>
          </a:p>
        </p:txBody>
      </p:sp>
    </p:spTree>
    <p:extLst>
      <p:ext uri="{BB962C8B-B14F-4D97-AF65-F5344CB8AC3E}">
        <p14:creationId xmlns:p14="http://schemas.microsoft.com/office/powerpoint/2010/main" val="1215894495"/>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Header - FA logo">
    <p:spTree>
      <p:nvGrpSpPr>
        <p:cNvPr id="1" name=""/>
        <p:cNvGrpSpPr/>
        <p:nvPr/>
      </p:nvGrpSpPr>
      <p:grpSpPr>
        <a:xfrm>
          <a:off x="0" y="0"/>
          <a:ext cx="0" cy="0"/>
          <a:chOff x="0" y="0"/>
          <a:chExt cx="0" cy="0"/>
        </a:xfrm>
      </p:grpSpPr>
      <p:sp>
        <p:nvSpPr>
          <p:cNvPr id="19" name="Footer Placeholder 18">
            <a:extLst>
              <a:ext uri="{FF2B5EF4-FFF2-40B4-BE49-F238E27FC236}">
                <a16:creationId xmlns:a16="http://schemas.microsoft.com/office/drawing/2014/main" id="{DD5BC995-AB24-3BA7-8728-520D96E0BF33}"/>
              </a:ext>
            </a:extLst>
          </p:cNvPr>
          <p:cNvSpPr>
            <a:spLocks noGrp="1"/>
          </p:cNvSpPr>
          <p:nvPr userDrawn="1">
            <p:ph type="ftr" sz="quarter" idx="16"/>
          </p:nvPr>
        </p:nvSpPr>
        <p:spPr/>
        <p:txBody>
          <a:bodyPr/>
          <a:lstStyle/>
          <a:p>
            <a:r>
              <a:rPr lang="en-US"/>
              <a:t>These materials are confidential and to be used only by the client to whom they are addressed</a:t>
            </a:r>
          </a:p>
        </p:txBody>
      </p:sp>
      <p:sp>
        <p:nvSpPr>
          <p:cNvPr id="21" name="Slide Number Placeholder 20" hidden="1">
            <a:extLst>
              <a:ext uri="{FF2B5EF4-FFF2-40B4-BE49-F238E27FC236}">
                <a16:creationId xmlns:a16="http://schemas.microsoft.com/office/drawing/2014/main" id="{E7760EE5-09EA-7D55-3743-B49956070BE7}"/>
              </a:ext>
            </a:extLst>
          </p:cNvPr>
          <p:cNvSpPr>
            <a:spLocks noGrp="1"/>
          </p:cNvSpPr>
          <p:nvPr userDrawn="1">
            <p:ph type="sldNum" sz="quarter" idx="17"/>
          </p:nvPr>
        </p:nvSpPr>
        <p:spPr/>
        <p:txBody>
          <a:bodyPr/>
          <a:lstStyle/>
          <a:p>
            <a:fld id="{91690BAF-E217-4185-92FD-0CEA06F2B7C8}" type="slidenum">
              <a:rPr lang="en-US" smtClean="0"/>
              <a:t>‹#›</a:t>
            </a:fld>
            <a:endParaRPr lang="en-US"/>
          </a:p>
        </p:txBody>
      </p:sp>
      <p:sp>
        <p:nvSpPr>
          <p:cNvPr id="6" name="Slide Number Placeholder 5">
            <a:extLst>
              <a:ext uri="{FF2B5EF4-FFF2-40B4-BE49-F238E27FC236}">
                <a16:creationId xmlns:a16="http://schemas.microsoft.com/office/drawing/2014/main" id="{E0196B06-2742-3305-E983-9F796F07B944}"/>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
        <p:nvSpPr>
          <p:cNvPr id="3" name="Title 8">
            <a:extLst>
              <a:ext uri="{FF2B5EF4-FFF2-40B4-BE49-F238E27FC236}">
                <a16:creationId xmlns:a16="http://schemas.microsoft.com/office/drawing/2014/main" id="{03F154A0-20E6-598E-8341-B487B523091D}"/>
              </a:ext>
            </a:extLst>
          </p:cNvPr>
          <p:cNvSpPr>
            <a:spLocks noGrp="1"/>
          </p:cNvSpPr>
          <p:nvPr>
            <p:ph type="title" hasCustomPrompt="1"/>
          </p:nvPr>
        </p:nvSpPr>
        <p:spPr>
          <a:xfrm>
            <a:off x="2852928" y="2447687"/>
            <a:ext cx="6081134" cy="1696756"/>
          </a:xfrm>
        </p:spPr>
        <p:txBody>
          <a:bodyPr anchor="ctr"/>
          <a:lstStyle>
            <a:lvl1pPr>
              <a:defRPr/>
            </a:lvl1pPr>
          </a:lstStyle>
          <a:p>
            <a:r>
              <a:rPr lang="en-US"/>
              <a:t>Calibri Bold 24 pt. </a:t>
            </a:r>
            <a:br>
              <a:rPr lang="en-US"/>
            </a:br>
            <a:r>
              <a:rPr lang="en-US"/>
              <a:t>Section Header Layout Intended For One to Three Lines of Copy and Vertically Centered</a:t>
            </a:r>
          </a:p>
        </p:txBody>
      </p:sp>
    </p:spTree>
    <p:extLst>
      <p:ext uri="{BB962C8B-B14F-4D97-AF65-F5344CB8AC3E}">
        <p14:creationId xmlns:p14="http://schemas.microsoft.com/office/powerpoint/2010/main" val="1179924102"/>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Slide - Collaborative">
    <p:spTree>
      <p:nvGrpSpPr>
        <p:cNvPr id="1" name=""/>
        <p:cNvGrpSpPr/>
        <p:nvPr/>
      </p:nvGrpSpPr>
      <p:grpSpPr>
        <a:xfrm>
          <a:off x="0" y="0"/>
          <a:ext cx="0" cy="0"/>
          <a:chOff x="0" y="0"/>
          <a:chExt cx="0" cy="0"/>
        </a:xfrm>
      </p:grpSpPr>
      <p:sp>
        <p:nvSpPr>
          <p:cNvPr id="2" name="Title 1"/>
          <p:cNvSpPr>
            <a:spLocks noGrp="1"/>
          </p:cNvSpPr>
          <p:nvPr userDrawn="1">
            <p:ph type="ctrTitle" hasCustomPrompt="1"/>
          </p:nvPr>
        </p:nvSpPr>
        <p:spPr>
          <a:xfrm>
            <a:off x="3022768" y="2174032"/>
            <a:ext cx="5911292" cy="709769"/>
          </a:xfrm>
        </p:spPr>
        <p:txBody>
          <a:bodyPr rIns="0" anchor="b">
            <a:noAutofit/>
          </a:bodyPr>
          <a:lstStyle>
            <a:lvl1pPr algn="l">
              <a:defRPr sz="2400"/>
            </a:lvl1pPr>
          </a:lstStyle>
          <a:p>
            <a:r>
              <a:rPr lang="en-US"/>
              <a:t>Calibri Bold 24 pt. Presentation Title </a:t>
            </a:r>
            <a:br>
              <a:rPr lang="en-US"/>
            </a:br>
            <a:r>
              <a:rPr lang="en-US"/>
              <a:t>with Text in Initial Caps and Bottom Aligned</a:t>
            </a:r>
          </a:p>
        </p:txBody>
      </p:sp>
      <p:sp>
        <p:nvSpPr>
          <p:cNvPr id="20" name="Text Placeholder 19">
            <a:extLst>
              <a:ext uri="{FF2B5EF4-FFF2-40B4-BE49-F238E27FC236}">
                <a16:creationId xmlns:a16="http://schemas.microsoft.com/office/drawing/2014/main" id="{D35484AE-FE97-CE91-D932-4B445424F40E}"/>
              </a:ext>
            </a:extLst>
          </p:cNvPr>
          <p:cNvSpPr>
            <a:spLocks noGrp="1"/>
          </p:cNvSpPr>
          <p:nvPr userDrawn="1">
            <p:ph type="body" sz="quarter" idx="13" hasCustomPrompt="1"/>
          </p:nvPr>
        </p:nvSpPr>
        <p:spPr>
          <a:xfrm>
            <a:off x="3028719" y="1766656"/>
            <a:ext cx="2924211" cy="203546"/>
          </a:xfrm>
        </p:spPr>
        <p:txBody>
          <a:bodyPr>
            <a:noAutofit/>
          </a:bodyPr>
          <a:lstStyle>
            <a:lvl1pPr marL="0" indent="0">
              <a:buNone/>
              <a:defRPr/>
            </a:lvl1pPr>
          </a:lstStyle>
          <a:p>
            <a:pPr lvl="0"/>
            <a:r>
              <a:rPr lang="en-US"/>
              <a:t>Date</a:t>
            </a:r>
          </a:p>
        </p:txBody>
      </p:sp>
      <p:sp>
        <p:nvSpPr>
          <p:cNvPr id="24" name="Picture Placeholder 23">
            <a:extLst>
              <a:ext uri="{FF2B5EF4-FFF2-40B4-BE49-F238E27FC236}">
                <a16:creationId xmlns:a16="http://schemas.microsoft.com/office/drawing/2014/main" id="{22A0A493-76D0-4AB8-7C0B-A6424A2CCA34}"/>
              </a:ext>
            </a:extLst>
          </p:cNvPr>
          <p:cNvSpPr>
            <a:spLocks noGrp="1"/>
          </p:cNvSpPr>
          <p:nvPr userDrawn="1">
            <p:ph type="pic" sz="quarter" idx="14" hasCustomPrompt="1"/>
          </p:nvPr>
        </p:nvSpPr>
        <p:spPr>
          <a:xfrm>
            <a:off x="3022769" y="3318018"/>
            <a:ext cx="2930162" cy="1038636"/>
          </a:xfrm>
        </p:spPr>
        <p:txBody>
          <a:bodyPr anchor="ctr">
            <a:noAutofit/>
          </a:bodyPr>
          <a:lstStyle>
            <a:lvl1pPr marL="0" indent="0" algn="ctr">
              <a:buNone/>
              <a:defRPr/>
            </a:lvl1pPr>
          </a:lstStyle>
          <a:p>
            <a:r>
              <a:rPr lang="en-US"/>
              <a:t>Click to add logo</a:t>
            </a:r>
          </a:p>
        </p:txBody>
      </p:sp>
      <p:sp>
        <p:nvSpPr>
          <p:cNvPr id="19" name="Footer Placeholder 18">
            <a:extLst>
              <a:ext uri="{FF2B5EF4-FFF2-40B4-BE49-F238E27FC236}">
                <a16:creationId xmlns:a16="http://schemas.microsoft.com/office/drawing/2014/main" id="{DD5BC995-AB24-3BA7-8728-520D96E0BF33}"/>
              </a:ext>
            </a:extLst>
          </p:cNvPr>
          <p:cNvSpPr>
            <a:spLocks noGrp="1"/>
          </p:cNvSpPr>
          <p:nvPr userDrawn="1">
            <p:ph type="ftr" sz="quarter" idx="16"/>
          </p:nvPr>
        </p:nvSpPr>
        <p:spPr/>
        <p:txBody>
          <a:bodyPr/>
          <a:lstStyle/>
          <a:p>
            <a:r>
              <a:rPr lang="en-US"/>
              <a:t>These materials are confidential and to be used only by the client to whom they are addressed</a:t>
            </a:r>
          </a:p>
        </p:txBody>
      </p:sp>
      <p:sp>
        <p:nvSpPr>
          <p:cNvPr id="21" name="Slide Number Placeholder 20" hidden="1">
            <a:extLst>
              <a:ext uri="{FF2B5EF4-FFF2-40B4-BE49-F238E27FC236}">
                <a16:creationId xmlns:a16="http://schemas.microsoft.com/office/drawing/2014/main" id="{E7760EE5-09EA-7D55-3743-B49956070BE7}"/>
              </a:ext>
            </a:extLst>
          </p:cNvPr>
          <p:cNvSpPr>
            <a:spLocks noGrp="1"/>
          </p:cNvSpPr>
          <p:nvPr userDrawn="1">
            <p:ph type="sldNum" sz="quarter" idx="17"/>
          </p:nvPr>
        </p:nvSpPr>
        <p:spPr/>
        <p:txBody>
          <a:bodyPr/>
          <a:lstStyle/>
          <a:p>
            <a:fld id="{91690BAF-E217-4185-92FD-0CEA06F2B7C8}" type="slidenum">
              <a:rPr lang="en-US" smtClean="0"/>
              <a:t>‹#›</a:t>
            </a:fld>
            <a:endParaRPr lang="en-US"/>
          </a:p>
        </p:txBody>
      </p:sp>
      <p:sp>
        <p:nvSpPr>
          <p:cNvPr id="11" name="Text Placeholder 12">
            <a:extLst>
              <a:ext uri="{FF2B5EF4-FFF2-40B4-BE49-F238E27FC236}">
                <a16:creationId xmlns:a16="http://schemas.microsoft.com/office/drawing/2014/main" id="{A069B3E0-0751-EBFD-BEFB-02F203F859FE}"/>
              </a:ext>
            </a:extLst>
          </p:cNvPr>
          <p:cNvSpPr>
            <a:spLocks noGrp="1"/>
          </p:cNvSpPr>
          <p:nvPr userDrawn="1">
            <p:ph type="body" sz="quarter" idx="19" hasCustomPrompt="1"/>
          </p:nvPr>
        </p:nvSpPr>
        <p:spPr>
          <a:xfrm>
            <a:off x="3022769" y="4997683"/>
            <a:ext cx="5911292" cy="582985"/>
          </a:xfrm>
        </p:spPr>
        <p:txBody>
          <a:bodyPr/>
          <a:lstStyle>
            <a:lvl1pPr marL="0" indent="0">
              <a:lnSpc>
                <a:spcPct val="100000"/>
              </a:lnSpc>
              <a:spcBef>
                <a:spcPts val="0"/>
              </a:spcBef>
              <a:buNone/>
              <a:defRPr b="0"/>
            </a:lvl1pPr>
            <a:lvl2pPr marL="182880" indent="0">
              <a:buNone/>
              <a:defRPr/>
            </a:lvl2pPr>
          </a:lstStyle>
          <a:p>
            <a:pPr lvl="0"/>
            <a:r>
              <a:rPr lang="en-US"/>
              <a:t>Author’s Name</a:t>
            </a:r>
          </a:p>
        </p:txBody>
      </p:sp>
      <p:sp>
        <p:nvSpPr>
          <p:cNvPr id="6" name="Slide Number Placeholder 5">
            <a:extLst>
              <a:ext uri="{FF2B5EF4-FFF2-40B4-BE49-F238E27FC236}">
                <a16:creationId xmlns:a16="http://schemas.microsoft.com/office/drawing/2014/main" id="{07B429B7-27E3-672D-B925-53798E1318C6}"/>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
        <p:nvSpPr>
          <p:cNvPr id="12" name="TextBox 11">
            <a:extLst>
              <a:ext uri="{FF2B5EF4-FFF2-40B4-BE49-F238E27FC236}">
                <a16:creationId xmlns:a16="http://schemas.microsoft.com/office/drawing/2014/main" id="{9461542D-3E90-4DB5-DDF9-AF1E1CF19C20}"/>
              </a:ext>
            </a:extLst>
          </p:cNvPr>
          <p:cNvSpPr txBox="1"/>
          <p:nvPr userDrawn="1"/>
        </p:nvSpPr>
        <p:spPr>
          <a:xfrm>
            <a:off x="2977249" y="2936089"/>
            <a:ext cx="514628" cy="303416"/>
          </a:xfrm>
          <a:prstGeom prst="rect">
            <a:avLst/>
          </a:prstGeom>
          <a:noFill/>
        </p:spPr>
        <p:txBody>
          <a:bodyPr vert="horz" wrap="none" lIns="45720" tIns="45720" rIns="45720" bIns="45720" rtlCol="0" anchor="ctr">
            <a:spAutoFit/>
          </a:bodyPr>
          <a:lstStyle/>
          <a:p>
            <a:pPr algn="ctr">
              <a:lnSpc>
                <a:spcPct val="85000"/>
              </a:lnSpc>
            </a:pPr>
            <a:r>
              <a:rPr lang="en-US" sz="1600" i="1"/>
              <a:t>for    </a:t>
            </a:r>
          </a:p>
        </p:txBody>
      </p:sp>
    </p:spTree>
    <p:extLst>
      <p:ext uri="{BB962C8B-B14F-4D97-AF65-F5344CB8AC3E}">
        <p14:creationId xmlns:p14="http://schemas.microsoft.com/office/powerpoint/2010/main" val="2456965948"/>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Section Header - Collaborativ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9" name="Title 8"/>
          <p:cNvSpPr>
            <a:spLocks noGrp="1"/>
          </p:cNvSpPr>
          <p:nvPr>
            <p:ph type="title" hasCustomPrompt="1"/>
          </p:nvPr>
        </p:nvSpPr>
        <p:spPr>
          <a:xfrm>
            <a:off x="2852928" y="2447687"/>
            <a:ext cx="6081134" cy="1696756"/>
          </a:xfrm>
        </p:spPr>
        <p:txBody>
          <a:bodyPr anchor="ctr"/>
          <a:lstStyle>
            <a:lvl1pPr>
              <a:defRPr/>
            </a:lvl1pPr>
          </a:lstStyle>
          <a:p>
            <a:r>
              <a:rPr lang="en-US"/>
              <a:t>Calibri Bold 24 pt. </a:t>
            </a:r>
            <a:br>
              <a:rPr lang="en-US"/>
            </a:br>
            <a:r>
              <a:rPr lang="en-US"/>
              <a:t>Section Header Layout Intended For One to Three Lines of Copy and Vertically Centered</a:t>
            </a:r>
          </a:p>
        </p:txBody>
      </p:sp>
      <p:sp>
        <p:nvSpPr>
          <p:cNvPr id="13" name="Slide Number Placeholder 12" hidden="1">
            <a:extLst>
              <a:ext uri="{FF2B5EF4-FFF2-40B4-BE49-F238E27FC236}">
                <a16:creationId xmlns:a16="http://schemas.microsoft.com/office/drawing/2014/main" id="{197E4D5F-80CC-FF15-CEA8-40C906BAF007}"/>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2" name="Slide Number Placeholder 5">
            <a:extLst>
              <a:ext uri="{FF2B5EF4-FFF2-40B4-BE49-F238E27FC236}">
                <a16:creationId xmlns:a16="http://schemas.microsoft.com/office/drawing/2014/main" id="{33C2DA99-FE24-36E3-848C-D068DE651400}"/>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Tree>
    <p:extLst>
      <p:ext uri="{BB962C8B-B14F-4D97-AF65-F5344CB8AC3E}">
        <p14:creationId xmlns:p14="http://schemas.microsoft.com/office/powerpoint/2010/main" val="1196733583"/>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Slide - ESG">
    <p:spTree>
      <p:nvGrpSpPr>
        <p:cNvPr id="1" name=""/>
        <p:cNvGrpSpPr/>
        <p:nvPr/>
      </p:nvGrpSpPr>
      <p:grpSpPr>
        <a:xfrm>
          <a:off x="0" y="0"/>
          <a:ext cx="0" cy="0"/>
          <a:chOff x="0" y="0"/>
          <a:chExt cx="0" cy="0"/>
        </a:xfrm>
      </p:grpSpPr>
      <p:sp>
        <p:nvSpPr>
          <p:cNvPr id="2" name="Title 1"/>
          <p:cNvSpPr>
            <a:spLocks noGrp="1"/>
          </p:cNvSpPr>
          <p:nvPr userDrawn="1">
            <p:ph type="ctrTitle" hasCustomPrompt="1"/>
          </p:nvPr>
        </p:nvSpPr>
        <p:spPr>
          <a:xfrm>
            <a:off x="3022768" y="2174032"/>
            <a:ext cx="5911292" cy="709769"/>
          </a:xfrm>
        </p:spPr>
        <p:txBody>
          <a:bodyPr rIns="0" anchor="b">
            <a:noAutofit/>
          </a:bodyPr>
          <a:lstStyle>
            <a:lvl1pPr algn="l">
              <a:defRPr sz="2400"/>
            </a:lvl1pPr>
          </a:lstStyle>
          <a:p>
            <a:r>
              <a:rPr lang="en-US"/>
              <a:t>Calibri Bold 24 pt. Presentation Title </a:t>
            </a:r>
            <a:br>
              <a:rPr lang="en-US"/>
            </a:br>
            <a:r>
              <a:rPr lang="en-US"/>
              <a:t>with Text in Initial Caps and Bottom Aligned</a:t>
            </a:r>
          </a:p>
        </p:txBody>
      </p:sp>
      <p:sp>
        <p:nvSpPr>
          <p:cNvPr id="20" name="Text Placeholder 19">
            <a:extLst>
              <a:ext uri="{FF2B5EF4-FFF2-40B4-BE49-F238E27FC236}">
                <a16:creationId xmlns:a16="http://schemas.microsoft.com/office/drawing/2014/main" id="{D35484AE-FE97-CE91-D932-4B445424F40E}"/>
              </a:ext>
            </a:extLst>
          </p:cNvPr>
          <p:cNvSpPr>
            <a:spLocks noGrp="1"/>
          </p:cNvSpPr>
          <p:nvPr userDrawn="1">
            <p:ph type="body" sz="quarter" idx="13" hasCustomPrompt="1"/>
          </p:nvPr>
        </p:nvSpPr>
        <p:spPr>
          <a:xfrm>
            <a:off x="3028719" y="1766656"/>
            <a:ext cx="2924211" cy="203546"/>
          </a:xfrm>
        </p:spPr>
        <p:txBody>
          <a:bodyPr>
            <a:noAutofit/>
          </a:bodyPr>
          <a:lstStyle>
            <a:lvl1pPr marL="0" indent="0">
              <a:buNone/>
              <a:defRPr/>
            </a:lvl1pPr>
          </a:lstStyle>
          <a:p>
            <a:pPr lvl="0"/>
            <a:r>
              <a:rPr lang="en-US"/>
              <a:t>Date</a:t>
            </a:r>
          </a:p>
        </p:txBody>
      </p:sp>
      <p:sp>
        <p:nvSpPr>
          <p:cNvPr id="24" name="Picture Placeholder 23">
            <a:extLst>
              <a:ext uri="{FF2B5EF4-FFF2-40B4-BE49-F238E27FC236}">
                <a16:creationId xmlns:a16="http://schemas.microsoft.com/office/drawing/2014/main" id="{22A0A493-76D0-4AB8-7C0B-A6424A2CCA34}"/>
              </a:ext>
            </a:extLst>
          </p:cNvPr>
          <p:cNvSpPr>
            <a:spLocks noGrp="1"/>
          </p:cNvSpPr>
          <p:nvPr userDrawn="1">
            <p:ph type="pic" sz="quarter" idx="14" hasCustomPrompt="1"/>
          </p:nvPr>
        </p:nvSpPr>
        <p:spPr>
          <a:xfrm>
            <a:off x="3022769" y="3318018"/>
            <a:ext cx="2930162" cy="1038636"/>
          </a:xfrm>
        </p:spPr>
        <p:txBody>
          <a:bodyPr anchor="ctr">
            <a:noAutofit/>
          </a:bodyPr>
          <a:lstStyle>
            <a:lvl1pPr marL="0" indent="0" algn="ctr">
              <a:buNone/>
              <a:defRPr/>
            </a:lvl1pPr>
          </a:lstStyle>
          <a:p>
            <a:r>
              <a:rPr lang="en-US"/>
              <a:t>Click to add logo</a:t>
            </a:r>
          </a:p>
        </p:txBody>
      </p:sp>
      <p:sp>
        <p:nvSpPr>
          <p:cNvPr id="19" name="Footer Placeholder 18">
            <a:extLst>
              <a:ext uri="{FF2B5EF4-FFF2-40B4-BE49-F238E27FC236}">
                <a16:creationId xmlns:a16="http://schemas.microsoft.com/office/drawing/2014/main" id="{DD5BC995-AB24-3BA7-8728-520D96E0BF33}"/>
              </a:ext>
            </a:extLst>
          </p:cNvPr>
          <p:cNvSpPr>
            <a:spLocks noGrp="1"/>
          </p:cNvSpPr>
          <p:nvPr userDrawn="1">
            <p:ph type="ftr" sz="quarter" idx="16"/>
          </p:nvPr>
        </p:nvSpPr>
        <p:spPr/>
        <p:txBody>
          <a:bodyPr/>
          <a:lstStyle/>
          <a:p>
            <a:r>
              <a:rPr lang="en-US"/>
              <a:t>These materials are confidential and to be used only by the client to whom they are addressed</a:t>
            </a:r>
          </a:p>
        </p:txBody>
      </p:sp>
      <p:sp>
        <p:nvSpPr>
          <p:cNvPr id="21" name="Slide Number Placeholder 20" hidden="1">
            <a:extLst>
              <a:ext uri="{FF2B5EF4-FFF2-40B4-BE49-F238E27FC236}">
                <a16:creationId xmlns:a16="http://schemas.microsoft.com/office/drawing/2014/main" id="{E7760EE5-09EA-7D55-3743-B49956070BE7}"/>
              </a:ext>
            </a:extLst>
          </p:cNvPr>
          <p:cNvSpPr>
            <a:spLocks noGrp="1"/>
          </p:cNvSpPr>
          <p:nvPr userDrawn="1">
            <p:ph type="sldNum" sz="quarter" idx="17"/>
          </p:nvPr>
        </p:nvSpPr>
        <p:spPr/>
        <p:txBody>
          <a:bodyPr/>
          <a:lstStyle/>
          <a:p>
            <a:fld id="{91690BAF-E217-4185-92FD-0CEA06F2B7C8}" type="slidenum">
              <a:rPr lang="en-US" smtClean="0"/>
              <a:t>‹#›</a:t>
            </a:fld>
            <a:endParaRPr lang="en-US"/>
          </a:p>
        </p:txBody>
      </p:sp>
      <p:sp>
        <p:nvSpPr>
          <p:cNvPr id="11" name="Text Placeholder 12">
            <a:extLst>
              <a:ext uri="{FF2B5EF4-FFF2-40B4-BE49-F238E27FC236}">
                <a16:creationId xmlns:a16="http://schemas.microsoft.com/office/drawing/2014/main" id="{8922CECE-5C2D-4FD0-8E08-AF44FAE4A75D}"/>
              </a:ext>
            </a:extLst>
          </p:cNvPr>
          <p:cNvSpPr>
            <a:spLocks noGrp="1"/>
          </p:cNvSpPr>
          <p:nvPr userDrawn="1">
            <p:ph type="body" sz="quarter" idx="19" hasCustomPrompt="1"/>
          </p:nvPr>
        </p:nvSpPr>
        <p:spPr>
          <a:xfrm>
            <a:off x="3022769" y="4997683"/>
            <a:ext cx="5911292" cy="582985"/>
          </a:xfrm>
        </p:spPr>
        <p:txBody>
          <a:bodyPr/>
          <a:lstStyle>
            <a:lvl1pPr marL="0" indent="0">
              <a:lnSpc>
                <a:spcPct val="100000"/>
              </a:lnSpc>
              <a:spcBef>
                <a:spcPts val="0"/>
              </a:spcBef>
              <a:buNone/>
              <a:defRPr b="0"/>
            </a:lvl1pPr>
            <a:lvl2pPr marL="182880" indent="0">
              <a:buNone/>
              <a:defRPr/>
            </a:lvl2pPr>
          </a:lstStyle>
          <a:p>
            <a:pPr lvl="0"/>
            <a:r>
              <a:rPr lang="en-US"/>
              <a:t>Author’s Name</a:t>
            </a:r>
          </a:p>
        </p:txBody>
      </p:sp>
      <p:sp>
        <p:nvSpPr>
          <p:cNvPr id="3" name="Slide Number Placeholder 5">
            <a:extLst>
              <a:ext uri="{FF2B5EF4-FFF2-40B4-BE49-F238E27FC236}">
                <a16:creationId xmlns:a16="http://schemas.microsoft.com/office/drawing/2014/main" id="{5CC6A216-0F6E-B7E9-A151-58A850E0E3A1}"/>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
        <p:nvSpPr>
          <p:cNvPr id="6" name="TextBox 5">
            <a:extLst>
              <a:ext uri="{FF2B5EF4-FFF2-40B4-BE49-F238E27FC236}">
                <a16:creationId xmlns:a16="http://schemas.microsoft.com/office/drawing/2014/main" id="{07D6C495-040F-EC7D-EF3D-99B834BB211C}"/>
              </a:ext>
            </a:extLst>
          </p:cNvPr>
          <p:cNvSpPr txBox="1"/>
          <p:nvPr userDrawn="1"/>
        </p:nvSpPr>
        <p:spPr>
          <a:xfrm>
            <a:off x="2977249" y="2936089"/>
            <a:ext cx="514628" cy="303416"/>
          </a:xfrm>
          <a:prstGeom prst="rect">
            <a:avLst/>
          </a:prstGeom>
          <a:noFill/>
        </p:spPr>
        <p:txBody>
          <a:bodyPr vert="horz" wrap="none" lIns="45720" tIns="45720" rIns="45720" bIns="45720" rtlCol="0" anchor="ctr">
            <a:spAutoFit/>
          </a:bodyPr>
          <a:lstStyle/>
          <a:p>
            <a:pPr algn="ctr">
              <a:lnSpc>
                <a:spcPct val="85000"/>
              </a:lnSpc>
            </a:pPr>
            <a:r>
              <a:rPr lang="en-US" sz="1600" i="1"/>
              <a:t>for    </a:t>
            </a:r>
          </a:p>
        </p:txBody>
      </p:sp>
    </p:spTree>
    <p:extLst>
      <p:ext uri="{BB962C8B-B14F-4D97-AF65-F5344CB8AC3E}">
        <p14:creationId xmlns:p14="http://schemas.microsoft.com/office/powerpoint/2010/main" val="1825918784"/>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Section Header - ESG">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9" name="Title 8"/>
          <p:cNvSpPr>
            <a:spLocks noGrp="1"/>
          </p:cNvSpPr>
          <p:nvPr>
            <p:ph type="title" hasCustomPrompt="1"/>
          </p:nvPr>
        </p:nvSpPr>
        <p:spPr>
          <a:xfrm>
            <a:off x="2852928" y="2447687"/>
            <a:ext cx="6081134" cy="1696756"/>
          </a:xfrm>
        </p:spPr>
        <p:txBody>
          <a:bodyPr anchor="ctr"/>
          <a:lstStyle>
            <a:lvl1pPr>
              <a:defRPr/>
            </a:lvl1pPr>
          </a:lstStyle>
          <a:p>
            <a:r>
              <a:rPr lang="en-US"/>
              <a:t>Calibri Bold 24 pt. </a:t>
            </a:r>
            <a:br>
              <a:rPr lang="en-US"/>
            </a:br>
            <a:r>
              <a:rPr lang="en-US"/>
              <a:t>Section Header Layout Intended For One to Three Lines of Copy and Vertically Centered</a:t>
            </a:r>
          </a:p>
        </p:txBody>
      </p:sp>
      <p:sp>
        <p:nvSpPr>
          <p:cNvPr id="13" name="Slide Number Placeholder 12" hidden="1">
            <a:extLst>
              <a:ext uri="{FF2B5EF4-FFF2-40B4-BE49-F238E27FC236}">
                <a16:creationId xmlns:a16="http://schemas.microsoft.com/office/drawing/2014/main" id="{197E4D5F-80CC-FF15-CEA8-40C906BAF007}"/>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2" name="Slide Number Placeholder 5">
            <a:extLst>
              <a:ext uri="{FF2B5EF4-FFF2-40B4-BE49-F238E27FC236}">
                <a16:creationId xmlns:a16="http://schemas.microsoft.com/office/drawing/2014/main" id="{E5F8DF56-102E-6070-7C4B-79754E376142}"/>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Tree>
    <p:extLst>
      <p:ext uri="{BB962C8B-B14F-4D97-AF65-F5344CB8AC3E}">
        <p14:creationId xmlns:p14="http://schemas.microsoft.com/office/powerpoint/2010/main" val="216145774"/>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a:noAutofit/>
          </a:bodyPr>
          <a:lstStyle>
            <a:lvl1pPr>
              <a:defRPr/>
            </a:lvl1pPr>
          </a:lstStyle>
          <a:p>
            <a:pPr lvl="0"/>
            <a:r>
              <a:rPr lang="en-US"/>
              <a:t>Add text here</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2" name="Slide Number Placeholder 1" hidden="1">
            <a:extLst>
              <a:ext uri="{FF2B5EF4-FFF2-40B4-BE49-F238E27FC236}">
                <a16:creationId xmlns:a16="http://schemas.microsoft.com/office/drawing/2014/main" id="{803FF4F5-8836-8E9C-3C4A-78916626B718}"/>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8" name="Title 7">
            <a:extLst>
              <a:ext uri="{FF2B5EF4-FFF2-40B4-BE49-F238E27FC236}">
                <a16:creationId xmlns:a16="http://schemas.microsoft.com/office/drawing/2014/main" id="{535E8C5F-2463-F50F-4C1F-24833B5FCC0B}"/>
              </a:ext>
            </a:extLst>
          </p:cNvPr>
          <p:cNvSpPr>
            <a:spLocks noGrp="1"/>
          </p:cNvSpPr>
          <p:nvPr>
            <p:ph type="title" hasCustomPrompt="1"/>
          </p:nvPr>
        </p:nvSpPr>
        <p:spPr>
          <a:xfrm>
            <a:off x="882797" y="44215"/>
            <a:ext cx="8074152" cy="1292899"/>
          </a:xfrm>
        </p:spPr>
        <p:txBody>
          <a:bodyPr/>
          <a:lstStyle>
            <a:lvl1pPr>
              <a:defRPr/>
            </a:lvl1pPr>
          </a:lstStyle>
          <a:p>
            <a:r>
              <a:rPr lang="en-US"/>
              <a:t>Calibri Bold 24 pt.</a:t>
            </a:r>
            <a:br>
              <a:rPr lang="en-US"/>
            </a:br>
            <a:r>
              <a:rPr lang="en-US"/>
              <a:t>Headlines are sentence case and can fill up to four lines of copy, headlines are sentence case and can fill up to four lines of copy</a:t>
            </a:r>
          </a:p>
        </p:txBody>
      </p:sp>
    </p:spTree>
    <p:extLst>
      <p:ext uri="{BB962C8B-B14F-4D97-AF65-F5344CB8AC3E}">
        <p14:creationId xmlns:p14="http://schemas.microsoft.com/office/powerpoint/2010/main" val="3139917880"/>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These materials are confidential and to be used only by the client to whom they are addressed</a:t>
            </a:r>
          </a:p>
        </p:txBody>
      </p:sp>
      <p:sp>
        <p:nvSpPr>
          <p:cNvPr id="6" name="Title 5">
            <a:extLst>
              <a:ext uri="{FF2B5EF4-FFF2-40B4-BE49-F238E27FC236}">
                <a16:creationId xmlns:a16="http://schemas.microsoft.com/office/drawing/2014/main" id="{2DC6D5C7-11AE-452A-BA6E-ECEAB5E40A25}"/>
              </a:ext>
            </a:extLst>
          </p:cNvPr>
          <p:cNvSpPr>
            <a:spLocks noGrp="1"/>
          </p:cNvSpPr>
          <p:nvPr>
            <p:ph type="title" hasCustomPrompt="1"/>
          </p:nvPr>
        </p:nvSpPr>
        <p:spPr>
          <a:xfrm>
            <a:off x="882797" y="44215"/>
            <a:ext cx="8074152" cy="1292899"/>
          </a:xfrm>
        </p:spPr>
        <p:txBody>
          <a:bodyPr/>
          <a:lstStyle>
            <a:lvl1pPr>
              <a:defRPr/>
            </a:lvl1pPr>
          </a:lstStyle>
          <a:p>
            <a:r>
              <a:rPr lang="en-US"/>
              <a:t>Calibri Bold 24 pt.</a:t>
            </a:r>
            <a:br>
              <a:rPr lang="en-US"/>
            </a:br>
            <a:r>
              <a:rPr lang="en-US"/>
              <a:t>Headlines are sentence case and can fill up to four lines of copy, headlines are sentence case and can fill up to four lines of copy</a:t>
            </a:r>
          </a:p>
        </p:txBody>
      </p:sp>
      <p:sp>
        <p:nvSpPr>
          <p:cNvPr id="2" name="Slide Number Placeholder 1" hidden="1">
            <a:extLst>
              <a:ext uri="{FF2B5EF4-FFF2-40B4-BE49-F238E27FC236}">
                <a16:creationId xmlns:a16="http://schemas.microsoft.com/office/drawing/2014/main" id="{6A2009FB-E843-2ACB-7AEA-1B31EC816684}"/>
              </a:ext>
            </a:extLst>
          </p:cNvPr>
          <p:cNvSpPr>
            <a:spLocks noGrp="1"/>
          </p:cNvSpPr>
          <p:nvPr>
            <p:ph type="sldNum" sz="quarter" idx="12"/>
          </p:nvPr>
        </p:nvSpPr>
        <p:spPr/>
        <p:txBody>
          <a:bodyPr/>
          <a:lstStyle/>
          <a:p>
            <a:fld id="{91690BAF-E217-4185-92FD-0CEA06F2B7C8}" type="slidenum">
              <a:rPr lang="en-US" smtClean="0"/>
              <a:pPr/>
              <a:t>‹#›</a:t>
            </a:fld>
            <a:endParaRPr lang="en-US"/>
          </a:p>
        </p:txBody>
      </p:sp>
    </p:spTree>
    <p:extLst>
      <p:ext uri="{BB962C8B-B14F-4D97-AF65-F5344CB8AC3E}">
        <p14:creationId xmlns:p14="http://schemas.microsoft.com/office/powerpoint/2010/main" val="516139715"/>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a:t>These materials are confidential and to be used only by the client to whom they are addressed</a:t>
            </a:r>
          </a:p>
        </p:txBody>
      </p:sp>
      <p:sp>
        <p:nvSpPr>
          <p:cNvPr id="5" name="Slide Number Placeholder 4" hidden="1">
            <a:extLst>
              <a:ext uri="{FF2B5EF4-FFF2-40B4-BE49-F238E27FC236}">
                <a16:creationId xmlns:a16="http://schemas.microsoft.com/office/drawing/2014/main" id="{9FAD8D1B-BC49-BFFB-3DC3-8C8ED1CCD9E6}"/>
              </a:ext>
            </a:extLst>
          </p:cNvPr>
          <p:cNvSpPr>
            <a:spLocks noGrp="1"/>
          </p:cNvSpPr>
          <p:nvPr>
            <p:ph type="sldNum" sz="quarter" idx="12"/>
          </p:nvPr>
        </p:nvSpPr>
        <p:spPr/>
        <p:txBody>
          <a:bodyPr/>
          <a:lstStyle/>
          <a:p>
            <a:fld id="{91690BAF-E217-4185-92FD-0CEA06F2B7C8}" type="slidenum">
              <a:rPr lang="en-US" smtClean="0"/>
              <a:pPr/>
              <a:t>‹#›</a:t>
            </a:fld>
            <a:endParaRPr lang="en-US"/>
          </a:p>
        </p:txBody>
      </p:sp>
    </p:spTree>
    <p:extLst>
      <p:ext uri="{BB962C8B-B14F-4D97-AF65-F5344CB8AC3E}">
        <p14:creationId xmlns:p14="http://schemas.microsoft.com/office/powerpoint/2010/main" val="98864848"/>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1BB49ED1-3954-490B-90D7-1EE4EBF81051}"/>
              </a:ext>
            </a:extLst>
          </p:cNvPr>
          <p:cNvSpPr>
            <a:spLocks noGrp="1"/>
          </p:cNvSpPr>
          <p:nvPr>
            <p:ph sz="half" idx="2"/>
          </p:nvPr>
        </p:nvSpPr>
        <p:spPr>
          <a:xfrm>
            <a:off x="5021193" y="1415719"/>
            <a:ext cx="3931920" cy="51612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2">
            <a:extLst>
              <a:ext uri="{FF2B5EF4-FFF2-40B4-BE49-F238E27FC236}">
                <a16:creationId xmlns:a16="http://schemas.microsoft.com/office/drawing/2014/main" id="{E3250D8E-DC6A-4C52-B603-5E5116C834FE}"/>
              </a:ext>
            </a:extLst>
          </p:cNvPr>
          <p:cNvSpPr>
            <a:spLocks noGrp="1"/>
          </p:cNvSpPr>
          <p:nvPr>
            <p:ph sz="half" idx="1"/>
          </p:nvPr>
        </p:nvSpPr>
        <p:spPr>
          <a:xfrm>
            <a:off x="882797" y="1415719"/>
            <a:ext cx="4024909" cy="51612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FFB10581-5B45-4F8A-98F9-2B208FA85EC8}"/>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8" name="Slide Number Placeholder 7" hidden="1">
            <a:extLst>
              <a:ext uri="{FF2B5EF4-FFF2-40B4-BE49-F238E27FC236}">
                <a16:creationId xmlns:a16="http://schemas.microsoft.com/office/drawing/2014/main" id="{9795F2B0-5238-46E4-A5F2-B8F46A87A47B}"/>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7" name="Title 6">
            <a:extLst>
              <a:ext uri="{FF2B5EF4-FFF2-40B4-BE49-F238E27FC236}">
                <a16:creationId xmlns:a16="http://schemas.microsoft.com/office/drawing/2014/main" id="{CE22C8D5-D138-53D1-35DF-5B6FDA17994D}"/>
              </a:ext>
            </a:extLst>
          </p:cNvPr>
          <p:cNvSpPr>
            <a:spLocks noGrp="1"/>
          </p:cNvSpPr>
          <p:nvPr>
            <p:ph type="title" hasCustomPrompt="1"/>
          </p:nvPr>
        </p:nvSpPr>
        <p:spPr/>
        <p:txBody>
          <a:bodyPr/>
          <a:lstStyle>
            <a:lvl1pPr>
              <a:defRPr/>
            </a:lvl1pPr>
          </a:lstStyle>
          <a:p>
            <a:r>
              <a:rPr lang="en-US"/>
              <a:t>Calibri Bold 24 pt.</a:t>
            </a:r>
            <a:br>
              <a:rPr lang="en-US"/>
            </a:br>
            <a:r>
              <a:rPr lang="en-US"/>
              <a:t>Headlines are sentence case and can fill up to four lines of copy, headlines are sentence case and can fill up to four lines of copy</a:t>
            </a:r>
          </a:p>
        </p:txBody>
      </p:sp>
    </p:spTree>
    <p:extLst>
      <p:ext uri="{BB962C8B-B14F-4D97-AF65-F5344CB8AC3E}">
        <p14:creationId xmlns:p14="http://schemas.microsoft.com/office/powerpoint/2010/main" val="4205801583"/>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ED669B69-5C27-4AFA-B2D6-1E37C8D37F87}"/>
              </a:ext>
            </a:extLst>
          </p:cNvPr>
          <p:cNvSpPr>
            <a:spLocks noGrp="1"/>
          </p:cNvSpPr>
          <p:nvPr>
            <p:ph type="body" sz="quarter" idx="3"/>
          </p:nvPr>
        </p:nvSpPr>
        <p:spPr>
          <a:xfrm>
            <a:off x="5021193" y="1414467"/>
            <a:ext cx="3931920" cy="312765"/>
          </a:xfrm>
        </p:spPr>
        <p:txBody>
          <a:bodyPr anchor="b"/>
          <a:lstStyle>
            <a:lvl1pPr marL="0" indent="0" algn="ctr">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11D8A036-3B1C-40B5-A457-014CD4DE7503}"/>
              </a:ext>
            </a:extLst>
          </p:cNvPr>
          <p:cNvSpPr>
            <a:spLocks noGrp="1"/>
          </p:cNvSpPr>
          <p:nvPr>
            <p:ph sz="quarter" idx="4"/>
          </p:nvPr>
        </p:nvSpPr>
        <p:spPr>
          <a:xfrm>
            <a:off x="5021193" y="1836462"/>
            <a:ext cx="3931920" cy="47548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2E2C8F-5C8D-4C47-A21B-0FFC90D26E67}"/>
              </a:ext>
            </a:extLst>
          </p:cNvPr>
          <p:cNvSpPr>
            <a:spLocks noGrp="1"/>
          </p:cNvSpPr>
          <p:nvPr>
            <p:ph sz="half" idx="2"/>
          </p:nvPr>
        </p:nvSpPr>
        <p:spPr>
          <a:xfrm>
            <a:off x="882797" y="1836462"/>
            <a:ext cx="4024909" cy="47548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2">
            <a:extLst>
              <a:ext uri="{FF2B5EF4-FFF2-40B4-BE49-F238E27FC236}">
                <a16:creationId xmlns:a16="http://schemas.microsoft.com/office/drawing/2014/main" id="{4F4A83D0-2D64-4FBB-934F-BCA45BB15756}"/>
              </a:ext>
            </a:extLst>
          </p:cNvPr>
          <p:cNvSpPr>
            <a:spLocks noGrp="1"/>
          </p:cNvSpPr>
          <p:nvPr>
            <p:ph type="body" idx="1"/>
          </p:nvPr>
        </p:nvSpPr>
        <p:spPr>
          <a:xfrm>
            <a:off x="882797" y="1414467"/>
            <a:ext cx="4024909" cy="312765"/>
          </a:xfrm>
        </p:spPr>
        <p:txBody>
          <a:bodyPr anchor="b"/>
          <a:lstStyle>
            <a:lvl1pPr marL="0" indent="0" algn="ctr">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Footer Placeholder 7">
            <a:extLst>
              <a:ext uri="{FF2B5EF4-FFF2-40B4-BE49-F238E27FC236}">
                <a16:creationId xmlns:a16="http://schemas.microsoft.com/office/drawing/2014/main" id="{F8D5D8A7-D0FC-4F40-9F38-8AF93D154837}"/>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10" name="Slide Number Placeholder 9" hidden="1">
            <a:extLst>
              <a:ext uri="{FF2B5EF4-FFF2-40B4-BE49-F238E27FC236}">
                <a16:creationId xmlns:a16="http://schemas.microsoft.com/office/drawing/2014/main" id="{C5186D39-1D55-38DD-2DEB-37B281A4493E}"/>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9" name="Title 8">
            <a:extLst>
              <a:ext uri="{FF2B5EF4-FFF2-40B4-BE49-F238E27FC236}">
                <a16:creationId xmlns:a16="http://schemas.microsoft.com/office/drawing/2014/main" id="{81F7BFFA-FC9A-CDA9-A734-A1BD5CA67BEB}"/>
              </a:ext>
            </a:extLst>
          </p:cNvPr>
          <p:cNvSpPr>
            <a:spLocks noGrp="1"/>
          </p:cNvSpPr>
          <p:nvPr>
            <p:ph type="title" hasCustomPrompt="1"/>
          </p:nvPr>
        </p:nvSpPr>
        <p:spPr/>
        <p:txBody>
          <a:bodyPr/>
          <a:lstStyle>
            <a:lvl1pPr>
              <a:defRPr/>
            </a:lvl1pPr>
          </a:lstStyle>
          <a:p>
            <a:r>
              <a:rPr lang="en-US"/>
              <a:t>Calibri Bold 24 pt.</a:t>
            </a:r>
            <a:br>
              <a:rPr lang="en-US"/>
            </a:br>
            <a:r>
              <a:rPr lang="en-US"/>
              <a:t>Headlines are sentence case and can fill up to four lines of copy, headlines are sentence case and can fill up to four lines of copy</a:t>
            </a:r>
          </a:p>
        </p:txBody>
      </p:sp>
    </p:spTree>
    <p:extLst>
      <p:ext uri="{BB962C8B-B14F-4D97-AF65-F5344CB8AC3E}">
        <p14:creationId xmlns:p14="http://schemas.microsoft.com/office/powerpoint/2010/main" val="1524279960"/>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199165" y="1415719"/>
            <a:ext cx="4754335" cy="5161294"/>
          </a:xfrm>
        </p:spPr>
        <p:txBody>
          <a:bodyPr bIns="0"/>
          <a:lstStyle>
            <a:lvl1pPr>
              <a:defRPr sz="1600"/>
            </a:lvl1pPr>
            <a:lvl2pPr>
              <a:defRPr sz="1600"/>
            </a:lvl2pPr>
            <a:lvl3pPr>
              <a:defRPr sz="1600"/>
            </a:lvl3pPr>
            <a:lvl4pPr>
              <a:defRPr sz="1600"/>
            </a:lvl4pPr>
            <a:lvl5pPr>
              <a:defRPr sz="1600"/>
            </a:lvl5pPr>
            <a:lvl6pPr>
              <a:defRPr sz="2000"/>
            </a:lvl6pPr>
            <a:lvl7pPr>
              <a:defRPr sz="2000"/>
            </a:lvl7pPr>
            <a:lvl8pPr>
              <a:defRPr sz="2000"/>
            </a:lvl8pPr>
            <a:lvl9pPr>
              <a:defRPr sz="2000"/>
            </a:lvl9pPr>
          </a:lstStyle>
          <a:p>
            <a:pPr lvl="0"/>
            <a:r>
              <a:rPr lang="en-US"/>
              <a:t>Add text here</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hasCustomPrompt="1"/>
          </p:nvPr>
        </p:nvSpPr>
        <p:spPr>
          <a:xfrm>
            <a:off x="882797" y="1415719"/>
            <a:ext cx="3204402" cy="5161294"/>
          </a:xfrm>
        </p:spPr>
        <p:txBody>
          <a:bodyPr bIns="0"/>
          <a:lstStyle>
            <a:lvl1pPr marL="0" indent="0">
              <a:buNone/>
              <a:defRPr sz="1600"/>
            </a:lvl1pPr>
            <a:lvl2pPr marL="457189" indent="0">
              <a:buNone/>
              <a:defRPr sz="1188"/>
            </a:lvl2pPr>
            <a:lvl3pPr marL="914378" indent="0">
              <a:buNone/>
              <a:defRPr sz="1000"/>
            </a:lvl3pPr>
            <a:lvl4pPr marL="1371566" indent="0">
              <a:buNone/>
              <a:defRPr sz="875"/>
            </a:lvl4pPr>
            <a:lvl5pPr marL="1828754" indent="0">
              <a:buNone/>
              <a:defRPr sz="875"/>
            </a:lvl5pPr>
            <a:lvl6pPr marL="2285943" indent="0">
              <a:buNone/>
              <a:defRPr sz="875"/>
            </a:lvl6pPr>
            <a:lvl7pPr marL="2743132" indent="0">
              <a:buNone/>
              <a:defRPr sz="875"/>
            </a:lvl7pPr>
            <a:lvl8pPr marL="3200320" indent="0">
              <a:buNone/>
              <a:defRPr sz="875"/>
            </a:lvl8pPr>
            <a:lvl9pPr marL="3657509" indent="0">
              <a:buNone/>
              <a:defRPr sz="875"/>
            </a:lvl9pPr>
          </a:lstStyle>
          <a:p>
            <a:pPr lvl="0"/>
            <a:r>
              <a:rPr lang="en-US"/>
              <a:t>Add sub-title text here</a:t>
            </a:r>
          </a:p>
        </p:txBody>
      </p:sp>
      <p:sp>
        <p:nvSpPr>
          <p:cNvPr id="6" name="Footer Placeholder 5"/>
          <p:cNvSpPr>
            <a:spLocks noGrp="1"/>
          </p:cNvSpPr>
          <p:nvPr>
            <p:ph type="ftr" sz="quarter" idx="11"/>
          </p:nvPr>
        </p:nvSpPr>
        <p:spPr/>
        <p:txBody>
          <a:bodyPr/>
          <a:lstStyle/>
          <a:p>
            <a:r>
              <a:rPr lang="en-US"/>
              <a:t>These materials are confidential and to be used only by the client to whom they are addressed</a:t>
            </a:r>
          </a:p>
        </p:txBody>
      </p:sp>
      <p:sp>
        <p:nvSpPr>
          <p:cNvPr id="8" name="Slide Number Placeholder 7" hidden="1">
            <a:extLst>
              <a:ext uri="{FF2B5EF4-FFF2-40B4-BE49-F238E27FC236}">
                <a16:creationId xmlns:a16="http://schemas.microsoft.com/office/drawing/2014/main" id="{3EFA33E3-F43F-AD44-3D6A-938BB014F39A}"/>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7" name="Title 6">
            <a:extLst>
              <a:ext uri="{FF2B5EF4-FFF2-40B4-BE49-F238E27FC236}">
                <a16:creationId xmlns:a16="http://schemas.microsoft.com/office/drawing/2014/main" id="{11E142BD-49CE-A2FA-9D69-6693D7FF302B}"/>
              </a:ext>
            </a:extLst>
          </p:cNvPr>
          <p:cNvSpPr>
            <a:spLocks noGrp="1"/>
          </p:cNvSpPr>
          <p:nvPr>
            <p:ph type="title" hasCustomPrompt="1"/>
          </p:nvPr>
        </p:nvSpPr>
        <p:spPr>
          <a:xfrm>
            <a:off x="886826" y="44215"/>
            <a:ext cx="8066288" cy="1292899"/>
          </a:xfrm>
        </p:spPr>
        <p:txBody>
          <a:bodyPr/>
          <a:lstStyle>
            <a:lvl1pPr>
              <a:defRPr/>
            </a:lvl1pPr>
          </a:lstStyle>
          <a:p>
            <a:r>
              <a:rPr lang="en-US"/>
              <a:t>Calibri Bold 24 pt.</a:t>
            </a:r>
            <a:br>
              <a:rPr lang="en-US"/>
            </a:br>
            <a:r>
              <a:rPr lang="en-US"/>
              <a:t>Headlines are sentence case and can fill up to four lines of copy, headlines are sentence case and can fill up to four lines of copy</a:t>
            </a:r>
          </a:p>
        </p:txBody>
      </p:sp>
    </p:spTree>
    <p:extLst>
      <p:ext uri="{BB962C8B-B14F-4D97-AF65-F5344CB8AC3E}">
        <p14:creationId xmlns:p14="http://schemas.microsoft.com/office/powerpoint/2010/main" val="3264649225"/>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882798" y="1415714"/>
            <a:ext cx="5303790" cy="5161299"/>
          </a:xfrm>
        </p:spPr>
        <p:txBody>
          <a:bodyPr/>
          <a:lstStyle>
            <a:lvl1pPr marL="0" indent="0">
              <a:buNone/>
              <a:defRPr sz="1600"/>
            </a:lvl1pPr>
            <a:lvl2pPr marL="457189" indent="0">
              <a:buNone/>
              <a:defRPr sz="2813"/>
            </a:lvl2pPr>
            <a:lvl3pPr marL="914378" indent="0">
              <a:buNone/>
              <a:defRPr sz="2375"/>
            </a:lvl3pPr>
            <a:lvl4pPr marL="1371566" indent="0">
              <a:buNone/>
              <a:defRPr sz="2000"/>
            </a:lvl4pPr>
            <a:lvl5pPr marL="1828754" indent="0">
              <a:buNone/>
              <a:defRPr sz="2000"/>
            </a:lvl5pPr>
            <a:lvl6pPr marL="2285943" indent="0">
              <a:buNone/>
              <a:defRPr sz="2000"/>
            </a:lvl6pPr>
            <a:lvl7pPr marL="2743132" indent="0">
              <a:buNone/>
              <a:defRPr sz="2000"/>
            </a:lvl7pPr>
            <a:lvl8pPr marL="3200320" indent="0">
              <a:buNone/>
              <a:defRPr sz="2000"/>
            </a:lvl8pPr>
            <a:lvl9pPr marL="3657509" indent="0">
              <a:buNone/>
              <a:defRPr sz="2000"/>
            </a:lvl9pPr>
          </a:lstStyle>
          <a:p>
            <a:r>
              <a:rPr lang="en-US"/>
              <a:t>Click icon to add picture</a:t>
            </a:r>
          </a:p>
        </p:txBody>
      </p:sp>
      <p:sp>
        <p:nvSpPr>
          <p:cNvPr id="4" name="Text Placeholder 3"/>
          <p:cNvSpPr>
            <a:spLocks noGrp="1"/>
          </p:cNvSpPr>
          <p:nvPr>
            <p:ph type="body" sz="half" idx="2" hasCustomPrompt="1"/>
          </p:nvPr>
        </p:nvSpPr>
        <p:spPr>
          <a:xfrm>
            <a:off x="6298554" y="1415714"/>
            <a:ext cx="2654559" cy="5161299"/>
          </a:xfrm>
        </p:spPr>
        <p:txBody>
          <a:bodyPr/>
          <a:lstStyle>
            <a:lvl1pPr marL="0" indent="0">
              <a:buNone/>
              <a:defRPr sz="1600"/>
            </a:lvl1pPr>
            <a:lvl2pPr marL="457189" indent="0">
              <a:buNone/>
              <a:defRPr sz="1188"/>
            </a:lvl2pPr>
            <a:lvl3pPr marL="914378" indent="0">
              <a:buNone/>
              <a:defRPr sz="1000"/>
            </a:lvl3pPr>
            <a:lvl4pPr marL="1371566" indent="0">
              <a:buNone/>
              <a:defRPr sz="875"/>
            </a:lvl4pPr>
            <a:lvl5pPr marL="1828754" indent="0">
              <a:buNone/>
              <a:defRPr sz="875"/>
            </a:lvl5pPr>
            <a:lvl6pPr marL="2285943" indent="0">
              <a:buNone/>
              <a:defRPr sz="875"/>
            </a:lvl6pPr>
            <a:lvl7pPr marL="2743132" indent="0">
              <a:buNone/>
              <a:defRPr sz="875"/>
            </a:lvl7pPr>
            <a:lvl8pPr marL="3200320" indent="0">
              <a:buNone/>
              <a:defRPr sz="875"/>
            </a:lvl8pPr>
            <a:lvl9pPr marL="3657509" indent="0">
              <a:buNone/>
              <a:defRPr sz="875"/>
            </a:lvl9pPr>
          </a:lstStyle>
          <a:p>
            <a:pPr lvl="0"/>
            <a:r>
              <a:rPr lang="en-US"/>
              <a:t>Add description text here</a:t>
            </a:r>
          </a:p>
        </p:txBody>
      </p:sp>
      <p:sp>
        <p:nvSpPr>
          <p:cNvPr id="6" name="Footer Placeholder 5"/>
          <p:cNvSpPr>
            <a:spLocks noGrp="1"/>
          </p:cNvSpPr>
          <p:nvPr>
            <p:ph type="ftr" sz="quarter" idx="11"/>
          </p:nvPr>
        </p:nvSpPr>
        <p:spPr/>
        <p:txBody>
          <a:bodyPr/>
          <a:lstStyle/>
          <a:p>
            <a:r>
              <a:rPr lang="en-US"/>
              <a:t>These materials are confidential and to be used only by the client to whom they are addressed</a:t>
            </a:r>
          </a:p>
        </p:txBody>
      </p:sp>
      <p:sp>
        <p:nvSpPr>
          <p:cNvPr id="8" name="Title 7">
            <a:extLst>
              <a:ext uri="{FF2B5EF4-FFF2-40B4-BE49-F238E27FC236}">
                <a16:creationId xmlns:a16="http://schemas.microsoft.com/office/drawing/2014/main" id="{C50A6FF8-2333-4805-880E-212F214984CC}"/>
              </a:ext>
            </a:extLst>
          </p:cNvPr>
          <p:cNvSpPr>
            <a:spLocks noGrp="1"/>
          </p:cNvSpPr>
          <p:nvPr>
            <p:ph type="title" hasCustomPrompt="1"/>
          </p:nvPr>
        </p:nvSpPr>
        <p:spPr/>
        <p:txBody>
          <a:bodyPr/>
          <a:lstStyle>
            <a:lvl1pPr>
              <a:defRPr/>
            </a:lvl1pPr>
          </a:lstStyle>
          <a:p>
            <a:r>
              <a:rPr lang="en-US"/>
              <a:t>Calibri Bold 24 pt.</a:t>
            </a:r>
            <a:br>
              <a:rPr lang="en-US"/>
            </a:br>
            <a:r>
              <a:rPr lang="en-US"/>
              <a:t>Headlines are sentence case and can fill up to four lines of copy, headlines are sentence case and can fill up to four lines of copy</a:t>
            </a:r>
          </a:p>
        </p:txBody>
      </p:sp>
      <p:sp>
        <p:nvSpPr>
          <p:cNvPr id="2" name="Slide Number Placeholder 1" hidden="1">
            <a:extLst>
              <a:ext uri="{FF2B5EF4-FFF2-40B4-BE49-F238E27FC236}">
                <a16:creationId xmlns:a16="http://schemas.microsoft.com/office/drawing/2014/main" id="{F2469CEE-D934-7425-CED4-E46A3108BCF2}"/>
              </a:ext>
            </a:extLst>
          </p:cNvPr>
          <p:cNvSpPr>
            <a:spLocks noGrp="1"/>
          </p:cNvSpPr>
          <p:nvPr>
            <p:ph type="sldNum" sz="quarter" idx="12"/>
          </p:nvPr>
        </p:nvSpPr>
        <p:spPr/>
        <p:txBody>
          <a:bodyPr/>
          <a:lstStyle/>
          <a:p>
            <a:fld id="{91690BAF-E217-4185-92FD-0CEA06F2B7C8}" type="slidenum">
              <a:rPr lang="en-US" smtClean="0"/>
              <a:pPr/>
              <a:t>‹#›</a:t>
            </a:fld>
            <a:endParaRPr lang="en-US"/>
          </a:p>
        </p:txBody>
      </p:sp>
    </p:spTree>
    <p:extLst>
      <p:ext uri="{BB962C8B-B14F-4D97-AF65-F5344CB8AC3E}">
        <p14:creationId xmlns:p14="http://schemas.microsoft.com/office/powerpoint/2010/main" val="3658548095"/>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RFI Title and QA only">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2" name="Slide Number Placeholder 1" hidden="1">
            <a:extLst>
              <a:ext uri="{FF2B5EF4-FFF2-40B4-BE49-F238E27FC236}">
                <a16:creationId xmlns:a16="http://schemas.microsoft.com/office/drawing/2014/main" id="{803FF4F5-8836-8E9C-3C4A-78916626B718}"/>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8" name="Title 7">
            <a:extLst>
              <a:ext uri="{FF2B5EF4-FFF2-40B4-BE49-F238E27FC236}">
                <a16:creationId xmlns:a16="http://schemas.microsoft.com/office/drawing/2014/main" id="{535E8C5F-2463-F50F-4C1F-24833B5FCC0B}"/>
              </a:ext>
            </a:extLst>
          </p:cNvPr>
          <p:cNvSpPr>
            <a:spLocks noGrp="1"/>
          </p:cNvSpPr>
          <p:nvPr>
            <p:ph type="title" hasCustomPrompt="1"/>
          </p:nvPr>
        </p:nvSpPr>
        <p:spPr>
          <a:xfrm>
            <a:off x="882796" y="326571"/>
            <a:ext cx="8065008" cy="686666"/>
          </a:xfrm>
          <a:solidFill>
            <a:srgbClr val="104175"/>
          </a:solidFill>
          <a:ln>
            <a:solidFill>
              <a:srgbClr val="104175"/>
            </a:solidFill>
          </a:ln>
        </p:spPr>
        <p:txBody>
          <a:bodyPr lIns="91440" tIns="45720" rIns="91440"/>
          <a:lstStyle>
            <a:lvl1pPr>
              <a:defRPr>
                <a:solidFill>
                  <a:schemeClr val="bg1"/>
                </a:solidFill>
              </a:defRPr>
            </a:lvl1pPr>
          </a:lstStyle>
          <a:p>
            <a:r>
              <a:rPr lang="en-US"/>
              <a:t>RFP Template Layout, Calibri Bold 24 pt., Capitalize Each Word and No More Than 2 Lines of Text</a:t>
            </a:r>
          </a:p>
        </p:txBody>
      </p:sp>
      <p:sp>
        <p:nvSpPr>
          <p:cNvPr id="9" name="Text Placeholder 8">
            <a:extLst>
              <a:ext uri="{FF2B5EF4-FFF2-40B4-BE49-F238E27FC236}">
                <a16:creationId xmlns:a16="http://schemas.microsoft.com/office/drawing/2014/main" id="{809489F2-A8DA-86D8-E44D-E85BA1609212}"/>
              </a:ext>
            </a:extLst>
          </p:cNvPr>
          <p:cNvSpPr>
            <a:spLocks noGrp="1"/>
          </p:cNvSpPr>
          <p:nvPr>
            <p:ph type="body" sz="quarter" idx="13" hasCustomPrompt="1"/>
          </p:nvPr>
        </p:nvSpPr>
        <p:spPr>
          <a:xfrm>
            <a:off x="190499" y="1090613"/>
            <a:ext cx="876909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1" name="Text Placeholder 10">
            <a:extLst>
              <a:ext uri="{FF2B5EF4-FFF2-40B4-BE49-F238E27FC236}">
                <a16:creationId xmlns:a16="http://schemas.microsoft.com/office/drawing/2014/main" id="{3CAC477B-C38B-F66A-D56C-5910A3F144E6}"/>
              </a:ext>
            </a:extLst>
          </p:cNvPr>
          <p:cNvSpPr>
            <a:spLocks noGrp="1"/>
          </p:cNvSpPr>
          <p:nvPr>
            <p:ph type="body" sz="quarter" idx="14" hasCustomPrompt="1"/>
          </p:nvPr>
        </p:nvSpPr>
        <p:spPr>
          <a:xfrm>
            <a:off x="190500" y="1590960"/>
            <a:ext cx="876909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Tree>
    <p:extLst>
      <p:ext uri="{BB962C8B-B14F-4D97-AF65-F5344CB8AC3E}">
        <p14:creationId xmlns:p14="http://schemas.microsoft.com/office/powerpoint/2010/main" val="2837138401"/>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RFI">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199291" y="2136710"/>
            <a:ext cx="8759952" cy="4441199"/>
          </a:xfrm>
        </p:spPr>
        <p:txBody>
          <a:bodyPr>
            <a:noAutofit/>
          </a:bodyPr>
          <a:lstStyle>
            <a:lvl1pPr>
              <a:defRPr/>
            </a:lvl1pPr>
          </a:lstStyle>
          <a:p>
            <a:pPr lvl="0"/>
            <a:r>
              <a:rPr lang="en-US"/>
              <a:t>Add text here</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2" name="Slide Number Placeholder 1" hidden="1">
            <a:extLst>
              <a:ext uri="{FF2B5EF4-FFF2-40B4-BE49-F238E27FC236}">
                <a16:creationId xmlns:a16="http://schemas.microsoft.com/office/drawing/2014/main" id="{803FF4F5-8836-8E9C-3C4A-78916626B718}"/>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8" name="Title 7">
            <a:extLst>
              <a:ext uri="{FF2B5EF4-FFF2-40B4-BE49-F238E27FC236}">
                <a16:creationId xmlns:a16="http://schemas.microsoft.com/office/drawing/2014/main" id="{535E8C5F-2463-F50F-4C1F-24833B5FCC0B}"/>
              </a:ext>
            </a:extLst>
          </p:cNvPr>
          <p:cNvSpPr>
            <a:spLocks noGrp="1"/>
          </p:cNvSpPr>
          <p:nvPr>
            <p:ph type="title" hasCustomPrompt="1"/>
          </p:nvPr>
        </p:nvSpPr>
        <p:spPr>
          <a:xfrm>
            <a:off x="882797" y="326571"/>
            <a:ext cx="8070317" cy="686666"/>
          </a:xfrm>
          <a:solidFill>
            <a:srgbClr val="104175"/>
          </a:solidFill>
          <a:ln>
            <a:solidFill>
              <a:srgbClr val="104175"/>
            </a:solidFill>
          </a:ln>
        </p:spPr>
        <p:txBody>
          <a:bodyPr lIns="91440" tIns="45720" rIns="91440"/>
          <a:lstStyle>
            <a:lvl1pPr>
              <a:defRPr>
                <a:solidFill>
                  <a:schemeClr val="bg1"/>
                </a:solidFill>
              </a:defRPr>
            </a:lvl1pPr>
          </a:lstStyle>
          <a:p>
            <a:r>
              <a:rPr lang="en-US"/>
              <a:t>RFP Template Layout, Calibri Bold 24 pt., Capitalize Each Word and No More Than 2 Lines of Text</a:t>
            </a:r>
          </a:p>
        </p:txBody>
      </p:sp>
      <p:sp>
        <p:nvSpPr>
          <p:cNvPr id="9" name="Text Placeholder 8">
            <a:extLst>
              <a:ext uri="{FF2B5EF4-FFF2-40B4-BE49-F238E27FC236}">
                <a16:creationId xmlns:a16="http://schemas.microsoft.com/office/drawing/2014/main" id="{809489F2-A8DA-86D8-E44D-E85BA1609212}"/>
              </a:ext>
            </a:extLst>
          </p:cNvPr>
          <p:cNvSpPr>
            <a:spLocks noGrp="1"/>
          </p:cNvSpPr>
          <p:nvPr>
            <p:ph type="body" sz="quarter" idx="13" hasCustomPrompt="1"/>
          </p:nvPr>
        </p:nvSpPr>
        <p:spPr>
          <a:xfrm>
            <a:off x="190499" y="1090613"/>
            <a:ext cx="8759952"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1" name="Text Placeholder 10">
            <a:extLst>
              <a:ext uri="{FF2B5EF4-FFF2-40B4-BE49-F238E27FC236}">
                <a16:creationId xmlns:a16="http://schemas.microsoft.com/office/drawing/2014/main" id="{3CAC477B-C38B-F66A-D56C-5910A3F144E6}"/>
              </a:ext>
            </a:extLst>
          </p:cNvPr>
          <p:cNvSpPr>
            <a:spLocks noGrp="1"/>
          </p:cNvSpPr>
          <p:nvPr>
            <p:ph type="body" sz="quarter" idx="14" hasCustomPrompt="1"/>
          </p:nvPr>
        </p:nvSpPr>
        <p:spPr>
          <a:xfrm>
            <a:off x="190500" y="1590960"/>
            <a:ext cx="8759952"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Tree>
    <p:extLst>
      <p:ext uri="{BB962C8B-B14F-4D97-AF65-F5344CB8AC3E}">
        <p14:creationId xmlns:p14="http://schemas.microsoft.com/office/powerpoint/2010/main" val="663903050"/>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RFI Two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197963" y="2136710"/>
            <a:ext cx="4259606" cy="4441199"/>
          </a:xfrm>
        </p:spPr>
        <p:txBody>
          <a:bodyPr>
            <a:noAutofit/>
          </a:bodyPr>
          <a:lstStyle>
            <a:lvl1pPr>
              <a:defRPr/>
            </a:lvl1pPr>
          </a:lstStyle>
          <a:p>
            <a:pPr lvl="0"/>
            <a:r>
              <a:rPr lang="en-US"/>
              <a:t>Add text here</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2" name="Slide Number Placeholder 1" hidden="1">
            <a:extLst>
              <a:ext uri="{FF2B5EF4-FFF2-40B4-BE49-F238E27FC236}">
                <a16:creationId xmlns:a16="http://schemas.microsoft.com/office/drawing/2014/main" id="{803FF4F5-8836-8E9C-3C4A-78916626B718}"/>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8" name="Title 7">
            <a:extLst>
              <a:ext uri="{FF2B5EF4-FFF2-40B4-BE49-F238E27FC236}">
                <a16:creationId xmlns:a16="http://schemas.microsoft.com/office/drawing/2014/main" id="{535E8C5F-2463-F50F-4C1F-24833B5FCC0B}"/>
              </a:ext>
            </a:extLst>
          </p:cNvPr>
          <p:cNvSpPr>
            <a:spLocks noGrp="1"/>
          </p:cNvSpPr>
          <p:nvPr>
            <p:ph type="title" hasCustomPrompt="1"/>
          </p:nvPr>
        </p:nvSpPr>
        <p:spPr>
          <a:xfrm>
            <a:off x="882797" y="326571"/>
            <a:ext cx="8070317" cy="686666"/>
          </a:xfrm>
          <a:solidFill>
            <a:srgbClr val="104175"/>
          </a:solidFill>
          <a:ln>
            <a:solidFill>
              <a:srgbClr val="104175"/>
            </a:solidFill>
          </a:ln>
        </p:spPr>
        <p:txBody>
          <a:bodyPr lIns="91440" tIns="45720" rIns="91440"/>
          <a:lstStyle>
            <a:lvl1pPr>
              <a:defRPr>
                <a:solidFill>
                  <a:schemeClr val="bg1"/>
                </a:solidFill>
              </a:defRPr>
            </a:lvl1pPr>
          </a:lstStyle>
          <a:p>
            <a:r>
              <a:rPr lang="en-US"/>
              <a:t>RFP Template Layout, Calibri Bold 24 pt., Capitalize Each Word and No More Than 2 Lines of Text</a:t>
            </a:r>
          </a:p>
        </p:txBody>
      </p:sp>
      <p:sp>
        <p:nvSpPr>
          <p:cNvPr id="9" name="Text Placeholder 8">
            <a:extLst>
              <a:ext uri="{FF2B5EF4-FFF2-40B4-BE49-F238E27FC236}">
                <a16:creationId xmlns:a16="http://schemas.microsoft.com/office/drawing/2014/main" id="{809489F2-A8DA-86D8-E44D-E85BA1609212}"/>
              </a:ext>
            </a:extLst>
          </p:cNvPr>
          <p:cNvSpPr>
            <a:spLocks noGrp="1"/>
          </p:cNvSpPr>
          <p:nvPr>
            <p:ph type="body" sz="quarter" idx="13" hasCustomPrompt="1"/>
          </p:nvPr>
        </p:nvSpPr>
        <p:spPr>
          <a:xfrm>
            <a:off x="190501" y="1090613"/>
            <a:ext cx="8759952"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a:t>
            </a:r>
          </a:p>
          <a:p>
            <a:r>
              <a:rPr lang="en-US"/>
              <a:t>Box will resize to fit text.</a:t>
            </a:r>
          </a:p>
        </p:txBody>
      </p:sp>
      <p:sp>
        <p:nvSpPr>
          <p:cNvPr id="11" name="Text Placeholder 10">
            <a:extLst>
              <a:ext uri="{FF2B5EF4-FFF2-40B4-BE49-F238E27FC236}">
                <a16:creationId xmlns:a16="http://schemas.microsoft.com/office/drawing/2014/main" id="{3CAC477B-C38B-F66A-D56C-5910A3F144E6}"/>
              </a:ext>
            </a:extLst>
          </p:cNvPr>
          <p:cNvSpPr>
            <a:spLocks noGrp="1"/>
          </p:cNvSpPr>
          <p:nvPr>
            <p:ph type="body" sz="quarter" idx="14" hasCustomPrompt="1"/>
          </p:nvPr>
        </p:nvSpPr>
        <p:spPr>
          <a:xfrm>
            <a:off x="190501" y="1590959"/>
            <a:ext cx="8759952"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
        <p:nvSpPr>
          <p:cNvPr id="10" name="Content Placeholder 9">
            <a:extLst>
              <a:ext uri="{FF2B5EF4-FFF2-40B4-BE49-F238E27FC236}">
                <a16:creationId xmlns:a16="http://schemas.microsoft.com/office/drawing/2014/main" id="{2D129B2E-8AE2-A033-2FF2-C9237129BD2C}"/>
              </a:ext>
            </a:extLst>
          </p:cNvPr>
          <p:cNvSpPr>
            <a:spLocks noGrp="1"/>
          </p:cNvSpPr>
          <p:nvPr>
            <p:ph sz="quarter" idx="15" hasCustomPrompt="1"/>
          </p:nvPr>
        </p:nvSpPr>
        <p:spPr>
          <a:xfrm>
            <a:off x="4695859" y="2136710"/>
            <a:ext cx="4259606" cy="4441199"/>
          </a:xfrm>
        </p:spPr>
        <p:txBody>
          <a:bodyPr/>
          <a:lstStyle>
            <a:lvl1pPr>
              <a:defRPr/>
            </a:lvl1pPr>
          </a:lstStyle>
          <a:p>
            <a:pPr lvl="0"/>
            <a:r>
              <a:rPr lang="en-US"/>
              <a:t>Add text here</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47526956"/>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RFI - Independence Slid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2" name="Slide Number Placeholder 1" hidden="1">
            <a:extLst>
              <a:ext uri="{FF2B5EF4-FFF2-40B4-BE49-F238E27FC236}">
                <a16:creationId xmlns:a16="http://schemas.microsoft.com/office/drawing/2014/main" id="{803FF4F5-8836-8E9C-3C4A-78916626B718}"/>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8" name="Title 7">
            <a:extLst>
              <a:ext uri="{FF2B5EF4-FFF2-40B4-BE49-F238E27FC236}">
                <a16:creationId xmlns:a16="http://schemas.microsoft.com/office/drawing/2014/main" id="{535E8C5F-2463-F50F-4C1F-24833B5FCC0B}"/>
              </a:ext>
            </a:extLst>
          </p:cNvPr>
          <p:cNvSpPr>
            <a:spLocks noGrp="1"/>
          </p:cNvSpPr>
          <p:nvPr>
            <p:ph type="title" hasCustomPrompt="1"/>
          </p:nvPr>
        </p:nvSpPr>
        <p:spPr>
          <a:xfrm>
            <a:off x="882797" y="326571"/>
            <a:ext cx="8074152" cy="686666"/>
          </a:xfrm>
          <a:solidFill>
            <a:srgbClr val="104175"/>
          </a:solidFill>
          <a:ln>
            <a:solidFill>
              <a:srgbClr val="104175"/>
            </a:solidFill>
          </a:ln>
        </p:spPr>
        <p:txBody>
          <a:bodyPr lIns="91440" tIns="45720" rIns="91440"/>
          <a:lstStyle>
            <a:lvl1pPr>
              <a:defRPr>
                <a:solidFill>
                  <a:schemeClr val="bg1"/>
                </a:solidFill>
              </a:defRPr>
            </a:lvl1pPr>
          </a:lstStyle>
          <a:p>
            <a:r>
              <a:rPr lang="en-US"/>
              <a:t>RFP Template Layout, Calibri Bold 24 pt., Capitalize Each Word and No More Than 2 Lines of Text</a:t>
            </a:r>
          </a:p>
        </p:txBody>
      </p:sp>
      <p:sp>
        <p:nvSpPr>
          <p:cNvPr id="9" name="Text Placeholder 8">
            <a:extLst>
              <a:ext uri="{FF2B5EF4-FFF2-40B4-BE49-F238E27FC236}">
                <a16:creationId xmlns:a16="http://schemas.microsoft.com/office/drawing/2014/main" id="{809489F2-A8DA-86D8-E44D-E85BA1609212}"/>
              </a:ext>
            </a:extLst>
          </p:cNvPr>
          <p:cNvSpPr>
            <a:spLocks noGrp="1"/>
          </p:cNvSpPr>
          <p:nvPr>
            <p:ph type="body" sz="quarter" idx="13" hasCustomPrompt="1"/>
          </p:nvPr>
        </p:nvSpPr>
        <p:spPr>
          <a:xfrm>
            <a:off x="190500" y="1090613"/>
            <a:ext cx="876481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1" name="Text Placeholder 10">
            <a:extLst>
              <a:ext uri="{FF2B5EF4-FFF2-40B4-BE49-F238E27FC236}">
                <a16:creationId xmlns:a16="http://schemas.microsoft.com/office/drawing/2014/main" id="{3CAC477B-C38B-F66A-D56C-5910A3F144E6}"/>
              </a:ext>
            </a:extLst>
          </p:cNvPr>
          <p:cNvSpPr>
            <a:spLocks noGrp="1"/>
          </p:cNvSpPr>
          <p:nvPr>
            <p:ph type="body" sz="quarter" idx="14" hasCustomPrompt="1"/>
          </p:nvPr>
        </p:nvSpPr>
        <p:spPr>
          <a:xfrm>
            <a:off x="190500" y="1590960"/>
            <a:ext cx="876481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
        <p:nvSpPr>
          <p:cNvPr id="3" name="Text Placeholder 8">
            <a:extLst>
              <a:ext uri="{FF2B5EF4-FFF2-40B4-BE49-F238E27FC236}">
                <a16:creationId xmlns:a16="http://schemas.microsoft.com/office/drawing/2014/main" id="{B54B9276-CE2A-F962-32F2-A988AC2CD3CB}"/>
              </a:ext>
            </a:extLst>
          </p:cNvPr>
          <p:cNvSpPr>
            <a:spLocks noGrp="1"/>
          </p:cNvSpPr>
          <p:nvPr>
            <p:ph type="body" sz="quarter" idx="15" hasCustomPrompt="1"/>
          </p:nvPr>
        </p:nvSpPr>
        <p:spPr>
          <a:xfrm>
            <a:off x="190500" y="2043114"/>
            <a:ext cx="876481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6" name="Text Placeholder 10">
            <a:extLst>
              <a:ext uri="{FF2B5EF4-FFF2-40B4-BE49-F238E27FC236}">
                <a16:creationId xmlns:a16="http://schemas.microsoft.com/office/drawing/2014/main" id="{DC6F99DB-9FD4-87D7-F6F6-8FDFCDECB511}"/>
              </a:ext>
            </a:extLst>
          </p:cNvPr>
          <p:cNvSpPr>
            <a:spLocks noGrp="1"/>
          </p:cNvSpPr>
          <p:nvPr>
            <p:ph type="body" sz="quarter" idx="16" hasCustomPrompt="1"/>
          </p:nvPr>
        </p:nvSpPr>
        <p:spPr>
          <a:xfrm>
            <a:off x="190500" y="2543461"/>
            <a:ext cx="876481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
        <p:nvSpPr>
          <p:cNvPr id="7" name="Text Placeholder 8">
            <a:extLst>
              <a:ext uri="{FF2B5EF4-FFF2-40B4-BE49-F238E27FC236}">
                <a16:creationId xmlns:a16="http://schemas.microsoft.com/office/drawing/2014/main" id="{02D45FED-4D78-ECF9-604A-BEBCFC4C3E7D}"/>
              </a:ext>
            </a:extLst>
          </p:cNvPr>
          <p:cNvSpPr>
            <a:spLocks noGrp="1"/>
          </p:cNvSpPr>
          <p:nvPr>
            <p:ph type="body" sz="quarter" idx="17" hasCustomPrompt="1"/>
          </p:nvPr>
        </p:nvSpPr>
        <p:spPr>
          <a:xfrm>
            <a:off x="190500" y="2983893"/>
            <a:ext cx="876481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0" name="Text Placeholder 10">
            <a:extLst>
              <a:ext uri="{FF2B5EF4-FFF2-40B4-BE49-F238E27FC236}">
                <a16:creationId xmlns:a16="http://schemas.microsoft.com/office/drawing/2014/main" id="{3F9D3A27-D0AC-D3BA-50C9-049C9EB158C7}"/>
              </a:ext>
            </a:extLst>
          </p:cNvPr>
          <p:cNvSpPr>
            <a:spLocks noGrp="1"/>
          </p:cNvSpPr>
          <p:nvPr>
            <p:ph type="body" sz="quarter" idx="18" hasCustomPrompt="1"/>
          </p:nvPr>
        </p:nvSpPr>
        <p:spPr>
          <a:xfrm>
            <a:off x="190500" y="3484240"/>
            <a:ext cx="876481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
        <p:nvSpPr>
          <p:cNvPr id="12" name="Text Placeholder 8">
            <a:extLst>
              <a:ext uri="{FF2B5EF4-FFF2-40B4-BE49-F238E27FC236}">
                <a16:creationId xmlns:a16="http://schemas.microsoft.com/office/drawing/2014/main" id="{3D0DA619-D69B-733C-701F-EFE456D7D08B}"/>
              </a:ext>
            </a:extLst>
          </p:cNvPr>
          <p:cNvSpPr>
            <a:spLocks noGrp="1"/>
          </p:cNvSpPr>
          <p:nvPr>
            <p:ph type="body" sz="quarter" idx="19" hasCustomPrompt="1"/>
          </p:nvPr>
        </p:nvSpPr>
        <p:spPr>
          <a:xfrm>
            <a:off x="190500" y="3933462"/>
            <a:ext cx="876481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3" name="Text Placeholder 10">
            <a:extLst>
              <a:ext uri="{FF2B5EF4-FFF2-40B4-BE49-F238E27FC236}">
                <a16:creationId xmlns:a16="http://schemas.microsoft.com/office/drawing/2014/main" id="{06C47766-9EC8-8664-90EB-606ADCF5294E}"/>
              </a:ext>
            </a:extLst>
          </p:cNvPr>
          <p:cNvSpPr>
            <a:spLocks noGrp="1"/>
          </p:cNvSpPr>
          <p:nvPr>
            <p:ph type="body" sz="quarter" idx="20" hasCustomPrompt="1"/>
          </p:nvPr>
        </p:nvSpPr>
        <p:spPr>
          <a:xfrm>
            <a:off x="190500" y="4433809"/>
            <a:ext cx="876481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
        <p:nvSpPr>
          <p:cNvPr id="14" name="Text Placeholder 8">
            <a:extLst>
              <a:ext uri="{FF2B5EF4-FFF2-40B4-BE49-F238E27FC236}">
                <a16:creationId xmlns:a16="http://schemas.microsoft.com/office/drawing/2014/main" id="{D21C73D6-A960-98C5-C50B-C641BF3A65DE}"/>
              </a:ext>
            </a:extLst>
          </p:cNvPr>
          <p:cNvSpPr>
            <a:spLocks noGrp="1"/>
          </p:cNvSpPr>
          <p:nvPr>
            <p:ph type="body" sz="quarter" idx="21" hasCustomPrompt="1"/>
          </p:nvPr>
        </p:nvSpPr>
        <p:spPr>
          <a:xfrm>
            <a:off x="190500" y="4883033"/>
            <a:ext cx="876481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5" name="Text Placeholder 10">
            <a:extLst>
              <a:ext uri="{FF2B5EF4-FFF2-40B4-BE49-F238E27FC236}">
                <a16:creationId xmlns:a16="http://schemas.microsoft.com/office/drawing/2014/main" id="{A596AC6E-0A8B-B18A-7662-47E7472DA088}"/>
              </a:ext>
            </a:extLst>
          </p:cNvPr>
          <p:cNvSpPr>
            <a:spLocks noGrp="1"/>
          </p:cNvSpPr>
          <p:nvPr>
            <p:ph type="body" sz="quarter" idx="22" hasCustomPrompt="1"/>
          </p:nvPr>
        </p:nvSpPr>
        <p:spPr>
          <a:xfrm>
            <a:off x="190500" y="5383380"/>
            <a:ext cx="876481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
        <p:nvSpPr>
          <p:cNvPr id="16" name="Text Placeholder 8">
            <a:extLst>
              <a:ext uri="{FF2B5EF4-FFF2-40B4-BE49-F238E27FC236}">
                <a16:creationId xmlns:a16="http://schemas.microsoft.com/office/drawing/2014/main" id="{8C90848F-BC71-BC49-D624-F488C5FCD735}"/>
              </a:ext>
            </a:extLst>
          </p:cNvPr>
          <p:cNvSpPr>
            <a:spLocks noGrp="1"/>
          </p:cNvSpPr>
          <p:nvPr>
            <p:ph type="body" sz="quarter" idx="23" hasCustomPrompt="1"/>
          </p:nvPr>
        </p:nvSpPr>
        <p:spPr>
          <a:xfrm>
            <a:off x="190500" y="5832603"/>
            <a:ext cx="876481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7" name="Text Placeholder 10">
            <a:extLst>
              <a:ext uri="{FF2B5EF4-FFF2-40B4-BE49-F238E27FC236}">
                <a16:creationId xmlns:a16="http://schemas.microsoft.com/office/drawing/2014/main" id="{4F4BECD0-7160-4F79-A65F-0D41818C972A}"/>
              </a:ext>
            </a:extLst>
          </p:cNvPr>
          <p:cNvSpPr>
            <a:spLocks noGrp="1"/>
          </p:cNvSpPr>
          <p:nvPr>
            <p:ph type="body" sz="quarter" idx="24" hasCustomPrompt="1"/>
          </p:nvPr>
        </p:nvSpPr>
        <p:spPr>
          <a:xfrm>
            <a:off x="190500" y="6332950"/>
            <a:ext cx="876481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Tree>
    <p:extLst>
      <p:ext uri="{BB962C8B-B14F-4D97-AF65-F5344CB8AC3E}">
        <p14:creationId xmlns:p14="http://schemas.microsoft.com/office/powerpoint/2010/main" val="2922048494"/>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act">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These materials are confidential and to be used only by the client to whom they are addressed</a:t>
            </a:r>
          </a:p>
        </p:txBody>
      </p:sp>
      <p:sp>
        <p:nvSpPr>
          <p:cNvPr id="2" name="Slide Number Placeholder 1" hidden="1">
            <a:extLst>
              <a:ext uri="{FF2B5EF4-FFF2-40B4-BE49-F238E27FC236}">
                <a16:creationId xmlns:a16="http://schemas.microsoft.com/office/drawing/2014/main" id="{6A2009FB-E843-2ACB-7AEA-1B31EC816684}"/>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5" name="Title 5">
            <a:extLst>
              <a:ext uri="{FF2B5EF4-FFF2-40B4-BE49-F238E27FC236}">
                <a16:creationId xmlns:a16="http://schemas.microsoft.com/office/drawing/2014/main" id="{0E3080FA-AEF4-5C56-DE85-F89DF9F2EB09}"/>
              </a:ext>
            </a:extLst>
          </p:cNvPr>
          <p:cNvSpPr txBox="1">
            <a:spLocks/>
          </p:cNvSpPr>
          <p:nvPr userDrawn="1"/>
        </p:nvSpPr>
        <p:spPr>
          <a:xfrm>
            <a:off x="863745" y="44215"/>
            <a:ext cx="8070317" cy="1292899"/>
          </a:xfrm>
          <a:prstGeom prst="rect">
            <a:avLst/>
          </a:prstGeom>
        </p:spPr>
        <p:txBody>
          <a:bodyPr vert="horz" lIns="0" tIns="0" rIns="0" bIns="0" rtlCol="0" anchor="ctr">
            <a:noAutofit/>
          </a:bodyPr>
          <a:lstStyle>
            <a:lvl1pPr algn="l" defTabSz="914378" rtl="0" eaLnBrk="1" latinLnBrk="0" hangingPunct="1">
              <a:lnSpc>
                <a:spcPct val="90000"/>
              </a:lnSpc>
              <a:spcBef>
                <a:spcPct val="0"/>
              </a:spcBef>
              <a:buNone/>
              <a:defRPr sz="2400" b="1" kern="1200" cap="none" baseline="0">
                <a:solidFill>
                  <a:schemeClr val="tx1"/>
                </a:solidFill>
                <a:latin typeface="+mj-lt"/>
                <a:ea typeface="+mj-ea"/>
                <a:cs typeface="+mj-cs"/>
              </a:defRPr>
            </a:lvl1pPr>
          </a:lstStyle>
          <a:p>
            <a:pPr algn="l" defTabSz="914378" rtl="0" eaLnBrk="1" latinLnBrk="0" hangingPunct="1">
              <a:lnSpc>
                <a:spcPct val="85000"/>
              </a:lnSpc>
              <a:spcBef>
                <a:spcPct val="0"/>
              </a:spcBef>
              <a:buNone/>
            </a:pPr>
            <a:r>
              <a:rPr lang="en-US" sz="2400" b="1" kern="1200" cap="none" baseline="0">
                <a:solidFill>
                  <a:schemeClr val="tx1"/>
                </a:solidFill>
                <a:latin typeface="+mj-lt"/>
                <a:ea typeface="+mj-ea"/>
                <a:cs typeface="+mj-cs"/>
              </a:rPr>
              <a:t>Contact Us</a:t>
            </a:r>
          </a:p>
        </p:txBody>
      </p:sp>
    </p:spTree>
    <p:extLst>
      <p:ext uri="{BB962C8B-B14F-4D97-AF65-F5344CB8AC3E}">
        <p14:creationId xmlns:p14="http://schemas.microsoft.com/office/powerpoint/2010/main" val="1260197389"/>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emplate Version Histo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B41EC-83B7-C845-6732-BBB485040B20}"/>
              </a:ext>
            </a:extLst>
          </p:cNvPr>
          <p:cNvSpPr>
            <a:spLocks noGrp="1"/>
          </p:cNvSpPr>
          <p:nvPr>
            <p:ph type="title" hasCustomPrompt="1"/>
          </p:nvPr>
        </p:nvSpPr>
        <p:spPr/>
        <p:txBody>
          <a:bodyPr/>
          <a:lstStyle>
            <a:lvl1pPr>
              <a:defRPr/>
            </a:lvl1pPr>
          </a:lstStyle>
          <a:p>
            <a:r>
              <a:rPr lang="en-US"/>
              <a:t>Template Version History</a:t>
            </a:r>
          </a:p>
        </p:txBody>
      </p:sp>
      <p:sp>
        <p:nvSpPr>
          <p:cNvPr id="4" name="Footer Placeholder 3">
            <a:extLst>
              <a:ext uri="{FF2B5EF4-FFF2-40B4-BE49-F238E27FC236}">
                <a16:creationId xmlns:a16="http://schemas.microsoft.com/office/drawing/2014/main" id="{1BA064D4-E80E-4EEA-269A-DDCCF99340AC}"/>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5" name="Slide Number Placeholder 4">
            <a:extLst>
              <a:ext uri="{FF2B5EF4-FFF2-40B4-BE49-F238E27FC236}">
                <a16:creationId xmlns:a16="http://schemas.microsoft.com/office/drawing/2014/main" id="{75F78D44-96BF-B05F-75AB-16A4E0ECCEE7}"/>
              </a:ext>
            </a:extLst>
          </p:cNvPr>
          <p:cNvSpPr>
            <a:spLocks noGrp="1"/>
          </p:cNvSpPr>
          <p:nvPr>
            <p:ph type="sldNum" sz="quarter" idx="12"/>
          </p:nvPr>
        </p:nvSpPr>
        <p:spPr/>
        <p:txBody>
          <a:bodyPr/>
          <a:lstStyle>
            <a:lvl1pPr>
              <a:defRPr>
                <a:solidFill>
                  <a:schemeClr val="bg1">
                    <a:lumMod val="50000"/>
                  </a:schemeClr>
                </a:solidFill>
              </a:defRPr>
            </a:lvl1pPr>
          </a:lstStyle>
          <a:p>
            <a:fld id="{91690BAF-E217-4185-92FD-0CEA06F2B7C8}" type="slidenum">
              <a:rPr lang="en-US" smtClean="0"/>
              <a:pPr/>
              <a:t>‹#›</a:t>
            </a:fld>
            <a:endParaRPr lang="en-US"/>
          </a:p>
        </p:txBody>
      </p:sp>
      <p:graphicFrame>
        <p:nvGraphicFramePr>
          <p:cNvPr id="6" name="Table 5">
            <a:extLst>
              <a:ext uri="{FF2B5EF4-FFF2-40B4-BE49-F238E27FC236}">
                <a16:creationId xmlns:a16="http://schemas.microsoft.com/office/drawing/2014/main" id="{2ACADB3A-04EB-C7F6-C359-0B88C057E60B}"/>
              </a:ext>
            </a:extLst>
          </p:cNvPr>
          <p:cNvGraphicFramePr>
            <a:graphicFrameLocks noGrp="1"/>
          </p:cNvGraphicFramePr>
          <p:nvPr userDrawn="1">
            <p:extLst>
              <p:ext uri="{D42A27DB-BD31-4B8C-83A1-F6EECF244321}">
                <p14:modId xmlns:p14="http://schemas.microsoft.com/office/powerpoint/2010/main" val="4216144273"/>
              </p:ext>
            </p:extLst>
          </p:nvPr>
        </p:nvGraphicFramePr>
        <p:xfrm>
          <a:off x="886826" y="1142018"/>
          <a:ext cx="8074151" cy="5375036"/>
        </p:xfrm>
        <a:graphic>
          <a:graphicData uri="http://schemas.openxmlformats.org/drawingml/2006/table">
            <a:tbl>
              <a:tblPr firstRow="1" bandRow="1">
                <a:tableStyleId>{A77E1047-C769-4665-AFDC-4AF39A3502B1}</a:tableStyleId>
              </a:tblPr>
              <a:tblGrid>
                <a:gridCol w="744418">
                  <a:extLst>
                    <a:ext uri="{9D8B030D-6E8A-4147-A177-3AD203B41FA5}">
                      <a16:colId xmlns:a16="http://schemas.microsoft.com/office/drawing/2014/main" val="591207462"/>
                    </a:ext>
                  </a:extLst>
                </a:gridCol>
                <a:gridCol w="921991">
                  <a:extLst>
                    <a:ext uri="{9D8B030D-6E8A-4147-A177-3AD203B41FA5}">
                      <a16:colId xmlns:a16="http://schemas.microsoft.com/office/drawing/2014/main" val="53111214"/>
                    </a:ext>
                  </a:extLst>
                </a:gridCol>
                <a:gridCol w="6407742">
                  <a:extLst>
                    <a:ext uri="{9D8B030D-6E8A-4147-A177-3AD203B41FA5}">
                      <a16:colId xmlns:a16="http://schemas.microsoft.com/office/drawing/2014/main" val="1311210120"/>
                    </a:ext>
                  </a:extLst>
                </a:gridCol>
              </a:tblGrid>
              <a:tr h="0">
                <a:tc>
                  <a:txBody>
                    <a:bodyPr/>
                    <a:lstStyle/>
                    <a:p>
                      <a:pPr algn="ctr"/>
                      <a:r>
                        <a:rPr lang="en-US" sz="900" dirty="0"/>
                        <a:t>Version</a:t>
                      </a:r>
                    </a:p>
                  </a:txBody>
                  <a:tcPr anchor="b"/>
                </a:tc>
                <a:tc>
                  <a:txBody>
                    <a:bodyPr/>
                    <a:lstStyle/>
                    <a:p>
                      <a:pPr algn="ctr"/>
                      <a:r>
                        <a:rPr lang="en-US" sz="900"/>
                        <a:t>Date</a:t>
                      </a:r>
                    </a:p>
                  </a:txBody>
                  <a:tcPr anchor="b"/>
                </a:tc>
                <a:tc>
                  <a:txBody>
                    <a:bodyPr/>
                    <a:lstStyle/>
                    <a:p>
                      <a:pPr algn="ctr"/>
                      <a:r>
                        <a:rPr lang="en-US" sz="900"/>
                        <a:t>Release Notes</a:t>
                      </a:r>
                    </a:p>
                  </a:txBody>
                  <a:tcPr anchor="b"/>
                </a:tc>
                <a:extLst>
                  <a:ext uri="{0D108BD9-81ED-4DB2-BD59-A6C34878D82A}">
                    <a16:rowId xmlns:a16="http://schemas.microsoft.com/office/drawing/2014/main" val="2068489572"/>
                  </a:ext>
                </a:extLst>
              </a:tr>
              <a:tr h="254396">
                <a:tc>
                  <a:txBody>
                    <a:bodyPr/>
                    <a:lstStyle/>
                    <a:p>
                      <a:r>
                        <a:rPr lang="en-US" sz="900"/>
                        <a:t>2024.1</a:t>
                      </a:r>
                    </a:p>
                  </a:txBody>
                  <a:tcPr anchor="ctr"/>
                </a:tc>
                <a:tc>
                  <a:txBody>
                    <a:bodyPr/>
                    <a:lstStyle/>
                    <a:p>
                      <a:pPr algn="ctr"/>
                      <a:r>
                        <a:rPr lang="en-US" sz="900"/>
                        <a:t>2/23/2024</a:t>
                      </a:r>
                    </a:p>
                  </a:txBody>
                  <a:tcPr anchor="ctr"/>
                </a:tc>
                <a:tc>
                  <a:txBody>
                    <a:bodyPr/>
                    <a:lstStyle/>
                    <a:p>
                      <a:pPr marL="171450" indent="-171450" algn="l" defTabSz="914378" rtl="0" eaLnBrk="1" latinLnBrk="0" hangingPunct="1">
                        <a:buFont typeface="Wingdings" panose="05000000000000000000" pitchFamily="2" charset="2"/>
                        <a:buChar char="§"/>
                      </a:pPr>
                      <a:r>
                        <a:rPr lang="en-US" sz="900" kern="1200">
                          <a:solidFill>
                            <a:schemeClr val="dk1"/>
                          </a:solidFill>
                          <a:latin typeface="+mn-lt"/>
                          <a:ea typeface="+mn-ea"/>
                          <a:cs typeface="+mn-cs"/>
                        </a:rPr>
                        <a:t>Initial release</a:t>
                      </a:r>
                    </a:p>
                  </a:txBody>
                  <a:tcPr anchor="ctr"/>
                </a:tc>
                <a:extLst>
                  <a:ext uri="{0D108BD9-81ED-4DB2-BD59-A6C34878D82A}">
                    <a16:rowId xmlns:a16="http://schemas.microsoft.com/office/drawing/2014/main" val="352733980"/>
                  </a:ext>
                </a:extLst>
              </a:tr>
              <a:tr h="370840">
                <a:tc>
                  <a:txBody>
                    <a:bodyPr/>
                    <a:lstStyle/>
                    <a:p>
                      <a:r>
                        <a:rPr lang="en-US" sz="900"/>
                        <a:t>2024.2</a:t>
                      </a:r>
                    </a:p>
                  </a:txBody>
                  <a:tcPr anchor="ctr"/>
                </a:tc>
                <a:tc>
                  <a:txBody>
                    <a:bodyPr/>
                    <a:lstStyle/>
                    <a:p>
                      <a:pPr algn="ctr"/>
                      <a:r>
                        <a:rPr lang="en-US" sz="900"/>
                        <a:t>5/7/2024</a:t>
                      </a:r>
                    </a:p>
                  </a:txBody>
                  <a:tcPr anchor="ctr"/>
                </a:tc>
                <a:tc>
                  <a:txBody>
                    <a:bodyPr/>
                    <a:lstStyle/>
                    <a:p>
                      <a:pPr marL="171450" indent="-171450">
                        <a:buFont typeface="Wingdings" panose="05000000000000000000" pitchFamily="2" charset="2"/>
                        <a:buChar char="§"/>
                      </a:pPr>
                      <a:r>
                        <a:rPr lang="en-US" sz="900"/>
                        <a:t>Blue headline banner darkened</a:t>
                      </a:r>
                    </a:p>
                    <a:p>
                      <a:pPr marL="171450" indent="-171450">
                        <a:buFont typeface="Wingdings" panose="05000000000000000000" pitchFamily="2" charset="2"/>
                        <a:buChar char="§"/>
                      </a:pPr>
                      <a:r>
                        <a:rPr lang="en-US" sz="900"/>
                        <a:t>Fonts on RFI master reduced</a:t>
                      </a:r>
                    </a:p>
                    <a:p>
                      <a:pPr marL="171450" indent="-171450">
                        <a:buFont typeface="Wingdings" panose="05000000000000000000" pitchFamily="2" charset="2"/>
                        <a:buChar char="§"/>
                      </a:pPr>
                      <a:r>
                        <a:rPr lang="en-US" sz="900"/>
                        <a:t>Default margins on shapes changed from .1 to .05</a:t>
                      </a:r>
                    </a:p>
                    <a:p>
                      <a:pPr marL="171450" marR="0" lvl="0" indent="-171450" algn="l" defTabSz="914378"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900"/>
                        <a:t>Bulleted list font reduced to 12pt (question to 12pt and answer to 11pt)</a:t>
                      </a:r>
                    </a:p>
                    <a:p>
                      <a:pPr marL="171450" indent="-171450">
                        <a:buFont typeface="Wingdings" panose="05000000000000000000" pitchFamily="2" charset="2"/>
                        <a:buChar char="§"/>
                      </a:pPr>
                      <a:r>
                        <a:rPr lang="en-US" sz="900"/>
                        <a:t>New “Contact Us” master</a:t>
                      </a:r>
                    </a:p>
                    <a:p>
                      <a:pPr marL="171450" indent="-171450">
                        <a:buFont typeface="Wingdings" panose="05000000000000000000" pitchFamily="2" charset="2"/>
                        <a:buChar char="§"/>
                      </a:pPr>
                      <a:r>
                        <a:rPr lang="en-US" sz="900"/>
                        <a:t>Removed “Globe” motif and added “FA” motif</a:t>
                      </a:r>
                    </a:p>
                    <a:p>
                      <a:pPr marL="171450" marR="0" lvl="0" indent="-171450" algn="l" defTabSz="914378"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900"/>
                        <a:t>Added Version History slide</a:t>
                      </a:r>
                    </a:p>
                  </a:txBody>
                  <a:tcPr anchor="ctr"/>
                </a:tc>
                <a:extLst>
                  <a:ext uri="{0D108BD9-81ED-4DB2-BD59-A6C34878D82A}">
                    <a16:rowId xmlns:a16="http://schemas.microsoft.com/office/drawing/2014/main" val="3167163687"/>
                  </a:ext>
                </a:extLst>
              </a:tr>
              <a:tr h="370840">
                <a:tc>
                  <a:txBody>
                    <a:bodyPr/>
                    <a:lstStyle/>
                    <a:p>
                      <a:r>
                        <a:rPr lang="en-US" sz="900"/>
                        <a:t>2024.3</a:t>
                      </a:r>
                    </a:p>
                  </a:txBody>
                  <a:tcPr anchor="ctr"/>
                </a:tc>
                <a:tc>
                  <a:txBody>
                    <a:bodyPr/>
                    <a:lstStyle/>
                    <a:p>
                      <a:pPr algn="ctr"/>
                      <a:r>
                        <a:rPr lang="en-US" sz="900"/>
                        <a:t>5/10/2024</a:t>
                      </a:r>
                    </a:p>
                  </a:txBody>
                  <a:tcPr anchor="ctr"/>
                </a:tc>
                <a:tc>
                  <a:txBody>
                    <a:bodyPr/>
                    <a:lstStyle/>
                    <a:p>
                      <a:pPr marL="171450" marR="0" lvl="0" indent="-171450" algn="l" defTabSz="914378"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900" kern="1200">
                          <a:solidFill>
                            <a:schemeClr val="dk1"/>
                          </a:solidFill>
                          <a:latin typeface="+mn-lt"/>
                          <a:ea typeface="+mn-ea"/>
                          <a:cs typeface="+mn-cs"/>
                        </a:rPr>
                        <a:t>Rolled back changes to 2024.1</a:t>
                      </a:r>
                    </a:p>
                    <a:p>
                      <a:pPr marL="171450" indent="-171450">
                        <a:buFont typeface="Wingdings" panose="05000000000000000000" pitchFamily="2" charset="2"/>
                        <a:buChar char="§"/>
                      </a:pPr>
                      <a:r>
                        <a:rPr lang="en-US" sz="900"/>
                        <a:t>Default margins on shapes and text boxes changed from .1 to .05 with 14pt font</a:t>
                      </a:r>
                    </a:p>
                    <a:p>
                      <a:pPr marL="171450" marR="0" lvl="0" indent="-171450" algn="l" defTabSz="914378"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900"/>
                        <a:t>Fonts on RFI master reduced (question to 12pt and answer to 11pt)</a:t>
                      </a:r>
                    </a:p>
                    <a:p>
                      <a:pPr marL="171450" indent="-171450">
                        <a:buFont typeface="Wingdings" panose="05000000000000000000" pitchFamily="2" charset="2"/>
                        <a:buChar char="§"/>
                      </a:pPr>
                      <a:r>
                        <a:rPr lang="en-US" sz="900"/>
                        <a:t>Added London to Contact Us page</a:t>
                      </a:r>
                    </a:p>
                    <a:p>
                      <a:pPr marL="171450" indent="-171450">
                        <a:buFont typeface="Wingdings" panose="05000000000000000000" pitchFamily="2" charset="2"/>
                        <a:buChar char="§"/>
                      </a:pPr>
                      <a:r>
                        <a:rPr lang="en-US" sz="900"/>
                        <a:t>Added FA title layout and section header </a:t>
                      </a:r>
                    </a:p>
                    <a:p>
                      <a:pPr marL="171450" indent="-171450">
                        <a:buFont typeface="Wingdings" panose="05000000000000000000" pitchFamily="2" charset="2"/>
                        <a:buChar char="§"/>
                      </a:pPr>
                      <a:r>
                        <a:rPr lang="en-US" sz="900"/>
                        <a:t>Added Version History slide</a:t>
                      </a:r>
                    </a:p>
                  </a:txBody>
                  <a:tcPr anchor="ctr"/>
                </a:tc>
                <a:extLst>
                  <a:ext uri="{0D108BD9-81ED-4DB2-BD59-A6C34878D82A}">
                    <a16:rowId xmlns:a16="http://schemas.microsoft.com/office/drawing/2014/main" val="4209550234"/>
                  </a:ext>
                </a:extLst>
              </a:tr>
              <a:tr h="370840">
                <a:tc>
                  <a:txBody>
                    <a:bodyPr/>
                    <a:lstStyle/>
                    <a:p>
                      <a:r>
                        <a:rPr lang="en-US" sz="900"/>
                        <a:t>2024.4</a:t>
                      </a:r>
                    </a:p>
                  </a:txBody>
                  <a:tcPr anchor="ctr"/>
                </a:tc>
                <a:tc>
                  <a:txBody>
                    <a:bodyPr/>
                    <a:lstStyle/>
                    <a:p>
                      <a:pPr algn="ctr"/>
                      <a:r>
                        <a:rPr lang="en-US" sz="900"/>
                        <a:t>7/26/2024</a:t>
                      </a:r>
                    </a:p>
                  </a:txBody>
                  <a:tcPr anchor="ctr"/>
                </a:tc>
                <a:tc>
                  <a:txBody>
                    <a:bodyPr/>
                    <a:lstStyle/>
                    <a:p>
                      <a:pPr marL="171450" indent="-171450">
                        <a:buFont typeface="Wingdings" panose="05000000000000000000" pitchFamily="2" charset="2"/>
                        <a:buChar char="§"/>
                      </a:pPr>
                      <a:r>
                        <a:rPr lang="en-US" sz="900"/>
                        <a:t>Added vertical guideline to left of logo</a:t>
                      </a:r>
                    </a:p>
                    <a:p>
                      <a:pPr marL="171450" indent="-171450">
                        <a:buFont typeface="Wingdings" panose="05000000000000000000" pitchFamily="2" charset="2"/>
                        <a:buChar char="§"/>
                      </a:pPr>
                      <a:r>
                        <a:rPr lang="en-US" sz="900"/>
                        <a:t>For RFI layouts, lengthened QA boxes and content to align left with logo</a:t>
                      </a:r>
                    </a:p>
                    <a:p>
                      <a:pPr marL="171450" indent="-171450">
                        <a:buFont typeface="Wingdings" panose="05000000000000000000" pitchFamily="2" charset="2"/>
                        <a:buChar char="§"/>
                      </a:pPr>
                      <a:r>
                        <a:rPr lang="en-US" sz="900"/>
                        <a:t>Added blank RFI layout</a:t>
                      </a:r>
                    </a:p>
                  </a:txBody>
                  <a:tcPr anchor="ctr"/>
                </a:tc>
                <a:extLst>
                  <a:ext uri="{0D108BD9-81ED-4DB2-BD59-A6C34878D82A}">
                    <a16:rowId xmlns:a16="http://schemas.microsoft.com/office/drawing/2014/main" val="3483372315"/>
                  </a:ext>
                </a:extLst>
              </a:tr>
              <a:tr h="370840">
                <a:tc>
                  <a:txBody>
                    <a:bodyPr/>
                    <a:lstStyle/>
                    <a:p>
                      <a:r>
                        <a:rPr lang="en-US" sz="900"/>
                        <a:t>2024.5</a:t>
                      </a:r>
                    </a:p>
                  </a:txBody>
                  <a:tcPr anchor="ctr"/>
                </a:tc>
                <a:tc>
                  <a:txBody>
                    <a:bodyPr/>
                    <a:lstStyle/>
                    <a:p>
                      <a:pPr algn="ctr"/>
                      <a:r>
                        <a:rPr lang="en-US" sz="900"/>
                        <a:t>8/6/2024</a:t>
                      </a:r>
                    </a:p>
                  </a:txBody>
                  <a:tcPr anchor="ctr"/>
                </a:tc>
                <a:tc>
                  <a:txBody>
                    <a:bodyPr/>
                    <a:lstStyle/>
                    <a:p>
                      <a:pPr marL="171450" indent="-171450">
                        <a:buFont typeface="Wingdings" panose="05000000000000000000" pitchFamily="2" charset="2"/>
                        <a:buChar char="§"/>
                      </a:pPr>
                      <a:r>
                        <a:rPr lang="en-US" sz="900"/>
                        <a:t>Added Independence Slide RFI layout</a:t>
                      </a:r>
                    </a:p>
                    <a:p>
                      <a:pPr marL="171450" indent="-171450">
                        <a:buFont typeface="Wingdings" panose="05000000000000000000" pitchFamily="2" charset="2"/>
                        <a:buChar char="§"/>
                      </a:pPr>
                      <a:r>
                        <a:rPr lang="en-US" sz="900"/>
                        <a:t>Set default text boxes and shapes to not autofit</a:t>
                      </a:r>
                    </a:p>
                    <a:p>
                      <a:pPr marL="171450" indent="-171450">
                        <a:buFont typeface="Wingdings" panose="05000000000000000000" pitchFamily="2" charset="2"/>
                        <a:buChar char="§"/>
                      </a:pPr>
                      <a:r>
                        <a:rPr lang="en-US" sz="900"/>
                        <a:t>Adjusted spacing on consultant names</a:t>
                      </a:r>
                    </a:p>
                    <a:p>
                      <a:pPr marL="171450" indent="-171450">
                        <a:buFont typeface="Wingdings" panose="05000000000000000000" pitchFamily="2" charset="2"/>
                        <a:buChar char="§"/>
                      </a:pPr>
                      <a:r>
                        <a:rPr lang="en-US" sz="900"/>
                        <a:t>Setup properly formatted bulleted list in text box as “Reusable Element”</a:t>
                      </a:r>
                    </a:p>
                    <a:p>
                      <a:pPr marL="171450" indent="-171450">
                        <a:buFont typeface="Wingdings" panose="05000000000000000000" pitchFamily="2" charset="2"/>
                        <a:buChar char="§"/>
                      </a:pPr>
                      <a:r>
                        <a:rPr lang="en-US" sz="900"/>
                        <a:t>Expanded headlines to the left, closer to the FA logo</a:t>
                      </a:r>
                    </a:p>
                    <a:p>
                      <a:pPr marL="171450" indent="-171450">
                        <a:buFont typeface="Wingdings" panose="05000000000000000000" pitchFamily="2" charset="2"/>
                        <a:buChar char="§"/>
                      </a:pPr>
                      <a:r>
                        <a:rPr lang="en-US" sz="900"/>
                        <a:t>Darkened page numbers</a:t>
                      </a:r>
                    </a:p>
                  </a:txBody>
                  <a:tcPr anchor="ctr"/>
                </a:tc>
                <a:extLst>
                  <a:ext uri="{0D108BD9-81ED-4DB2-BD59-A6C34878D82A}">
                    <a16:rowId xmlns:a16="http://schemas.microsoft.com/office/drawing/2014/main" val="1768867260"/>
                  </a:ext>
                </a:extLst>
              </a:tr>
              <a:tr h="370840">
                <a:tc>
                  <a:txBody>
                    <a:bodyPr/>
                    <a:lstStyle/>
                    <a:p>
                      <a:r>
                        <a:rPr lang="en-US" sz="900"/>
                        <a:t>2024.06</a:t>
                      </a:r>
                    </a:p>
                  </a:txBody>
                  <a:tcPr anchor="ctr"/>
                </a:tc>
                <a:tc>
                  <a:txBody>
                    <a:bodyPr/>
                    <a:lstStyle/>
                    <a:p>
                      <a:pPr algn="ctr"/>
                      <a:r>
                        <a:rPr lang="en-US" sz="900"/>
                        <a:t>9/10/2024</a:t>
                      </a:r>
                    </a:p>
                  </a:txBody>
                  <a:tcPr anchor="ctr"/>
                </a:tc>
                <a:tc>
                  <a:txBody>
                    <a:bodyPr/>
                    <a:lstStyle/>
                    <a:p>
                      <a:pPr marL="171450" indent="-171450">
                        <a:buFont typeface="Wingdings" panose="05000000000000000000" pitchFamily="2" charset="2"/>
                        <a:buChar char="§"/>
                      </a:pPr>
                      <a:r>
                        <a:rPr lang="en-US" sz="900" dirty="0"/>
                        <a:t>Adjusted People names on Title page to single-spaced. Removed BOLD from names (only the “ACME Advisors” should be bolded; the “LLC” should be in 8 point font)</a:t>
                      </a:r>
                    </a:p>
                    <a:p>
                      <a:pPr marL="171450" indent="-171450">
                        <a:buFont typeface="Wingdings" panose="05000000000000000000" pitchFamily="2" charset="2"/>
                        <a:buChar char="§"/>
                      </a:pPr>
                      <a:r>
                        <a:rPr lang="en-US" sz="900" dirty="0"/>
                        <a:t>Reverted Text Box and Shape defaults to top, left-hand alignment and “Resize shape to fit text”, 14 pt.</a:t>
                      </a:r>
                    </a:p>
                    <a:p>
                      <a:pPr marL="171450" indent="-171450">
                        <a:buFont typeface="Wingdings" panose="05000000000000000000" pitchFamily="2" charset="2"/>
                        <a:buChar char="§"/>
                      </a:pPr>
                      <a:r>
                        <a:rPr lang="en-US" sz="900" dirty="0"/>
                        <a:t>Section Header layouts: Moved text left (closer to large icon)</a:t>
                      </a:r>
                    </a:p>
                    <a:p>
                      <a:pPr marL="171450" indent="-171450">
                        <a:buFont typeface="Wingdings" panose="05000000000000000000" pitchFamily="2" charset="2"/>
                        <a:buChar char="§"/>
                      </a:pPr>
                      <a:r>
                        <a:rPr lang="en-US" sz="900" dirty="0"/>
                        <a:t>Layouts that include text options: Moved text box higher and adjusted guides to match</a:t>
                      </a:r>
                    </a:p>
                    <a:p>
                      <a:pPr marL="171450" indent="-171450">
                        <a:buFont typeface="Wingdings" panose="05000000000000000000" pitchFamily="2" charset="2"/>
                        <a:buChar char="§"/>
                      </a:pPr>
                      <a:r>
                        <a:rPr lang="en-US" sz="900" dirty="0"/>
                        <a:t>Added slide with descriptors for each Title Slide icon</a:t>
                      </a:r>
                    </a:p>
                  </a:txBody>
                  <a:tcPr anchor="ctr"/>
                </a:tc>
                <a:extLst>
                  <a:ext uri="{0D108BD9-81ED-4DB2-BD59-A6C34878D82A}">
                    <a16:rowId xmlns:a16="http://schemas.microsoft.com/office/drawing/2014/main" val="4269791915"/>
                  </a:ext>
                </a:extLst>
              </a:tr>
              <a:tr h="205544">
                <a:tc>
                  <a:txBody>
                    <a:bodyPr/>
                    <a:lstStyle/>
                    <a:p>
                      <a:r>
                        <a:rPr lang="en-US" sz="900"/>
                        <a:t>2025.04</a:t>
                      </a:r>
                    </a:p>
                  </a:txBody>
                  <a:tcPr anchor="ctr"/>
                </a:tc>
                <a:tc>
                  <a:txBody>
                    <a:bodyPr/>
                    <a:lstStyle/>
                    <a:p>
                      <a:pPr algn="ctr"/>
                      <a:r>
                        <a:rPr lang="en-US" sz="900"/>
                        <a:t>4/23/25</a:t>
                      </a:r>
                    </a:p>
                  </a:txBody>
                  <a:tcPr anchor="ctr"/>
                </a:tc>
                <a:tc>
                  <a:txBody>
                    <a:bodyPr/>
                    <a:lstStyle/>
                    <a:p>
                      <a:pPr marL="171450" indent="-171450">
                        <a:buFont typeface="Wingdings" panose="05000000000000000000" pitchFamily="2" charset="2"/>
                        <a:buChar char="§"/>
                      </a:pPr>
                      <a:r>
                        <a:rPr lang="en-US" sz="900"/>
                        <a:t>Updated London address</a:t>
                      </a:r>
                    </a:p>
                  </a:txBody>
                  <a:tcPr anchor="ctr"/>
                </a:tc>
                <a:extLst>
                  <a:ext uri="{0D108BD9-81ED-4DB2-BD59-A6C34878D82A}">
                    <a16:rowId xmlns:a16="http://schemas.microsoft.com/office/drawing/2014/main" val="1331774128"/>
                  </a:ext>
                </a:extLst>
              </a:tr>
              <a:tr h="126218">
                <a:tc>
                  <a:txBody>
                    <a:bodyPr/>
                    <a:lstStyle/>
                    <a:p>
                      <a:r>
                        <a:rPr lang="en-US" sz="900"/>
                        <a:t>2025.05</a:t>
                      </a:r>
                    </a:p>
                  </a:txBody>
                  <a:tcPr anchor="ctr"/>
                </a:tc>
                <a:tc>
                  <a:txBody>
                    <a:bodyPr/>
                    <a:lstStyle/>
                    <a:p>
                      <a:pPr algn="ctr"/>
                      <a:endParaRPr lang="en-US" sz="900"/>
                    </a:p>
                  </a:txBody>
                  <a:tcPr anchor="ctr"/>
                </a:tc>
                <a:tc>
                  <a:txBody>
                    <a:bodyPr/>
                    <a:lstStyle/>
                    <a:p>
                      <a:pPr marL="171450" marR="0" lvl="0" indent="-171450" algn="l" defTabSz="914378"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900"/>
                        <a:t>“Hard coded” the word “for” onto title pages</a:t>
                      </a:r>
                    </a:p>
                    <a:p>
                      <a:pPr marL="171450" marR="0" lvl="0" indent="-171450" algn="l" defTabSz="914378"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900"/>
                        <a:t>Updated NY address on Contact Us page</a:t>
                      </a:r>
                    </a:p>
                  </a:txBody>
                  <a:tcPr anchor="ctr"/>
                </a:tc>
                <a:extLst>
                  <a:ext uri="{0D108BD9-81ED-4DB2-BD59-A6C34878D82A}">
                    <a16:rowId xmlns:a16="http://schemas.microsoft.com/office/drawing/2014/main" val="2911940841"/>
                  </a:ext>
                </a:extLst>
              </a:tr>
            </a:tbl>
          </a:graphicData>
        </a:graphic>
      </p:graphicFrame>
    </p:spTree>
    <p:extLst>
      <p:ext uri="{BB962C8B-B14F-4D97-AF65-F5344CB8AC3E}">
        <p14:creationId xmlns:p14="http://schemas.microsoft.com/office/powerpoint/2010/main" val="355785385"/>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1FA1512-3423-1033-1C5D-257DA5E27FA9}"/>
              </a:ext>
            </a:extLst>
          </p:cNvPr>
          <p:cNvSpPr/>
          <p:nvPr userDrawn="1"/>
        </p:nvSpPr>
        <p:spPr>
          <a:xfrm>
            <a:off x="0" y="0"/>
            <a:ext cx="9144000" cy="1642147"/>
          </a:xfrm>
          <a:prstGeom prst="rect">
            <a:avLst/>
          </a:prstGeom>
          <a:gradFill>
            <a:gsLst>
              <a:gs pos="15000">
                <a:schemeClr val="accent1">
                  <a:alpha val="25000"/>
                </a:schemeClr>
              </a:gs>
              <a:gs pos="100000">
                <a:sysClr val="window" lastClr="FFFFFF">
                  <a:alpha val="0"/>
                </a:sysClr>
              </a:gs>
            </a:gsLst>
            <a:lin ang="0" scaled="1"/>
          </a:gradFill>
          <a:ln w="25400" cap="flat" cmpd="sng" algn="ctr">
            <a:noFill/>
            <a:prstDash val="solid"/>
          </a:ln>
          <a:effectLst/>
        </p:spPr>
        <p:txBody>
          <a:bodyPr lIns="91440" tIns="0" rIns="91440" bIns="0" rtlCol="0" anchor="ctr">
            <a:noAutofit/>
          </a:bodyPr>
          <a:lstStyle/>
          <a:p>
            <a:pPr marL="0" marR="0" lvl="0" indent="0" algn="ctr" defTabSz="914400" eaLnBrk="1" fontAlgn="auto" latinLnBrk="0" hangingPunct="1">
              <a:lnSpc>
                <a:spcPct val="85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3E454CB6-D061-DB8E-DBB1-8C108B73A1E6}"/>
              </a:ext>
            </a:extLst>
          </p:cNvPr>
          <p:cNvSpPr/>
          <p:nvPr userDrawn="1"/>
        </p:nvSpPr>
        <p:spPr>
          <a:xfrm>
            <a:off x="0" y="867266"/>
            <a:ext cx="9144000" cy="774721"/>
          </a:xfrm>
          <a:prstGeom prst="rect">
            <a:avLst/>
          </a:prstGeom>
          <a:gradFill flip="none" rotWithShape="1">
            <a:gsLst>
              <a:gs pos="0">
                <a:sysClr val="window" lastClr="FFFFFF"/>
              </a:gs>
              <a:gs pos="100000">
                <a:sysClr val="window" lastClr="FFFFFF">
                  <a:alpha val="0"/>
                </a:sysClr>
              </a:gs>
            </a:gsLst>
            <a:lin ang="16200000" scaled="1"/>
            <a:tileRect/>
          </a:gradFill>
          <a:ln w="25400" cap="flat" cmpd="sng" algn="ctr">
            <a:noFill/>
            <a:prstDash val="solid"/>
          </a:ln>
          <a:effectLst/>
        </p:spPr>
        <p:txBody>
          <a:bodyPr lIns="91440" tIns="0" rIns="91440" bIns="0" rtlCol="0" anchor="ctr">
            <a:noAutofit/>
          </a:bodyPr>
          <a:lstStyle/>
          <a:p>
            <a:pPr marL="0" marR="0" lvl="0" indent="0" algn="ctr" defTabSz="914400" eaLnBrk="1" fontAlgn="auto" latinLnBrk="0" hangingPunct="1">
              <a:lnSpc>
                <a:spcPct val="85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 name="Title Placeholder 1"/>
          <p:cNvSpPr>
            <a:spLocks noGrp="1"/>
          </p:cNvSpPr>
          <p:nvPr>
            <p:ph type="title"/>
          </p:nvPr>
        </p:nvSpPr>
        <p:spPr>
          <a:xfrm>
            <a:off x="886826" y="44215"/>
            <a:ext cx="8074152" cy="1292899"/>
          </a:xfrm>
          <a:prstGeom prst="rect">
            <a:avLst/>
          </a:prstGeom>
        </p:spPr>
        <p:txBody>
          <a:bodyPr vert="horz" lIns="0" tIns="0" rIns="0" bIns="0" rtlCol="0" anchor="ctr">
            <a:noAutofit/>
          </a:bodyPr>
          <a:lstStyle/>
          <a:p>
            <a:r>
              <a:rPr lang="en-US"/>
              <a:t>Calibri Bold 24 pt.</a:t>
            </a:r>
            <a:br>
              <a:rPr lang="en-US"/>
            </a:br>
            <a:r>
              <a:rPr lang="en-US"/>
              <a:t>Headlines are sentence case and can fill up to four lines of copy, headlines are sentence case and can fill up to four lines of copy</a:t>
            </a:r>
          </a:p>
        </p:txBody>
      </p:sp>
      <p:sp>
        <p:nvSpPr>
          <p:cNvPr id="3" name="Text Placeholder 2"/>
          <p:cNvSpPr>
            <a:spLocks noGrp="1"/>
          </p:cNvSpPr>
          <p:nvPr>
            <p:ph type="body" idx="1"/>
          </p:nvPr>
        </p:nvSpPr>
        <p:spPr>
          <a:xfrm>
            <a:off x="887897" y="1415719"/>
            <a:ext cx="8074395" cy="5170086"/>
          </a:xfrm>
          <a:prstGeom prst="rect">
            <a:avLst/>
          </a:prstGeom>
        </p:spPr>
        <p:txBody>
          <a:bodyPr vert="horz" lIns="0" tIns="0" rIns="0" bIns="0" rtlCol="0">
            <a:noAutofit/>
          </a:bodyPr>
          <a:lstStyle/>
          <a:p>
            <a:pPr lvl="0"/>
            <a:r>
              <a:rPr lang="en-US"/>
              <a:t>Add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ooter Placeholder 4"/>
          <p:cNvSpPr>
            <a:spLocks noGrp="1"/>
          </p:cNvSpPr>
          <p:nvPr>
            <p:ph type="ftr" sz="quarter" idx="3"/>
          </p:nvPr>
        </p:nvSpPr>
        <p:spPr>
          <a:xfrm>
            <a:off x="863745" y="6591503"/>
            <a:ext cx="7416510" cy="184151"/>
          </a:xfrm>
          <a:prstGeom prst="rect">
            <a:avLst/>
          </a:prstGeom>
        </p:spPr>
        <p:txBody>
          <a:bodyPr vert="horz" lIns="0" tIns="0" rIns="0" bIns="45720" rtlCol="0" anchor="b">
            <a:noAutofit/>
          </a:bodyPr>
          <a:lstStyle>
            <a:lvl1pPr algn="ctr">
              <a:lnSpc>
                <a:spcPct val="80000"/>
              </a:lnSpc>
              <a:defRPr sz="800">
                <a:solidFill>
                  <a:srgbClr val="BFBFBF"/>
                </a:solidFill>
              </a:defRPr>
            </a:lvl1pPr>
          </a:lstStyle>
          <a:p>
            <a:r>
              <a:rPr lang="en-US"/>
              <a:t>These materials are confidential and to be used only by the client to whom they are addressed</a:t>
            </a:r>
          </a:p>
        </p:txBody>
      </p:sp>
      <p:sp>
        <p:nvSpPr>
          <p:cNvPr id="8" name="Slide Number Placeholder 5" hidden="1">
            <a:extLst>
              <a:ext uri="{FF2B5EF4-FFF2-40B4-BE49-F238E27FC236}">
                <a16:creationId xmlns:a16="http://schemas.microsoft.com/office/drawing/2014/main" id="{38213356-C931-104E-2A67-0A88014D1D0A}"/>
              </a:ext>
            </a:extLst>
          </p:cNvPr>
          <p:cNvSpPr>
            <a:spLocks noGrp="1"/>
          </p:cNvSpPr>
          <p:nvPr>
            <p:ph type="sldNum" sz="quarter" idx="4"/>
          </p:nvPr>
        </p:nvSpPr>
        <p:spPr>
          <a:xfrm>
            <a:off x="8581802" y="6577909"/>
            <a:ext cx="352260" cy="211339"/>
          </a:xfrm>
          <a:prstGeom prst="rect">
            <a:avLst/>
          </a:prstGeom>
        </p:spPr>
        <p:txBody>
          <a:bodyPr vert="horz" lIns="0" tIns="0" rIns="0" bIns="0" rtlCol="0" anchor="ctr"/>
          <a:lstStyle>
            <a:lvl1pPr algn="r">
              <a:defRPr sz="800">
                <a:solidFill>
                  <a:srgbClr val="BFBFBF"/>
                </a:solidFill>
              </a:defRPr>
            </a:lvl1pPr>
          </a:lstStyle>
          <a:p>
            <a:fld id="{91690BAF-E217-4185-92FD-0CEA06F2B7C8}" type="slidenum">
              <a:rPr lang="en-US" smtClean="0"/>
              <a:pPr/>
              <a:t>‹#›</a:t>
            </a:fld>
            <a:endParaRPr lang="en-US"/>
          </a:p>
        </p:txBody>
      </p:sp>
      <p:sp>
        <p:nvSpPr>
          <p:cNvPr id="9" name="Slide Number Placeholder 5">
            <a:extLst>
              <a:ext uri="{FF2B5EF4-FFF2-40B4-BE49-F238E27FC236}">
                <a16:creationId xmlns:a16="http://schemas.microsoft.com/office/drawing/2014/main" id="{5EDDB953-05F2-B1BF-4848-9817E98F18C6}"/>
              </a:ext>
            </a:extLst>
          </p:cNvPr>
          <p:cNvSpPr>
            <a:spLocks/>
          </p:cNvSpPr>
          <p:nvPr userDrawn="1"/>
        </p:nvSpPr>
        <p:spPr>
          <a:xfrm>
            <a:off x="8581802" y="6577909"/>
            <a:ext cx="352260" cy="211339"/>
          </a:xfrm>
          <a:prstGeom prst="rect">
            <a:avLst/>
          </a:prstGeom>
          <a:noFill/>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Tree>
    <p:extLst>
      <p:ext uri="{BB962C8B-B14F-4D97-AF65-F5344CB8AC3E}">
        <p14:creationId xmlns:p14="http://schemas.microsoft.com/office/powerpoint/2010/main" val="285308602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86" r:id="rId3"/>
    <p:sldLayoutId id="2147483687" r:id="rId4"/>
    <p:sldLayoutId id="2147483701" r:id="rId5"/>
    <p:sldLayoutId id="2147483702" r:id="rId6"/>
    <p:sldLayoutId id="2147483677" r:id="rId7"/>
    <p:sldLayoutId id="2147483678" r:id="rId8"/>
    <p:sldLayoutId id="2147483695" r:id="rId9"/>
    <p:sldLayoutId id="2147483696" r:id="rId10"/>
    <p:sldLayoutId id="2147483650" r:id="rId11"/>
    <p:sldLayoutId id="2147483654" r:id="rId12"/>
    <p:sldLayoutId id="2147483655" r:id="rId13"/>
    <p:sldLayoutId id="2147483674" r:id="rId14"/>
    <p:sldLayoutId id="2147483675" r:id="rId15"/>
    <p:sldLayoutId id="2147483661" r:id="rId16"/>
    <p:sldLayoutId id="2147483657" r:id="rId17"/>
    <p:sldLayoutId id="2147483703" r:id="rId18"/>
    <p:sldLayoutId id="2147483698" r:id="rId19"/>
    <p:sldLayoutId id="2147483699" r:id="rId20"/>
    <p:sldLayoutId id="2147483704" r:id="rId21"/>
    <p:sldLayoutId id="2147483697" r:id="rId22"/>
    <p:sldLayoutId id="2147483700" r:id="rId23"/>
  </p:sldLayoutIdLst>
  <p:transition>
    <p:fade/>
  </p:transition>
  <p:hf sldNum="0" hdr="0" dt="0"/>
  <p:txStyles>
    <p:titleStyle>
      <a:lvl1pPr algn="l" defTabSz="914378" rtl="0" eaLnBrk="1" latinLnBrk="0" hangingPunct="1">
        <a:lnSpc>
          <a:spcPct val="85000"/>
        </a:lnSpc>
        <a:spcBef>
          <a:spcPct val="0"/>
        </a:spcBef>
        <a:buNone/>
        <a:defRPr sz="2400" b="1" kern="1200" cap="none" baseline="0">
          <a:solidFill>
            <a:schemeClr val="tx1"/>
          </a:solidFill>
          <a:latin typeface="+mj-lt"/>
          <a:ea typeface="+mj-ea"/>
          <a:cs typeface="+mj-cs"/>
        </a:defRPr>
      </a:lvl1pPr>
    </p:titleStyle>
    <p:bodyStyle>
      <a:lvl1pPr marL="182880" indent="-182880" algn="l" defTabSz="914378"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1pPr>
      <a:lvl2pPr marL="365760" indent="-182880" algn="l" defTabSz="914378" rtl="0" eaLnBrk="1" latinLnBrk="0" hangingPunct="1">
        <a:lnSpc>
          <a:spcPct val="90000"/>
        </a:lnSpc>
        <a:spcBef>
          <a:spcPts val="0"/>
        </a:spcBef>
        <a:buFont typeface="Tw Cen MT" panose="020B0602020104020603" pitchFamily="34" charset="0"/>
        <a:buChar char="–"/>
        <a:defRPr sz="1600" kern="1200">
          <a:solidFill>
            <a:schemeClr val="tx1"/>
          </a:solidFill>
          <a:latin typeface="+mn-lt"/>
          <a:ea typeface="+mn-ea"/>
          <a:cs typeface="+mn-cs"/>
        </a:defRPr>
      </a:lvl2pPr>
      <a:lvl3pPr marL="548640" indent="-182880" algn="l" defTabSz="914378" rtl="0" eaLnBrk="1" latinLnBrk="0" hangingPunct="1">
        <a:lnSpc>
          <a:spcPct val="90000"/>
        </a:lnSpc>
        <a:spcBef>
          <a:spcPts val="0"/>
        </a:spcBef>
        <a:buFont typeface="Wingdings" panose="05000000000000000000" pitchFamily="2" charset="2"/>
        <a:buChar char="Ø"/>
        <a:defRPr sz="1600" kern="1200">
          <a:solidFill>
            <a:schemeClr val="tx1"/>
          </a:solidFill>
          <a:latin typeface="+mn-lt"/>
          <a:ea typeface="+mn-ea"/>
          <a:cs typeface="+mn-cs"/>
        </a:defRPr>
      </a:lvl3pPr>
      <a:lvl4pPr marL="731520" indent="-182880" algn="l" defTabSz="914378" rtl="0" eaLnBrk="1" latinLnBrk="0" hangingPunct="1">
        <a:lnSpc>
          <a:spcPct val="90000"/>
        </a:lnSpc>
        <a:spcBef>
          <a:spcPts val="0"/>
        </a:spcBef>
        <a:buFont typeface="Arial" panose="020B0604020202020204" pitchFamily="34" charset="0"/>
        <a:buChar char="•"/>
        <a:defRPr sz="1600" kern="1200">
          <a:solidFill>
            <a:schemeClr val="tx1"/>
          </a:solidFill>
          <a:latin typeface="+mn-lt"/>
          <a:ea typeface="+mn-ea"/>
          <a:cs typeface="+mn-cs"/>
        </a:defRPr>
      </a:lvl4pPr>
      <a:lvl5pPr marL="914400" indent="-182880" algn="l" defTabSz="914378" rtl="0" eaLnBrk="1" latinLnBrk="0" hangingPunct="1">
        <a:lnSpc>
          <a:spcPct val="90000"/>
        </a:lnSpc>
        <a:spcBef>
          <a:spcPts val="0"/>
        </a:spcBef>
        <a:buFont typeface="Arial" panose="020B0604020202020204" pitchFamily="34" charset="0"/>
        <a:buChar char="•"/>
        <a:tabLst/>
        <a:defRPr sz="1600" kern="1200">
          <a:solidFill>
            <a:schemeClr val="tx1"/>
          </a:solidFill>
          <a:latin typeface="+mn-lt"/>
          <a:ea typeface="+mn-ea"/>
          <a:cs typeface="+mn-cs"/>
        </a:defRPr>
      </a:lvl5pPr>
      <a:lvl6pPr marL="109728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6pPr>
      <a:lvl7pPr marL="128016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7pPr>
      <a:lvl8pPr marL="146304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8pPr>
      <a:lvl9pPr marL="164592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378" rtl="0" eaLnBrk="1" latinLnBrk="0" hangingPunct="1">
        <a:defRPr sz="1000" kern="1200">
          <a:solidFill>
            <a:schemeClr val="tx1"/>
          </a:solidFill>
          <a:latin typeface="+mn-lt"/>
          <a:ea typeface="+mn-ea"/>
          <a:cs typeface="+mn-cs"/>
        </a:defRPr>
      </a:lvl1pPr>
      <a:lvl2pPr marL="0" algn="l" defTabSz="914378" rtl="0" eaLnBrk="1" latinLnBrk="0" hangingPunct="1">
        <a:defRPr sz="1200" kern="1200">
          <a:solidFill>
            <a:schemeClr val="tx1"/>
          </a:solidFill>
          <a:latin typeface="+mn-lt"/>
          <a:ea typeface="+mn-ea"/>
          <a:cs typeface="+mn-cs"/>
        </a:defRPr>
      </a:lvl2pPr>
      <a:lvl3pPr marL="0" algn="l" defTabSz="914378" rtl="0" eaLnBrk="1" latinLnBrk="0" hangingPunct="1">
        <a:defRPr sz="1200" kern="1200">
          <a:solidFill>
            <a:schemeClr val="tx1"/>
          </a:solidFill>
          <a:latin typeface="+mn-lt"/>
          <a:ea typeface="+mn-ea"/>
          <a:cs typeface="+mn-cs"/>
        </a:defRPr>
      </a:lvl3pPr>
      <a:lvl4pPr marL="0" algn="l" defTabSz="914378" rtl="0" eaLnBrk="1" latinLnBrk="0" hangingPunct="1">
        <a:defRPr sz="1200" kern="1200">
          <a:solidFill>
            <a:schemeClr val="tx1"/>
          </a:solidFill>
          <a:latin typeface="+mn-lt"/>
          <a:ea typeface="+mn-ea"/>
          <a:cs typeface="+mn-cs"/>
        </a:defRPr>
      </a:lvl4pPr>
      <a:lvl5pPr marL="0" algn="l" defTabSz="914378" rtl="0" eaLnBrk="1" latinLnBrk="0" hangingPunct="1">
        <a:defRPr sz="1200" kern="1200">
          <a:solidFill>
            <a:schemeClr val="tx1"/>
          </a:solidFill>
          <a:latin typeface="+mn-lt"/>
          <a:ea typeface="+mn-ea"/>
          <a:cs typeface="+mn-cs"/>
        </a:defRPr>
      </a:lvl5pPr>
      <a:lvl6pPr marL="0" algn="l" defTabSz="914378" rtl="0" eaLnBrk="1" latinLnBrk="0" hangingPunct="1">
        <a:defRPr sz="1200" kern="1200">
          <a:solidFill>
            <a:schemeClr val="tx1"/>
          </a:solidFill>
          <a:latin typeface="+mn-lt"/>
          <a:ea typeface="+mn-ea"/>
          <a:cs typeface="+mn-cs"/>
        </a:defRPr>
      </a:lvl6pPr>
      <a:lvl7pPr marL="0" algn="l" defTabSz="914378" rtl="0" eaLnBrk="1" latinLnBrk="0" hangingPunct="1">
        <a:defRPr sz="1200" kern="1200">
          <a:solidFill>
            <a:schemeClr val="tx1"/>
          </a:solidFill>
          <a:latin typeface="+mn-lt"/>
          <a:ea typeface="+mn-ea"/>
          <a:cs typeface="+mn-cs"/>
        </a:defRPr>
      </a:lvl7pPr>
      <a:lvl8pPr marL="0" algn="l" defTabSz="914378" rtl="0" eaLnBrk="1" latinLnBrk="0" hangingPunct="1">
        <a:defRPr sz="1200" kern="1200">
          <a:solidFill>
            <a:schemeClr val="tx1"/>
          </a:solidFill>
          <a:latin typeface="+mn-lt"/>
          <a:ea typeface="+mn-ea"/>
          <a:cs typeface="+mn-cs"/>
        </a:defRPr>
      </a:lvl8pPr>
      <a:lvl9pPr marL="0" algn="l" defTabSz="914378" rtl="0" eaLnBrk="1" latinLnBrk="0" hangingPunct="1">
        <a:defRPr sz="12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guide id="3" orient="horz" pos="888" userDrawn="1">
          <p15:clr>
            <a:srgbClr val="F26B43"/>
          </p15:clr>
        </p15:guide>
        <p15:guide id="4" orient="horz" pos="4143" userDrawn="1">
          <p15:clr>
            <a:srgbClr val="F26B43"/>
          </p15:clr>
        </p15:guide>
        <p15:guide id="5" pos="552" userDrawn="1">
          <p15:clr>
            <a:srgbClr val="F26B43"/>
          </p15:clr>
        </p15:guide>
        <p15:guide id="6" pos="5640" userDrawn="1">
          <p15:clr>
            <a:srgbClr val="F26B43"/>
          </p15:clr>
        </p15:guide>
        <p15:guide id="7" pos="12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E11507D-664E-CF69-3797-35CBC90606EF}"/>
              </a:ext>
            </a:extLst>
          </p:cNvPr>
          <p:cNvSpPr>
            <a:spLocks noGrp="1"/>
          </p:cNvSpPr>
          <p:nvPr>
            <p:ph type="body" sz="quarter" idx="13"/>
          </p:nvPr>
        </p:nvSpPr>
        <p:spPr>
          <a:xfrm>
            <a:off x="3028719" y="1766656"/>
            <a:ext cx="2924211" cy="203546"/>
          </a:xfrm>
        </p:spPr>
        <p:txBody>
          <a:bodyPr vert="horz" lIns="0" tIns="0" rIns="0" bIns="0" rtlCol="0" anchor="t">
            <a:noAutofit/>
          </a:bodyPr>
          <a:lstStyle/>
          <a:p>
            <a:r>
              <a:rPr lang="en-US" dirty="0"/>
              <a:t>May 11, 2026 –</a:t>
            </a:r>
            <a:r>
              <a:rPr lang="en-US" dirty="0">
                <a:solidFill>
                  <a:srgbClr val="FF0000"/>
                </a:solidFill>
              </a:rPr>
              <a:t> DRAFT 20260330</a:t>
            </a:r>
          </a:p>
        </p:txBody>
      </p:sp>
      <p:sp>
        <p:nvSpPr>
          <p:cNvPr id="20" name="Title 19">
            <a:extLst>
              <a:ext uri="{FF2B5EF4-FFF2-40B4-BE49-F238E27FC236}">
                <a16:creationId xmlns:a16="http://schemas.microsoft.com/office/drawing/2014/main" id="{C11265DF-5AD7-B39A-FF9A-30B58DCD3391}"/>
              </a:ext>
            </a:extLst>
          </p:cNvPr>
          <p:cNvSpPr>
            <a:spLocks noGrp="1"/>
          </p:cNvSpPr>
          <p:nvPr>
            <p:ph type="ctrTitle"/>
          </p:nvPr>
        </p:nvSpPr>
        <p:spPr/>
        <p:txBody>
          <a:bodyPr/>
          <a:lstStyle/>
          <a:p>
            <a:r>
              <a:rPr lang="en-US"/>
              <a:t>Peer Group Assessment</a:t>
            </a:r>
          </a:p>
        </p:txBody>
      </p:sp>
      <p:sp>
        <p:nvSpPr>
          <p:cNvPr id="5" name="Footer Placeholder 4">
            <a:extLst>
              <a:ext uri="{FF2B5EF4-FFF2-40B4-BE49-F238E27FC236}">
                <a16:creationId xmlns:a16="http://schemas.microsoft.com/office/drawing/2014/main" id="{899F2016-120C-2137-C92E-0E8D93697BD6}"/>
              </a:ext>
            </a:extLst>
          </p:cNvPr>
          <p:cNvSpPr>
            <a:spLocks noGrp="1"/>
          </p:cNvSpPr>
          <p:nvPr>
            <p:ph type="ftr" sz="quarter" idx="16"/>
          </p:nvPr>
        </p:nvSpPr>
        <p:spPr>
          <a:xfrm>
            <a:off x="863745" y="6591503"/>
            <a:ext cx="7416510" cy="184151"/>
          </a:xfrm>
        </p:spPr>
        <p:txBody>
          <a:bodyPr/>
          <a:lstStyle/>
          <a:p>
            <a:r>
              <a:rPr lang="en-US"/>
              <a:t>These materials are confidential and to be used only by the client to whom they are addressed</a:t>
            </a:r>
          </a:p>
        </p:txBody>
      </p:sp>
      <p:sp>
        <p:nvSpPr>
          <p:cNvPr id="8" name="Text Placeholder 7">
            <a:extLst>
              <a:ext uri="{FF2B5EF4-FFF2-40B4-BE49-F238E27FC236}">
                <a16:creationId xmlns:a16="http://schemas.microsoft.com/office/drawing/2014/main" id="{961D452F-D873-6A46-5AC6-7CEE4C149D03}"/>
              </a:ext>
            </a:extLst>
          </p:cNvPr>
          <p:cNvSpPr>
            <a:spLocks noGrp="1"/>
          </p:cNvSpPr>
          <p:nvPr>
            <p:ph type="body" sz="quarter" idx="19"/>
          </p:nvPr>
        </p:nvSpPr>
        <p:spPr>
          <a:xfrm>
            <a:off x="3022769" y="4997683"/>
            <a:ext cx="5911292" cy="582985"/>
          </a:xfrm>
        </p:spPr>
        <p:txBody>
          <a:bodyPr/>
          <a:lstStyle/>
          <a:p>
            <a:r>
              <a:rPr lang="en-US" dirty="0"/>
              <a:t>Mickey Mouse, Chief Executive Officer, </a:t>
            </a:r>
            <a:r>
              <a:rPr lang="en-US" b="1" dirty="0"/>
              <a:t>ACME </a:t>
            </a:r>
            <a:r>
              <a:rPr lang="en-US" sz="800" dirty="0"/>
              <a:t>LLC</a:t>
            </a:r>
          </a:p>
          <a:p>
            <a:r>
              <a:rPr lang="en-US" dirty="0"/>
              <a:t>Minnie Mouse, Principal</a:t>
            </a:r>
            <a:r>
              <a:rPr lang="en-US"/>
              <a:t>, </a:t>
            </a:r>
            <a:r>
              <a:rPr lang="en-US" b="1"/>
              <a:t>ACME</a:t>
            </a:r>
            <a:r>
              <a:rPr lang="en-US" sz="800"/>
              <a:t>LLC</a:t>
            </a:r>
            <a:endParaRPr lang="en-US" sz="800" b="0" dirty="0"/>
          </a:p>
        </p:txBody>
      </p:sp>
    </p:spTree>
    <p:extLst>
      <p:ext uri="{BB962C8B-B14F-4D97-AF65-F5344CB8AC3E}">
        <p14:creationId xmlns:p14="http://schemas.microsoft.com/office/powerpoint/2010/main" val="135702162"/>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Content Placeholder 12">
            <a:extLst>
              <a:ext uri="{FF2B5EF4-FFF2-40B4-BE49-F238E27FC236}">
                <a16:creationId xmlns:a16="http://schemas.microsoft.com/office/drawing/2014/main" id="{EC137F75-F577-E1CC-B4CC-5E675C3B9BC7}"/>
              </a:ext>
            </a:extLst>
          </p:cNvPr>
          <p:cNvSpPr>
            <a:spLocks noGrp="1"/>
          </p:cNvSpPr>
          <p:nvPr>
            <p:ph idx="1"/>
          </p:nvPr>
        </p:nvSpPr>
        <p:spPr>
          <a:xfrm>
            <a:off x="771824" y="1567442"/>
            <a:ext cx="8074395" cy="4085530"/>
          </a:xfrm>
        </p:spPr>
        <p:txBody>
          <a:bodyPr/>
          <a:lstStyle/>
          <a:p>
            <a:pPr>
              <a:spcBef>
                <a:spcPts val="300"/>
              </a:spcBef>
              <a:spcAft>
                <a:spcPts val="600"/>
              </a:spcAft>
            </a:pPr>
            <a:r>
              <a:rPr lang="en-US" dirty="0"/>
              <a:t>ACME conducted its annual review of </a:t>
            </a:r>
            <a:r>
              <a:rPr lang="en-US" dirty="0" err="1"/>
              <a:t>Goofy’s</a:t>
            </a:r>
            <a:r>
              <a:rPr lang="en-US" dirty="0"/>
              <a:t> compensation peer group</a:t>
            </a:r>
          </a:p>
          <a:p>
            <a:pPr>
              <a:spcBef>
                <a:spcPts val="300"/>
              </a:spcBef>
              <a:spcAft>
                <a:spcPts val="600"/>
              </a:spcAft>
            </a:pPr>
            <a:r>
              <a:rPr lang="en-US" dirty="0"/>
              <a:t>We updated our peer screening criteria to align with </a:t>
            </a:r>
            <a:r>
              <a:rPr lang="en-US" dirty="0" err="1"/>
              <a:t>Goofy’s</a:t>
            </a:r>
            <a:r>
              <a:rPr lang="en-US" dirty="0"/>
              <a:t> evolving business model</a:t>
            </a:r>
          </a:p>
          <a:p>
            <a:pPr>
              <a:spcBef>
                <a:spcPts val="300"/>
              </a:spcBef>
              <a:spcAft>
                <a:spcPts val="600"/>
              </a:spcAft>
            </a:pPr>
            <a:r>
              <a:rPr lang="en-US" dirty="0"/>
              <a:t>We also used AI to assist us in identifying additional potential peers that had not been previously assessed, re-evaluated companies considered last year, and assessed the impact of M&amp;A activity among the existing peers</a:t>
            </a:r>
          </a:p>
          <a:p>
            <a:pPr>
              <a:spcBef>
                <a:spcPts val="300"/>
              </a:spcBef>
              <a:spcAft>
                <a:spcPts val="600"/>
              </a:spcAft>
            </a:pPr>
            <a:r>
              <a:rPr lang="en-US" dirty="0" err="1"/>
              <a:t>Goofy's</a:t>
            </a:r>
            <a:r>
              <a:rPr lang="en-US" dirty="0"/>
              <a:t> current peers still meet the screening criteria; however, Hologic has been acquired by Blackstone/TPG and will need to be removed from the peer group next year</a:t>
            </a:r>
          </a:p>
          <a:p>
            <a:pPr>
              <a:spcBef>
                <a:spcPts val="300"/>
              </a:spcBef>
              <a:spcAft>
                <a:spcPts val="600"/>
              </a:spcAft>
            </a:pPr>
            <a:r>
              <a:rPr lang="en-US" dirty="0"/>
              <a:t>None of the potential additional companies we identified sufficiently met the screening criteria to warrant inclusion in </a:t>
            </a:r>
            <a:r>
              <a:rPr lang="en-US" dirty="0" err="1"/>
              <a:t>Goofy’s</a:t>
            </a:r>
            <a:r>
              <a:rPr lang="en-US" dirty="0"/>
              <a:t> peer group</a:t>
            </a:r>
          </a:p>
          <a:p>
            <a:pPr>
              <a:spcBef>
                <a:spcPts val="300"/>
              </a:spcBef>
              <a:spcAft>
                <a:spcPts val="600"/>
              </a:spcAft>
            </a:pPr>
            <a:endParaRPr lang="en-US" dirty="0"/>
          </a:p>
          <a:p>
            <a:pPr>
              <a:spcAft>
                <a:spcPts val="600"/>
              </a:spcAft>
            </a:pPr>
            <a:endParaRPr lang="en-US" sz="1400" dirty="0"/>
          </a:p>
        </p:txBody>
      </p:sp>
      <p:sp>
        <p:nvSpPr>
          <p:cNvPr id="3" name="Footer Placeholder 2">
            <a:extLst>
              <a:ext uri="{FF2B5EF4-FFF2-40B4-BE49-F238E27FC236}">
                <a16:creationId xmlns:a16="http://schemas.microsoft.com/office/drawing/2014/main" id="{4EF4EF25-ADB1-4CC2-C52A-F31B5B8327F9}"/>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4" name="Title 3">
            <a:extLst>
              <a:ext uri="{FF2B5EF4-FFF2-40B4-BE49-F238E27FC236}">
                <a16:creationId xmlns:a16="http://schemas.microsoft.com/office/drawing/2014/main" id="{7BDBFE6C-9558-B815-3616-C690C2C38EF0}"/>
              </a:ext>
            </a:extLst>
          </p:cNvPr>
          <p:cNvSpPr>
            <a:spLocks noGrp="1"/>
          </p:cNvSpPr>
          <p:nvPr>
            <p:ph type="title"/>
          </p:nvPr>
        </p:nvSpPr>
        <p:spPr>
          <a:xfrm>
            <a:off x="863988" y="307424"/>
            <a:ext cx="8074152" cy="957097"/>
          </a:xfrm>
        </p:spPr>
        <p:txBody>
          <a:bodyPr/>
          <a:lstStyle/>
          <a:p>
            <a:r>
              <a:rPr lang="en-US" dirty="0"/>
              <a:t>Executive Summary: ACME recommends no changes to </a:t>
            </a:r>
            <a:r>
              <a:rPr lang="en-US" dirty="0" err="1"/>
              <a:t>Goofy’s</a:t>
            </a:r>
            <a:r>
              <a:rPr lang="en-US" dirty="0"/>
              <a:t> peer group at this time. Hologic removal is expected next year due to their acquisition by Blackstone/TPG</a:t>
            </a:r>
          </a:p>
        </p:txBody>
      </p:sp>
    </p:spTree>
    <p:extLst>
      <p:ext uri="{BB962C8B-B14F-4D97-AF65-F5344CB8AC3E}">
        <p14:creationId xmlns:p14="http://schemas.microsoft.com/office/powerpoint/2010/main" val="599939218"/>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87F8A-F17F-E105-811E-F1AE7DD5698A}"/>
            </a:ext>
          </a:extLst>
        </p:cNvPr>
        <p:cNvGrpSpPr/>
        <p:nvPr/>
      </p:nvGrpSpPr>
      <p:grpSpPr>
        <a:xfrm>
          <a:off x="0" y="0"/>
          <a:ext cx="0" cy="0"/>
          <a:chOff x="0" y="0"/>
          <a:chExt cx="0" cy="0"/>
        </a:xfrm>
      </p:grpSpPr>
      <p:sp>
        <p:nvSpPr>
          <p:cNvPr id="5" name="Footer Placeholder 1">
            <a:extLst>
              <a:ext uri="{FF2B5EF4-FFF2-40B4-BE49-F238E27FC236}">
                <a16:creationId xmlns:a16="http://schemas.microsoft.com/office/drawing/2014/main" id="{A16EE0D9-F3C0-0B99-CB6A-ED9CF97D0D99}"/>
              </a:ext>
            </a:extLst>
          </p:cNvPr>
          <p:cNvSpPr>
            <a:spLocks noGrp="1"/>
          </p:cNvSpPr>
          <p:nvPr>
            <p:ph type="ftr" sz="quarter" idx="11"/>
          </p:nvPr>
        </p:nvSpPr>
        <p:spPr/>
        <p:txBody>
          <a:bodyPr/>
          <a:lstStyle/>
          <a:p>
            <a:r>
              <a:rPr lang="en-US" dirty="0"/>
              <a:t>These materials are confidential and to be used only by the client to whom they are addressed</a:t>
            </a:r>
          </a:p>
        </p:txBody>
      </p:sp>
      <p:sp>
        <p:nvSpPr>
          <p:cNvPr id="2" name="Title 1">
            <a:extLst>
              <a:ext uri="{FF2B5EF4-FFF2-40B4-BE49-F238E27FC236}">
                <a16:creationId xmlns:a16="http://schemas.microsoft.com/office/drawing/2014/main" id="{DCD5F7FB-64B6-8861-A3B3-CCF3BA31441F}"/>
              </a:ext>
            </a:extLst>
          </p:cNvPr>
          <p:cNvSpPr>
            <a:spLocks noGrp="1"/>
          </p:cNvSpPr>
          <p:nvPr>
            <p:ph type="title"/>
          </p:nvPr>
        </p:nvSpPr>
        <p:spPr>
          <a:xfrm>
            <a:off x="845852" y="182761"/>
            <a:ext cx="8074152" cy="1466171"/>
          </a:xfrm>
        </p:spPr>
        <p:txBody>
          <a:bodyPr/>
          <a:lstStyle/>
          <a:p>
            <a:r>
              <a:rPr lang="en-US" dirty="0"/>
              <a:t>Each year, ACME reviews </a:t>
            </a:r>
            <a:r>
              <a:rPr lang="en-US" dirty="0" err="1"/>
              <a:t>Goofy’s</a:t>
            </a:r>
            <a:r>
              <a:rPr lang="en-US" dirty="0"/>
              <a:t> Compensation Peer Group to ensure the best size, business, and strategic fit possible. Given the analytic work conducted by ACME in prior years, we took a more cursory approach this year, leveraging AI</a:t>
            </a:r>
          </a:p>
        </p:txBody>
      </p:sp>
      <p:sp>
        <p:nvSpPr>
          <p:cNvPr id="3" name="Content Placeholder 2">
            <a:extLst>
              <a:ext uri="{FF2B5EF4-FFF2-40B4-BE49-F238E27FC236}">
                <a16:creationId xmlns:a16="http://schemas.microsoft.com/office/drawing/2014/main" id="{1ABB32CA-8F4F-04AE-8A79-ACAD8DD5F9D2}"/>
              </a:ext>
            </a:extLst>
          </p:cNvPr>
          <p:cNvSpPr>
            <a:spLocks noGrp="1"/>
          </p:cNvSpPr>
          <p:nvPr>
            <p:ph idx="4294967295"/>
          </p:nvPr>
        </p:nvSpPr>
        <p:spPr>
          <a:xfrm>
            <a:off x="5265955" y="2015685"/>
            <a:ext cx="3517826" cy="2710716"/>
          </a:xfrm>
          <a:ln>
            <a:solidFill>
              <a:schemeClr val="tx1"/>
            </a:solidFill>
          </a:ln>
        </p:spPr>
        <p:txBody>
          <a:bodyPr vert="horz" lIns="91440" tIns="91440" rIns="91440" bIns="91440" rtlCol="0" anchor="t">
            <a:noAutofit/>
          </a:bodyPr>
          <a:lstStyle/>
          <a:p>
            <a:pPr marL="228600" indent="-128588"/>
            <a:r>
              <a:rPr lang="en-US" sz="1200" dirty="0"/>
              <a:t>Should, and if so, how should our screening criteria evolve given:</a:t>
            </a:r>
          </a:p>
          <a:p>
            <a:pPr marL="411480" lvl="1" indent="-128588"/>
            <a:r>
              <a:rPr lang="en-US" sz="1200" dirty="0" err="1"/>
              <a:t>Goofy’s</a:t>
            </a:r>
            <a:r>
              <a:rPr lang="en-US" sz="1200" dirty="0"/>
              <a:t> growth on the top line? In its mix of recurring revenue?</a:t>
            </a:r>
          </a:p>
          <a:p>
            <a:pPr marL="411480" lvl="1" indent="-128588"/>
            <a:r>
              <a:rPr lang="en-US" sz="1200" dirty="0" err="1"/>
              <a:t>Goofy’s</a:t>
            </a:r>
            <a:r>
              <a:rPr lang="en-US" sz="1200" dirty="0"/>
              <a:t> strategic thrusts into:</a:t>
            </a:r>
          </a:p>
          <a:p>
            <a:pPr marL="576263" lvl="2" indent="-128588"/>
            <a:r>
              <a:rPr lang="en-US" sz="1200" dirty="0"/>
              <a:t>New installations and diagnostic tests?</a:t>
            </a:r>
          </a:p>
          <a:p>
            <a:pPr marL="576263" lvl="2" indent="-128588"/>
            <a:r>
              <a:rPr lang="en-US" sz="1200" dirty="0"/>
              <a:t>Goofy’s engagement with the pet parent (B2B2C and B2C)?</a:t>
            </a:r>
          </a:p>
          <a:p>
            <a:pPr marL="576263" lvl="2" indent="-128588"/>
            <a:r>
              <a:rPr lang="en-US" sz="1200" dirty="0"/>
              <a:t>Goofy’s penetration of international markets, especially Europe</a:t>
            </a:r>
          </a:p>
          <a:p>
            <a:pPr marL="215583" indent="-166688"/>
            <a:r>
              <a:rPr lang="en-US" sz="1200" dirty="0"/>
              <a:t>How do our current peers perform against our updated screening criteria?</a:t>
            </a:r>
          </a:p>
          <a:p>
            <a:pPr marL="215583" indent="-166688"/>
            <a:r>
              <a:rPr lang="en-US" sz="1200" dirty="0"/>
              <a:t>Are there other companies, besides those we identified and evaluated in the past, that should be considered? </a:t>
            </a:r>
          </a:p>
        </p:txBody>
      </p:sp>
      <p:sp>
        <p:nvSpPr>
          <p:cNvPr id="12" name="TextBox 11">
            <a:extLst>
              <a:ext uri="{FF2B5EF4-FFF2-40B4-BE49-F238E27FC236}">
                <a16:creationId xmlns:a16="http://schemas.microsoft.com/office/drawing/2014/main" id="{DE19D66B-C281-5495-1796-D5E962950321}"/>
              </a:ext>
            </a:extLst>
          </p:cNvPr>
          <p:cNvSpPr txBox="1"/>
          <p:nvPr/>
        </p:nvSpPr>
        <p:spPr>
          <a:xfrm>
            <a:off x="5265955" y="1795446"/>
            <a:ext cx="3517826" cy="228600"/>
          </a:xfrm>
          <a:prstGeom prst="rect">
            <a:avLst/>
          </a:prstGeom>
          <a:solidFill>
            <a:schemeClr val="tx2"/>
          </a:solidFill>
          <a:ln>
            <a:solidFill>
              <a:schemeClr val="tx1"/>
            </a:solidFill>
          </a:ln>
        </p:spPr>
        <p:txBody>
          <a:bodyPr vert="horz" wrap="square" lIns="45720" tIns="45720" rIns="45720" bIns="45720" rtlCol="0" anchor="ctr">
            <a:spAutoFit/>
          </a:bodyPr>
          <a:lstStyle/>
          <a:p>
            <a:pPr algn="ctr">
              <a:lnSpc>
                <a:spcPct val="85000"/>
              </a:lnSpc>
            </a:pPr>
            <a:r>
              <a:rPr lang="en-US" sz="1200" b="1">
                <a:solidFill>
                  <a:schemeClr val="bg1"/>
                </a:solidFill>
              </a:rPr>
              <a:t>Key Areas of Inquiry</a:t>
            </a:r>
          </a:p>
        </p:txBody>
      </p:sp>
      <p:graphicFrame>
        <p:nvGraphicFramePr>
          <p:cNvPr id="4" name="Table 3">
            <a:extLst>
              <a:ext uri="{FF2B5EF4-FFF2-40B4-BE49-F238E27FC236}">
                <a16:creationId xmlns:a16="http://schemas.microsoft.com/office/drawing/2014/main" id="{DBFCC1EC-B9CD-FC88-DC2E-8099781B8D5A}"/>
              </a:ext>
            </a:extLst>
          </p:cNvPr>
          <p:cNvGraphicFramePr>
            <a:graphicFrameLocks noGrp="1"/>
          </p:cNvGraphicFramePr>
          <p:nvPr>
            <p:extLst>
              <p:ext uri="{D42A27DB-BD31-4B8C-83A1-F6EECF244321}">
                <p14:modId xmlns:p14="http://schemas.microsoft.com/office/powerpoint/2010/main" val="3832118726"/>
              </p:ext>
            </p:extLst>
          </p:nvPr>
        </p:nvGraphicFramePr>
        <p:xfrm>
          <a:off x="345814" y="2076823"/>
          <a:ext cx="4619625" cy="3513328"/>
        </p:xfrm>
        <a:graphic>
          <a:graphicData uri="http://schemas.openxmlformats.org/drawingml/2006/table">
            <a:tbl>
              <a:tblPr/>
              <a:tblGrid>
                <a:gridCol w="1188720">
                  <a:extLst>
                    <a:ext uri="{9D8B030D-6E8A-4147-A177-3AD203B41FA5}">
                      <a16:colId xmlns:a16="http://schemas.microsoft.com/office/drawing/2014/main" val="1449894947"/>
                    </a:ext>
                  </a:extLst>
                </a:gridCol>
                <a:gridCol w="566928">
                  <a:extLst>
                    <a:ext uri="{9D8B030D-6E8A-4147-A177-3AD203B41FA5}">
                      <a16:colId xmlns:a16="http://schemas.microsoft.com/office/drawing/2014/main" val="3812266679"/>
                    </a:ext>
                  </a:extLst>
                </a:gridCol>
                <a:gridCol w="712089">
                  <a:extLst>
                    <a:ext uri="{9D8B030D-6E8A-4147-A177-3AD203B41FA5}">
                      <a16:colId xmlns:a16="http://schemas.microsoft.com/office/drawing/2014/main" val="2673404662"/>
                    </a:ext>
                  </a:extLst>
                </a:gridCol>
                <a:gridCol w="566928">
                  <a:extLst>
                    <a:ext uri="{9D8B030D-6E8A-4147-A177-3AD203B41FA5}">
                      <a16:colId xmlns:a16="http://schemas.microsoft.com/office/drawing/2014/main" val="1920127421"/>
                    </a:ext>
                  </a:extLst>
                </a:gridCol>
                <a:gridCol w="944880">
                  <a:extLst>
                    <a:ext uri="{9D8B030D-6E8A-4147-A177-3AD203B41FA5}">
                      <a16:colId xmlns:a16="http://schemas.microsoft.com/office/drawing/2014/main" val="3385852825"/>
                    </a:ext>
                  </a:extLst>
                </a:gridCol>
                <a:gridCol w="640080">
                  <a:extLst>
                    <a:ext uri="{9D8B030D-6E8A-4147-A177-3AD203B41FA5}">
                      <a16:colId xmlns:a16="http://schemas.microsoft.com/office/drawing/2014/main" val="2703639312"/>
                    </a:ext>
                  </a:extLst>
                </a:gridCol>
              </a:tblGrid>
              <a:tr h="130289">
                <a:tc>
                  <a:txBody>
                    <a:bodyPr/>
                    <a:lstStyle/>
                    <a:p>
                      <a:pPr algn="l" fontAlgn="b">
                        <a:lnSpc>
                          <a:spcPct val="90000"/>
                        </a:lnSpc>
                      </a:pPr>
                      <a:r>
                        <a:rPr lang="en-US" sz="1000" b="1" i="1" u="none" strike="noStrike" dirty="0">
                          <a:solidFill>
                            <a:srgbClr val="FFFFFF"/>
                          </a:solidFill>
                          <a:effectLst/>
                          <a:latin typeface="Calibri" panose="020F0502020204030204" pitchFamily="34" charset="0"/>
                        </a:rPr>
                        <a:t>($MM)</a:t>
                      </a:r>
                    </a:p>
                  </a:txBody>
                  <a:tcPr marL="27432" marR="27432" marT="0" marB="9144" anchor="b">
                    <a:lnL>
                      <a:noFill/>
                    </a:lnL>
                    <a:lnR>
                      <a:noFill/>
                    </a:lnR>
                    <a:lnT w="6350" cap="flat" cmpd="sng" algn="ctr">
                      <a:solidFill>
                        <a:srgbClr val="000000"/>
                      </a:solidFill>
                      <a:prstDash val="solid"/>
                      <a:round/>
                      <a:headEnd type="none" w="med" len="med"/>
                      <a:tailEnd type="none" w="med" len="med"/>
                    </a:lnT>
                    <a:lnB>
                      <a:noFill/>
                    </a:lnB>
                    <a:solidFill>
                      <a:srgbClr val="006EBE"/>
                    </a:solidFill>
                  </a:tcPr>
                </a:tc>
                <a:tc rowSpan="2">
                  <a:txBody>
                    <a:bodyPr/>
                    <a:lstStyle/>
                    <a:p>
                      <a:pPr algn="ctr" fontAlgn="b">
                        <a:lnSpc>
                          <a:spcPct val="90000"/>
                        </a:lnSpc>
                      </a:pPr>
                      <a:r>
                        <a:rPr lang="en-US" sz="1000" b="1" i="0" u="none" strike="noStrike">
                          <a:solidFill>
                            <a:srgbClr val="FFFFFF"/>
                          </a:solidFill>
                          <a:effectLst/>
                          <a:latin typeface="Calibri" panose="020F0502020204030204" pitchFamily="34" charset="0"/>
                        </a:rPr>
                        <a:t> </a:t>
                      </a:r>
                    </a:p>
                    <a:p>
                      <a:pPr algn="ctr" fontAlgn="b">
                        <a:lnSpc>
                          <a:spcPct val="90000"/>
                        </a:lnSpc>
                      </a:pPr>
                      <a:r>
                        <a:rPr lang="en-US" sz="1000" b="1" i="0" u="none" strike="noStrike">
                          <a:solidFill>
                            <a:srgbClr val="FFFFFF"/>
                          </a:solidFill>
                          <a:effectLst/>
                          <a:latin typeface="Calibri" panose="020F0502020204030204" pitchFamily="34" charset="0"/>
                        </a:rPr>
                        <a:t>Industry</a:t>
                      </a:r>
                    </a:p>
                  </a:txBody>
                  <a:tcPr marL="27432" marR="27432" marT="0"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rowSpan="2">
                  <a:txBody>
                    <a:bodyPr/>
                    <a:lstStyle/>
                    <a:p>
                      <a:pPr algn="ctr" fontAlgn="b">
                        <a:lnSpc>
                          <a:spcPct val="90000"/>
                        </a:lnSpc>
                      </a:pPr>
                      <a:r>
                        <a:rPr lang="en-US" sz="1000" b="1" i="0" u="none" strike="noStrike">
                          <a:solidFill>
                            <a:srgbClr val="FFFFFF"/>
                          </a:solidFill>
                          <a:effectLst/>
                          <a:latin typeface="Calibri" panose="020F0502020204030204" pitchFamily="34" charset="0"/>
                        </a:rPr>
                        <a:t> </a:t>
                      </a:r>
                    </a:p>
                    <a:p>
                      <a:pPr algn="ctr" fontAlgn="b">
                        <a:lnSpc>
                          <a:spcPct val="90000"/>
                        </a:lnSpc>
                      </a:pPr>
                      <a:r>
                        <a:rPr lang="en-US" sz="1000" b="1" i="0" u="none" strike="noStrike">
                          <a:solidFill>
                            <a:srgbClr val="FFFFFF"/>
                          </a:solidFill>
                          <a:effectLst/>
                          <a:latin typeface="Calibri" panose="020F0502020204030204" pitchFamily="34" charset="0"/>
                        </a:rPr>
                        <a:t>FYE</a:t>
                      </a:r>
                    </a:p>
                    <a:p>
                      <a:pPr algn="ctr" fontAlgn="b">
                        <a:lnSpc>
                          <a:spcPct val="90000"/>
                        </a:lnSpc>
                      </a:pPr>
                      <a:r>
                        <a:rPr lang="en-US" sz="1000" b="1" i="0" u="none" strike="noStrike">
                          <a:solidFill>
                            <a:srgbClr val="FFFFFF"/>
                          </a:solidFill>
                          <a:effectLst/>
                          <a:latin typeface="Calibri" panose="020F0502020204030204" pitchFamily="34" charset="0"/>
                        </a:rPr>
                        <a:t>MM/DD</a:t>
                      </a:r>
                    </a:p>
                  </a:txBody>
                  <a:tcPr marL="27432" marR="27432" marT="0"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rowSpan="2">
                  <a:txBody>
                    <a:bodyPr/>
                    <a:lstStyle/>
                    <a:p>
                      <a:pPr algn="ctr" fontAlgn="b">
                        <a:lnSpc>
                          <a:spcPct val="90000"/>
                        </a:lnSpc>
                      </a:pPr>
                      <a:r>
                        <a:rPr lang="en-US" sz="1000" b="1" i="0" u="none" strike="noStrike">
                          <a:solidFill>
                            <a:srgbClr val="FFFFFF"/>
                          </a:solidFill>
                          <a:effectLst/>
                          <a:latin typeface="Calibri" panose="020F0502020204030204" pitchFamily="34" charset="0"/>
                        </a:rPr>
                        <a:t>FYE</a:t>
                      </a:r>
                    </a:p>
                    <a:p>
                      <a:pPr algn="ctr" fontAlgn="b">
                        <a:lnSpc>
                          <a:spcPct val="90000"/>
                        </a:lnSpc>
                      </a:pPr>
                      <a:r>
                        <a:rPr lang="en-US" sz="1000" b="1" i="0" u="none" strike="noStrike">
                          <a:solidFill>
                            <a:srgbClr val="FFFFFF"/>
                          </a:solidFill>
                          <a:effectLst/>
                          <a:latin typeface="Calibri" panose="020F0502020204030204" pitchFamily="34" charset="0"/>
                        </a:rPr>
                        <a:t>Revenue</a:t>
                      </a:r>
                    </a:p>
                  </a:txBody>
                  <a:tcPr marL="27432" marR="27432" marT="0"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rowSpan="2">
                  <a:txBody>
                    <a:bodyPr/>
                    <a:lstStyle/>
                    <a:p>
                      <a:pPr algn="ctr" fontAlgn="b">
                        <a:lnSpc>
                          <a:spcPct val="90000"/>
                        </a:lnSpc>
                      </a:pPr>
                      <a:r>
                        <a:rPr lang="en-US" sz="1000" b="1" i="0" u="none" strike="noStrike">
                          <a:solidFill>
                            <a:srgbClr val="FFFFFF"/>
                          </a:solidFill>
                          <a:effectLst/>
                          <a:latin typeface="Calibri" panose="020F0502020204030204" pitchFamily="34" charset="0"/>
                        </a:rPr>
                        <a:t>Market Cap</a:t>
                      </a:r>
                    </a:p>
                    <a:p>
                      <a:pPr algn="ctr" fontAlgn="b">
                        <a:lnSpc>
                          <a:spcPct val="90000"/>
                        </a:lnSpc>
                      </a:pPr>
                      <a:r>
                        <a:rPr lang="en-US" sz="1000" b="1" i="0" u="none" strike="noStrike">
                          <a:solidFill>
                            <a:srgbClr val="FFFFFF"/>
                          </a:solidFill>
                          <a:effectLst/>
                          <a:latin typeface="Calibri" panose="020F0502020204030204" pitchFamily="34" charset="0"/>
                        </a:rPr>
                        <a:t>as of 3/1/2026</a:t>
                      </a:r>
                    </a:p>
                  </a:txBody>
                  <a:tcPr marL="27432" marR="27432" marT="0"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rowSpan="2">
                  <a:txBody>
                    <a:bodyPr/>
                    <a:lstStyle/>
                    <a:p>
                      <a:pPr algn="ctr" fontAlgn="b">
                        <a:lnSpc>
                          <a:spcPct val="90000"/>
                        </a:lnSpc>
                      </a:pPr>
                      <a:r>
                        <a:rPr lang="en-US" sz="1000" b="1" i="0" u="none" strike="noStrike">
                          <a:solidFill>
                            <a:srgbClr val="FFFFFF"/>
                          </a:solidFill>
                          <a:effectLst/>
                          <a:latin typeface="Calibri" panose="020F0502020204030204" pitchFamily="34" charset="0"/>
                        </a:rPr>
                        <a:t>Market Cap to Revenue</a:t>
                      </a:r>
                    </a:p>
                  </a:txBody>
                  <a:tcPr marL="27432" marR="27432" marT="0"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2381089968"/>
                  </a:ext>
                </a:extLst>
              </a:tr>
              <a:tr h="130289">
                <a:tc>
                  <a:txBody>
                    <a:bodyPr/>
                    <a:lstStyle/>
                    <a:p>
                      <a:pPr algn="ctr" fontAlgn="b">
                        <a:lnSpc>
                          <a:spcPct val="90000"/>
                        </a:lnSpc>
                      </a:pPr>
                      <a:r>
                        <a:rPr lang="en-US" sz="1000" b="1" i="0" u="none" strike="noStrike">
                          <a:solidFill>
                            <a:srgbClr val="FFFFFF"/>
                          </a:solidFill>
                          <a:effectLst/>
                          <a:latin typeface="Calibri" panose="020F0502020204030204" pitchFamily="34" charset="0"/>
                        </a:rPr>
                        <a:t>Company</a:t>
                      </a:r>
                    </a:p>
                  </a:txBody>
                  <a:tcPr marL="27432" marR="27432" marT="0" marB="9144" anchor="b">
                    <a:lnL>
                      <a:noFill/>
                    </a:lnL>
                    <a:lnR>
                      <a:noFill/>
                    </a:lnR>
                    <a:lnT>
                      <a:noFill/>
                    </a:lnT>
                    <a:lnB w="6350" cap="flat" cmpd="sng" algn="ctr">
                      <a:solidFill>
                        <a:srgbClr val="000000"/>
                      </a:solidFill>
                      <a:prstDash val="solid"/>
                      <a:round/>
                      <a:headEnd type="none" w="med" len="med"/>
                      <a:tailEnd type="none" w="med" len="med"/>
                    </a:lnB>
                    <a:solidFill>
                      <a:srgbClr val="006EBE"/>
                    </a:solidFill>
                  </a:tcPr>
                </a:tc>
                <a:tc vMerge="1">
                  <a:txBody>
                    <a:bodyPr/>
                    <a:lstStyle/>
                    <a:p>
                      <a:endParaRPr lang="en-US"/>
                    </a:p>
                  </a:txBody>
                  <a:tcPr marL="27432" marR="27432" marT="0" marB="9144" anchor="b">
                    <a:lnL>
                      <a:noFill/>
                    </a:lnL>
                    <a:lnR>
                      <a:noFill/>
                    </a:lnR>
                    <a:lnT>
                      <a:noFill/>
                    </a:lnT>
                    <a:lnB w="6350" cap="flat" cmpd="sng" algn="ctr">
                      <a:solidFill>
                        <a:srgbClr val="000000"/>
                      </a:solidFill>
                      <a:prstDash val="solid"/>
                      <a:round/>
                      <a:headEnd type="none" w="med" len="med"/>
                      <a:tailEnd type="none" w="med" len="med"/>
                    </a:lnB>
                    <a:solidFill>
                      <a:srgbClr val="006EBE"/>
                    </a:solidFill>
                  </a:tcPr>
                </a:tc>
                <a:tc vMerge="1">
                  <a:txBody>
                    <a:bodyPr/>
                    <a:lstStyle/>
                    <a:p>
                      <a:endParaRPr lang="en-US"/>
                    </a:p>
                  </a:txBody>
                  <a:tcPr marL="27432" marR="27432" marT="0" marB="9144" anchor="b">
                    <a:lnL>
                      <a:noFill/>
                    </a:lnL>
                    <a:lnR>
                      <a:noFill/>
                    </a:lnR>
                    <a:lnT>
                      <a:noFill/>
                    </a:lnT>
                    <a:lnB w="6350" cap="flat" cmpd="sng" algn="ctr">
                      <a:solidFill>
                        <a:srgbClr val="000000"/>
                      </a:solidFill>
                      <a:prstDash val="solid"/>
                      <a:round/>
                      <a:headEnd type="none" w="med" len="med"/>
                      <a:tailEnd type="none" w="med" len="med"/>
                    </a:lnB>
                    <a:solidFill>
                      <a:srgbClr val="006EBE"/>
                    </a:solidFill>
                  </a:tcPr>
                </a:tc>
                <a:tc vMerge="1">
                  <a:txBody>
                    <a:bodyPr/>
                    <a:lstStyle/>
                    <a:p>
                      <a:endParaRPr/>
                    </a:p>
                  </a:txBody>
                  <a:tcPr marL="27432" marR="27432" marT="0" marB="9144" anchor="b">
                    <a:lnL>
                      <a:noFill/>
                    </a:lnL>
                    <a:lnR>
                      <a:noFill/>
                    </a:lnR>
                    <a:lnT>
                      <a:noFill/>
                    </a:lnT>
                    <a:lnB w="6350" cap="flat" cmpd="sng" algn="ctr">
                      <a:solidFill>
                        <a:srgbClr val="000000"/>
                      </a:solidFill>
                      <a:prstDash val="solid"/>
                      <a:round/>
                      <a:headEnd type="none" w="med" len="med"/>
                      <a:tailEnd type="none" w="med" len="med"/>
                    </a:lnB>
                    <a:solidFill>
                      <a:srgbClr val="006EBE"/>
                    </a:solidFill>
                  </a:tcPr>
                </a:tc>
                <a:tc vMerge="1">
                  <a:txBody>
                    <a:bodyPr/>
                    <a:lstStyle/>
                    <a:p>
                      <a:endParaRPr lang="en-US"/>
                    </a:p>
                  </a:txBody>
                  <a:tcPr marL="27432" marR="27432" marT="0" marB="9144" anchor="b">
                    <a:lnL>
                      <a:noFill/>
                    </a:lnL>
                    <a:lnR>
                      <a:noFill/>
                    </a:lnR>
                    <a:lnT>
                      <a:noFill/>
                    </a:lnT>
                    <a:lnB w="6350" cap="flat" cmpd="sng" algn="ctr">
                      <a:solidFill>
                        <a:srgbClr val="000000"/>
                      </a:solidFill>
                      <a:prstDash val="solid"/>
                      <a:round/>
                      <a:headEnd type="none" w="med" len="med"/>
                      <a:tailEnd type="none" w="med" len="med"/>
                    </a:lnB>
                    <a:solidFill>
                      <a:srgbClr val="006EBE"/>
                    </a:solidFill>
                  </a:tcPr>
                </a:tc>
                <a:tc vMerge="1">
                  <a:txBody>
                    <a:bodyPr/>
                    <a:lstStyle/>
                    <a:p>
                      <a:pPr algn="ctr" fontAlgn="b">
                        <a:lnSpc>
                          <a:spcPct val="90000"/>
                        </a:lnSpc>
                      </a:pPr>
                      <a:endParaRPr lang="en-US" sz="1000" b="1" i="0" u="none" strike="noStrike">
                        <a:solidFill>
                          <a:srgbClr val="FFFFFF"/>
                        </a:solidFill>
                        <a:effectLst/>
                        <a:latin typeface="Calibri" panose="020F0502020204030204" pitchFamily="34" charset="0"/>
                      </a:endParaRPr>
                    </a:p>
                  </a:txBody>
                  <a:tcPr marL="27432" marR="27432" marT="0" marB="9144" anchor="b">
                    <a:lnL>
                      <a:noFill/>
                    </a:lnL>
                    <a:lnR>
                      <a:noFill/>
                    </a:lnR>
                    <a:lnT w="635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1201369794"/>
                  </a:ext>
                </a:extLst>
              </a:tr>
              <a:tr h="112598">
                <a:tc>
                  <a:txBody>
                    <a:bodyPr/>
                    <a:lstStyle/>
                    <a:p>
                      <a:pPr algn="l" rtl="0" fontAlgn="b">
                        <a:lnSpc>
                          <a:spcPct val="90000"/>
                        </a:lnSpc>
                        <a:buNone/>
                      </a:pPr>
                      <a:r>
                        <a:rPr lang="en-US" sz="1000" b="0" i="0" u="none" strike="noStrike">
                          <a:solidFill>
                            <a:srgbClr val="000000"/>
                          </a:solidFill>
                          <a:effectLst/>
                          <a:latin typeface="Calibri" panose="020F0502020204030204" pitchFamily="34" charset="0"/>
                        </a:rPr>
                        <a:t>Intuitive</a:t>
                      </a:r>
                    </a:p>
                  </a:txBody>
                  <a:tcPr marL="27432" marR="27432"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HCE</a:t>
                      </a:r>
                    </a:p>
                  </a:txBody>
                  <a:tcPr marL="27432" marR="27432"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12/31</a:t>
                      </a:r>
                    </a:p>
                  </a:txBody>
                  <a:tcPr marL="27432" marR="27432"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$10,065 </a:t>
                      </a:r>
                    </a:p>
                  </a:txBody>
                  <a:tcPr marL="27432" marR="27432"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$178,812 </a:t>
                      </a:r>
                    </a:p>
                  </a:txBody>
                  <a:tcPr marL="27432" marR="27432"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rtl="0" fontAlgn="b">
                        <a:buNone/>
                      </a:pPr>
                      <a:r>
                        <a:rPr lang="en-US" sz="1000" b="0" i="0" u="none" strike="noStrike">
                          <a:solidFill>
                            <a:schemeClr val="tx1"/>
                          </a:solidFill>
                          <a:effectLst/>
                          <a:latin typeface="Calibri" panose="020F0502020204030204" pitchFamily="34" charset="0"/>
                        </a:rPr>
                        <a:t>17.8X</a:t>
                      </a:r>
                    </a:p>
                  </a:txBody>
                  <a:tcPr marL="0" marR="0" marT="0" marB="0" anchor="b">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198767739"/>
                  </a:ext>
                </a:extLst>
              </a:tr>
              <a:tr h="130289">
                <a:tc>
                  <a:txBody>
                    <a:bodyPr/>
                    <a:lstStyle/>
                    <a:p>
                      <a:pPr algn="l" rtl="0" fontAlgn="b">
                        <a:lnSpc>
                          <a:spcPct val="90000"/>
                        </a:lnSpc>
                        <a:buNone/>
                      </a:pPr>
                      <a:r>
                        <a:rPr lang="en-US" sz="1000" b="0" i="0" u="none" strike="noStrike">
                          <a:solidFill>
                            <a:srgbClr val="000000"/>
                          </a:solidFill>
                          <a:effectLst/>
                          <a:latin typeface="Calibri" panose="020F0502020204030204" pitchFamily="34" charset="0"/>
                        </a:rPr>
                        <a:t>Zoetis</a:t>
                      </a:r>
                    </a:p>
                  </a:txBody>
                  <a:tcPr marL="27432" marR="27432" marT="0" marB="0" anchor="b">
                    <a:lnL>
                      <a:noFill/>
                    </a:lnL>
                    <a:lnR>
                      <a:noFill/>
                    </a:lnR>
                    <a:lnT>
                      <a:noFill/>
                    </a:lnT>
                    <a:lnB>
                      <a:noFill/>
                    </a:lnB>
                    <a:solidFill>
                      <a:schemeClr val="bg1">
                        <a:lumMod val="95000"/>
                      </a:schemeClr>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P</a:t>
                      </a:r>
                    </a:p>
                  </a:txBody>
                  <a:tcPr marL="27432" marR="27432" marT="0" marB="0" anchor="b">
                    <a:lnL>
                      <a:noFill/>
                    </a:lnL>
                    <a:lnR>
                      <a:noFill/>
                    </a:lnR>
                    <a:lnT>
                      <a:noFill/>
                    </a:lnT>
                    <a:lnB>
                      <a:noFill/>
                    </a:lnB>
                    <a:solidFill>
                      <a:schemeClr val="bg1">
                        <a:lumMod val="95000"/>
                      </a:schemeClr>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12/31</a:t>
                      </a:r>
                    </a:p>
                  </a:txBody>
                  <a:tcPr marL="27432" marR="27432" marT="0" marB="0" anchor="b">
                    <a:lnL>
                      <a:noFill/>
                    </a:lnL>
                    <a:lnR>
                      <a:noFill/>
                    </a:lnR>
                    <a:lnT>
                      <a:noFill/>
                    </a:lnT>
                    <a:lnB>
                      <a:noFill/>
                    </a:lnB>
                    <a:solidFill>
                      <a:schemeClr val="bg1">
                        <a:lumMod val="95000"/>
                      </a:schemeClr>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$9,467 </a:t>
                      </a:r>
                    </a:p>
                  </a:txBody>
                  <a:tcPr marL="27432" marR="27432" marT="0" marB="0" anchor="b">
                    <a:lnL>
                      <a:noFill/>
                    </a:lnL>
                    <a:lnR>
                      <a:noFill/>
                    </a:lnR>
                    <a:lnT>
                      <a:noFill/>
                    </a:lnT>
                    <a:lnB>
                      <a:noFill/>
                    </a:lnB>
                    <a:solidFill>
                      <a:schemeClr val="bg1">
                        <a:lumMod val="95000"/>
                      </a:schemeClr>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$55,341 </a:t>
                      </a:r>
                    </a:p>
                  </a:txBody>
                  <a:tcPr marL="27432" marR="27432" marT="0" marB="0" anchor="b">
                    <a:lnL>
                      <a:noFill/>
                    </a:lnL>
                    <a:lnR>
                      <a:noFill/>
                    </a:lnR>
                    <a:lnT>
                      <a:noFill/>
                    </a:lnT>
                    <a:lnB>
                      <a:noFill/>
                    </a:lnB>
                    <a:solidFill>
                      <a:schemeClr val="bg1">
                        <a:lumMod val="95000"/>
                      </a:schemeClr>
                    </a:solidFill>
                  </a:tcPr>
                </a:tc>
                <a:tc>
                  <a:txBody>
                    <a:bodyPr/>
                    <a:lstStyle/>
                    <a:p>
                      <a:pPr algn="ctr" rtl="0" fontAlgn="b">
                        <a:buNone/>
                      </a:pPr>
                      <a:r>
                        <a:rPr lang="en-US" sz="1000" b="0" i="0" u="none" strike="noStrike">
                          <a:solidFill>
                            <a:schemeClr val="tx1"/>
                          </a:solidFill>
                          <a:effectLst/>
                          <a:latin typeface="Calibri" panose="020F0502020204030204" pitchFamily="34" charset="0"/>
                        </a:rPr>
                        <a:t>5.8X</a:t>
                      </a:r>
                    </a:p>
                  </a:txBody>
                  <a:tcPr marL="0" marR="0" marT="0" marB="0" anchor="b">
                    <a:lnL>
                      <a:noFill/>
                    </a:lnL>
                    <a:lnR>
                      <a:noFill/>
                    </a:lnR>
                    <a:lnT>
                      <a:noFill/>
                    </a:lnT>
                    <a:lnB>
                      <a:noFill/>
                    </a:lnB>
                    <a:solidFill>
                      <a:schemeClr val="bg1">
                        <a:lumMod val="95000"/>
                      </a:schemeClr>
                    </a:solidFill>
                  </a:tcPr>
                </a:tc>
                <a:extLst>
                  <a:ext uri="{0D108BD9-81ED-4DB2-BD59-A6C34878D82A}">
                    <a16:rowId xmlns:a16="http://schemas.microsoft.com/office/drawing/2014/main" val="4135396492"/>
                  </a:ext>
                </a:extLst>
              </a:tr>
              <a:tr h="130289">
                <a:tc>
                  <a:txBody>
                    <a:bodyPr/>
                    <a:lstStyle/>
                    <a:p>
                      <a:pPr algn="l" rtl="0" fontAlgn="b">
                        <a:lnSpc>
                          <a:spcPct val="90000"/>
                        </a:lnSpc>
                        <a:buNone/>
                      </a:pPr>
                      <a:r>
                        <a:rPr lang="en-US" sz="1000" b="0" i="0" u="none" strike="noStrike">
                          <a:solidFill>
                            <a:srgbClr val="000000"/>
                          </a:solidFill>
                          <a:effectLst/>
                          <a:latin typeface="Calibri" panose="020F0502020204030204" pitchFamily="34" charset="0"/>
                        </a:rPr>
                        <a:t>Agilent</a:t>
                      </a:r>
                    </a:p>
                  </a:txBody>
                  <a:tcPr marL="27432" marR="27432" marT="0" marB="0" anchor="b">
                    <a:lnL>
                      <a:noFill/>
                    </a:lnL>
                    <a:lnR>
                      <a:noFill/>
                    </a:lnR>
                    <a:lnT>
                      <a:noFill/>
                    </a:lnT>
                    <a:lnB>
                      <a:noFill/>
                    </a:lnB>
                    <a:no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LS</a:t>
                      </a:r>
                    </a:p>
                  </a:txBody>
                  <a:tcPr marL="27432" marR="27432" marT="0" marB="0" anchor="b">
                    <a:lnL>
                      <a:noFill/>
                    </a:lnL>
                    <a:lnR>
                      <a:noFill/>
                    </a:lnR>
                    <a:lnT>
                      <a:noFill/>
                    </a:lnT>
                    <a:lnB>
                      <a:noFill/>
                    </a:lnB>
                    <a:no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10/31</a:t>
                      </a:r>
                    </a:p>
                  </a:txBody>
                  <a:tcPr marL="27432" marR="27432" marT="0" marB="0" anchor="b">
                    <a:lnL>
                      <a:noFill/>
                    </a:lnL>
                    <a:lnR>
                      <a:noFill/>
                    </a:lnR>
                    <a:lnT>
                      <a:noFill/>
                    </a:lnT>
                    <a:lnB>
                      <a:noFill/>
                    </a:lnB>
                    <a:no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$6,948 </a:t>
                      </a:r>
                    </a:p>
                  </a:txBody>
                  <a:tcPr marL="27432" marR="27432" marT="0" marB="0" anchor="b">
                    <a:lnL>
                      <a:noFill/>
                    </a:lnL>
                    <a:lnR>
                      <a:noFill/>
                    </a:lnR>
                    <a:lnT>
                      <a:noFill/>
                    </a:lnT>
                    <a:lnB>
                      <a:noFill/>
                    </a:lnB>
                    <a:no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$34,314 </a:t>
                      </a:r>
                    </a:p>
                  </a:txBody>
                  <a:tcPr marL="27432" marR="27432" marT="0" marB="0" anchor="b">
                    <a:lnL>
                      <a:noFill/>
                    </a:lnL>
                    <a:lnR>
                      <a:noFill/>
                    </a:lnR>
                    <a:lnT>
                      <a:noFill/>
                    </a:lnT>
                    <a:lnB>
                      <a:noFill/>
                    </a:lnB>
                    <a:noFill/>
                  </a:tcPr>
                </a:tc>
                <a:tc>
                  <a:txBody>
                    <a:bodyPr/>
                    <a:lstStyle/>
                    <a:p>
                      <a:pPr algn="ctr" rtl="0" fontAlgn="b">
                        <a:buNone/>
                      </a:pPr>
                      <a:r>
                        <a:rPr lang="en-US" sz="1000" b="0" i="0" u="none" strike="noStrike">
                          <a:solidFill>
                            <a:schemeClr val="tx1"/>
                          </a:solidFill>
                          <a:effectLst/>
                          <a:latin typeface="Calibri" panose="020F0502020204030204" pitchFamily="34" charset="0"/>
                        </a:rPr>
                        <a:t>4.9X</a:t>
                      </a:r>
                    </a:p>
                  </a:txBody>
                  <a:tcPr marL="0" marR="0" marT="0" marB="0" anchor="b">
                    <a:lnL>
                      <a:noFill/>
                    </a:lnL>
                    <a:lnR>
                      <a:noFill/>
                    </a:lnR>
                    <a:lnT>
                      <a:noFill/>
                    </a:lnT>
                    <a:lnB>
                      <a:noFill/>
                    </a:lnB>
                    <a:noFill/>
                  </a:tcPr>
                </a:tc>
                <a:extLst>
                  <a:ext uri="{0D108BD9-81ED-4DB2-BD59-A6C34878D82A}">
                    <a16:rowId xmlns:a16="http://schemas.microsoft.com/office/drawing/2014/main" val="2052522690"/>
                  </a:ext>
                </a:extLst>
              </a:tr>
              <a:tr h="130289">
                <a:tc>
                  <a:txBody>
                    <a:bodyPr/>
                    <a:lstStyle/>
                    <a:p>
                      <a:pPr algn="l" rtl="0" fontAlgn="b">
                        <a:lnSpc>
                          <a:spcPct val="90000"/>
                        </a:lnSpc>
                        <a:buNone/>
                      </a:pPr>
                      <a:r>
                        <a:rPr lang="en-US" sz="1000" b="0" i="0" u="none" strike="noStrike" dirty="0">
                          <a:solidFill>
                            <a:srgbClr val="000000"/>
                          </a:solidFill>
                          <a:effectLst/>
                          <a:latin typeface="Calibri" panose="020F0502020204030204" pitchFamily="34" charset="0"/>
                        </a:rPr>
                        <a:t>Edwards Lifesciences</a:t>
                      </a:r>
                    </a:p>
                  </a:txBody>
                  <a:tcPr marL="0" marR="27432" marT="0" marB="0" anchor="b">
                    <a:lnL>
                      <a:noFill/>
                    </a:lnL>
                    <a:lnR>
                      <a:noFill/>
                    </a:lnR>
                    <a:lnT>
                      <a:noFill/>
                    </a:lnT>
                    <a:lnB>
                      <a:noFill/>
                    </a:lnB>
                    <a:solidFill>
                      <a:schemeClr val="bg1">
                        <a:lumMod val="95000"/>
                      </a:schemeClr>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HCE</a:t>
                      </a:r>
                    </a:p>
                  </a:txBody>
                  <a:tcPr marL="27432" marR="27432" marT="0" marB="0" anchor="b">
                    <a:lnL>
                      <a:noFill/>
                    </a:lnL>
                    <a:lnR>
                      <a:noFill/>
                    </a:lnR>
                    <a:lnT>
                      <a:noFill/>
                    </a:lnT>
                    <a:lnB>
                      <a:noFill/>
                    </a:lnB>
                    <a:solidFill>
                      <a:schemeClr val="bg1">
                        <a:lumMod val="95000"/>
                      </a:schemeClr>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12/31</a:t>
                      </a:r>
                    </a:p>
                  </a:txBody>
                  <a:tcPr marL="27432" marR="27432" marT="0" marB="0" anchor="b">
                    <a:lnL>
                      <a:noFill/>
                    </a:lnL>
                    <a:lnR>
                      <a:noFill/>
                    </a:lnR>
                    <a:lnT>
                      <a:noFill/>
                    </a:lnT>
                    <a:lnB>
                      <a:noFill/>
                    </a:lnB>
                    <a:solidFill>
                      <a:schemeClr val="bg1">
                        <a:lumMod val="95000"/>
                      </a:schemeClr>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$6,068 </a:t>
                      </a:r>
                    </a:p>
                  </a:txBody>
                  <a:tcPr marL="27432" marR="27432" marT="0" marB="0" anchor="b">
                    <a:lnL>
                      <a:noFill/>
                    </a:lnL>
                    <a:lnR>
                      <a:noFill/>
                    </a:lnR>
                    <a:lnT>
                      <a:noFill/>
                    </a:lnT>
                    <a:lnB>
                      <a:noFill/>
                    </a:lnB>
                    <a:solidFill>
                      <a:schemeClr val="bg1">
                        <a:lumMod val="95000"/>
                      </a:schemeClr>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$50,222 </a:t>
                      </a:r>
                    </a:p>
                  </a:txBody>
                  <a:tcPr marL="27432" marR="27432" marT="0" marB="0" anchor="b">
                    <a:lnL>
                      <a:noFill/>
                    </a:lnL>
                    <a:lnR>
                      <a:noFill/>
                    </a:lnR>
                    <a:lnT>
                      <a:noFill/>
                    </a:lnT>
                    <a:lnB>
                      <a:noFill/>
                    </a:lnB>
                    <a:solidFill>
                      <a:schemeClr val="bg1">
                        <a:lumMod val="95000"/>
                      </a:schemeClr>
                    </a:solidFill>
                  </a:tcPr>
                </a:tc>
                <a:tc>
                  <a:txBody>
                    <a:bodyPr/>
                    <a:lstStyle/>
                    <a:p>
                      <a:pPr algn="ctr" rtl="0" fontAlgn="b">
                        <a:buNone/>
                      </a:pPr>
                      <a:r>
                        <a:rPr lang="en-US" sz="1000" b="0" i="0" u="none" strike="noStrike">
                          <a:solidFill>
                            <a:schemeClr val="tx1"/>
                          </a:solidFill>
                          <a:effectLst/>
                          <a:latin typeface="Calibri" panose="020F0502020204030204" pitchFamily="34" charset="0"/>
                        </a:rPr>
                        <a:t>8.3X</a:t>
                      </a:r>
                    </a:p>
                  </a:txBody>
                  <a:tcPr marL="0" marR="0" marT="0" marB="0" anchor="b">
                    <a:lnL>
                      <a:noFill/>
                    </a:lnL>
                    <a:lnR>
                      <a:noFill/>
                    </a:lnR>
                    <a:lnT>
                      <a:noFill/>
                    </a:lnT>
                    <a:lnB>
                      <a:noFill/>
                    </a:lnB>
                    <a:solidFill>
                      <a:schemeClr val="bg1">
                        <a:lumMod val="95000"/>
                      </a:schemeClr>
                    </a:solidFill>
                  </a:tcPr>
                </a:tc>
                <a:extLst>
                  <a:ext uri="{0D108BD9-81ED-4DB2-BD59-A6C34878D82A}">
                    <a16:rowId xmlns:a16="http://schemas.microsoft.com/office/drawing/2014/main" val="2115262930"/>
                  </a:ext>
                </a:extLst>
              </a:tr>
              <a:tr h="130289">
                <a:tc>
                  <a:txBody>
                    <a:bodyPr/>
                    <a:lstStyle/>
                    <a:p>
                      <a:pPr algn="l" rtl="0" fontAlgn="b">
                        <a:lnSpc>
                          <a:spcPct val="90000"/>
                        </a:lnSpc>
                        <a:buNone/>
                      </a:pPr>
                      <a:r>
                        <a:rPr lang="en-US" sz="1000" b="0" i="0" u="none" strike="noStrike" dirty="0">
                          <a:solidFill>
                            <a:srgbClr val="000000"/>
                          </a:solidFill>
                          <a:effectLst/>
                          <a:latin typeface="Calibri" panose="020F0502020204030204" pitchFamily="34" charset="0"/>
                        </a:rPr>
                        <a:t>STERIS</a:t>
                      </a:r>
                    </a:p>
                  </a:txBody>
                  <a:tcPr marL="0" marR="27432" marT="0" marB="0" anchor="b">
                    <a:lnL>
                      <a:noFill/>
                    </a:lnL>
                    <a:lnR>
                      <a:noFill/>
                    </a:lnR>
                    <a:lnT>
                      <a:noFill/>
                    </a:lnT>
                    <a:lnB>
                      <a:noFill/>
                    </a:lnB>
                    <a:no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HCE</a:t>
                      </a:r>
                    </a:p>
                  </a:txBody>
                  <a:tcPr marL="27432" marR="27432" marT="0" marB="0" anchor="b">
                    <a:lnL>
                      <a:noFill/>
                    </a:lnL>
                    <a:lnR>
                      <a:noFill/>
                    </a:lnR>
                    <a:lnT>
                      <a:noFill/>
                    </a:lnT>
                    <a:lnB>
                      <a:noFill/>
                    </a:lnB>
                    <a:no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3/31</a:t>
                      </a:r>
                    </a:p>
                  </a:txBody>
                  <a:tcPr marL="27432" marR="27432" marT="0" marB="0" anchor="b">
                    <a:lnL>
                      <a:noFill/>
                    </a:lnL>
                    <a:lnR>
                      <a:noFill/>
                    </a:lnR>
                    <a:lnT>
                      <a:noFill/>
                    </a:lnT>
                    <a:lnB>
                      <a:noFill/>
                    </a:lnB>
                    <a:no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$5,460 </a:t>
                      </a:r>
                    </a:p>
                  </a:txBody>
                  <a:tcPr marL="27432" marR="27432" marT="0" marB="0" anchor="b">
                    <a:lnL>
                      <a:noFill/>
                    </a:lnL>
                    <a:lnR>
                      <a:noFill/>
                    </a:lnR>
                    <a:lnT>
                      <a:noFill/>
                    </a:lnT>
                    <a:lnB>
                      <a:noFill/>
                    </a:lnB>
                    <a:no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$24,749 </a:t>
                      </a:r>
                    </a:p>
                  </a:txBody>
                  <a:tcPr marL="27432" marR="27432" marT="0" marB="0" anchor="b">
                    <a:lnL>
                      <a:noFill/>
                    </a:lnL>
                    <a:lnR>
                      <a:noFill/>
                    </a:lnR>
                    <a:lnT>
                      <a:noFill/>
                    </a:lnT>
                    <a:lnB>
                      <a:noFill/>
                    </a:lnB>
                    <a:noFill/>
                  </a:tcPr>
                </a:tc>
                <a:tc>
                  <a:txBody>
                    <a:bodyPr/>
                    <a:lstStyle/>
                    <a:p>
                      <a:pPr algn="ctr" rtl="0" fontAlgn="b">
                        <a:buNone/>
                      </a:pPr>
                      <a:r>
                        <a:rPr lang="en-US" sz="1000" b="0" i="0" u="none" strike="noStrike">
                          <a:solidFill>
                            <a:schemeClr val="tx1"/>
                          </a:solidFill>
                          <a:effectLst/>
                          <a:latin typeface="Calibri" panose="020F0502020204030204" pitchFamily="34" charset="0"/>
                        </a:rPr>
                        <a:t>4.5X</a:t>
                      </a:r>
                    </a:p>
                  </a:txBody>
                  <a:tcPr marL="0" marR="0" marT="0" marB="0" anchor="b">
                    <a:lnL>
                      <a:noFill/>
                    </a:lnL>
                    <a:lnR>
                      <a:noFill/>
                    </a:lnR>
                    <a:lnT>
                      <a:noFill/>
                    </a:lnT>
                    <a:lnB>
                      <a:noFill/>
                    </a:lnB>
                    <a:noFill/>
                  </a:tcPr>
                </a:tc>
                <a:extLst>
                  <a:ext uri="{0D108BD9-81ED-4DB2-BD59-A6C34878D82A}">
                    <a16:rowId xmlns:a16="http://schemas.microsoft.com/office/drawing/2014/main" val="2542735500"/>
                  </a:ext>
                </a:extLst>
              </a:tr>
              <a:tr h="130289">
                <a:tc>
                  <a:txBody>
                    <a:bodyPr/>
                    <a:lstStyle/>
                    <a:p>
                      <a:pPr algn="l" rtl="0" fontAlgn="b">
                        <a:lnSpc>
                          <a:spcPct val="90000"/>
                        </a:lnSpc>
                        <a:buNone/>
                      </a:pPr>
                      <a:r>
                        <a:rPr lang="en-US" sz="1000" b="0" i="0" u="none" strike="noStrike">
                          <a:solidFill>
                            <a:srgbClr val="000000"/>
                          </a:solidFill>
                          <a:effectLst/>
                          <a:latin typeface="Calibri" panose="020F0502020204030204" pitchFamily="34" charset="0"/>
                        </a:rPr>
                        <a:t>ResMed</a:t>
                      </a:r>
                    </a:p>
                  </a:txBody>
                  <a:tcPr marL="0" marR="27432" marT="0" marB="0" anchor="b">
                    <a:lnL>
                      <a:noFill/>
                    </a:lnL>
                    <a:lnR>
                      <a:noFill/>
                    </a:lnR>
                    <a:lnT>
                      <a:noFill/>
                    </a:lnT>
                    <a:lnB>
                      <a:noFill/>
                    </a:lnB>
                    <a:solidFill>
                      <a:schemeClr val="bg1">
                        <a:lumMod val="95000"/>
                      </a:schemeClr>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HCE</a:t>
                      </a:r>
                    </a:p>
                  </a:txBody>
                  <a:tcPr marL="27432" marR="27432" marT="0" marB="0" anchor="b">
                    <a:lnL>
                      <a:noFill/>
                    </a:lnL>
                    <a:lnR>
                      <a:noFill/>
                    </a:lnR>
                    <a:lnT>
                      <a:noFill/>
                    </a:lnT>
                    <a:lnB>
                      <a:noFill/>
                    </a:lnB>
                    <a:solidFill>
                      <a:schemeClr val="bg1">
                        <a:lumMod val="95000"/>
                      </a:schemeClr>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6/30</a:t>
                      </a:r>
                    </a:p>
                  </a:txBody>
                  <a:tcPr marL="27432" marR="27432" marT="0" marB="0" anchor="b">
                    <a:lnL>
                      <a:noFill/>
                    </a:lnL>
                    <a:lnR>
                      <a:noFill/>
                    </a:lnR>
                    <a:lnT>
                      <a:noFill/>
                    </a:lnT>
                    <a:lnB>
                      <a:noFill/>
                    </a:lnB>
                    <a:solidFill>
                      <a:schemeClr val="bg1">
                        <a:lumMod val="95000"/>
                      </a:schemeClr>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$5,146 </a:t>
                      </a:r>
                    </a:p>
                  </a:txBody>
                  <a:tcPr marL="27432" marR="27432" marT="0" marB="0" anchor="b">
                    <a:lnL>
                      <a:noFill/>
                    </a:lnL>
                    <a:lnR>
                      <a:noFill/>
                    </a:lnR>
                    <a:lnT>
                      <a:noFill/>
                    </a:lnT>
                    <a:lnB>
                      <a:noFill/>
                    </a:lnB>
                    <a:solidFill>
                      <a:schemeClr val="bg1">
                        <a:lumMod val="95000"/>
                      </a:schemeClr>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$37,332 </a:t>
                      </a:r>
                    </a:p>
                  </a:txBody>
                  <a:tcPr marL="27432" marR="27432" marT="0" marB="0" anchor="b">
                    <a:lnL>
                      <a:noFill/>
                    </a:lnL>
                    <a:lnR>
                      <a:noFill/>
                    </a:lnR>
                    <a:lnT>
                      <a:noFill/>
                    </a:lnT>
                    <a:lnB>
                      <a:noFill/>
                    </a:lnB>
                    <a:solidFill>
                      <a:schemeClr val="bg1">
                        <a:lumMod val="95000"/>
                      </a:schemeClr>
                    </a:solidFill>
                  </a:tcPr>
                </a:tc>
                <a:tc>
                  <a:txBody>
                    <a:bodyPr/>
                    <a:lstStyle/>
                    <a:p>
                      <a:pPr algn="ctr" rtl="0" fontAlgn="b">
                        <a:buNone/>
                      </a:pPr>
                      <a:r>
                        <a:rPr lang="en-US" sz="1000" b="0" i="0" u="none" strike="noStrike">
                          <a:solidFill>
                            <a:schemeClr val="tx1"/>
                          </a:solidFill>
                          <a:effectLst/>
                          <a:latin typeface="Calibri" panose="020F0502020204030204" pitchFamily="34" charset="0"/>
                        </a:rPr>
                        <a:t>7.3X</a:t>
                      </a:r>
                    </a:p>
                  </a:txBody>
                  <a:tcPr marL="0" marR="0" marT="0" marB="0" anchor="b">
                    <a:lnL>
                      <a:noFill/>
                    </a:lnL>
                    <a:lnR>
                      <a:noFill/>
                    </a:lnR>
                    <a:lnT>
                      <a:noFill/>
                    </a:lnT>
                    <a:lnB>
                      <a:noFill/>
                    </a:lnB>
                    <a:solidFill>
                      <a:schemeClr val="bg1">
                        <a:lumMod val="95000"/>
                      </a:schemeClr>
                    </a:solidFill>
                  </a:tcPr>
                </a:tc>
                <a:extLst>
                  <a:ext uri="{0D108BD9-81ED-4DB2-BD59-A6C34878D82A}">
                    <a16:rowId xmlns:a16="http://schemas.microsoft.com/office/drawing/2014/main" val="3643422171"/>
                  </a:ext>
                </a:extLst>
              </a:tr>
              <a:tr h="130289">
                <a:tc>
                  <a:txBody>
                    <a:bodyPr/>
                    <a:lstStyle/>
                    <a:p>
                      <a:pPr algn="l" rtl="0" fontAlgn="b">
                        <a:lnSpc>
                          <a:spcPct val="90000"/>
                        </a:lnSpc>
                        <a:buNone/>
                      </a:pPr>
                      <a:r>
                        <a:rPr lang="en-US" sz="1000" b="0" i="0" u="none" strike="noStrike" dirty="0">
                          <a:solidFill>
                            <a:srgbClr val="000000"/>
                          </a:solidFill>
                          <a:effectLst/>
                          <a:latin typeface="Calibri" panose="020F0502020204030204" pitchFamily="34" charset="0"/>
                        </a:rPr>
                        <a:t>Elanco</a:t>
                      </a:r>
                    </a:p>
                  </a:txBody>
                  <a:tcPr marL="0" marR="27432" marT="0" marB="0" anchor="b">
                    <a:lnL>
                      <a:noFill/>
                    </a:lnL>
                    <a:lnR>
                      <a:noFill/>
                    </a:lnR>
                    <a:lnT>
                      <a:noFill/>
                    </a:lnT>
                    <a:lnB>
                      <a:noFill/>
                    </a:lnB>
                    <a:no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P</a:t>
                      </a:r>
                    </a:p>
                  </a:txBody>
                  <a:tcPr marL="27432" marR="27432" marT="0" marB="0" anchor="b">
                    <a:lnL>
                      <a:noFill/>
                    </a:lnL>
                    <a:lnR>
                      <a:noFill/>
                    </a:lnR>
                    <a:lnT>
                      <a:noFill/>
                    </a:lnT>
                    <a:lnB>
                      <a:noFill/>
                    </a:lnB>
                    <a:no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12/31</a:t>
                      </a:r>
                    </a:p>
                  </a:txBody>
                  <a:tcPr marL="27432" marR="27432" marT="0" marB="0" anchor="b">
                    <a:lnL>
                      <a:noFill/>
                    </a:lnL>
                    <a:lnR>
                      <a:noFill/>
                    </a:lnR>
                    <a:lnT>
                      <a:noFill/>
                    </a:lnT>
                    <a:lnB>
                      <a:noFill/>
                    </a:lnB>
                    <a:no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$4,715 </a:t>
                      </a:r>
                    </a:p>
                  </a:txBody>
                  <a:tcPr marL="27432" marR="27432" marT="0" marB="0" anchor="b">
                    <a:lnL>
                      <a:noFill/>
                    </a:lnL>
                    <a:lnR>
                      <a:noFill/>
                    </a:lnR>
                    <a:lnT>
                      <a:noFill/>
                    </a:lnT>
                    <a:lnB>
                      <a:noFill/>
                    </a:lnB>
                    <a:no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$13,125 </a:t>
                      </a:r>
                    </a:p>
                  </a:txBody>
                  <a:tcPr marL="27432" marR="27432" marT="0" marB="0" anchor="b">
                    <a:lnL>
                      <a:noFill/>
                    </a:lnL>
                    <a:lnR>
                      <a:noFill/>
                    </a:lnR>
                    <a:lnT>
                      <a:noFill/>
                    </a:lnT>
                    <a:lnB>
                      <a:noFill/>
                    </a:lnB>
                    <a:noFill/>
                  </a:tcPr>
                </a:tc>
                <a:tc>
                  <a:txBody>
                    <a:bodyPr/>
                    <a:lstStyle/>
                    <a:p>
                      <a:pPr algn="ctr" rtl="0" fontAlgn="b">
                        <a:buNone/>
                      </a:pPr>
                      <a:r>
                        <a:rPr lang="en-US" sz="1000" b="0" i="0" u="none" strike="noStrike">
                          <a:solidFill>
                            <a:schemeClr val="tx1"/>
                          </a:solidFill>
                          <a:effectLst/>
                          <a:latin typeface="Calibri" panose="020F0502020204030204" pitchFamily="34" charset="0"/>
                        </a:rPr>
                        <a:t>2.8X</a:t>
                      </a:r>
                    </a:p>
                  </a:txBody>
                  <a:tcPr marL="0" marR="0" marT="0" marB="0" anchor="b">
                    <a:lnL>
                      <a:noFill/>
                    </a:lnL>
                    <a:lnR>
                      <a:noFill/>
                    </a:lnR>
                    <a:lnT>
                      <a:noFill/>
                    </a:lnT>
                    <a:lnB>
                      <a:noFill/>
                    </a:lnB>
                    <a:noFill/>
                  </a:tcPr>
                </a:tc>
                <a:extLst>
                  <a:ext uri="{0D108BD9-81ED-4DB2-BD59-A6C34878D82A}">
                    <a16:rowId xmlns:a16="http://schemas.microsoft.com/office/drawing/2014/main" val="2458534029"/>
                  </a:ext>
                </a:extLst>
              </a:tr>
              <a:tr h="130289">
                <a:tc>
                  <a:txBody>
                    <a:bodyPr/>
                    <a:lstStyle/>
                    <a:p>
                      <a:pPr algn="l" rtl="0" fontAlgn="b">
                        <a:lnSpc>
                          <a:spcPct val="90000"/>
                        </a:lnSpc>
                        <a:buNone/>
                      </a:pPr>
                      <a:r>
                        <a:rPr lang="en-US" sz="1000" b="0" i="0" u="none" strike="noStrike" dirty="0" err="1">
                          <a:solidFill>
                            <a:srgbClr val="000000"/>
                          </a:solidFill>
                          <a:effectLst/>
                          <a:latin typeface="Calibri" panose="020F0502020204030204" pitchFamily="34" charset="0"/>
                        </a:rPr>
                        <a:t>DexCom</a:t>
                      </a:r>
                      <a:endParaRPr lang="en-US" sz="1000" b="0" i="0" u="none" strike="noStrike" dirty="0">
                        <a:solidFill>
                          <a:srgbClr val="000000"/>
                        </a:solidFill>
                        <a:effectLst/>
                        <a:latin typeface="Calibri" panose="020F0502020204030204" pitchFamily="34" charset="0"/>
                      </a:endParaRPr>
                    </a:p>
                  </a:txBody>
                  <a:tcPr marL="0" marR="27432" marT="0" marB="0" anchor="b">
                    <a:lnL>
                      <a:noFill/>
                    </a:lnL>
                    <a:lnR>
                      <a:noFill/>
                    </a:lnR>
                    <a:lnT>
                      <a:noFill/>
                    </a:lnT>
                    <a:lnB>
                      <a:noFill/>
                    </a:lnB>
                    <a:solidFill>
                      <a:schemeClr val="bg1">
                        <a:lumMod val="95000"/>
                      </a:schemeClr>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HCE</a:t>
                      </a:r>
                    </a:p>
                  </a:txBody>
                  <a:tcPr marL="27432" marR="27432" marT="0" marB="0" anchor="b">
                    <a:lnL>
                      <a:noFill/>
                    </a:lnL>
                    <a:lnR>
                      <a:noFill/>
                    </a:lnR>
                    <a:lnT>
                      <a:noFill/>
                    </a:lnT>
                    <a:lnB>
                      <a:noFill/>
                    </a:lnB>
                    <a:solidFill>
                      <a:schemeClr val="bg1">
                        <a:lumMod val="95000"/>
                      </a:schemeClr>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12/31</a:t>
                      </a:r>
                    </a:p>
                  </a:txBody>
                  <a:tcPr marL="27432" marR="27432" marT="0" marB="0" anchor="b">
                    <a:lnL>
                      <a:noFill/>
                    </a:lnL>
                    <a:lnR>
                      <a:noFill/>
                    </a:lnR>
                    <a:lnT>
                      <a:noFill/>
                    </a:lnT>
                    <a:lnB>
                      <a:noFill/>
                    </a:lnB>
                    <a:solidFill>
                      <a:schemeClr val="bg1">
                        <a:lumMod val="95000"/>
                      </a:schemeClr>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$4,662 </a:t>
                      </a:r>
                    </a:p>
                  </a:txBody>
                  <a:tcPr marL="27432" marR="27432" marT="0" marB="0" anchor="b">
                    <a:lnL>
                      <a:noFill/>
                    </a:lnL>
                    <a:lnR>
                      <a:noFill/>
                    </a:lnR>
                    <a:lnT>
                      <a:noFill/>
                    </a:lnT>
                    <a:lnB>
                      <a:noFill/>
                    </a:lnB>
                    <a:solidFill>
                      <a:schemeClr val="bg1">
                        <a:lumMod val="95000"/>
                      </a:schemeClr>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$28,261 </a:t>
                      </a:r>
                    </a:p>
                  </a:txBody>
                  <a:tcPr marL="27432" marR="27432" marT="0" marB="0" anchor="b">
                    <a:lnL>
                      <a:noFill/>
                    </a:lnL>
                    <a:lnR>
                      <a:noFill/>
                    </a:lnR>
                    <a:lnT>
                      <a:noFill/>
                    </a:lnT>
                    <a:lnB>
                      <a:noFill/>
                    </a:lnB>
                    <a:solidFill>
                      <a:schemeClr val="bg1">
                        <a:lumMod val="95000"/>
                      </a:schemeClr>
                    </a:solidFill>
                  </a:tcPr>
                </a:tc>
                <a:tc>
                  <a:txBody>
                    <a:bodyPr/>
                    <a:lstStyle/>
                    <a:p>
                      <a:pPr algn="ctr" rtl="0" fontAlgn="b">
                        <a:buNone/>
                      </a:pPr>
                      <a:r>
                        <a:rPr lang="en-US" sz="1000" b="0" i="0" u="none" strike="noStrike">
                          <a:solidFill>
                            <a:schemeClr val="tx1"/>
                          </a:solidFill>
                          <a:effectLst/>
                          <a:latin typeface="Calibri" panose="020F0502020204030204" pitchFamily="34" charset="0"/>
                        </a:rPr>
                        <a:t>6.1X</a:t>
                      </a:r>
                    </a:p>
                  </a:txBody>
                  <a:tcPr marL="0" marR="0" marT="0" marB="0" anchor="b">
                    <a:lnL>
                      <a:noFill/>
                    </a:lnL>
                    <a:lnR>
                      <a:noFill/>
                    </a:lnR>
                    <a:lnT>
                      <a:noFill/>
                    </a:lnT>
                    <a:lnB>
                      <a:noFill/>
                    </a:lnB>
                    <a:solidFill>
                      <a:schemeClr val="bg1">
                        <a:lumMod val="95000"/>
                      </a:schemeClr>
                    </a:solidFill>
                  </a:tcPr>
                </a:tc>
                <a:extLst>
                  <a:ext uri="{0D108BD9-81ED-4DB2-BD59-A6C34878D82A}">
                    <a16:rowId xmlns:a16="http://schemas.microsoft.com/office/drawing/2014/main" val="2602556207"/>
                  </a:ext>
                </a:extLst>
              </a:tr>
              <a:tr h="130289">
                <a:tc>
                  <a:txBody>
                    <a:bodyPr/>
                    <a:lstStyle/>
                    <a:p>
                      <a:pPr algn="l" rtl="0" fontAlgn="b">
                        <a:lnSpc>
                          <a:spcPct val="90000"/>
                        </a:lnSpc>
                        <a:buNone/>
                      </a:pPr>
                      <a:r>
                        <a:rPr lang="en-US" sz="1000" b="0" i="0" u="none" strike="noStrike" dirty="0">
                          <a:solidFill>
                            <a:srgbClr val="000000"/>
                          </a:solidFill>
                          <a:effectLst/>
                          <a:latin typeface="Calibri" panose="020F0502020204030204" pitchFamily="34" charset="0"/>
                        </a:rPr>
                        <a:t>Illumina</a:t>
                      </a:r>
                    </a:p>
                  </a:txBody>
                  <a:tcPr marL="27432" marR="27432" marT="0" marB="0" anchor="b">
                    <a:lnL>
                      <a:noFill/>
                    </a:lnL>
                    <a:lnR>
                      <a:noFill/>
                    </a:lnR>
                    <a:lnT>
                      <a:noFill/>
                    </a:lnT>
                    <a:lnB>
                      <a:noFill/>
                    </a:lnB>
                    <a:no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LS</a:t>
                      </a:r>
                    </a:p>
                  </a:txBody>
                  <a:tcPr marL="27432" marR="27432" marT="0" marB="0" anchor="b">
                    <a:lnL>
                      <a:noFill/>
                    </a:lnL>
                    <a:lnR>
                      <a:noFill/>
                    </a:lnR>
                    <a:lnT>
                      <a:noFill/>
                    </a:lnT>
                    <a:lnB>
                      <a:noFill/>
                    </a:lnB>
                    <a:no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12/28</a:t>
                      </a:r>
                    </a:p>
                  </a:txBody>
                  <a:tcPr marL="27432" marR="27432" marT="0" marB="0" anchor="b">
                    <a:lnL>
                      <a:noFill/>
                    </a:lnL>
                    <a:lnR>
                      <a:noFill/>
                    </a:lnR>
                    <a:lnT>
                      <a:noFill/>
                    </a:lnT>
                    <a:lnB>
                      <a:noFill/>
                    </a:lnB>
                    <a:no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$4,343 </a:t>
                      </a:r>
                    </a:p>
                  </a:txBody>
                  <a:tcPr marL="27432" marR="27432" marT="0" marB="0" anchor="b">
                    <a:lnL>
                      <a:noFill/>
                    </a:lnL>
                    <a:lnR>
                      <a:noFill/>
                    </a:lnR>
                    <a:lnT>
                      <a:noFill/>
                    </a:lnT>
                    <a:lnB>
                      <a:noFill/>
                    </a:lnB>
                    <a:no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$20,559 </a:t>
                      </a:r>
                    </a:p>
                  </a:txBody>
                  <a:tcPr marL="27432" marR="27432" marT="0" marB="0" anchor="b">
                    <a:lnL>
                      <a:noFill/>
                    </a:lnL>
                    <a:lnR>
                      <a:noFill/>
                    </a:lnR>
                    <a:lnT>
                      <a:noFill/>
                    </a:lnT>
                    <a:lnB>
                      <a:noFill/>
                    </a:lnB>
                    <a:noFill/>
                  </a:tcPr>
                </a:tc>
                <a:tc>
                  <a:txBody>
                    <a:bodyPr/>
                    <a:lstStyle/>
                    <a:p>
                      <a:pPr algn="ctr" rtl="0" fontAlgn="b">
                        <a:buNone/>
                      </a:pPr>
                      <a:r>
                        <a:rPr lang="en-US" sz="1000" b="0" i="0" u="none" strike="noStrike">
                          <a:solidFill>
                            <a:schemeClr val="tx1"/>
                          </a:solidFill>
                          <a:effectLst/>
                          <a:latin typeface="Calibri" panose="020F0502020204030204" pitchFamily="34" charset="0"/>
                        </a:rPr>
                        <a:t>4.7X</a:t>
                      </a:r>
                    </a:p>
                  </a:txBody>
                  <a:tcPr marL="0" marR="0" marT="0" marB="0" anchor="b">
                    <a:lnL>
                      <a:noFill/>
                    </a:lnL>
                    <a:lnR>
                      <a:noFill/>
                    </a:lnR>
                    <a:lnT>
                      <a:noFill/>
                    </a:lnT>
                    <a:lnB>
                      <a:noFill/>
                    </a:lnB>
                    <a:noFill/>
                  </a:tcPr>
                </a:tc>
                <a:extLst>
                  <a:ext uri="{0D108BD9-81ED-4DB2-BD59-A6C34878D82A}">
                    <a16:rowId xmlns:a16="http://schemas.microsoft.com/office/drawing/2014/main" val="2440778700"/>
                  </a:ext>
                </a:extLst>
              </a:tr>
              <a:tr h="130289">
                <a:tc>
                  <a:txBody>
                    <a:bodyPr/>
                    <a:lstStyle/>
                    <a:p>
                      <a:pPr algn="l" rtl="0" fontAlgn="b">
                        <a:lnSpc>
                          <a:spcPct val="90000"/>
                        </a:lnSpc>
                        <a:buNone/>
                      </a:pPr>
                      <a:r>
                        <a:rPr lang="en-US" sz="1000" b="0" i="0" u="none" strike="noStrike">
                          <a:solidFill>
                            <a:srgbClr val="000000"/>
                          </a:solidFill>
                          <a:effectLst/>
                          <a:latin typeface="Calibri" panose="020F0502020204030204" pitchFamily="34" charset="0"/>
                        </a:rPr>
                        <a:t>Hologic</a:t>
                      </a:r>
                    </a:p>
                  </a:txBody>
                  <a:tcPr marL="27432" marR="27432" marT="0" marB="0" anchor="b">
                    <a:lnL>
                      <a:noFill/>
                    </a:lnL>
                    <a:lnR>
                      <a:noFill/>
                    </a:lnR>
                    <a:lnT>
                      <a:noFill/>
                    </a:lnT>
                    <a:lnB>
                      <a:noFill/>
                    </a:lnB>
                    <a:solidFill>
                      <a:schemeClr val="bg1">
                        <a:lumMod val="95000"/>
                      </a:schemeClr>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HCE</a:t>
                      </a:r>
                    </a:p>
                  </a:txBody>
                  <a:tcPr marL="27432" marR="27432" marT="0" marB="0" anchor="b">
                    <a:lnL>
                      <a:noFill/>
                    </a:lnL>
                    <a:lnR>
                      <a:noFill/>
                    </a:lnR>
                    <a:lnT>
                      <a:noFill/>
                    </a:lnT>
                    <a:lnB>
                      <a:noFill/>
                    </a:lnB>
                    <a:solidFill>
                      <a:schemeClr val="bg1">
                        <a:lumMod val="95000"/>
                      </a:schemeClr>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9/27</a:t>
                      </a:r>
                    </a:p>
                  </a:txBody>
                  <a:tcPr marL="27432" marR="27432" marT="0" marB="0" anchor="b">
                    <a:lnL>
                      <a:noFill/>
                    </a:lnL>
                    <a:lnR>
                      <a:noFill/>
                    </a:lnR>
                    <a:lnT>
                      <a:noFill/>
                    </a:lnT>
                    <a:lnB>
                      <a:noFill/>
                    </a:lnB>
                    <a:solidFill>
                      <a:schemeClr val="bg1">
                        <a:lumMod val="95000"/>
                      </a:schemeClr>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$4,101 </a:t>
                      </a:r>
                    </a:p>
                  </a:txBody>
                  <a:tcPr marL="27432" marR="27432" marT="0" marB="0" anchor="b">
                    <a:lnL>
                      <a:noFill/>
                    </a:lnL>
                    <a:lnR>
                      <a:noFill/>
                    </a:lnR>
                    <a:lnT>
                      <a:noFill/>
                    </a:lnT>
                    <a:lnB>
                      <a:noFill/>
                    </a:lnB>
                    <a:solidFill>
                      <a:schemeClr val="bg1">
                        <a:lumMod val="95000"/>
                      </a:schemeClr>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$16,824 </a:t>
                      </a:r>
                    </a:p>
                  </a:txBody>
                  <a:tcPr marL="27432" marR="27432" marT="0" marB="0" anchor="b">
                    <a:lnL>
                      <a:noFill/>
                    </a:lnL>
                    <a:lnR>
                      <a:noFill/>
                    </a:lnR>
                    <a:lnT>
                      <a:noFill/>
                    </a:lnT>
                    <a:lnB>
                      <a:noFill/>
                    </a:lnB>
                    <a:solidFill>
                      <a:schemeClr val="bg1">
                        <a:lumMod val="95000"/>
                      </a:schemeClr>
                    </a:solidFill>
                  </a:tcPr>
                </a:tc>
                <a:tc>
                  <a:txBody>
                    <a:bodyPr/>
                    <a:lstStyle/>
                    <a:p>
                      <a:pPr algn="ctr" rtl="0" fontAlgn="b">
                        <a:buNone/>
                      </a:pPr>
                      <a:r>
                        <a:rPr lang="en-US" sz="1000" b="0" i="0" u="none" strike="noStrike">
                          <a:solidFill>
                            <a:schemeClr val="tx1"/>
                          </a:solidFill>
                          <a:effectLst/>
                          <a:latin typeface="Calibri" panose="020F0502020204030204" pitchFamily="34" charset="0"/>
                        </a:rPr>
                        <a:t>4.1X</a:t>
                      </a:r>
                    </a:p>
                  </a:txBody>
                  <a:tcPr marL="0" marR="0" marT="0" marB="0" anchor="b">
                    <a:lnL>
                      <a:noFill/>
                    </a:lnL>
                    <a:lnR>
                      <a:noFill/>
                    </a:lnR>
                    <a:lnT>
                      <a:noFill/>
                    </a:lnT>
                    <a:lnB>
                      <a:noFill/>
                    </a:lnB>
                    <a:solidFill>
                      <a:schemeClr val="bg1">
                        <a:lumMod val="95000"/>
                      </a:schemeClr>
                    </a:solidFill>
                  </a:tcPr>
                </a:tc>
                <a:extLst>
                  <a:ext uri="{0D108BD9-81ED-4DB2-BD59-A6C34878D82A}">
                    <a16:rowId xmlns:a16="http://schemas.microsoft.com/office/drawing/2014/main" val="2595089946"/>
                  </a:ext>
                </a:extLst>
              </a:tr>
              <a:tr h="130289">
                <a:tc>
                  <a:txBody>
                    <a:bodyPr/>
                    <a:lstStyle/>
                    <a:p>
                      <a:pPr algn="l" rtl="0" fontAlgn="b">
                        <a:lnSpc>
                          <a:spcPct val="90000"/>
                        </a:lnSpc>
                        <a:buNone/>
                      </a:pPr>
                      <a:r>
                        <a:rPr lang="en-US" sz="1000" b="0" i="0" u="none" strike="noStrike">
                          <a:solidFill>
                            <a:srgbClr val="000000"/>
                          </a:solidFill>
                          <a:effectLst/>
                          <a:latin typeface="Calibri" panose="020F0502020204030204" pitchFamily="34" charset="0"/>
                        </a:rPr>
                        <a:t>Cooper</a:t>
                      </a:r>
                    </a:p>
                  </a:txBody>
                  <a:tcPr marL="27432" marR="27432" marT="0" marB="0" anchor="b">
                    <a:lnL>
                      <a:noFill/>
                    </a:lnL>
                    <a:lnR>
                      <a:noFill/>
                    </a:lnR>
                    <a:lnT>
                      <a:noFill/>
                    </a:lnT>
                    <a:lnB>
                      <a:noFill/>
                    </a:lnB>
                    <a:no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HCS</a:t>
                      </a:r>
                    </a:p>
                  </a:txBody>
                  <a:tcPr marL="27432" marR="27432" marT="0" marB="0" anchor="b">
                    <a:lnL>
                      <a:noFill/>
                    </a:lnL>
                    <a:lnR>
                      <a:noFill/>
                    </a:lnR>
                    <a:lnT>
                      <a:noFill/>
                    </a:lnT>
                    <a:lnB>
                      <a:noFill/>
                    </a:lnB>
                    <a:no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10/31</a:t>
                      </a:r>
                    </a:p>
                  </a:txBody>
                  <a:tcPr marL="27432" marR="27432" marT="0" marB="0" anchor="b">
                    <a:lnL>
                      <a:noFill/>
                    </a:lnL>
                    <a:lnR>
                      <a:noFill/>
                    </a:lnR>
                    <a:lnT>
                      <a:noFill/>
                    </a:lnT>
                    <a:lnB>
                      <a:noFill/>
                    </a:lnB>
                    <a:no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$4,092 </a:t>
                      </a:r>
                    </a:p>
                  </a:txBody>
                  <a:tcPr marL="27432" marR="27432" marT="0" marB="0" anchor="b">
                    <a:lnL>
                      <a:noFill/>
                    </a:lnL>
                    <a:lnR>
                      <a:noFill/>
                    </a:lnR>
                    <a:lnT>
                      <a:noFill/>
                    </a:lnT>
                    <a:lnB>
                      <a:noFill/>
                    </a:lnB>
                    <a:no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$16,325 </a:t>
                      </a:r>
                    </a:p>
                  </a:txBody>
                  <a:tcPr marL="27432" marR="27432" marT="0" marB="0" anchor="b">
                    <a:lnL>
                      <a:noFill/>
                    </a:lnL>
                    <a:lnR>
                      <a:noFill/>
                    </a:lnR>
                    <a:lnT>
                      <a:noFill/>
                    </a:lnT>
                    <a:lnB>
                      <a:noFill/>
                    </a:lnB>
                    <a:noFill/>
                  </a:tcPr>
                </a:tc>
                <a:tc>
                  <a:txBody>
                    <a:bodyPr/>
                    <a:lstStyle/>
                    <a:p>
                      <a:pPr algn="ctr" rtl="0" fontAlgn="b">
                        <a:buNone/>
                      </a:pPr>
                      <a:r>
                        <a:rPr lang="en-US" sz="1000" b="0" i="0" u="none" strike="noStrike">
                          <a:solidFill>
                            <a:schemeClr val="tx1"/>
                          </a:solidFill>
                          <a:effectLst/>
                          <a:latin typeface="Calibri" panose="020F0502020204030204" pitchFamily="34" charset="0"/>
                        </a:rPr>
                        <a:t>4.0X</a:t>
                      </a:r>
                    </a:p>
                  </a:txBody>
                  <a:tcPr marL="0" marR="0" marT="0" marB="0" anchor="b">
                    <a:lnL>
                      <a:noFill/>
                    </a:lnL>
                    <a:lnR>
                      <a:noFill/>
                    </a:lnR>
                    <a:lnT>
                      <a:noFill/>
                    </a:lnT>
                    <a:lnB>
                      <a:noFill/>
                    </a:lnB>
                    <a:noFill/>
                  </a:tcPr>
                </a:tc>
                <a:extLst>
                  <a:ext uri="{0D108BD9-81ED-4DB2-BD59-A6C34878D82A}">
                    <a16:rowId xmlns:a16="http://schemas.microsoft.com/office/drawing/2014/main" val="2805947971"/>
                  </a:ext>
                </a:extLst>
              </a:tr>
              <a:tr h="130289">
                <a:tc>
                  <a:txBody>
                    <a:bodyPr/>
                    <a:lstStyle/>
                    <a:p>
                      <a:pPr algn="l" rtl="0" fontAlgn="b">
                        <a:lnSpc>
                          <a:spcPct val="90000"/>
                        </a:lnSpc>
                        <a:buNone/>
                      </a:pPr>
                      <a:r>
                        <a:rPr lang="en-US" sz="1000" b="0" i="0" u="none" strike="noStrike">
                          <a:solidFill>
                            <a:srgbClr val="000000"/>
                          </a:solidFill>
                          <a:effectLst/>
                          <a:latin typeface="Calibri" panose="020F0502020204030204" pitchFamily="34" charset="0"/>
                        </a:rPr>
                        <a:t>Align</a:t>
                      </a:r>
                    </a:p>
                  </a:txBody>
                  <a:tcPr marL="27432" marR="27432" marT="0" marB="0" anchor="b">
                    <a:lnL>
                      <a:noFill/>
                    </a:lnL>
                    <a:lnR>
                      <a:noFill/>
                    </a:lnR>
                    <a:lnT>
                      <a:noFill/>
                    </a:lnT>
                    <a:lnB>
                      <a:noFill/>
                    </a:lnB>
                    <a:solidFill>
                      <a:schemeClr val="bg1">
                        <a:lumMod val="95000"/>
                      </a:schemeClr>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HCS</a:t>
                      </a:r>
                    </a:p>
                  </a:txBody>
                  <a:tcPr marL="27432" marR="27432" marT="0" marB="0" anchor="b">
                    <a:lnL>
                      <a:noFill/>
                    </a:lnL>
                    <a:lnR>
                      <a:noFill/>
                    </a:lnR>
                    <a:lnT>
                      <a:noFill/>
                    </a:lnT>
                    <a:lnB>
                      <a:noFill/>
                    </a:lnB>
                    <a:solidFill>
                      <a:schemeClr val="bg1">
                        <a:lumMod val="95000"/>
                      </a:schemeClr>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12/31</a:t>
                      </a:r>
                    </a:p>
                  </a:txBody>
                  <a:tcPr marL="27432" marR="27432" marT="0" marB="0" anchor="b">
                    <a:lnL>
                      <a:noFill/>
                    </a:lnL>
                    <a:lnR>
                      <a:noFill/>
                    </a:lnR>
                    <a:lnT>
                      <a:noFill/>
                    </a:lnT>
                    <a:lnB>
                      <a:noFill/>
                    </a:lnB>
                    <a:solidFill>
                      <a:schemeClr val="bg1">
                        <a:lumMod val="95000"/>
                      </a:schemeClr>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$4,035 </a:t>
                      </a:r>
                    </a:p>
                  </a:txBody>
                  <a:tcPr marL="27432" marR="27432" marT="0" marB="0" anchor="b">
                    <a:lnL>
                      <a:noFill/>
                    </a:lnL>
                    <a:lnR>
                      <a:noFill/>
                    </a:lnR>
                    <a:lnT>
                      <a:noFill/>
                    </a:lnT>
                    <a:lnB>
                      <a:noFill/>
                    </a:lnB>
                    <a:solidFill>
                      <a:schemeClr val="bg1">
                        <a:lumMod val="95000"/>
                      </a:schemeClr>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$13,551 </a:t>
                      </a:r>
                    </a:p>
                  </a:txBody>
                  <a:tcPr marL="27432" marR="27432" marT="0" marB="0" anchor="b">
                    <a:lnL>
                      <a:noFill/>
                    </a:lnL>
                    <a:lnR>
                      <a:noFill/>
                    </a:lnR>
                    <a:lnT>
                      <a:noFill/>
                    </a:lnT>
                    <a:lnB>
                      <a:noFill/>
                    </a:lnB>
                    <a:solidFill>
                      <a:schemeClr val="bg1">
                        <a:lumMod val="95000"/>
                      </a:schemeClr>
                    </a:solidFill>
                  </a:tcPr>
                </a:tc>
                <a:tc>
                  <a:txBody>
                    <a:bodyPr/>
                    <a:lstStyle/>
                    <a:p>
                      <a:pPr algn="ctr" rtl="0" fontAlgn="b">
                        <a:buNone/>
                      </a:pPr>
                      <a:r>
                        <a:rPr lang="en-US" sz="1000" b="0" i="0" u="none" strike="noStrike">
                          <a:solidFill>
                            <a:schemeClr val="tx1"/>
                          </a:solidFill>
                          <a:effectLst/>
                          <a:latin typeface="Calibri" panose="020F0502020204030204" pitchFamily="34" charset="0"/>
                        </a:rPr>
                        <a:t>3.4X</a:t>
                      </a:r>
                    </a:p>
                  </a:txBody>
                  <a:tcPr marL="0" marR="0" marT="0" marB="0" anchor="b">
                    <a:lnL>
                      <a:noFill/>
                    </a:lnL>
                    <a:lnR>
                      <a:noFill/>
                    </a:lnR>
                    <a:lnT>
                      <a:noFill/>
                    </a:lnT>
                    <a:lnB>
                      <a:noFill/>
                    </a:lnB>
                    <a:solidFill>
                      <a:schemeClr val="bg1">
                        <a:lumMod val="95000"/>
                      </a:schemeClr>
                    </a:solidFill>
                  </a:tcPr>
                </a:tc>
                <a:extLst>
                  <a:ext uri="{0D108BD9-81ED-4DB2-BD59-A6C34878D82A}">
                    <a16:rowId xmlns:a16="http://schemas.microsoft.com/office/drawing/2014/main" val="1278004396"/>
                  </a:ext>
                </a:extLst>
              </a:tr>
              <a:tr h="130289">
                <a:tc>
                  <a:txBody>
                    <a:bodyPr/>
                    <a:lstStyle/>
                    <a:p>
                      <a:pPr algn="l" rtl="0" fontAlgn="b">
                        <a:lnSpc>
                          <a:spcPct val="90000"/>
                        </a:lnSpc>
                        <a:buNone/>
                      </a:pPr>
                      <a:r>
                        <a:rPr lang="en-US" sz="1000" b="0" i="0" u="none" strike="noStrike">
                          <a:solidFill>
                            <a:srgbClr val="000000"/>
                          </a:solidFill>
                          <a:effectLst/>
                          <a:latin typeface="Calibri" panose="020F0502020204030204" pitchFamily="34" charset="0"/>
                        </a:rPr>
                        <a:t>Mettler-Toldeo</a:t>
                      </a:r>
                    </a:p>
                  </a:txBody>
                  <a:tcPr marL="27432" marR="27432" marT="0" marB="0" anchor="b">
                    <a:lnL>
                      <a:noFill/>
                    </a:lnL>
                    <a:lnR>
                      <a:noFill/>
                    </a:lnR>
                    <a:lnT>
                      <a:noFill/>
                    </a:lnT>
                    <a:lnB>
                      <a:noFill/>
                    </a:lnB>
                    <a:no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LS</a:t>
                      </a:r>
                    </a:p>
                  </a:txBody>
                  <a:tcPr marL="27432" marR="27432" marT="0" marB="0" anchor="b">
                    <a:lnL>
                      <a:noFill/>
                    </a:lnL>
                    <a:lnR>
                      <a:noFill/>
                    </a:lnR>
                    <a:lnT>
                      <a:noFill/>
                    </a:lnT>
                    <a:lnB>
                      <a:noFill/>
                    </a:lnB>
                    <a:no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12/31</a:t>
                      </a:r>
                    </a:p>
                  </a:txBody>
                  <a:tcPr marL="27432" marR="27432" marT="0" marB="0" anchor="b">
                    <a:lnL>
                      <a:noFill/>
                    </a:lnL>
                    <a:lnR>
                      <a:noFill/>
                    </a:lnR>
                    <a:lnT>
                      <a:noFill/>
                    </a:lnT>
                    <a:lnB>
                      <a:noFill/>
                    </a:lnB>
                    <a:no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$4,026 </a:t>
                      </a:r>
                    </a:p>
                  </a:txBody>
                  <a:tcPr marL="27432" marR="27432" marT="0" marB="0" anchor="b">
                    <a:lnL>
                      <a:noFill/>
                    </a:lnL>
                    <a:lnR>
                      <a:noFill/>
                    </a:lnR>
                    <a:lnT>
                      <a:noFill/>
                    </a:lnT>
                    <a:lnB>
                      <a:noFill/>
                    </a:lnB>
                    <a:no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$27,778 </a:t>
                      </a:r>
                    </a:p>
                  </a:txBody>
                  <a:tcPr marL="27432" marR="27432" marT="0" marB="0" anchor="b">
                    <a:lnL>
                      <a:noFill/>
                    </a:lnL>
                    <a:lnR>
                      <a:noFill/>
                    </a:lnR>
                    <a:lnT>
                      <a:noFill/>
                    </a:lnT>
                    <a:lnB>
                      <a:noFill/>
                    </a:lnB>
                    <a:noFill/>
                  </a:tcPr>
                </a:tc>
                <a:tc>
                  <a:txBody>
                    <a:bodyPr/>
                    <a:lstStyle/>
                    <a:p>
                      <a:pPr algn="ctr" rtl="0" fontAlgn="b">
                        <a:buNone/>
                      </a:pPr>
                      <a:r>
                        <a:rPr lang="en-US" sz="1000" b="0" i="0" u="none" strike="noStrike">
                          <a:solidFill>
                            <a:schemeClr val="tx1"/>
                          </a:solidFill>
                          <a:effectLst/>
                          <a:latin typeface="Calibri" panose="020F0502020204030204" pitchFamily="34" charset="0"/>
                        </a:rPr>
                        <a:t>6.9X</a:t>
                      </a:r>
                    </a:p>
                  </a:txBody>
                  <a:tcPr marL="0" marR="0" marT="0" marB="0" anchor="b">
                    <a:lnL>
                      <a:noFill/>
                    </a:lnL>
                    <a:lnR>
                      <a:noFill/>
                    </a:lnR>
                    <a:lnT>
                      <a:noFill/>
                    </a:lnT>
                    <a:lnB>
                      <a:noFill/>
                    </a:lnB>
                    <a:noFill/>
                  </a:tcPr>
                </a:tc>
                <a:extLst>
                  <a:ext uri="{0D108BD9-81ED-4DB2-BD59-A6C34878D82A}">
                    <a16:rowId xmlns:a16="http://schemas.microsoft.com/office/drawing/2014/main" val="1567382614"/>
                  </a:ext>
                </a:extLst>
              </a:tr>
              <a:tr h="130289">
                <a:tc>
                  <a:txBody>
                    <a:bodyPr/>
                    <a:lstStyle/>
                    <a:p>
                      <a:pPr algn="l" rtl="0" fontAlgn="b">
                        <a:lnSpc>
                          <a:spcPct val="90000"/>
                        </a:lnSpc>
                        <a:buNone/>
                      </a:pPr>
                      <a:r>
                        <a:rPr lang="en-US" sz="1000" b="0" i="0" u="none" strike="noStrike">
                          <a:solidFill>
                            <a:srgbClr val="000000"/>
                          </a:solidFill>
                          <a:effectLst/>
                          <a:latin typeface="Calibri" panose="020F0502020204030204" pitchFamily="34" charset="0"/>
                        </a:rPr>
                        <a:t>Waters</a:t>
                      </a:r>
                    </a:p>
                  </a:txBody>
                  <a:tcPr marL="27432" marR="27432" marT="0" marB="0" anchor="b">
                    <a:lnL>
                      <a:noFill/>
                    </a:lnL>
                    <a:lnR>
                      <a:noFill/>
                    </a:lnR>
                    <a:lnT>
                      <a:noFill/>
                    </a:lnT>
                    <a:lnB>
                      <a:noFill/>
                    </a:lnB>
                    <a:solidFill>
                      <a:schemeClr val="bg1">
                        <a:lumMod val="95000"/>
                      </a:schemeClr>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LS</a:t>
                      </a:r>
                    </a:p>
                  </a:txBody>
                  <a:tcPr marL="27432" marR="27432" marT="0" marB="0" anchor="b">
                    <a:lnL>
                      <a:noFill/>
                    </a:lnL>
                    <a:lnR>
                      <a:noFill/>
                    </a:lnR>
                    <a:lnT>
                      <a:noFill/>
                    </a:lnT>
                    <a:lnB>
                      <a:noFill/>
                    </a:lnB>
                    <a:solidFill>
                      <a:schemeClr val="bg1">
                        <a:lumMod val="95000"/>
                      </a:schemeClr>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12/31</a:t>
                      </a:r>
                    </a:p>
                  </a:txBody>
                  <a:tcPr marL="27432" marR="27432" marT="0" marB="0" anchor="b">
                    <a:lnL>
                      <a:noFill/>
                    </a:lnL>
                    <a:lnR>
                      <a:noFill/>
                    </a:lnR>
                    <a:lnT>
                      <a:noFill/>
                    </a:lnT>
                    <a:lnB>
                      <a:noFill/>
                    </a:lnB>
                    <a:solidFill>
                      <a:schemeClr val="bg1">
                        <a:lumMod val="95000"/>
                      </a:schemeClr>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$3,165 </a:t>
                      </a:r>
                    </a:p>
                  </a:txBody>
                  <a:tcPr marL="27432" marR="27432" marT="0" marB="0" anchor="b">
                    <a:lnL>
                      <a:noFill/>
                    </a:lnL>
                    <a:lnR>
                      <a:noFill/>
                    </a:lnR>
                    <a:lnT>
                      <a:noFill/>
                    </a:lnT>
                    <a:lnB>
                      <a:noFill/>
                    </a:lnB>
                    <a:solidFill>
                      <a:schemeClr val="bg1">
                        <a:lumMod val="95000"/>
                      </a:schemeClr>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$31,332 </a:t>
                      </a:r>
                    </a:p>
                  </a:txBody>
                  <a:tcPr marL="27432" marR="27432" marT="0" marB="0" anchor="b">
                    <a:lnL>
                      <a:noFill/>
                    </a:lnL>
                    <a:lnR>
                      <a:noFill/>
                    </a:lnR>
                    <a:lnT>
                      <a:noFill/>
                    </a:lnT>
                    <a:lnB>
                      <a:noFill/>
                    </a:lnB>
                    <a:solidFill>
                      <a:schemeClr val="bg1">
                        <a:lumMod val="95000"/>
                      </a:schemeClr>
                    </a:solidFill>
                  </a:tcPr>
                </a:tc>
                <a:tc>
                  <a:txBody>
                    <a:bodyPr/>
                    <a:lstStyle/>
                    <a:p>
                      <a:pPr algn="ctr" rtl="0" fontAlgn="b">
                        <a:buNone/>
                      </a:pPr>
                      <a:r>
                        <a:rPr lang="en-US" sz="1000" b="0" i="0" u="none" strike="noStrike">
                          <a:solidFill>
                            <a:schemeClr val="tx1"/>
                          </a:solidFill>
                          <a:effectLst/>
                          <a:latin typeface="Calibri" panose="020F0502020204030204" pitchFamily="34" charset="0"/>
                        </a:rPr>
                        <a:t>9.9X</a:t>
                      </a:r>
                    </a:p>
                  </a:txBody>
                  <a:tcPr marL="0" marR="0" marT="0" marB="0" anchor="b">
                    <a:lnL>
                      <a:noFill/>
                    </a:lnL>
                    <a:lnR>
                      <a:noFill/>
                    </a:lnR>
                    <a:lnT>
                      <a:noFill/>
                    </a:lnT>
                    <a:lnB>
                      <a:noFill/>
                    </a:lnB>
                    <a:solidFill>
                      <a:schemeClr val="bg1">
                        <a:lumMod val="95000"/>
                      </a:schemeClr>
                    </a:solidFill>
                  </a:tcPr>
                </a:tc>
                <a:extLst>
                  <a:ext uri="{0D108BD9-81ED-4DB2-BD59-A6C34878D82A}">
                    <a16:rowId xmlns:a16="http://schemas.microsoft.com/office/drawing/2014/main" val="2971183175"/>
                  </a:ext>
                </a:extLst>
              </a:tr>
              <a:tr h="130289">
                <a:tc>
                  <a:txBody>
                    <a:bodyPr/>
                    <a:lstStyle/>
                    <a:p>
                      <a:pPr algn="l" rtl="0" fontAlgn="b">
                        <a:lnSpc>
                          <a:spcPct val="90000"/>
                        </a:lnSpc>
                        <a:buNone/>
                      </a:pPr>
                      <a:r>
                        <a:rPr lang="en-US" sz="1000" b="0" i="0" u="none" strike="noStrike">
                          <a:solidFill>
                            <a:srgbClr val="000000"/>
                          </a:solidFill>
                          <a:effectLst/>
                          <a:latin typeface="Calibri" panose="020F0502020204030204" pitchFamily="34" charset="0"/>
                        </a:rPr>
                        <a:t>Revvity</a:t>
                      </a:r>
                    </a:p>
                  </a:txBody>
                  <a:tcPr marL="27432" marR="27432" marT="0" marB="0" anchor="b">
                    <a:lnL>
                      <a:noFill/>
                    </a:lnL>
                    <a:lnR>
                      <a:noFill/>
                    </a:lnR>
                    <a:lnT>
                      <a:noFill/>
                    </a:lnT>
                    <a:lnB>
                      <a:noFill/>
                    </a:lnB>
                    <a:no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LS</a:t>
                      </a:r>
                    </a:p>
                  </a:txBody>
                  <a:tcPr marL="27432" marR="27432" marT="0" marB="0" anchor="b">
                    <a:lnL>
                      <a:noFill/>
                    </a:lnL>
                    <a:lnR>
                      <a:noFill/>
                    </a:lnR>
                    <a:lnT>
                      <a:noFill/>
                    </a:lnT>
                    <a:lnB>
                      <a:noFill/>
                    </a:lnB>
                    <a:no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12/28</a:t>
                      </a:r>
                    </a:p>
                  </a:txBody>
                  <a:tcPr marL="27432" marR="27432" marT="0" marB="0" anchor="b">
                    <a:lnL>
                      <a:noFill/>
                    </a:lnL>
                    <a:lnR>
                      <a:noFill/>
                    </a:lnR>
                    <a:lnT>
                      <a:noFill/>
                    </a:lnT>
                    <a:lnB>
                      <a:noFill/>
                    </a:lnB>
                    <a:no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$2,856 </a:t>
                      </a:r>
                    </a:p>
                  </a:txBody>
                  <a:tcPr marL="27432" marR="27432" marT="0" marB="0" anchor="b">
                    <a:lnL>
                      <a:noFill/>
                    </a:lnL>
                    <a:lnR>
                      <a:noFill/>
                    </a:lnR>
                    <a:lnT>
                      <a:noFill/>
                    </a:lnT>
                    <a:lnB>
                      <a:noFill/>
                    </a:lnB>
                    <a:no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$10,991 </a:t>
                      </a:r>
                    </a:p>
                  </a:txBody>
                  <a:tcPr marL="27432" marR="27432" marT="0" marB="0" anchor="b">
                    <a:lnL>
                      <a:noFill/>
                    </a:lnL>
                    <a:lnR>
                      <a:noFill/>
                    </a:lnR>
                    <a:lnT>
                      <a:noFill/>
                    </a:lnT>
                    <a:lnB>
                      <a:noFill/>
                    </a:lnB>
                    <a:noFill/>
                  </a:tcPr>
                </a:tc>
                <a:tc>
                  <a:txBody>
                    <a:bodyPr/>
                    <a:lstStyle/>
                    <a:p>
                      <a:pPr algn="ctr" rtl="0" fontAlgn="b">
                        <a:buNone/>
                      </a:pPr>
                      <a:r>
                        <a:rPr lang="en-US" sz="1000" b="0" i="0" u="none" strike="noStrike">
                          <a:solidFill>
                            <a:schemeClr val="tx1"/>
                          </a:solidFill>
                          <a:effectLst/>
                          <a:latin typeface="Calibri" panose="020F0502020204030204" pitchFamily="34" charset="0"/>
                        </a:rPr>
                        <a:t>3.8X</a:t>
                      </a:r>
                    </a:p>
                  </a:txBody>
                  <a:tcPr marL="0" marR="0" marT="0" marB="0" anchor="b">
                    <a:lnL>
                      <a:noFill/>
                    </a:lnL>
                    <a:lnR>
                      <a:noFill/>
                    </a:lnR>
                    <a:lnT>
                      <a:noFill/>
                    </a:lnT>
                    <a:lnB>
                      <a:noFill/>
                    </a:lnB>
                    <a:noFill/>
                  </a:tcPr>
                </a:tc>
                <a:extLst>
                  <a:ext uri="{0D108BD9-81ED-4DB2-BD59-A6C34878D82A}">
                    <a16:rowId xmlns:a16="http://schemas.microsoft.com/office/drawing/2014/main" val="2095969620"/>
                  </a:ext>
                </a:extLst>
              </a:tr>
              <a:tr h="130289">
                <a:tc>
                  <a:txBody>
                    <a:bodyPr/>
                    <a:lstStyle/>
                    <a:p>
                      <a:pPr algn="l" rtl="0" fontAlgn="b">
                        <a:lnSpc>
                          <a:spcPct val="90000"/>
                        </a:lnSpc>
                        <a:buNone/>
                      </a:pPr>
                      <a:r>
                        <a:rPr lang="en-US" sz="1000" b="0" i="0" u="none" strike="noStrike">
                          <a:solidFill>
                            <a:srgbClr val="000000"/>
                          </a:solidFill>
                          <a:effectLst/>
                          <a:latin typeface="Calibri" panose="020F0502020204030204" pitchFamily="34" charset="0"/>
                        </a:rPr>
                        <a:t>Bio-Rad</a:t>
                      </a:r>
                    </a:p>
                  </a:txBody>
                  <a:tcPr marL="27432" marR="27432" marT="0" marB="0" anchor="b">
                    <a:lnL>
                      <a:noFill/>
                    </a:lnL>
                    <a:lnR>
                      <a:noFill/>
                    </a:lnR>
                    <a:lnT>
                      <a:noFill/>
                    </a:lnT>
                    <a:lnB>
                      <a:noFill/>
                    </a:lnB>
                    <a:solidFill>
                      <a:schemeClr val="bg1">
                        <a:lumMod val="95000"/>
                      </a:schemeClr>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LS</a:t>
                      </a:r>
                    </a:p>
                  </a:txBody>
                  <a:tcPr marL="27432" marR="27432" marT="0" marB="0" anchor="b">
                    <a:lnL>
                      <a:noFill/>
                    </a:lnL>
                    <a:lnR>
                      <a:noFill/>
                    </a:lnR>
                    <a:lnT>
                      <a:noFill/>
                    </a:lnT>
                    <a:lnB>
                      <a:noFill/>
                    </a:lnB>
                    <a:solidFill>
                      <a:schemeClr val="bg1">
                        <a:lumMod val="95000"/>
                      </a:schemeClr>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12/31</a:t>
                      </a:r>
                    </a:p>
                  </a:txBody>
                  <a:tcPr marL="27432" marR="27432" marT="0" marB="0" anchor="b">
                    <a:lnL>
                      <a:noFill/>
                    </a:lnL>
                    <a:lnR>
                      <a:noFill/>
                    </a:lnR>
                    <a:lnT>
                      <a:noFill/>
                    </a:lnT>
                    <a:lnB>
                      <a:noFill/>
                    </a:lnB>
                    <a:solidFill>
                      <a:schemeClr val="bg1">
                        <a:lumMod val="95000"/>
                      </a:schemeClr>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$2,583 </a:t>
                      </a:r>
                    </a:p>
                  </a:txBody>
                  <a:tcPr marL="27432" marR="27432" marT="0" marB="0" anchor="b">
                    <a:lnL>
                      <a:noFill/>
                    </a:lnL>
                    <a:lnR>
                      <a:noFill/>
                    </a:lnR>
                    <a:lnT>
                      <a:noFill/>
                    </a:lnT>
                    <a:lnB>
                      <a:noFill/>
                    </a:lnB>
                    <a:solidFill>
                      <a:schemeClr val="bg1">
                        <a:lumMod val="95000"/>
                      </a:schemeClr>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$7,467 </a:t>
                      </a:r>
                    </a:p>
                  </a:txBody>
                  <a:tcPr marL="27432" marR="27432" marT="0" marB="0" anchor="b">
                    <a:lnL>
                      <a:noFill/>
                    </a:lnL>
                    <a:lnR>
                      <a:noFill/>
                    </a:lnR>
                    <a:lnT>
                      <a:noFill/>
                    </a:lnT>
                    <a:lnB>
                      <a:noFill/>
                    </a:lnB>
                    <a:solidFill>
                      <a:schemeClr val="bg1">
                        <a:lumMod val="95000"/>
                      </a:schemeClr>
                    </a:solidFill>
                  </a:tcPr>
                </a:tc>
                <a:tc>
                  <a:txBody>
                    <a:bodyPr/>
                    <a:lstStyle/>
                    <a:p>
                      <a:pPr algn="ctr" rtl="0" fontAlgn="b">
                        <a:buNone/>
                      </a:pPr>
                      <a:r>
                        <a:rPr lang="en-US" sz="1000" b="0" i="0" u="none" strike="noStrike">
                          <a:solidFill>
                            <a:schemeClr val="tx1"/>
                          </a:solidFill>
                          <a:effectLst/>
                          <a:latin typeface="Calibri" panose="020F0502020204030204" pitchFamily="34" charset="0"/>
                        </a:rPr>
                        <a:t>2.9X</a:t>
                      </a:r>
                    </a:p>
                  </a:txBody>
                  <a:tcPr marL="0" marR="0" marT="0" marB="0" anchor="b">
                    <a:lnL>
                      <a:noFill/>
                    </a:lnL>
                    <a:lnR>
                      <a:noFill/>
                    </a:lnR>
                    <a:lnT>
                      <a:noFill/>
                    </a:lnT>
                    <a:lnB>
                      <a:noFill/>
                    </a:lnB>
                    <a:solidFill>
                      <a:schemeClr val="bg1">
                        <a:lumMod val="95000"/>
                      </a:schemeClr>
                    </a:solidFill>
                  </a:tcPr>
                </a:tc>
                <a:extLst>
                  <a:ext uri="{0D108BD9-81ED-4DB2-BD59-A6C34878D82A}">
                    <a16:rowId xmlns:a16="http://schemas.microsoft.com/office/drawing/2014/main" val="1709469471"/>
                  </a:ext>
                </a:extLst>
              </a:tr>
              <a:tr h="0">
                <a:tc>
                  <a:txBody>
                    <a:bodyPr/>
                    <a:lstStyle/>
                    <a:p>
                      <a:pPr algn="l" fontAlgn="b">
                        <a:lnSpc>
                          <a:spcPct val="90000"/>
                        </a:lnSpc>
                      </a:pPr>
                      <a:endParaRPr lang="en-US" sz="100" b="0" i="0" u="none" strike="noStrike">
                        <a:effectLst/>
                        <a:latin typeface="Calibri" panose="020F0502020204030204" pitchFamily="34" charset="0"/>
                      </a:endParaRPr>
                    </a:p>
                  </a:txBody>
                  <a:tcPr marL="27432" marR="27432" marT="0"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lnSpc>
                          <a:spcPct val="90000"/>
                        </a:lnSpc>
                      </a:pPr>
                      <a:endParaRPr lang="en-US" sz="100" b="0" i="0" u="none" strike="noStrike">
                        <a:effectLst/>
                        <a:latin typeface="Calibri" panose="020F0502020204030204" pitchFamily="34" charset="0"/>
                      </a:endParaRPr>
                    </a:p>
                  </a:txBody>
                  <a:tcPr marL="27432" marR="27432" marT="0"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lnSpc>
                          <a:spcPct val="90000"/>
                        </a:lnSpc>
                      </a:pPr>
                      <a:endParaRPr lang="en-US" sz="100" b="0" i="0" u="none" strike="noStrike">
                        <a:effectLst/>
                        <a:latin typeface="Calibri" panose="020F0502020204030204" pitchFamily="34" charset="0"/>
                      </a:endParaRPr>
                    </a:p>
                  </a:txBody>
                  <a:tcPr marL="27432" marR="27432" marT="0"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lnSpc>
                          <a:spcPct val="90000"/>
                        </a:lnSpc>
                      </a:pPr>
                      <a:endParaRPr lang="en-US" sz="100" b="0" i="0" u="none" strike="noStrike">
                        <a:effectLst/>
                        <a:latin typeface="Calibri" panose="020F0502020204030204" pitchFamily="34" charset="0"/>
                      </a:endParaRPr>
                    </a:p>
                  </a:txBody>
                  <a:tcPr marL="27432" marR="27432" marT="0"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lnSpc>
                          <a:spcPct val="90000"/>
                        </a:lnSpc>
                      </a:pPr>
                      <a:endParaRPr lang="en-US" sz="100" b="0" i="0" u="none" strike="noStrike">
                        <a:effectLst/>
                        <a:latin typeface="Calibri" panose="020F0502020204030204" pitchFamily="34" charset="0"/>
                      </a:endParaRP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lnSpc>
                          <a:spcPct val="90000"/>
                        </a:lnSpc>
                      </a:pPr>
                      <a:endParaRPr lang="en-US" sz="100" b="0" i="0" u="none" strike="noStrike">
                        <a:solidFill>
                          <a:schemeClr val="accent4"/>
                        </a:solidFill>
                        <a:effectLst/>
                        <a:latin typeface="Calibri" panose="020F0502020204030204" pitchFamily="34" charset="0"/>
                      </a:endParaRP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90153196"/>
                  </a:ext>
                </a:extLst>
              </a:tr>
              <a:tr h="130289">
                <a:tc>
                  <a:txBody>
                    <a:bodyPr/>
                    <a:lstStyle/>
                    <a:p>
                      <a:pPr algn="l" fontAlgn="b">
                        <a:lnSpc>
                          <a:spcPct val="90000"/>
                        </a:lnSpc>
                      </a:pPr>
                      <a:r>
                        <a:rPr lang="en-US" sz="1000" b="0" i="0" u="none" strike="noStrike" dirty="0">
                          <a:effectLst/>
                          <a:latin typeface="Calibri" panose="020F0502020204030204" pitchFamily="34" charset="0"/>
                        </a:rPr>
                        <a:t>75th %ile</a:t>
                      </a:r>
                    </a:p>
                  </a:txBody>
                  <a:tcPr marL="27432" marR="27432" marT="0"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pPr>
                      <a:r>
                        <a:rPr lang="en-US" sz="1000" b="0" i="0" u="none" strike="noStrike">
                          <a:effectLst/>
                          <a:latin typeface="Calibri" panose="020F0502020204030204" pitchFamily="34" charset="0"/>
                        </a:rPr>
                        <a:t> </a:t>
                      </a:r>
                    </a:p>
                  </a:txBody>
                  <a:tcPr marL="27432" marR="27432" marT="0"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pPr>
                      <a:r>
                        <a:rPr lang="en-US" sz="1000" b="0" i="0" u="none" strike="noStrike">
                          <a:effectLst/>
                          <a:latin typeface="Calibri" panose="020F0502020204030204" pitchFamily="34" charset="0"/>
                        </a:rPr>
                        <a:t> </a:t>
                      </a:r>
                    </a:p>
                  </a:txBody>
                  <a:tcPr marL="27432" marR="27432" marT="0"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$5,612 </a:t>
                      </a:r>
                    </a:p>
                  </a:txBody>
                  <a:tcPr marL="27432" marR="27432" marT="0" marB="0"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$35,068 </a:t>
                      </a:r>
                    </a:p>
                  </a:txBody>
                  <a:tcPr marL="27432" marR="27432" marT="0" marB="0"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rtl="0" fontAlgn="b">
                        <a:lnSpc>
                          <a:spcPct val="90000"/>
                        </a:lnSpc>
                        <a:buNone/>
                      </a:pPr>
                      <a:r>
                        <a:rPr lang="en-US" sz="1000" b="0" i="0" u="none" strike="noStrike">
                          <a:solidFill>
                            <a:schemeClr val="tx1"/>
                          </a:solidFill>
                          <a:effectLst/>
                          <a:latin typeface="Calibri" panose="020F0502020204030204" pitchFamily="34" charset="0"/>
                        </a:rPr>
                        <a:t>7.0x</a:t>
                      </a:r>
                    </a:p>
                  </a:txBody>
                  <a:tcPr marL="27432" marR="27432" marT="0" marB="0"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extLst>
                  <a:ext uri="{0D108BD9-81ED-4DB2-BD59-A6C34878D82A}">
                    <a16:rowId xmlns:a16="http://schemas.microsoft.com/office/drawing/2014/main" val="735866414"/>
                  </a:ext>
                </a:extLst>
              </a:tr>
              <a:tr h="130289">
                <a:tc>
                  <a:txBody>
                    <a:bodyPr/>
                    <a:lstStyle/>
                    <a:p>
                      <a:pPr algn="l" fontAlgn="b">
                        <a:lnSpc>
                          <a:spcPct val="90000"/>
                        </a:lnSpc>
                      </a:pPr>
                      <a:r>
                        <a:rPr lang="en-US" sz="1000" b="1" i="0" u="none" strike="noStrike">
                          <a:effectLst/>
                          <a:latin typeface="Calibri" panose="020F0502020204030204" pitchFamily="34" charset="0"/>
                        </a:rPr>
                        <a:t>Median</a:t>
                      </a:r>
                    </a:p>
                  </a:txBody>
                  <a:tcPr marL="27432" marR="27432" marT="0" marB="9144" anchor="b">
                    <a:lnL>
                      <a:noFill/>
                    </a:lnL>
                    <a:lnR>
                      <a:noFill/>
                    </a:lnR>
                    <a:lnT>
                      <a:noFill/>
                    </a:lnT>
                    <a:lnB>
                      <a:noFill/>
                    </a:lnB>
                    <a:solidFill>
                      <a:srgbClr val="FFFFDB"/>
                    </a:solidFill>
                  </a:tcPr>
                </a:tc>
                <a:tc>
                  <a:txBody>
                    <a:bodyPr/>
                    <a:lstStyle/>
                    <a:p>
                      <a:pPr algn="ctr" fontAlgn="b">
                        <a:lnSpc>
                          <a:spcPct val="90000"/>
                        </a:lnSpc>
                      </a:pPr>
                      <a:r>
                        <a:rPr lang="en-US" sz="1000" b="1" i="0" u="none" strike="noStrike">
                          <a:effectLst/>
                          <a:latin typeface="Calibri" panose="020F0502020204030204" pitchFamily="34" charset="0"/>
                        </a:rPr>
                        <a:t> </a:t>
                      </a:r>
                    </a:p>
                  </a:txBody>
                  <a:tcPr marL="27432" marR="27432" marT="0" marB="9144" anchor="b">
                    <a:lnL>
                      <a:noFill/>
                    </a:lnL>
                    <a:lnR>
                      <a:noFill/>
                    </a:lnR>
                    <a:lnT>
                      <a:noFill/>
                    </a:lnT>
                    <a:lnB>
                      <a:noFill/>
                    </a:lnB>
                    <a:solidFill>
                      <a:srgbClr val="FFFFDB"/>
                    </a:solidFill>
                  </a:tcPr>
                </a:tc>
                <a:tc>
                  <a:txBody>
                    <a:bodyPr/>
                    <a:lstStyle/>
                    <a:p>
                      <a:pPr algn="ctr" fontAlgn="b">
                        <a:lnSpc>
                          <a:spcPct val="90000"/>
                        </a:lnSpc>
                      </a:pPr>
                      <a:r>
                        <a:rPr lang="en-US" sz="1000" b="1" i="0" u="none" strike="noStrike">
                          <a:effectLst/>
                          <a:latin typeface="Calibri" panose="020F0502020204030204" pitchFamily="34" charset="0"/>
                        </a:rPr>
                        <a:t> </a:t>
                      </a:r>
                    </a:p>
                  </a:txBody>
                  <a:tcPr marL="27432" marR="27432" marT="0" marB="9144" anchor="b">
                    <a:lnL>
                      <a:noFill/>
                    </a:lnL>
                    <a:lnR>
                      <a:noFill/>
                    </a:lnR>
                    <a:lnT>
                      <a:noFill/>
                    </a:lnT>
                    <a:lnB>
                      <a:noFill/>
                    </a:lnB>
                    <a:solidFill>
                      <a:srgbClr val="FFFFDB"/>
                    </a:solidFill>
                  </a:tcPr>
                </a:tc>
                <a:tc>
                  <a:txBody>
                    <a:bodyPr/>
                    <a:lstStyle/>
                    <a:p>
                      <a:pPr algn="ctr" rtl="0" fontAlgn="b">
                        <a:lnSpc>
                          <a:spcPct val="90000"/>
                        </a:lnSpc>
                        <a:buNone/>
                      </a:pPr>
                      <a:r>
                        <a:rPr lang="en-US" sz="1000" b="1" i="0" u="none" strike="noStrike">
                          <a:solidFill>
                            <a:srgbClr val="000000"/>
                          </a:solidFill>
                          <a:effectLst/>
                          <a:latin typeface="Calibri" panose="020F0502020204030204" pitchFamily="34" charset="0"/>
                        </a:rPr>
                        <a:t>$4,503 </a:t>
                      </a:r>
                    </a:p>
                  </a:txBody>
                  <a:tcPr marL="27432" marR="27432" marT="0" marB="0" anchor="b">
                    <a:lnL>
                      <a:noFill/>
                    </a:lnL>
                    <a:lnR>
                      <a:noFill/>
                    </a:lnR>
                    <a:lnT>
                      <a:noFill/>
                    </a:lnT>
                    <a:lnB>
                      <a:noFill/>
                    </a:lnB>
                    <a:solidFill>
                      <a:srgbClr val="FFFFDB"/>
                    </a:solidFill>
                  </a:tcPr>
                </a:tc>
                <a:tc>
                  <a:txBody>
                    <a:bodyPr/>
                    <a:lstStyle/>
                    <a:p>
                      <a:pPr algn="ctr" rtl="0" fontAlgn="b">
                        <a:lnSpc>
                          <a:spcPct val="90000"/>
                        </a:lnSpc>
                        <a:buNone/>
                      </a:pPr>
                      <a:r>
                        <a:rPr lang="en-US" sz="1000" b="1" i="0" u="none" strike="noStrike">
                          <a:solidFill>
                            <a:srgbClr val="000000"/>
                          </a:solidFill>
                          <a:effectLst/>
                          <a:latin typeface="Calibri" panose="020F0502020204030204" pitchFamily="34" charset="0"/>
                        </a:rPr>
                        <a:t>$26,264 </a:t>
                      </a:r>
                    </a:p>
                  </a:txBody>
                  <a:tcPr marL="27432" marR="27432" marT="0" marB="0" anchor="b">
                    <a:lnL>
                      <a:noFill/>
                    </a:lnL>
                    <a:lnR>
                      <a:noFill/>
                    </a:lnR>
                    <a:lnT>
                      <a:noFill/>
                    </a:lnT>
                    <a:lnB>
                      <a:noFill/>
                    </a:lnB>
                    <a:solidFill>
                      <a:srgbClr val="FFFFDB"/>
                    </a:solidFill>
                  </a:tcPr>
                </a:tc>
                <a:tc>
                  <a:txBody>
                    <a:bodyPr/>
                    <a:lstStyle/>
                    <a:p>
                      <a:pPr algn="ctr" rtl="0" fontAlgn="b">
                        <a:lnSpc>
                          <a:spcPct val="90000"/>
                        </a:lnSpc>
                        <a:buNone/>
                      </a:pPr>
                      <a:r>
                        <a:rPr lang="en-US" sz="1000" b="1" i="0" u="none" strike="noStrike">
                          <a:solidFill>
                            <a:schemeClr val="tx1"/>
                          </a:solidFill>
                          <a:effectLst/>
                          <a:latin typeface="Calibri" panose="020F0502020204030204" pitchFamily="34" charset="0"/>
                        </a:rPr>
                        <a:t>4.8x</a:t>
                      </a:r>
                    </a:p>
                  </a:txBody>
                  <a:tcPr marL="27432" marR="27432" marT="0" marB="0" anchor="b">
                    <a:lnL>
                      <a:noFill/>
                    </a:lnL>
                    <a:lnR>
                      <a:noFill/>
                    </a:lnR>
                    <a:lnT>
                      <a:noFill/>
                    </a:lnT>
                    <a:lnB>
                      <a:noFill/>
                    </a:lnB>
                    <a:solidFill>
                      <a:srgbClr val="FFFFDB"/>
                    </a:solidFill>
                  </a:tcPr>
                </a:tc>
                <a:extLst>
                  <a:ext uri="{0D108BD9-81ED-4DB2-BD59-A6C34878D82A}">
                    <a16:rowId xmlns:a16="http://schemas.microsoft.com/office/drawing/2014/main" val="1717269857"/>
                  </a:ext>
                </a:extLst>
              </a:tr>
              <a:tr h="130289">
                <a:tc>
                  <a:txBody>
                    <a:bodyPr/>
                    <a:lstStyle/>
                    <a:p>
                      <a:pPr algn="l" fontAlgn="b">
                        <a:lnSpc>
                          <a:spcPct val="90000"/>
                        </a:lnSpc>
                      </a:pPr>
                      <a:r>
                        <a:rPr lang="en-US" sz="1000" b="0" i="0" u="none" strike="noStrike">
                          <a:effectLst/>
                          <a:latin typeface="Calibri" panose="020F0502020204030204" pitchFamily="34" charset="0"/>
                        </a:rPr>
                        <a:t>25th %ile</a:t>
                      </a:r>
                    </a:p>
                  </a:txBody>
                  <a:tcPr marL="27432" marR="27432" marT="0"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pPr>
                      <a:r>
                        <a:rPr lang="en-US" sz="1000" b="0" i="0" u="none" strike="noStrike">
                          <a:effectLst/>
                          <a:latin typeface="Calibri" panose="020F0502020204030204" pitchFamily="34" charset="0"/>
                        </a:rPr>
                        <a:t> </a:t>
                      </a:r>
                    </a:p>
                  </a:txBody>
                  <a:tcPr marL="27432" marR="27432" marT="0"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pPr>
                      <a:r>
                        <a:rPr lang="en-US" sz="1000" b="0" i="0" u="none" strike="noStrike">
                          <a:effectLst/>
                          <a:latin typeface="Calibri" panose="020F0502020204030204" pitchFamily="34" charset="0"/>
                        </a:rPr>
                        <a:t> </a:t>
                      </a:r>
                    </a:p>
                  </a:txBody>
                  <a:tcPr marL="27432" marR="27432" marT="0"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$4,033 </a:t>
                      </a: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$15,632 </a:t>
                      </a: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rtl="0" fontAlgn="b">
                        <a:lnSpc>
                          <a:spcPct val="90000"/>
                        </a:lnSpc>
                        <a:buNone/>
                      </a:pPr>
                      <a:r>
                        <a:rPr lang="en-US" sz="1000" b="0" i="0" u="none" strike="noStrike">
                          <a:solidFill>
                            <a:schemeClr val="tx1"/>
                          </a:solidFill>
                          <a:effectLst/>
                          <a:latin typeface="Calibri" panose="020F0502020204030204" pitchFamily="34" charset="0"/>
                        </a:rPr>
                        <a:t>3.0x</a:t>
                      </a: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extLst>
                  <a:ext uri="{0D108BD9-81ED-4DB2-BD59-A6C34878D82A}">
                    <a16:rowId xmlns:a16="http://schemas.microsoft.com/office/drawing/2014/main" val="475364497"/>
                  </a:ext>
                </a:extLst>
              </a:tr>
              <a:tr h="0">
                <a:tc>
                  <a:txBody>
                    <a:bodyPr/>
                    <a:lstStyle/>
                    <a:p>
                      <a:pPr algn="l" fontAlgn="b">
                        <a:lnSpc>
                          <a:spcPct val="90000"/>
                        </a:lnSpc>
                      </a:pPr>
                      <a:endParaRPr lang="en-US" sz="100" b="0" i="0" u="none" strike="noStrike">
                        <a:effectLst/>
                        <a:latin typeface="Calibri" panose="020F0502020204030204" pitchFamily="34" charset="0"/>
                      </a:endParaRPr>
                    </a:p>
                  </a:txBody>
                  <a:tcPr marL="27432" marR="27432" marT="0"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lnSpc>
                          <a:spcPct val="90000"/>
                        </a:lnSpc>
                      </a:pPr>
                      <a:endParaRPr lang="en-US" sz="100" b="0" i="0" u="none" strike="noStrike">
                        <a:effectLst/>
                        <a:latin typeface="Calibri" panose="020F0502020204030204" pitchFamily="34" charset="0"/>
                      </a:endParaRPr>
                    </a:p>
                  </a:txBody>
                  <a:tcPr marL="27432" marR="27432" marT="0"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lnSpc>
                          <a:spcPct val="90000"/>
                        </a:lnSpc>
                      </a:pPr>
                      <a:endParaRPr lang="en-US" sz="100" b="0" i="0" u="none" strike="noStrike">
                        <a:effectLst/>
                        <a:latin typeface="Calibri" panose="020F0502020204030204" pitchFamily="34" charset="0"/>
                      </a:endParaRPr>
                    </a:p>
                  </a:txBody>
                  <a:tcPr marL="27432" marR="27432" marT="0"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lnSpc>
                          <a:spcPct val="90000"/>
                        </a:lnSpc>
                      </a:pPr>
                      <a:endParaRPr lang="en-US" sz="100" b="0" i="0" u="none" strike="noStrike">
                        <a:effectLst/>
                        <a:latin typeface="Calibri" panose="020F0502020204030204" pitchFamily="34" charset="0"/>
                      </a:endParaRPr>
                    </a:p>
                  </a:txBody>
                  <a:tcPr marL="27432" marR="27432" marT="0"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lnSpc>
                          <a:spcPct val="90000"/>
                        </a:lnSpc>
                      </a:pPr>
                      <a:endParaRPr lang="en-US" sz="100" b="0" i="0" u="none" strike="noStrike">
                        <a:effectLst/>
                        <a:latin typeface="Calibri" panose="020F0502020204030204" pitchFamily="34" charset="0"/>
                      </a:endParaRP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lnSpc>
                          <a:spcPct val="90000"/>
                        </a:lnSpc>
                      </a:pPr>
                      <a:endParaRPr lang="en-US" sz="100" b="0" i="0" u="none" strike="noStrike">
                        <a:solidFill>
                          <a:schemeClr val="tx1"/>
                        </a:solidFill>
                        <a:effectLst/>
                        <a:latin typeface="Calibri" panose="020F0502020204030204" pitchFamily="34" charset="0"/>
                      </a:endParaRP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72851319"/>
                  </a:ext>
                </a:extLst>
              </a:tr>
              <a:tr h="130289">
                <a:tc>
                  <a:txBody>
                    <a:bodyPr/>
                    <a:lstStyle/>
                    <a:p>
                      <a:pPr algn="l" fontAlgn="b">
                        <a:lnSpc>
                          <a:spcPct val="90000"/>
                        </a:lnSpc>
                      </a:pPr>
                      <a:r>
                        <a:rPr lang="en-US" sz="1000" b="1" i="0" u="none" strike="noStrike" dirty="0">
                          <a:effectLst/>
                          <a:latin typeface="Calibri" panose="020F0502020204030204" pitchFamily="34" charset="0"/>
                        </a:rPr>
                        <a:t>Goofy Laboratories</a:t>
                      </a:r>
                    </a:p>
                  </a:txBody>
                  <a:tcPr marL="27432" marR="27432" marT="0"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pPr>
                      <a:r>
                        <a:rPr lang="en-US" sz="1000" b="1" i="0" u="none" strike="noStrike">
                          <a:effectLst/>
                          <a:latin typeface="Calibri" panose="020F0502020204030204" pitchFamily="34" charset="0"/>
                        </a:rPr>
                        <a:t>HCE</a:t>
                      </a:r>
                    </a:p>
                  </a:txBody>
                  <a:tcPr marL="27432" marR="27432" marT="0"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pPr>
                      <a:r>
                        <a:rPr lang="en-US" sz="1000" b="1" i="0" u="none" strike="noStrike">
                          <a:effectLst/>
                          <a:latin typeface="Calibri" panose="020F0502020204030204" pitchFamily="34" charset="0"/>
                        </a:rPr>
                        <a:t>12/31</a:t>
                      </a:r>
                    </a:p>
                  </a:txBody>
                  <a:tcPr marL="27432" marR="27432" marT="0"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pPr>
                      <a:r>
                        <a:rPr lang="en-US" sz="1000" b="1" i="0" u="none" strike="noStrike">
                          <a:effectLst/>
                          <a:latin typeface="Calibri" panose="020F0502020204030204" pitchFamily="34" charset="0"/>
                        </a:rPr>
                        <a:t>$4,304</a:t>
                      </a:r>
                    </a:p>
                  </a:txBody>
                  <a:tcPr marL="27432" marR="27432" marT="0"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rtl="0" fontAlgn="b">
                        <a:lnSpc>
                          <a:spcPct val="90000"/>
                        </a:lnSpc>
                        <a:buNone/>
                      </a:pPr>
                      <a:r>
                        <a:rPr lang="en-US" sz="1000" b="1" i="0" u="none" strike="noStrike">
                          <a:solidFill>
                            <a:srgbClr val="000000"/>
                          </a:solidFill>
                          <a:effectLst/>
                          <a:latin typeface="Calibri" panose="020F0502020204030204" pitchFamily="34" charset="0"/>
                        </a:rPr>
                        <a:t>$52,291 </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pPr>
                      <a:r>
                        <a:rPr lang="en-US" sz="1000" b="1" i="0" u="none" strike="noStrike" dirty="0">
                          <a:solidFill>
                            <a:schemeClr val="tx1"/>
                          </a:solidFill>
                          <a:effectLst/>
                          <a:latin typeface="Calibri" panose="020F0502020204030204" pitchFamily="34" charset="0"/>
                        </a:rPr>
                        <a:t>12.2x</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extLst>
                  <a:ext uri="{0D108BD9-81ED-4DB2-BD59-A6C34878D82A}">
                    <a16:rowId xmlns:a16="http://schemas.microsoft.com/office/drawing/2014/main" val="3090368397"/>
                  </a:ext>
                </a:extLst>
              </a:tr>
            </a:tbl>
          </a:graphicData>
        </a:graphic>
      </p:graphicFrame>
      <p:sp>
        <p:nvSpPr>
          <p:cNvPr id="7" name="TextBox 6">
            <a:extLst>
              <a:ext uri="{FF2B5EF4-FFF2-40B4-BE49-F238E27FC236}">
                <a16:creationId xmlns:a16="http://schemas.microsoft.com/office/drawing/2014/main" id="{C84F21B9-8FCC-97BA-2D4A-339FC34EB5CA}"/>
              </a:ext>
            </a:extLst>
          </p:cNvPr>
          <p:cNvSpPr txBox="1"/>
          <p:nvPr/>
        </p:nvSpPr>
        <p:spPr>
          <a:xfrm>
            <a:off x="360219" y="1764498"/>
            <a:ext cx="4407051" cy="307777"/>
          </a:xfrm>
          <a:prstGeom prst="rect">
            <a:avLst/>
          </a:prstGeom>
          <a:noFill/>
        </p:spPr>
        <p:txBody>
          <a:bodyPr wrap="square" lIns="45720" tIns="45720" rIns="45720" bIns="45720" rtlCol="0" anchor="ctr">
            <a:spAutoFit/>
          </a:bodyPr>
          <a:lstStyle/>
          <a:p>
            <a:pPr algn="ctr">
              <a:defRPr/>
            </a:pPr>
            <a:r>
              <a:rPr lang="en-US" sz="1400" b="1" dirty="0">
                <a:solidFill>
                  <a:prstClr val="black"/>
                </a:solidFill>
                <a:cs typeface="Arial" panose="020B0604020202020204" pitchFamily="34" charset="0"/>
              </a:rPr>
              <a:t>Goofy Current Compensation Peer Group</a:t>
            </a:r>
            <a:endParaRPr lang="en-US" sz="1400" b="1" baseline="30000" dirty="0">
              <a:solidFill>
                <a:prstClr val="black"/>
              </a:solidFill>
              <a:cs typeface="Arial" panose="020B0604020202020204" pitchFamily="34" charset="0"/>
            </a:endParaRPr>
          </a:p>
        </p:txBody>
      </p:sp>
      <p:sp>
        <p:nvSpPr>
          <p:cNvPr id="8" name="TextBox 7">
            <a:extLst>
              <a:ext uri="{FF2B5EF4-FFF2-40B4-BE49-F238E27FC236}">
                <a16:creationId xmlns:a16="http://schemas.microsoft.com/office/drawing/2014/main" id="{BDE6FDD6-5988-BEEC-6845-21D25C011E2A}"/>
              </a:ext>
            </a:extLst>
          </p:cNvPr>
          <p:cNvSpPr txBox="1"/>
          <p:nvPr/>
        </p:nvSpPr>
        <p:spPr>
          <a:xfrm>
            <a:off x="432100" y="5653697"/>
            <a:ext cx="370417" cy="215444"/>
          </a:xfrm>
          <a:prstGeom prst="rect">
            <a:avLst/>
          </a:prstGeom>
          <a:noFill/>
          <a:ln>
            <a:noFill/>
          </a:ln>
        </p:spPr>
        <p:txBody>
          <a:bodyPr wrap="square" rtlCol="0" anchor="ctr">
            <a:spAutoFit/>
          </a:bodyPr>
          <a:lstStyle/>
          <a:p>
            <a:r>
              <a:rPr lang="en-US" sz="800" b="1" i="1"/>
              <a:t>Key:</a:t>
            </a:r>
          </a:p>
        </p:txBody>
      </p:sp>
      <p:graphicFrame>
        <p:nvGraphicFramePr>
          <p:cNvPr id="9" name="Table 14">
            <a:extLst>
              <a:ext uri="{FF2B5EF4-FFF2-40B4-BE49-F238E27FC236}">
                <a16:creationId xmlns:a16="http://schemas.microsoft.com/office/drawing/2014/main" id="{1EF47DC0-BE70-A535-1C3F-623EB62CFDBC}"/>
              </a:ext>
            </a:extLst>
          </p:cNvPr>
          <p:cNvGraphicFramePr>
            <a:graphicFrameLocks noGrp="1"/>
          </p:cNvGraphicFramePr>
          <p:nvPr/>
        </p:nvGraphicFramePr>
        <p:xfrm>
          <a:off x="516527" y="5841923"/>
          <a:ext cx="1479863" cy="137160"/>
        </p:xfrm>
        <a:graphic>
          <a:graphicData uri="http://schemas.openxmlformats.org/drawingml/2006/table">
            <a:tbl>
              <a:tblPr firstRow="1" bandRow="1">
                <a:tableStyleId>{5940675A-B579-460E-94D1-54222C63F5DA}</a:tableStyleId>
              </a:tblPr>
              <a:tblGrid>
                <a:gridCol w="182880">
                  <a:extLst>
                    <a:ext uri="{9D8B030D-6E8A-4147-A177-3AD203B41FA5}">
                      <a16:colId xmlns:a16="http://schemas.microsoft.com/office/drawing/2014/main" val="1448559794"/>
                    </a:ext>
                  </a:extLst>
                </a:gridCol>
                <a:gridCol w="1296983">
                  <a:extLst>
                    <a:ext uri="{9D8B030D-6E8A-4147-A177-3AD203B41FA5}">
                      <a16:colId xmlns:a16="http://schemas.microsoft.com/office/drawing/2014/main" val="1242357177"/>
                    </a:ext>
                  </a:extLst>
                </a:gridCol>
              </a:tblGrid>
              <a:tr h="137160">
                <a:tc>
                  <a:txBody>
                    <a:bodyPr/>
                    <a:lstStyle/>
                    <a:p>
                      <a:pPr algn="ctr"/>
                      <a:r>
                        <a:rPr lang="en-US" sz="800" dirty="0"/>
                        <a:t>HCE</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800" dirty="0"/>
                        <a:t>  Health Care Equipment</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9601939"/>
                  </a:ext>
                </a:extLst>
              </a:tr>
            </a:tbl>
          </a:graphicData>
        </a:graphic>
      </p:graphicFrame>
      <p:graphicFrame>
        <p:nvGraphicFramePr>
          <p:cNvPr id="13" name="Table 14">
            <a:extLst>
              <a:ext uri="{FF2B5EF4-FFF2-40B4-BE49-F238E27FC236}">
                <a16:creationId xmlns:a16="http://schemas.microsoft.com/office/drawing/2014/main" id="{A9BE18DB-FC9F-D10B-4746-F392EAADE29A}"/>
              </a:ext>
            </a:extLst>
          </p:cNvPr>
          <p:cNvGraphicFramePr>
            <a:graphicFrameLocks noGrp="1"/>
          </p:cNvGraphicFramePr>
          <p:nvPr/>
        </p:nvGraphicFramePr>
        <p:xfrm>
          <a:off x="516527" y="6032248"/>
          <a:ext cx="1479863" cy="121920"/>
        </p:xfrm>
        <a:graphic>
          <a:graphicData uri="http://schemas.openxmlformats.org/drawingml/2006/table">
            <a:tbl>
              <a:tblPr firstRow="1" bandRow="1">
                <a:tableStyleId>{5940675A-B579-460E-94D1-54222C63F5DA}</a:tableStyleId>
              </a:tblPr>
              <a:tblGrid>
                <a:gridCol w="182880">
                  <a:extLst>
                    <a:ext uri="{9D8B030D-6E8A-4147-A177-3AD203B41FA5}">
                      <a16:colId xmlns:a16="http://schemas.microsoft.com/office/drawing/2014/main" val="1448559794"/>
                    </a:ext>
                  </a:extLst>
                </a:gridCol>
                <a:gridCol w="1296983">
                  <a:extLst>
                    <a:ext uri="{9D8B030D-6E8A-4147-A177-3AD203B41FA5}">
                      <a16:colId xmlns:a16="http://schemas.microsoft.com/office/drawing/2014/main" val="1242357177"/>
                    </a:ext>
                  </a:extLst>
                </a:gridCol>
              </a:tblGrid>
              <a:tr h="0">
                <a:tc>
                  <a:txBody>
                    <a:bodyPr/>
                    <a:lstStyle/>
                    <a:p>
                      <a:pPr algn="ctr"/>
                      <a:r>
                        <a:rPr lang="en-US" sz="800"/>
                        <a:t>HCS</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800"/>
                        <a:t>  Health Care Supplies</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9601939"/>
                  </a:ext>
                </a:extLst>
              </a:tr>
            </a:tbl>
          </a:graphicData>
        </a:graphic>
      </p:graphicFrame>
      <p:graphicFrame>
        <p:nvGraphicFramePr>
          <p:cNvPr id="14" name="Table 14">
            <a:extLst>
              <a:ext uri="{FF2B5EF4-FFF2-40B4-BE49-F238E27FC236}">
                <a16:creationId xmlns:a16="http://schemas.microsoft.com/office/drawing/2014/main" id="{A5837B06-FBF5-CB7D-615B-E8A24C7BCAEC}"/>
              </a:ext>
            </a:extLst>
          </p:cNvPr>
          <p:cNvGraphicFramePr>
            <a:graphicFrameLocks noGrp="1"/>
          </p:cNvGraphicFramePr>
          <p:nvPr/>
        </p:nvGraphicFramePr>
        <p:xfrm>
          <a:off x="516528" y="6227602"/>
          <a:ext cx="1479863" cy="137160"/>
        </p:xfrm>
        <a:graphic>
          <a:graphicData uri="http://schemas.openxmlformats.org/drawingml/2006/table">
            <a:tbl>
              <a:tblPr firstRow="1" bandRow="1">
                <a:tableStyleId>{5940675A-B579-460E-94D1-54222C63F5DA}</a:tableStyleId>
              </a:tblPr>
              <a:tblGrid>
                <a:gridCol w="182880">
                  <a:extLst>
                    <a:ext uri="{9D8B030D-6E8A-4147-A177-3AD203B41FA5}">
                      <a16:colId xmlns:a16="http://schemas.microsoft.com/office/drawing/2014/main" val="1448559794"/>
                    </a:ext>
                  </a:extLst>
                </a:gridCol>
                <a:gridCol w="1296983">
                  <a:extLst>
                    <a:ext uri="{9D8B030D-6E8A-4147-A177-3AD203B41FA5}">
                      <a16:colId xmlns:a16="http://schemas.microsoft.com/office/drawing/2014/main" val="1242357177"/>
                    </a:ext>
                  </a:extLst>
                </a:gridCol>
              </a:tblGrid>
              <a:tr h="137160">
                <a:tc>
                  <a:txBody>
                    <a:bodyPr/>
                    <a:lstStyle/>
                    <a:p>
                      <a:pPr algn="ctr"/>
                      <a:r>
                        <a:rPr lang="en-US" sz="800"/>
                        <a:t>LS</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800"/>
                        <a:t>  Life Sciences Tools &amp; Svcs</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9601939"/>
                  </a:ext>
                </a:extLst>
              </a:tr>
            </a:tbl>
          </a:graphicData>
        </a:graphic>
      </p:graphicFrame>
      <p:graphicFrame>
        <p:nvGraphicFramePr>
          <p:cNvPr id="15" name="Table 14">
            <a:extLst>
              <a:ext uri="{FF2B5EF4-FFF2-40B4-BE49-F238E27FC236}">
                <a16:creationId xmlns:a16="http://schemas.microsoft.com/office/drawing/2014/main" id="{2B1DA96D-EA11-2AE9-CD30-BF7872366D10}"/>
              </a:ext>
            </a:extLst>
          </p:cNvPr>
          <p:cNvGraphicFramePr>
            <a:graphicFrameLocks noGrp="1"/>
          </p:cNvGraphicFramePr>
          <p:nvPr/>
        </p:nvGraphicFramePr>
        <p:xfrm>
          <a:off x="516528" y="6422956"/>
          <a:ext cx="1479863" cy="137160"/>
        </p:xfrm>
        <a:graphic>
          <a:graphicData uri="http://schemas.openxmlformats.org/drawingml/2006/table">
            <a:tbl>
              <a:tblPr firstRow="1" bandRow="1">
                <a:tableStyleId>{5940675A-B579-460E-94D1-54222C63F5DA}</a:tableStyleId>
              </a:tblPr>
              <a:tblGrid>
                <a:gridCol w="182880">
                  <a:extLst>
                    <a:ext uri="{9D8B030D-6E8A-4147-A177-3AD203B41FA5}">
                      <a16:colId xmlns:a16="http://schemas.microsoft.com/office/drawing/2014/main" val="1448559794"/>
                    </a:ext>
                  </a:extLst>
                </a:gridCol>
                <a:gridCol w="1296983">
                  <a:extLst>
                    <a:ext uri="{9D8B030D-6E8A-4147-A177-3AD203B41FA5}">
                      <a16:colId xmlns:a16="http://schemas.microsoft.com/office/drawing/2014/main" val="1242357177"/>
                    </a:ext>
                  </a:extLst>
                </a:gridCol>
              </a:tblGrid>
              <a:tr h="137160">
                <a:tc>
                  <a:txBody>
                    <a:bodyPr/>
                    <a:lstStyle/>
                    <a:p>
                      <a:pPr algn="ctr"/>
                      <a:r>
                        <a:rPr lang="en-US" sz="800"/>
                        <a:t>P</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800"/>
                        <a:t>  Pharmaceuticals</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9601939"/>
                  </a:ext>
                </a:extLst>
              </a:tr>
            </a:tbl>
          </a:graphicData>
        </a:graphic>
      </p:graphicFrame>
      <p:sp>
        <p:nvSpPr>
          <p:cNvPr id="16" name="Rectangle 15">
            <a:extLst>
              <a:ext uri="{FF2B5EF4-FFF2-40B4-BE49-F238E27FC236}">
                <a16:creationId xmlns:a16="http://schemas.microsoft.com/office/drawing/2014/main" id="{407FFBB0-1D65-22F6-08CA-6CD758AC40E0}"/>
              </a:ext>
            </a:extLst>
          </p:cNvPr>
          <p:cNvSpPr/>
          <p:nvPr/>
        </p:nvSpPr>
        <p:spPr>
          <a:xfrm>
            <a:off x="360219" y="5687401"/>
            <a:ext cx="1636171" cy="952421"/>
          </a:xfrm>
          <a:prstGeom prst="rect">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vert="horz" wrap="none" lIns="45720" tIns="45720" rIns="45720" bIns="45720" rtlCol="0" anchor="ctr">
            <a:noAutofit/>
          </a:bodyPr>
          <a:lstStyle/>
          <a:p>
            <a:pPr algn="ctr">
              <a:lnSpc>
                <a:spcPct val="85000"/>
              </a:lnSpc>
            </a:pPr>
            <a:endParaRPr lang="en-US" sz="1400" i="1">
              <a:solidFill>
                <a:schemeClr val="tx1"/>
              </a:solidFill>
            </a:endParaRPr>
          </a:p>
        </p:txBody>
      </p:sp>
      <p:sp>
        <p:nvSpPr>
          <p:cNvPr id="18" name="TextBox 17">
            <a:extLst>
              <a:ext uri="{FF2B5EF4-FFF2-40B4-BE49-F238E27FC236}">
                <a16:creationId xmlns:a16="http://schemas.microsoft.com/office/drawing/2014/main" id="{AE952F28-6433-9D50-1C7C-AFC92B8F9739}"/>
              </a:ext>
            </a:extLst>
          </p:cNvPr>
          <p:cNvSpPr txBox="1"/>
          <p:nvPr/>
        </p:nvSpPr>
        <p:spPr>
          <a:xfrm>
            <a:off x="5261336" y="4793882"/>
            <a:ext cx="3517826" cy="250646"/>
          </a:xfrm>
          <a:prstGeom prst="rect">
            <a:avLst/>
          </a:prstGeom>
          <a:solidFill>
            <a:schemeClr val="tx2"/>
          </a:solidFill>
          <a:ln>
            <a:solidFill>
              <a:schemeClr val="tx1"/>
            </a:solidFill>
          </a:ln>
        </p:spPr>
        <p:txBody>
          <a:bodyPr vert="horz" wrap="square" lIns="45720" tIns="45720" rIns="45720" bIns="45720" rtlCol="0" anchor="ctr">
            <a:spAutoFit/>
          </a:bodyPr>
          <a:lstStyle/>
          <a:p>
            <a:pPr algn="ctr">
              <a:lnSpc>
                <a:spcPct val="85000"/>
              </a:lnSpc>
            </a:pPr>
            <a:r>
              <a:rPr lang="en-US" sz="1200" b="1" dirty="0">
                <a:solidFill>
                  <a:schemeClr val="bg1"/>
                </a:solidFill>
              </a:rPr>
              <a:t>How ACME Leveraged AI</a:t>
            </a:r>
          </a:p>
        </p:txBody>
      </p:sp>
      <p:sp>
        <p:nvSpPr>
          <p:cNvPr id="21" name="Content Placeholder 2">
            <a:extLst>
              <a:ext uri="{FF2B5EF4-FFF2-40B4-BE49-F238E27FC236}">
                <a16:creationId xmlns:a16="http://schemas.microsoft.com/office/drawing/2014/main" id="{C7B6C1EE-E84B-7CCC-A89B-6A59C7044A5F}"/>
              </a:ext>
            </a:extLst>
          </p:cNvPr>
          <p:cNvSpPr txBox="1">
            <a:spLocks/>
          </p:cNvSpPr>
          <p:nvPr/>
        </p:nvSpPr>
        <p:spPr>
          <a:xfrm>
            <a:off x="5261336" y="5030204"/>
            <a:ext cx="3517826" cy="1254195"/>
          </a:xfrm>
          <a:prstGeom prst="rect">
            <a:avLst/>
          </a:prstGeom>
          <a:ln>
            <a:solidFill>
              <a:schemeClr val="tx1"/>
            </a:solidFill>
          </a:ln>
        </p:spPr>
        <p:txBody>
          <a:bodyPr vert="horz" lIns="91440" tIns="91440" rIns="91440" bIns="91440" rtlCol="0" anchor="t">
            <a:noAutofit/>
          </a:bodyPr>
          <a:lstStyle>
            <a:lvl1pPr marL="182880" indent="-182880" algn="l" defTabSz="914378"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1pPr>
            <a:lvl2pPr marL="365760" indent="-182880" algn="l" defTabSz="914378" rtl="0" eaLnBrk="1" latinLnBrk="0" hangingPunct="1">
              <a:lnSpc>
                <a:spcPct val="90000"/>
              </a:lnSpc>
              <a:spcBef>
                <a:spcPts val="0"/>
              </a:spcBef>
              <a:buFont typeface="Tw Cen MT" panose="020B0602020104020603" pitchFamily="34" charset="0"/>
              <a:buChar char="–"/>
              <a:defRPr sz="1600" kern="1200">
                <a:solidFill>
                  <a:schemeClr val="tx1"/>
                </a:solidFill>
                <a:latin typeface="+mn-lt"/>
                <a:ea typeface="+mn-ea"/>
                <a:cs typeface="+mn-cs"/>
              </a:defRPr>
            </a:lvl2pPr>
            <a:lvl3pPr marL="548640" indent="-182880" algn="l" defTabSz="914378" rtl="0" eaLnBrk="1" latinLnBrk="0" hangingPunct="1">
              <a:lnSpc>
                <a:spcPct val="90000"/>
              </a:lnSpc>
              <a:spcBef>
                <a:spcPts val="0"/>
              </a:spcBef>
              <a:buFont typeface="Wingdings" panose="05000000000000000000" pitchFamily="2" charset="2"/>
              <a:buChar char="Ø"/>
              <a:defRPr sz="1600" kern="1200">
                <a:solidFill>
                  <a:schemeClr val="tx1"/>
                </a:solidFill>
                <a:latin typeface="+mn-lt"/>
                <a:ea typeface="+mn-ea"/>
                <a:cs typeface="+mn-cs"/>
              </a:defRPr>
            </a:lvl3pPr>
            <a:lvl4pPr marL="731520" indent="-182880" algn="l" defTabSz="914378" rtl="0" eaLnBrk="1" latinLnBrk="0" hangingPunct="1">
              <a:lnSpc>
                <a:spcPct val="90000"/>
              </a:lnSpc>
              <a:spcBef>
                <a:spcPts val="0"/>
              </a:spcBef>
              <a:buFont typeface="Arial" panose="020B0604020202020204" pitchFamily="34" charset="0"/>
              <a:buChar char="•"/>
              <a:defRPr sz="1600" kern="1200">
                <a:solidFill>
                  <a:schemeClr val="tx1"/>
                </a:solidFill>
                <a:latin typeface="+mn-lt"/>
                <a:ea typeface="+mn-ea"/>
                <a:cs typeface="+mn-cs"/>
              </a:defRPr>
            </a:lvl4pPr>
            <a:lvl5pPr marL="914400" indent="-182880" algn="l" defTabSz="914378" rtl="0" eaLnBrk="1" latinLnBrk="0" hangingPunct="1">
              <a:lnSpc>
                <a:spcPct val="90000"/>
              </a:lnSpc>
              <a:spcBef>
                <a:spcPts val="0"/>
              </a:spcBef>
              <a:buFont typeface="Arial" panose="020B0604020202020204" pitchFamily="34" charset="0"/>
              <a:buChar char="•"/>
              <a:tabLst/>
              <a:defRPr sz="1600" kern="1200">
                <a:solidFill>
                  <a:schemeClr val="tx1"/>
                </a:solidFill>
                <a:latin typeface="+mn-lt"/>
                <a:ea typeface="+mn-ea"/>
                <a:cs typeface="+mn-cs"/>
              </a:defRPr>
            </a:lvl5pPr>
            <a:lvl6pPr marL="109728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6pPr>
            <a:lvl7pPr marL="128016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7pPr>
            <a:lvl8pPr marL="146304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8pPr>
            <a:lvl9pPr marL="164592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9pPr>
          </a:lstStyle>
          <a:p>
            <a:pPr marL="228600" indent="-128588"/>
            <a:r>
              <a:rPr lang="en-US" sz="1200" dirty="0"/>
              <a:t>Used AI to enhance the standard review process</a:t>
            </a:r>
          </a:p>
          <a:p>
            <a:pPr marL="228600" indent="-128588"/>
            <a:r>
              <a:rPr lang="en-US" sz="1200" dirty="0"/>
              <a:t>Specifically, pressure‑tested and refined the peer screening criteria based on </a:t>
            </a:r>
            <a:r>
              <a:rPr lang="en-US" sz="1200" dirty="0" err="1"/>
              <a:t>Goofy’s</a:t>
            </a:r>
            <a:r>
              <a:rPr lang="en-US" sz="1200" dirty="0"/>
              <a:t> evolving business model</a:t>
            </a:r>
          </a:p>
          <a:p>
            <a:pPr marL="228600" indent="-128588"/>
            <a:r>
              <a:rPr lang="en-US" sz="1200" dirty="0"/>
              <a:t>Also identified potential new peers beyond those previously evaluated</a:t>
            </a:r>
            <a:endParaRPr lang="en-US" sz="1200" strike="sngStrike" dirty="0">
              <a:solidFill>
                <a:srgbClr val="FF0000"/>
              </a:solidFill>
            </a:endParaRPr>
          </a:p>
        </p:txBody>
      </p:sp>
    </p:spTree>
    <p:extLst>
      <p:ext uri="{BB962C8B-B14F-4D97-AF65-F5344CB8AC3E}">
        <p14:creationId xmlns:p14="http://schemas.microsoft.com/office/powerpoint/2010/main" val="1502412645"/>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123173-24CB-D807-D5E8-F9A675C24C6B}"/>
            </a:ext>
          </a:extLst>
        </p:cNvPr>
        <p:cNvGrpSpPr/>
        <p:nvPr/>
      </p:nvGrpSpPr>
      <p:grpSpPr>
        <a:xfrm>
          <a:off x="0" y="0"/>
          <a:ext cx="0" cy="0"/>
          <a:chOff x="0" y="0"/>
          <a:chExt cx="0" cy="0"/>
        </a:xfrm>
      </p:grpSpPr>
      <p:sp>
        <p:nvSpPr>
          <p:cNvPr id="28" name="TextBox 27">
            <a:extLst>
              <a:ext uri="{FF2B5EF4-FFF2-40B4-BE49-F238E27FC236}">
                <a16:creationId xmlns:a16="http://schemas.microsoft.com/office/drawing/2014/main" id="{22F46511-A1A2-9757-F323-32172921003F}"/>
              </a:ext>
            </a:extLst>
          </p:cNvPr>
          <p:cNvSpPr txBox="1"/>
          <p:nvPr/>
        </p:nvSpPr>
        <p:spPr>
          <a:xfrm>
            <a:off x="78306" y="1249888"/>
            <a:ext cx="4931877" cy="179749"/>
          </a:xfrm>
          <a:prstGeom prst="rect">
            <a:avLst/>
          </a:prstGeom>
          <a:solidFill>
            <a:schemeClr val="tx2"/>
          </a:solidFill>
          <a:ln>
            <a:solidFill>
              <a:schemeClr val="tx1"/>
            </a:solidFill>
          </a:ln>
        </p:spPr>
        <p:txBody>
          <a:bodyPr wrap="none" lIns="91440" tIns="91440" rIns="91440" bIns="91440" rtlCol="0" anchor="ctr">
            <a:noAutofit/>
          </a:bodyPr>
          <a:lstStyle/>
          <a:p>
            <a:pPr algn="ctr">
              <a:lnSpc>
                <a:spcPct val="85000"/>
              </a:lnSpc>
            </a:pPr>
            <a:r>
              <a:rPr lang="en-US" sz="1100" b="1" dirty="0">
                <a:solidFill>
                  <a:schemeClr val="bg1"/>
                </a:solidFill>
              </a:rPr>
              <a:t>Goofy Business Profile</a:t>
            </a:r>
            <a:endParaRPr lang="en-US" sz="1100" b="1" baseline="30000" dirty="0">
              <a:solidFill>
                <a:schemeClr val="bg1"/>
              </a:solidFill>
            </a:endParaRPr>
          </a:p>
        </p:txBody>
      </p:sp>
      <p:pic>
        <p:nvPicPr>
          <p:cNvPr id="7" name="Picture 6">
            <a:extLst>
              <a:ext uri="{FF2B5EF4-FFF2-40B4-BE49-F238E27FC236}">
                <a16:creationId xmlns:a16="http://schemas.microsoft.com/office/drawing/2014/main" id="{7B0BE844-1F67-98F4-B286-4A1C401D0ED4}"/>
              </a:ext>
            </a:extLst>
          </p:cNvPr>
          <p:cNvPicPr>
            <a:picLocks noChangeAspect="1"/>
          </p:cNvPicPr>
          <p:nvPr/>
        </p:nvPicPr>
        <p:blipFill>
          <a:blip r:embed="rId3"/>
          <a:stretch>
            <a:fillRect/>
          </a:stretch>
        </p:blipFill>
        <p:spPr>
          <a:xfrm>
            <a:off x="2632651" y="3388652"/>
            <a:ext cx="2098815" cy="1247664"/>
          </a:xfrm>
          <a:prstGeom prst="rect">
            <a:avLst/>
          </a:prstGeom>
        </p:spPr>
      </p:pic>
      <p:pic>
        <p:nvPicPr>
          <p:cNvPr id="3" name="Picture 2">
            <a:extLst>
              <a:ext uri="{FF2B5EF4-FFF2-40B4-BE49-F238E27FC236}">
                <a16:creationId xmlns:a16="http://schemas.microsoft.com/office/drawing/2014/main" id="{A85B62A4-FC07-9697-954E-F0819C048FDE}"/>
              </a:ext>
            </a:extLst>
          </p:cNvPr>
          <p:cNvPicPr>
            <a:picLocks noChangeAspect="1"/>
          </p:cNvPicPr>
          <p:nvPr/>
        </p:nvPicPr>
        <p:blipFill>
          <a:blip r:embed="rId4"/>
          <a:stretch>
            <a:fillRect/>
          </a:stretch>
        </p:blipFill>
        <p:spPr>
          <a:xfrm>
            <a:off x="2506856" y="5043449"/>
            <a:ext cx="2263884" cy="1358330"/>
          </a:xfrm>
          <a:prstGeom prst="rect">
            <a:avLst/>
          </a:prstGeom>
        </p:spPr>
      </p:pic>
      <p:pic>
        <p:nvPicPr>
          <p:cNvPr id="2" name="Picture 1">
            <a:extLst>
              <a:ext uri="{FF2B5EF4-FFF2-40B4-BE49-F238E27FC236}">
                <a16:creationId xmlns:a16="http://schemas.microsoft.com/office/drawing/2014/main" id="{3B120CB9-562B-E3C6-8732-798F42CAD798}"/>
              </a:ext>
            </a:extLst>
          </p:cNvPr>
          <p:cNvPicPr>
            <a:picLocks noChangeAspect="1"/>
          </p:cNvPicPr>
          <p:nvPr/>
        </p:nvPicPr>
        <p:blipFill>
          <a:blip r:embed="rId5"/>
          <a:stretch>
            <a:fillRect/>
          </a:stretch>
        </p:blipFill>
        <p:spPr>
          <a:xfrm>
            <a:off x="-68659" y="4933731"/>
            <a:ext cx="2599875" cy="1559925"/>
          </a:xfrm>
          <a:prstGeom prst="rect">
            <a:avLst/>
          </a:prstGeom>
        </p:spPr>
      </p:pic>
      <p:sp>
        <p:nvSpPr>
          <p:cNvPr id="5" name="Title 4">
            <a:extLst>
              <a:ext uri="{FF2B5EF4-FFF2-40B4-BE49-F238E27FC236}">
                <a16:creationId xmlns:a16="http://schemas.microsoft.com/office/drawing/2014/main" id="{1D80173B-99B7-3FFA-4B9A-178BEC34C0D1}"/>
              </a:ext>
            </a:extLst>
          </p:cNvPr>
          <p:cNvSpPr>
            <a:spLocks noGrp="1"/>
          </p:cNvSpPr>
          <p:nvPr>
            <p:ph type="title"/>
          </p:nvPr>
        </p:nvSpPr>
        <p:spPr>
          <a:xfrm>
            <a:off x="809831" y="322081"/>
            <a:ext cx="8371113" cy="714412"/>
          </a:xfrm>
        </p:spPr>
        <p:txBody>
          <a:bodyPr/>
          <a:lstStyle/>
          <a:p>
            <a:r>
              <a:rPr lang="en-US" dirty="0"/>
              <a:t>ACME suggests modest refinements to </a:t>
            </a:r>
            <a:r>
              <a:rPr lang="en-US" dirty="0" err="1"/>
              <a:t>Goofy’s</a:t>
            </a:r>
            <a:r>
              <a:rPr lang="en-US" dirty="0"/>
              <a:t> peer screening criteria given </a:t>
            </a:r>
            <a:r>
              <a:rPr lang="en-US" dirty="0" err="1"/>
              <a:t>Goofy’s</a:t>
            </a:r>
            <a:r>
              <a:rPr lang="en-US" dirty="0"/>
              <a:t> growth and strategic developments</a:t>
            </a:r>
          </a:p>
        </p:txBody>
      </p:sp>
      <p:sp>
        <p:nvSpPr>
          <p:cNvPr id="4" name="Slide Number Placeholder 3">
            <a:extLst>
              <a:ext uri="{FF2B5EF4-FFF2-40B4-BE49-F238E27FC236}">
                <a16:creationId xmlns:a16="http://schemas.microsoft.com/office/drawing/2014/main" id="{1475A184-FA06-5679-0726-2652689F8E96}"/>
              </a:ext>
            </a:extLst>
          </p:cNvPr>
          <p:cNvSpPr>
            <a:spLocks noGrp="1"/>
          </p:cNvSpPr>
          <p:nvPr>
            <p:ph type="sldNum" sz="quarter" idx="12"/>
          </p:nvPr>
        </p:nvSpPr>
        <p:spPr>
          <a:xfrm>
            <a:off x="8581802" y="6577909"/>
            <a:ext cx="352260" cy="211339"/>
          </a:xfrm>
        </p:spPr>
        <p:txBody>
          <a:bodyPr/>
          <a:lstStyle/>
          <a:p>
            <a:fld id="{91690BAF-E217-4185-92FD-0CEA06F2B7C8}" type="slidenum">
              <a:rPr lang="en-US" smtClean="0"/>
              <a:pPr/>
              <a:t>4</a:t>
            </a:fld>
            <a:endParaRPr lang="en-US"/>
          </a:p>
        </p:txBody>
      </p:sp>
      <p:sp>
        <p:nvSpPr>
          <p:cNvPr id="24" name="Rectangle 23">
            <a:extLst>
              <a:ext uri="{FF2B5EF4-FFF2-40B4-BE49-F238E27FC236}">
                <a16:creationId xmlns:a16="http://schemas.microsoft.com/office/drawing/2014/main" id="{2014A3EE-E93F-68CB-9055-39A44765EA98}"/>
              </a:ext>
            </a:extLst>
          </p:cNvPr>
          <p:cNvSpPr/>
          <p:nvPr/>
        </p:nvSpPr>
        <p:spPr>
          <a:xfrm>
            <a:off x="2550900" y="2827913"/>
            <a:ext cx="2444688" cy="1793163"/>
          </a:xfrm>
          <a:prstGeom prst="rect">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algn="ctr">
              <a:lnSpc>
                <a:spcPct val="85000"/>
              </a:lnSpc>
            </a:pPr>
            <a:r>
              <a:rPr lang="en-US" sz="1100" b="1">
                <a:solidFill>
                  <a:schemeClr val="tx1"/>
                </a:solidFill>
              </a:rPr>
              <a:t>Expanding Recurring Revenue Base</a:t>
            </a:r>
          </a:p>
          <a:p>
            <a:pPr>
              <a:lnSpc>
                <a:spcPct val="85000"/>
              </a:lnSpc>
            </a:pPr>
            <a:endParaRPr lang="en-US" sz="1100">
              <a:solidFill>
                <a:schemeClr val="tx1"/>
              </a:solidFill>
            </a:endParaRPr>
          </a:p>
          <a:p>
            <a:pPr marL="58737">
              <a:lnSpc>
                <a:spcPct val="85000"/>
              </a:lnSpc>
            </a:pPr>
            <a:endParaRPr lang="en-US" sz="1100" b="1">
              <a:solidFill>
                <a:schemeClr val="tx1"/>
              </a:solidFill>
            </a:endParaRPr>
          </a:p>
          <a:p>
            <a:pPr algn="ctr">
              <a:lnSpc>
                <a:spcPct val="85000"/>
              </a:lnSpc>
            </a:pPr>
            <a:endParaRPr lang="en-US" sz="1100" b="1">
              <a:solidFill>
                <a:schemeClr val="tx1"/>
              </a:solidFill>
            </a:endParaRPr>
          </a:p>
        </p:txBody>
      </p:sp>
      <p:sp>
        <p:nvSpPr>
          <p:cNvPr id="26" name="Rectangle 25">
            <a:extLst>
              <a:ext uri="{FF2B5EF4-FFF2-40B4-BE49-F238E27FC236}">
                <a16:creationId xmlns:a16="http://schemas.microsoft.com/office/drawing/2014/main" id="{4582D3BC-192F-3023-BC5B-9CF37E61F042}"/>
              </a:ext>
            </a:extLst>
          </p:cNvPr>
          <p:cNvSpPr/>
          <p:nvPr/>
        </p:nvSpPr>
        <p:spPr>
          <a:xfrm>
            <a:off x="59256" y="4680716"/>
            <a:ext cx="2444688" cy="1708345"/>
          </a:xfrm>
          <a:prstGeom prst="rect">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algn="ctr">
              <a:lnSpc>
                <a:spcPct val="85000"/>
              </a:lnSpc>
            </a:pPr>
            <a:r>
              <a:rPr lang="en-US" sz="1100" b="1" dirty="0">
                <a:solidFill>
                  <a:schemeClr val="tx1"/>
                </a:solidFill>
              </a:rPr>
              <a:t>Meaningful International Presence</a:t>
            </a:r>
          </a:p>
          <a:p>
            <a:pPr algn="ctr">
              <a:lnSpc>
                <a:spcPct val="85000"/>
              </a:lnSpc>
            </a:pPr>
            <a:r>
              <a:rPr lang="en-US" sz="1100" b="1" dirty="0">
                <a:solidFill>
                  <a:schemeClr val="tx1"/>
                </a:solidFill>
              </a:rPr>
              <a:t>FY25 Revenue</a:t>
            </a:r>
          </a:p>
          <a:p>
            <a:pPr algn="ctr">
              <a:lnSpc>
                <a:spcPct val="85000"/>
              </a:lnSpc>
            </a:pPr>
            <a:endParaRPr lang="en-US" sz="1100" b="1" dirty="0">
              <a:solidFill>
                <a:schemeClr val="tx1"/>
              </a:solidFill>
            </a:endParaRPr>
          </a:p>
          <a:p>
            <a:pPr algn="ctr">
              <a:lnSpc>
                <a:spcPct val="85000"/>
              </a:lnSpc>
            </a:pPr>
            <a:endParaRPr lang="en-US" sz="1100" b="1" dirty="0">
              <a:solidFill>
                <a:schemeClr val="tx1"/>
              </a:solidFill>
            </a:endParaRPr>
          </a:p>
        </p:txBody>
      </p:sp>
      <p:graphicFrame>
        <p:nvGraphicFramePr>
          <p:cNvPr id="27" name="Table 26">
            <a:extLst>
              <a:ext uri="{FF2B5EF4-FFF2-40B4-BE49-F238E27FC236}">
                <a16:creationId xmlns:a16="http://schemas.microsoft.com/office/drawing/2014/main" id="{87AAC210-10C4-B213-0534-7AA783E76751}"/>
              </a:ext>
            </a:extLst>
          </p:cNvPr>
          <p:cNvGraphicFramePr>
            <a:graphicFrameLocks noGrp="1"/>
          </p:cNvGraphicFramePr>
          <p:nvPr>
            <p:extLst>
              <p:ext uri="{D42A27DB-BD31-4B8C-83A1-F6EECF244321}">
                <p14:modId xmlns:p14="http://schemas.microsoft.com/office/powerpoint/2010/main" val="3083835501"/>
              </p:ext>
            </p:extLst>
          </p:nvPr>
        </p:nvGraphicFramePr>
        <p:xfrm>
          <a:off x="5087306" y="1838584"/>
          <a:ext cx="3989586" cy="4434840"/>
        </p:xfrm>
        <a:graphic>
          <a:graphicData uri="http://schemas.openxmlformats.org/drawingml/2006/table">
            <a:tbl>
              <a:tblPr firstRow="1" bandRow="1">
                <a:tableStyleId>{A77E1047-C769-4665-AFDC-4AF39A3502B1}</a:tableStyleId>
              </a:tblPr>
              <a:tblGrid>
                <a:gridCol w="772242">
                  <a:extLst>
                    <a:ext uri="{9D8B030D-6E8A-4147-A177-3AD203B41FA5}">
                      <a16:colId xmlns:a16="http://schemas.microsoft.com/office/drawing/2014/main" val="2703726966"/>
                    </a:ext>
                  </a:extLst>
                </a:gridCol>
                <a:gridCol w="1301750">
                  <a:extLst>
                    <a:ext uri="{9D8B030D-6E8A-4147-A177-3AD203B41FA5}">
                      <a16:colId xmlns:a16="http://schemas.microsoft.com/office/drawing/2014/main" val="3757828032"/>
                    </a:ext>
                  </a:extLst>
                </a:gridCol>
                <a:gridCol w="1915594">
                  <a:extLst>
                    <a:ext uri="{9D8B030D-6E8A-4147-A177-3AD203B41FA5}">
                      <a16:colId xmlns:a16="http://schemas.microsoft.com/office/drawing/2014/main" val="189718360"/>
                    </a:ext>
                  </a:extLst>
                </a:gridCol>
              </a:tblGrid>
              <a:tr h="182880">
                <a:tc>
                  <a:txBody>
                    <a:bodyPr/>
                    <a:lstStyle/>
                    <a:p>
                      <a:pPr algn="ctr"/>
                      <a:r>
                        <a:rPr lang="en-US" sz="800" dirty="0"/>
                        <a:t>Characteristic</a:t>
                      </a:r>
                    </a:p>
                  </a:txBody>
                  <a:tcPr marL="9144" marR="9144" marT="9144" marB="9144" anchor="b">
                    <a:lnL w="6350" cap="flat" cmpd="sng" algn="ctr">
                      <a:no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sz="1000" dirty="0"/>
                        <a:t>Goofy</a:t>
                      </a:r>
                    </a:p>
                  </a:txBody>
                  <a:tcPr marL="9144" marR="9144" marT="9144" marB="9144" anchor="b">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sz="1000" dirty="0"/>
                        <a:t>Criteria </a:t>
                      </a:r>
                    </a:p>
                  </a:txBody>
                  <a:tcPr marL="9144" marR="9144" marT="9144" marB="9144" anchor="b">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35974926"/>
                  </a:ext>
                </a:extLst>
              </a:tr>
              <a:tr h="457200">
                <a:tc>
                  <a:txBody>
                    <a:bodyPr/>
                    <a:lstStyle/>
                    <a:p>
                      <a:pPr>
                        <a:lnSpc>
                          <a:spcPct val="90000"/>
                        </a:lnSpc>
                      </a:pPr>
                      <a:r>
                        <a:rPr lang="en-US" sz="1000" b="1" dirty="0"/>
                        <a:t>Size</a:t>
                      </a:r>
                    </a:p>
                  </a:txBody>
                  <a:tcPr marL="27432" marR="27432" marT="9144" marB="9144">
                    <a:lnL w="6350" cap="flat" cmpd="sng" algn="ctr">
                      <a:noFill/>
                      <a:prstDash val="solid"/>
                      <a:round/>
                      <a:headEnd type="none" w="med" len="med"/>
                      <a:tailEnd type="none" w="med" len="med"/>
                    </a:lnL>
                    <a:lnT w="63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119063" indent="-119063">
                        <a:lnSpc>
                          <a:spcPct val="90000"/>
                        </a:lnSpc>
                        <a:buFont typeface="Wingdings" panose="05000000000000000000" pitchFamily="2" charset="2"/>
                        <a:buChar char="§"/>
                      </a:pPr>
                      <a:r>
                        <a:rPr lang="en-US" sz="1000" dirty="0">
                          <a:solidFill>
                            <a:schemeClr val="tx1"/>
                          </a:solidFill>
                          <a:latin typeface="+mj-lt"/>
                        </a:rPr>
                        <a:t>FY26 projected revenue: $4.6B - $4.7B </a:t>
                      </a:r>
                    </a:p>
                  </a:txBody>
                  <a:tcPr marL="27432" marR="27432" marT="9144" marB="9144">
                    <a:lnT w="63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119063" marR="0" lvl="0" indent="-119063"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kumimoji="0" lang="en-US" sz="1000" b="0" i="0" u="none" strike="noStrike" kern="0" cap="none" spc="0" normalizeH="0" baseline="0" noProof="0" dirty="0">
                          <a:ln>
                            <a:noFill/>
                          </a:ln>
                          <a:effectLst/>
                          <a:uLnTx/>
                          <a:uFillTx/>
                        </a:rPr>
                        <a:t>~1/3x to 3x</a:t>
                      </a:r>
                      <a:r>
                        <a:rPr kumimoji="0" lang="en-US" sz="1000" b="0" i="0" u="none" strike="noStrike" kern="0" cap="none" spc="0" normalizeH="0" baseline="0" noProof="0" dirty="0">
                          <a:ln>
                            <a:noFill/>
                          </a:ln>
                          <a:solidFill>
                            <a:prstClr val="black"/>
                          </a:solidFill>
                          <a:effectLst/>
                          <a:uLnTx/>
                          <a:uFillTx/>
                        </a:rPr>
                        <a:t> </a:t>
                      </a:r>
                      <a:r>
                        <a:rPr kumimoji="0" lang="en-US" sz="1000" b="0" i="0" u="none" strike="noStrike" kern="0" cap="none" spc="0" normalizeH="0" baseline="0" noProof="0" dirty="0" err="1">
                          <a:ln>
                            <a:noFill/>
                          </a:ln>
                          <a:solidFill>
                            <a:prstClr val="black"/>
                          </a:solidFill>
                          <a:effectLst/>
                          <a:uLnTx/>
                          <a:uFillTx/>
                        </a:rPr>
                        <a:t>Goofy’s</a:t>
                      </a:r>
                      <a:r>
                        <a:rPr kumimoji="0" lang="en-US" sz="1000" b="0" i="0" u="none" strike="noStrike" kern="0" cap="none" spc="0" normalizeH="0" baseline="0" noProof="0" dirty="0">
                          <a:ln>
                            <a:noFill/>
                          </a:ln>
                          <a:solidFill>
                            <a:prstClr val="black"/>
                          </a:solidFill>
                          <a:effectLst/>
                          <a:uLnTx/>
                          <a:uFillTx/>
                        </a:rPr>
                        <a:t> revenue </a:t>
                      </a:r>
                      <a:r>
                        <a:rPr kumimoji="0" lang="en-US" sz="1000" b="0" i="0" u="none" strike="noStrike" kern="0" cap="none" spc="0" normalizeH="0" baseline="0" noProof="0" dirty="0">
                          <a:ln>
                            <a:noFill/>
                          </a:ln>
                          <a:solidFill>
                            <a:schemeClr val="tx1"/>
                          </a:solidFill>
                          <a:effectLst/>
                          <a:uLnTx/>
                          <a:uFillTx/>
                        </a:rPr>
                        <a:t>(</a:t>
                      </a:r>
                      <a:r>
                        <a:rPr kumimoji="0" lang="en-US" sz="1000" b="0" i="0" u="none" strike="noStrike" kern="0" cap="none" spc="0" normalizeH="0" baseline="0" noProof="0" dirty="0">
                          <a:ln>
                            <a:noFill/>
                          </a:ln>
                          <a:solidFill>
                            <a:srgbClr val="FF0000"/>
                          </a:solidFill>
                          <a:effectLst/>
                          <a:uLnTx/>
                          <a:uFillTx/>
                        </a:rPr>
                        <a:t>~</a:t>
                      </a:r>
                      <a:r>
                        <a:rPr kumimoji="0" lang="en-US" sz="1000" b="1" i="0" u="none" strike="noStrike" kern="0" cap="none" spc="0" normalizeH="0" baseline="0" noProof="0" dirty="0">
                          <a:ln>
                            <a:noFill/>
                          </a:ln>
                          <a:solidFill>
                            <a:srgbClr val="FF0000"/>
                          </a:solidFill>
                          <a:effectLst/>
                          <a:uLnTx/>
                          <a:uFillTx/>
                        </a:rPr>
                        <a:t>$1.5B </a:t>
                      </a:r>
                      <a:r>
                        <a:rPr kumimoji="0" lang="en-US" sz="1000" b="0" i="0" u="none" strike="noStrike" kern="0" cap="none" spc="0" normalizeH="0" baseline="0" noProof="0" dirty="0">
                          <a:ln>
                            <a:noFill/>
                          </a:ln>
                          <a:effectLst/>
                          <a:uLnTx/>
                          <a:uFillTx/>
                        </a:rPr>
                        <a:t>to </a:t>
                      </a:r>
                      <a:r>
                        <a:rPr kumimoji="0" lang="en-US" sz="1000" b="1" i="0" u="none" strike="noStrike" kern="0" cap="none" spc="0" normalizeH="0" baseline="0" noProof="0" dirty="0">
                          <a:ln>
                            <a:noFill/>
                          </a:ln>
                          <a:solidFill>
                            <a:srgbClr val="FF0000"/>
                          </a:solidFill>
                          <a:effectLst/>
                          <a:uLnTx/>
                          <a:uFillTx/>
                        </a:rPr>
                        <a:t>~$14.0B</a:t>
                      </a:r>
                      <a:r>
                        <a:rPr kumimoji="0" lang="en-US" sz="1000" b="0" i="0" u="none" strike="noStrike" kern="0" cap="none" spc="0" normalizeH="0" baseline="0" noProof="0" dirty="0">
                          <a:ln>
                            <a:noFill/>
                          </a:ln>
                          <a:effectLst/>
                          <a:uLnTx/>
                          <a:uFillTx/>
                        </a:rPr>
                        <a:t>) </a:t>
                      </a:r>
                      <a:r>
                        <a:rPr kumimoji="0" lang="en-US" sz="1000" b="0" i="1" u="none" strike="noStrike" kern="0" cap="none" spc="0" normalizeH="0" baseline="0" noProof="0" dirty="0">
                          <a:ln>
                            <a:noFill/>
                          </a:ln>
                          <a:solidFill>
                            <a:srgbClr val="FF0000"/>
                          </a:solidFill>
                          <a:effectLst/>
                          <a:uLnTx/>
                          <a:uFillTx/>
                        </a:rPr>
                        <a:t>(vs. ~$1B to ~$12B)</a:t>
                      </a:r>
                      <a:endParaRPr kumimoji="0" lang="en-US" sz="1000" b="0" i="1" u="none" strike="noStrike" kern="0" cap="none" spc="0" normalizeH="0" baseline="30000" noProof="0" dirty="0">
                        <a:ln>
                          <a:noFill/>
                        </a:ln>
                        <a:solidFill>
                          <a:srgbClr val="FF0000"/>
                        </a:solidFill>
                        <a:effectLst/>
                        <a:uLnTx/>
                        <a:uFillTx/>
                      </a:endParaRPr>
                    </a:p>
                  </a:txBody>
                  <a:tcPr marL="27432" marR="27432" marT="9144" marB="9144">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97875923"/>
                  </a:ext>
                </a:extLst>
              </a:tr>
              <a:tr h="914400">
                <a:tc>
                  <a:txBody>
                    <a:bodyPr/>
                    <a:lstStyle/>
                    <a:p>
                      <a:pPr>
                        <a:lnSpc>
                          <a:spcPct val="90000"/>
                        </a:lnSpc>
                      </a:pPr>
                      <a:r>
                        <a:rPr lang="en-US" sz="1000" b="1"/>
                        <a:t>Sector</a:t>
                      </a:r>
                    </a:p>
                  </a:txBody>
                  <a:tcPr marL="27432" marR="27432" marT="9144" marB="9144">
                    <a:lnL w="6350" cap="flat" cmpd="sng" algn="ctr">
                      <a:noFill/>
                      <a:prstDash val="solid"/>
                      <a:round/>
                      <a:headEnd type="none" w="med" len="med"/>
                      <a:tailEnd type="none" w="med" len="med"/>
                    </a:lnL>
                    <a:lnT w="12700" cap="flat" cmpd="sng" algn="ctr">
                      <a:noFill/>
                      <a:prstDash val="solid"/>
                      <a:round/>
                      <a:headEnd type="none" w="med" len="med"/>
                      <a:tailEnd type="none" w="med" len="med"/>
                    </a:lnT>
                  </a:tcPr>
                </a:tc>
                <a:tc>
                  <a:txBody>
                    <a:bodyPr/>
                    <a:lstStyle/>
                    <a:p>
                      <a:pPr marL="119063" indent="-119063">
                        <a:lnSpc>
                          <a:spcPct val="90000"/>
                        </a:lnSpc>
                        <a:buFont typeface="Wingdings" panose="05000000000000000000" pitchFamily="2" charset="2"/>
                        <a:buChar char="§"/>
                      </a:pPr>
                      <a:r>
                        <a:rPr lang="en-US" sz="1000" dirty="0">
                          <a:solidFill>
                            <a:schemeClr val="tx1"/>
                          </a:solidFill>
                          <a:latin typeface="+mj-lt"/>
                        </a:rPr>
                        <a:t>Healthcare Equipment</a:t>
                      </a:r>
                    </a:p>
                    <a:p>
                      <a:pPr marL="119063" indent="-119063">
                        <a:lnSpc>
                          <a:spcPct val="90000"/>
                        </a:lnSpc>
                        <a:buFont typeface="Wingdings" panose="05000000000000000000" pitchFamily="2" charset="2"/>
                        <a:buChar char="§"/>
                      </a:pPr>
                      <a:r>
                        <a:rPr lang="en-US" sz="1000" dirty="0">
                          <a:solidFill>
                            <a:schemeClr val="tx1"/>
                          </a:solidFill>
                          <a:latin typeface="+mj-lt"/>
                        </a:rPr>
                        <a:t>Animal-related</a:t>
                      </a:r>
                    </a:p>
                  </a:txBody>
                  <a:tcPr marL="27432" marR="27432" marT="9144" marB="9144">
                    <a:lnT w="12700" cap="flat" cmpd="sng" algn="ctr">
                      <a:noFill/>
                      <a:prstDash val="solid"/>
                      <a:round/>
                      <a:headEnd type="none" w="med" len="med"/>
                      <a:tailEnd type="none" w="med" len="med"/>
                    </a:lnT>
                  </a:tcPr>
                </a:tc>
                <a:tc>
                  <a:txBody>
                    <a:bodyPr/>
                    <a:lstStyle/>
                    <a:p>
                      <a:pPr marL="119063" marR="0" lvl="0" indent="-119063"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1000">
                          <a:solidFill>
                            <a:schemeClr val="tx1"/>
                          </a:solidFill>
                        </a:rPr>
                        <a:t>Healthcare Equip. &amp; Supplies</a:t>
                      </a:r>
                    </a:p>
                    <a:p>
                      <a:pPr marL="119063" marR="0" lvl="0" indent="-119063"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1000">
                          <a:solidFill>
                            <a:schemeClr val="tx1"/>
                          </a:solidFill>
                        </a:rPr>
                        <a:t>Healthcare Providers &amp; Svcs.</a:t>
                      </a:r>
                    </a:p>
                    <a:p>
                      <a:pPr marL="119063" marR="0" lvl="0" indent="-119063"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1000">
                          <a:solidFill>
                            <a:schemeClr val="tx1"/>
                          </a:solidFill>
                        </a:rPr>
                        <a:t>Pharmaceuticals</a:t>
                      </a:r>
                    </a:p>
                    <a:p>
                      <a:pPr marL="119063" marR="0" lvl="0" indent="-119063"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1000">
                          <a:solidFill>
                            <a:schemeClr val="tx1"/>
                          </a:solidFill>
                        </a:rPr>
                        <a:t>Life Sciences Tools &amp; Svcs.</a:t>
                      </a:r>
                    </a:p>
                    <a:p>
                      <a:pPr marL="119063" marR="0" lvl="0" indent="-119063"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1000">
                          <a:solidFill>
                            <a:schemeClr val="tx1"/>
                          </a:solidFill>
                        </a:rPr>
                        <a:t>Healthcare Tech</a:t>
                      </a:r>
                    </a:p>
                    <a:p>
                      <a:pPr marL="119063" marR="0" lvl="0" indent="-119063"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1000">
                          <a:solidFill>
                            <a:schemeClr val="tx1"/>
                          </a:solidFill>
                        </a:rPr>
                        <a:t>Biotechnology</a:t>
                      </a:r>
                    </a:p>
                    <a:p>
                      <a:pPr marL="119063" marR="0" lvl="0" indent="-119063"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1000">
                          <a:solidFill>
                            <a:schemeClr val="tx1"/>
                          </a:solidFill>
                        </a:rPr>
                        <a:t>Animal-related</a:t>
                      </a:r>
                    </a:p>
                  </a:txBody>
                  <a:tcPr marL="27432" marR="27432" marT="9144" marB="9144">
                    <a:lnR w="6350" cap="flat" cmpd="sng" algn="ctr">
                      <a:noFill/>
                      <a:prstDash val="solid"/>
                      <a:round/>
                      <a:headEnd type="none" w="med" len="med"/>
                      <a:tailEnd type="none" w="med" len="med"/>
                    </a:lnR>
                    <a:lnT w="12700" cap="flat" cmpd="sng" algn="ctr">
                      <a:noFill/>
                      <a:prstDash val="solid"/>
                      <a:round/>
                      <a:headEnd type="none" w="med" len="med"/>
                      <a:tailEnd type="none" w="med" len="med"/>
                    </a:lnT>
                  </a:tcPr>
                </a:tc>
                <a:extLst>
                  <a:ext uri="{0D108BD9-81ED-4DB2-BD59-A6C34878D82A}">
                    <a16:rowId xmlns:a16="http://schemas.microsoft.com/office/drawing/2014/main" val="393829882"/>
                  </a:ext>
                </a:extLst>
              </a:tr>
              <a:tr h="548640">
                <a:tc>
                  <a:txBody>
                    <a:bodyPr/>
                    <a:lstStyle/>
                    <a:p>
                      <a:pPr>
                        <a:lnSpc>
                          <a:spcPct val="90000"/>
                        </a:lnSpc>
                      </a:pPr>
                      <a:r>
                        <a:rPr lang="en-US" sz="1000" b="1"/>
                        <a:t>Customer</a:t>
                      </a:r>
                    </a:p>
                  </a:txBody>
                  <a:tcPr marL="27432" marR="27432" marT="9144" marB="9144">
                    <a:lnL w="6350" cap="flat" cmpd="sng" algn="ctr">
                      <a:noFill/>
                      <a:prstDash val="solid"/>
                      <a:round/>
                      <a:headEnd type="none" w="med" len="med"/>
                      <a:tailEnd type="none" w="med" len="med"/>
                    </a:lnL>
                  </a:tcPr>
                </a:tc>
                <a:tc>
                  <a:txBody>
                    <a:bodyPr/>
                    <a:lstStyle/>
                    <a:p>
                      <a:pPr marL="119063" indent="-119063">
                        <a:lnSpc>
                          <a:spcPct val="90000"/>
                        </a:lnSpc>
                        <a:buFont typeface="Wingdings" panose="05000000000000000000" pitchFamily="2" charset="2"/>
                        <a:buChar char="§"/>
                      </a:pPr>
                      <a:r>
                        <a:rPr lang="en-US" sz="1000" dirty="0">
                          <a:solidFill>
                            <a:schemeClr val="tx1"/>
                          </a:solidFill>
                          <a:latin typeface="+mj-lt"/>
                        </a:rPr>
                        <a:t>B2B, </a:t>
                      </a:r>
                      <a:r>
                        <a:rPr lang="en-US" sz="1000" b="0" dirty="0">
                          <a:solidFill>
                            <a:schemeClr val="tx1"/>
                          </a:solidFill>
                          <a:latin typeface="+mj-lt"/>
                        </a:rPr>
                        <a:t>with targeted B2B2C and B2C engagement</a:t>
                      </a:r>
                    </a:p>
                    <a:p>
                      <a:pPr marL="119063" indent="-119063">
                        <a:lnSpc>
                          <a:spcPct val="90000"/>
                        </a:lnSpc>
                        <a:buFont typeface="Wingdings" panose="05000000000000000000" pitchFamily="2" charset="2"/>
                        <a:buChar char="§"/>
                      </a:pPr>
                      <a:r>
                        <a:rPr lang="en-US" sz="1000" dirty="0">
                          <a:solidFill>
                            <a:schemeClr val="tx1"/>
                          </a:solidFill>
                          <a:latin typeface="+mj-lt"/>
                        </a:rPr>
                        <a:t>36% international</a:t>
                      </a:r>
                    </a:p>
                  </a:txBody>
                  <a:tcPr marL="27432" marR="27432" marT="9144" marB="9144"/>
                </a:tc>
                <a:tc>
                  <a:txBody>
                    <a:bodyPr/>
                    <a:lstStyle/>
                    <a:p>
                      <a:pPr marL="119063" marR="0" lvl="0" indent="-119063"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1000">
                          <a:solidFill>
                            <a:schemeClr val="tx1"/>
                          </a:solidFill>
                        </a:rPr>
                        <a:t>B2B; </a:t>
                      </a:r>
                      <a:r>
                        <a:rPr lang="en-US" sz="1000" b="1">
                          <a:solidFill>
                            <a:srgbClr val="FF0000"/>
                          </a:solidFill>
                        </a:rPr>
                        <a:t>B2C a plus</a:t>
                      </a:r>
                    </a:p>
                    <a:p>
                      <a:pPr marL="119063" marR="0" lvl="0" indent="-119063"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1000">
                          <a:solidFill>
                            <a:schemeClr val="tx1"/>
                          </a:solidFill>
                        </a:rPr>
                        <a:t>&gt;30% international or </a:t>
                      </a:r>
                      <a:r>
                        <a:rPr lang="en-US" sz="1000" u="sng">
                          <a:solidFill>
                            <a:schemeClr val="tx1"/>
                          </a:solidFill>
                        </a:rPr>
                        <a:t>&gt;</a:t>
                      </a:r>
                      <a:r>
                        <a:rPr lang="en-US" sz="1000">
                          <a:solidFill>
                            <a:schemeClr val="tx1"/>
                          </a:solidFill>
                        </a:rPr>
                        <a:t>10% international CAGR</a:t>
                      </a:r>
                    </a:p>
                  </a:txBody>
                  <a:tcPr marL="27432" marR="27432" marT="9144" marB="9144">
                    <a:lnR w="6350" cap="flat" cmpd="sng" algn="ctr">
                      <a:noFill/>
                      <a:prstDash val="solid"/>
                      <a:round/>
                      <a:headEnd type="none" w="med" len="med"/>
                      <a:tailEnd type="none" w="med" len="med"/>
                    </a:lnR>
                  </a:tcPr>
                </a:tc>
                <a:extLst>
                  <a:ext uri="{0D108BD9-81ED-4DB2-BD59-A6C34878D82A}">
                    <a16:rowId xmlns:a16="http://schemas.microsoft.com/office/drawing/2014/main" val="3543477626"/>
                  </a:ext>
                </a:extLst>
              </a:tr>
              <a:tr h="1097280">
                <a:tc>
                  <a:txBody>
                    <a:bodyPr/>
                    <a:lstStyle/>
                    <a:p>
                      <a:pPr>
                        <a:lnSpc>
                          <a:spcPct val="90000"/>
                        </a:lnSpc>
                      </a:pPr>
                      <a:r>
                        <a:rPr lang="en-US" sz="1000" b="1"/>
                        <a:t>Products/ Services</a:t>
                      </a:r>
                    </a:p>
                  </a:txBody>
                  <a:tcPr marL="27432" marR="27432" marT="9144" marB="9144">
                    <a:lnL w="6350" cap="flat" cmpd="sng" algn="ctr">
                      <a:noFill/>
                      <a:prstDash val="solid"/>
                      <a:round/>
                      <a:headEnd type="none" w="med" len="med"/>
                      <a:tailEnd type="none" w="med" len="med"/>
                    </a:lnL>
                  </a:tcPr>
                </a:tc>
                <a:tc>
                  <a:txBody>
                    <a:bodyPr/>
                    <a:lstStyle/>
                    <a:p>
                      <a:pPr marL="119063" indent="-119063">
                        <a:lnSpc>
                          <a:spcPct val="90000"/>
                        </a:lnSpc>
                        <a:buFont typeface="Wingdings" panose="05000000000000000000" pitchFamily="2" charset="2"/>
                        <a:buChar char="§"/>
                      </a:pPr>
                      <a:r>
                        <a:rPr lang="en-US" sz="1000">
                          <a:solidFill>
                            <a:schemeClr val="tx1"/>
                          </a:solidFill>
                          <a:latin typeface="+mj-lt"/>
                        </a:rPr>
                        <a:t>Strong proprietary installed base generating recurring revenue</a:t>
                      </a:r>
                    </a:p>
                    <a:p>
                      <a:pPr marL="119063" indent="-119063">
                        <a:lnSpc>
                          <a:spcPct val="90000"/>
                        </a:lnSpc>
                        <a:buFont typeface="Wingdings" panose="05000000000000000000" pitchFamily="2" charset="2"/>
                        <a:buChar char="§"/>
                      </a:pPr>
                      <a:r>
                        <a:rPr lang="en-US" sz="1000" strike="noStrike">
                          <a:solidFill>
                            <a:schemeClr val="tx1"/>
                          </a:solidFill>
                          <a:latin typeface="+mj-lt"/>
                        </a:rPr>
                        <a:t>Vertical SaaS and AI enablement</a:t>
                      </a:r>
                      <a:endParaRPr lang="en-US" sz="1000">
                        <a:solidFill>
                          <a:schemeClr val="tx1"/>
                        </a:solidFill>
                        <a:latin typeface="+mj-lt"/>
                      </a:endParaRPr>
                    </a:p>
                    <a:p>
                      <a:pPr marL="119063" indent="-119063">
                        <a:lnSpc>
                          <a:spcPct val="90000"/>
                        </a:lnSpc>
                        <a:buFont typeface="Wingdings" panose="05000000000000000000" pitchFamily="2" charset="2"/>
                        <a:buChar char="§"/>
                      </a:pPr>
                      <a:r>
                        <a:rPr lang="en-US" sz="1000">
                          <a:solidFill>
                            <a:schemeClr val="tx1"/>
                          </a:solidFill>
                          <a:latin typeface="+mj-lt"/>
                        </a:rPr>
                        <a:t>Integrated solution set</a:t>
                      </a:r>
                    </a:p>
                    <a:p>
                      <a:pPr marL="119063" indent="-119063">
                        <a:lnSpc>
                          <a:spcPct val="90000"/>
                        </a:lnSpc>
                        <a:buFont typeface="Wingdings" panose="05000000000000000000" pitchFamily="2" charset="2"/>
                        <a:buChar char="§"/>
                      </a:pPr>
                      <a:r>
                        <a:rPr lang="en-US" sz="1000">
                          <a:solidFill>
                            <a:schemeClr val="tx1"/>
                          </a:solidFill>
                          <a:latin typeface="+mj-lt"/>
                        </a:rPr>
                        <a:t>Diagnostics</a:t>
                      </a:r>
                      <a:endParaRPr lang="en-US" sz="1000">
                        <a:solidFill>
                          <a:srgbClr val="FF0000"/>
                        </a:solidFill>
                        <a:latin typeface="+mj-lt"/>
                      </a:endParaRPr>
                    </a:p>
                  </a:txBody>
                  <a:tcPr marL="27432" marR="27432" marT="9144" marB="9144"/>
                </a:tc>
                <a:tc>
                  <a:txBody>
                    <a:bodyPr/>
                    <a:lstStyle/>
                    <a:p>
                      <a:pPr marL="114300" marR="0" lvl="0" indent="-114300" algn="l" defTabSz="914378" rtl="0" eaLnBrk="1" fontAlgn="auto" latinLnBrk="0" hangingPunct="1">
                        <a:lnSpc>
                          <a:spcPct val="90000"/>
                        </a:lnSpc>
                        <a:spcBef>
                          <a:spcPts val="0"/>
                        </a:spcBef>
                        <a:spcAft>
                          <a:spcPts val="0"/>
                        </a:spcAft>
                        <a:buClrTx/>
                        <a:buSzTx/>
                        <a:buFont typeface="Wingdings" panose="05000000000000000000" pitchFamily="2" charset="2"/>
                        <a:buChar char="ü"/>
                        <a:tabLst/>
                        <a:defRPr/>
                      </a:pPr>
                      <a:r>
                        <a:rPr lang="en-US" sz="1000" b="1">
                          <a:solidFill>
                            <a:schemeClr val="accent2">
                              <a:lumMod val="50000"/>
                            </a:schemeClr>
                          </a:solidFill>
                        </a:rPr>
                        <a:t>Proprietary product or consumables</a:t>
                      </a:r>
                      <a:r>
                        <a:rPr lang="en-US" sz="1000">
                          <a:solidFill>
                            <a:schemeClr val="accent2">
                              <a:lumMod val="50000"/>
                            </a:schemeClr>
                          </a:solidFill>
                        </a:rPr>
                        <a:t> </a:t>
                      </a:r>
                      <a:r>
                        <a:rPr lang="en-US" sz="1000" i="1">
                          <a:solidFill>
                            <a:srgbClr val="FF0000"/>
                          </a:solidFill>
                        </a:rPr>
                        <a:t>(vs. hardware offering)</a:t>
                      </a:r>
                    </a:p>
                    <a:p>
                      <a:pPr marL="114300" marR="0" lvl="0" indent="-114300" algn="l" defTabSz="914378" rtl="0" eaLnBrk="1" fontAlgn="auto" latinLnBrk="0" hangingPunct="1">
                        <a:lnSpc>
                          <a:spcPct val="90000"/>
                        </a:lnSpc>
                        <a:spcBef>
                          <a:spcPts val="0"/>
                        </a:spcBef>
                        <a:spcAft>
                          <a:spcPts val="0"/>
                        </a:spcAft>
                        <a:buClrTx/>
                        <a:buSzTx/>
                        <a:buFont typeface="Wingdings" panose="05000000000000000000" pitchFamily="2" charset="2"/>
                        <a:buChar char="ü"/>
                        <a:tabLst/>
                        <a:defRPr/>
                      </a:pPr>
                      <a:r>
                        <a:rPr lang="en-US" sz="1000" b="1">
                          <a:solidFill>
                            <a:schemeClr val="accent2">
                              <a:lumMod val="50000"/>
                            </a:schemeClr>
                          </a:solidFill>
                        </a:rPr>
                        <a:t>Integrated platforms</a:t>
                      </a:r>
                      <a:r>
                        <a:rPr lang="en-US" sz="1000" b="1" i="0">
                          <a:solidFill>
                            <a:schemeClr val="accent2">
                              <a:lumMod val="50000"/>
                            </a:schemeClr>
                          </a:solidFill>
                        </a:rPr>
                        <a:t>, e.g., customer mgmt, diagnostics, invoicing, etc.</a:t>
                      </a:r>
                      <a:r>
                        <a:rPr lang="en-US" sz="1000">
                          <a:solidFill>
                            <a:schemeClr val="accent2">
                              <a:lumMod val="50000"/>
                            </a:schemeClr>
                          </a:solidFill>
                        </a:rPr>
                        <a:t> </a:t>
                      </a:r>
                      <a:r>
                        <a:rPr lang="en-US" sz="1000">
                          <a:solidFill>
                            <a:srgbClr val="FF0000"/>
                          </a:solidFill>
                        </a:rPr>
                        <a:t>(</a:t>
                      </a:r>
                      <a:r>
                        <a:rPr lang="en-US" sz="1000" i="1">
                          <a:solidFill>
                            <a:srgbClr val="FF0000"/>
                          </a:solidFill>
                        </a:rPr>
                        <a:t>vs. software only)</a:t>
                      </a:r>
                    </a:p>
                    <a:p>
                      <a:pPr marL="119063" marR="0" lvl="0" indent="-119063"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1000">
                          <a:solidFill>
                            <a:schemeClr val="tx1"/>
                          </a:solidFill>
                        </a:rPr>
                        <a:t>Diagnostics</a:t>
                      </a:r>
                    </a:p>
                  </a:txBody>
                  <a:tcPr marL="27432" marR="27432" marT="9144" marB="9144">
                    <a:lnR w="6350" cap="flat" cmpd="sng" algn="ctr">
                      <a:noFill/>
                      <a:prstDash val="solid"/>
                      <a:round/>
                      <a:headEnd type="none" w="med" len="med"/>
                      <a:tailEnd type="none" w="med" len="med"/>
                    </a:lnR>
                  </a:tcPr>
                </a:tc>
                <a:extLst>
                  <a:ext uri="{0D108BD9-81ED-4DB2-BD59-A6C34878D82A}">
                    <a16:rowId xmlns:a16="http://schemas.microsoft.com/office/drawing/2014/main" val="2041730926"/>
                  </a:ext>
                </a:extLst>
              </a:tr>
              <a:tr h="274320">
                <a:tc>
                  <a:txBody>
                    <a:bodyPr/>
                    <a:lstStyle/>
                    <a:p>
                      <a:pPr>
                        <a:lnSpc>
                          <a:spcPct val="90000"/>
                        </a:lnSpc>
                      </a:pPr>
                      <a:r>
                        <a:rPr lang="en-US" sz="1000" b="1"/>
                        <a:t>Financial Health</a:t>
                      </a:r>
                    </a:p>
                  </a:txBody>
                  <a:tcPr marL="27432" marR="27432" marT="9144" marB="9144">
                    <a:lnL w="6350" cap="flat" cmpd="sng" algn="ctr">
                      <a:noFill/>
                      <a:prstDash val="solid"/>
                      <a:round/>
                      <a:headEnd type="none" w="med" len="med"/>
                      <a:tailEnd type="none" w="med" len="med"/>
                    </a:lnL>
                  </a:tcPr>
                </a:tc>
                <a:tc>
                  <a:txBody>
                    <a:bodyPr/>
                    <a:lstStyle/>
                    <a:p>
                      <a:pPr marL="119063" indent="-119063">
                        <a:lnSpc>
                          <a:spcPct val="90000"/>
                        </a:lnSpc>
                        <a:buFont typeface="Wingdings" panose="05000000000000000000" pitchFamily="2" charset="2"/>
                        <a:buChar char="§"/>
                      </a:pPr>
                      <a:r>
                        <a:rPr lang="en-US" sz="1000">
                          <a:solidFill>
                            <a:schemeClr val="tx1"/>
                          </a:solidFill>
                          <a:latin typeface="+mj-lt"/>
                        </a:rPr>
                        <a:t>Strong financial performance</a:t>
                      </a:r>
                    </a:p>
                  </a:txBody>
                  <a:tcPr marL="27432" marR="27432" marT="9144" marB="9144"/>
                </a:tc>
                <a:tc>
                  <a:txBody>
                    <a:bodyPr/>
                    <a:lstStyle/>
                    <a:p>
                      <a:pPr marL="119063" marR="0" lvl="0" indent="-119063"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1000" b="1">
                          <a:solidFill>
                            <a:srgbClr val="FF0000"/>
                          </a:solidFill>
                        </a:rPr>
                        <a:t>Financial viability, i.e., no material concerns</a:t>
                      </a:r>
                    </a:p>
                  </a:txBody>
                  <a:tcPr marL="27432" marR="27432" marT="9144" marB="9144">
                    <a:lnR w="6350" cap="flat" cmpd="sng" algn="ctr">
                      <a:noFill/>
                      <a:prstDash val="solid"/>
                      <a:round/>
                      <a:headEnd type="none" w="med" len="med"/>
                      <a:tailEnd type="none" w="med" len="med"/>
                    </a:lnR>
                  </a:tcPr>
                </a:tc>
                <a:extLst>
                  <a:ext uri="{0D108BD9-81ED-4DB2-BD59-A6C34878D82A}">
                    <a16:rowId xmlns:a16="http://schemas.microsoft.com/office/drawing/2014/main" val="3419831157"/>
                  </a:ext>
                </a:extLst>
              </a:tr>
              <a:tr h="0">
                <a:tc>
                  <a:txBody>
                    <a:bodyPr/>
                    <a:lstStyle/>
                    <a:p>
                      <a:pPr>
                        <a:lnSpc>
                          <a:spcPct val="90000"/>
                        </a:lnSpc>
                      </a:pPr>
                      <a:r>
                        <a:rPr lang="en-US" sz="1000" b="1"/>
                        <a:t>Business Model</a:t>
                      </a:r>
                    </a:p>
                  </a:txBody>
                  <a:tcPr marL="27432" marR="27432" marT="9144" marB="9144">
                    <a:lnL w="6350" cap="flat" cmpd="sng" algn="ctr">
                      <a:noFill/>
                      <a:prstDash val="solid"/>
                      <a:round/>
                      <a:headEnd type="none" w="med" len="med"/>
                      <a:tailEnd type="none" w="med" len="med"/>
                    </a:lnL>
                    <a:lnB w="12700" cap="flat" cmpd="sng" algn="ctr">
                      <a:noFill/>
                      <a:prstDash val="solid"/>
                      <a:round/>
                      <a:headEnd type="none" w="med" len="med"/>
                      <a:tailEnd type="none" w="med" len="med"/>
                    </a:lnB>
                  </a:tcPr>
                </a:tc>
                <a:tc>
                  <a:txBody>
                    <a:bodyPr/>
                    <a:lstStyle/>
                    <a:p>
                      <a:pPr marL="119063" indent="-119063">
                        <a:lnSpc>
                          <a:spcPct val="90000"/>
                        </a:lnSpc>
                        <a:buFont typeface="Wingdings" panose="05000000000000000000" pitchFamily="2" charset="2"/>
                        <a:buChar char="§"/>
                      </a:pPr>
                      <a:r>
                        <a:rPr lang="en-US" sz="1000">
                          <a:solidFill>
                            <a:schemeClr val="tx1"/>
                          </a:solidFill>
                          <a:latin typeface="+mj-lt"/>
                        </a:rPr>
                        <a:t>Direct sales</a:t>
                      </a:r>
                    </a:p>
                    <a:p>
                      <a:pPr marL="119063" marR="0" lvl="0" indent="-119063"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1000">
                          <a:solidFill>
                            <a:schemeClr val="tx1"/>
                          </a:solidFill>
                          <a:latin typeface="+mj-lt"/>
                        </a:rPr>
                        <a:t>Innovation model</a:t>
                      </a:r>
                    </a:p>
                    <a:p>
                      <a:pPr marL="119063" indent="-119063">
                        <a:lnSpc>
                          <a:spcPct val="90000"/>
                        </a:lnSpc>
                        <a:buFont typeface="Wingdings" panose="05000000000000000000" pitchFamily="2" charset="2"/>
                        <a:buChar char="§"/>
                      </a:pPr>
                      <a:r>
                        <a:rPr lang="en-US" sz="1000">
                          <a:solidFill>
                            <a:schemeClr val="tx1"/>
                          </a:solidFill>
                          <a:latin typeface="+mj-lt"/>
                        </a:rPr>
                        <a:t>Manufacturing</a:t>
                      </a:r>
                    </a:p>
                    <a:p>
                      <a:pPr marL="119063" indent="-119063">
                        <a:lnSpc>
                          <a:spcPct val="90000"/>
                        </a:lnSpc>
                        <a:buFont typeface="Wingdings" panose="05000000000000000000" pitchFamily="2" charset="2"/>
                        <a:buChar char="§"/>
                      </a:pPr>
                      <a:r>
                        <a:rPr lang="en-US" sz="1000">
                          <a:solidFill>
                            <a:schemeClr val="tx1"/>
                          </a:solidFill>
                          <a:latin typeface="+mj-lt"/>
                        </a:rPr>
                        <a:t>Recurring revenue from consumables</a:t>
                      </a:r>
                    </a:p>
                  </a:txBody>
                  <a:tcPr marL="27432" marR="27432" marT="9144" marB="9144">
                    <a:lnB w="12700" cap="flat" cmpd="sng" algn="ctr">
                      <a:noFill/>
                      <a:prstDash val="solid"/>
                      <a:round/>
                      <a:headEnd type="none" w="med" len="med"/>
                      <a:tailEnd type="none" w="med" len="med"/>
                    </a:lnB>
                  </a:tcPr>
                </a:tc>
                <a:tc>
                  <a:txBody>
                    <a:bodyPr/>
                    <a:lstStyle/>
                    <a:p>
                      <a:pPr marL="119063" marR="0" lvl="0" indent="-119063"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1000" dirty="0">
                          <a:solidFill>
                            <a:schemeClr val="tx1"/>
                          </a:solidFill>
                        </a:rPr>
                        <a:t>Majority direct sales</a:t>
                      </a:r>
                    </a:p>
                    <a:p>
                      <a:pPr marL="119063" marR="0" lvl="0" indent="-119063"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1000" b="1" dirty="0">
                          <a:solidFill>
                            <a:srgbClr val="FF0000"/>
                          </a:solidFill>
                        </a:rPr>
                        <a:t>Innovation model (R&amp;D as a % of revenue </a:t>
                      </a:r>
                      <a:r>
                        <a:rPr lang="en-US" sz="1000" b="1" u="sng" dirty="0">
                          <a:solidFill>
                            <a:srgbClr val="FF0000"/>
                          </a:solidFill>
                        </a:rPr>
                        <a:t>&gt;</a:t>
                      </a:r>
                      <a:r>
                        <a:rPr lang="en-US" sz="1000" b="1" u="none" dirty="0">
                          <a:solidFill>
                            <a:srgbClr val="FF0000"/>
                          </a:solidFill>
                        </a:rPr>
                        <a:t> 5%)</a:t>
                      </a:r>
                    </a:p>
                    <a:p>
                      <a:pPr marL="119063" marR="0" lvl="0" indent="-119063"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1000" dirty="0">
                          <a:solidFill>
                            <a:schemeClr val="tx1"/>
                          </a:solidFill>
                        </a:rPr>
                        <a:t>Manufacturer</a:t>
                      </a:r>
                    </a:p>
                    <a:p>
                      <a:pPr marL="119063" marR="0" lvl="0" indent="-119063"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1000" dirty="0">
                          <a:solidFill>
                            <a:schemeClr val="tx1"/>
                          </a:solidFill>
                        </a:rPr>
                        <a:t>Recurring revenue</a:t>
                      </a:r>
                    </a:p>
                  </a:txBody>
                  <a:tcPr marL="27432" marR="27432" marT="9144" marB="9144">
                    <a:lnR w="6350" cap="flat" cmpd="sng" algn="ctr">
                      <a:noFill/>
                      <a:prstDash val="solid"/>
                      <a:round/>
                      <a:headEnd type="none" w="med" len="med"/>
                      <a:tailEnd type="none" w="med" len="med"/>
                    </a:lnR>
                    <a:lnB w="12700" cap="flat" cmpd="sng" algn="ctr">
                      <a:noFill/>
                      <a:prstDash val="solid"/>
                      <a:round/>
                      <a:headEnd type="none" w="med" len="med"/>
                      <a:tailEnd type="none" w="med" len="med"/>
                    </a:lnB>
                  </a:tcPr>
                </a:tc>
                <a:extLst>
                  <a:ext uri="{0D108BD9-81ED-4DB2-BD59-A6C34878D82A}">
                    <a16:rowId xmlns:a16="http://schemas.microsoft.com/office/drawing/2014/main" val="1956617838"/>
                  </a:ext>
                </a:extLst>
              </a:tr>
            </a:tbl>
          </a:graphicData>
        </a:graphic>
      </p:graphicFrame>
      <p:sp>
        <p:nvSpPr>
          <p:cNvPr id="30" name="Rectangle 29">
            <a:extLst>
              <a:ext uri="{FF2B5EF4-FFF2-40B4-BE49-F238E27FC236}">
                <a16:creationId xmlns:a16="http://schemas.microsoft.com/office/drawing/2014/main" id="{55D65C64-1C9C-DB0D-C4D5-B64C4A3F413F}"/>
              </a:ext>
            </a:extLst>
          </p:cNvPr>
          <p:cNvSpPr/>
          <p:nvPr/>
        </p:nvSpPr>
        <p:spPr>
          <a:xfrm>
            <a:off x="2562385" y="4680716"/>
            <a:ext cx="2444688" cy="1708346"/>
          </a:xfrm>
          <a:prstGeom prst="rect">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algn="ctr">
              <a:lnSpc>
                <a:spcPct val="85000"/>
              </a:lnSpc>
            </a:pPr>
            <a:r>
              <a:rPr lang="en-US" sz="1100" b="1" dirty="0">
                <a:solidFill>
                  <a:schemeClr val="tx1"/>
                </a:solidFill>
              </a:rPr>
              <a:t>Revenue Growth</a:t>
            </a:r>
            <a:r>
              <a:rPr lang="en-US" sz="1100" b="1" baseline="30000" dirty="0">
                <a:solidFill>
                  <a:schemeClr val="tx1"/>
                </a:solidFill>
              </a:rPr>
              <a:t>(1)</a:t>
            </a:r>
          </a:p>
        </p:txBody>
      </p:sp>
      <p:sp>
        <p:nvSpPr>
          <p:cNvPr id="31" name="TextBox 30">
            <a:extLst>
              <a:ext uri="{FF2B5EF4-FFF2-40B4-BE49-F238E27FC236}">
                <a16:creationId xmlns:a16="http://schemas.microsoft.com/office/drawing/2014/main" id="{0A89A0F0-C648-8F2E-FCE4-5BE2C6BE5E20}"/>
              </a:ext>
            </a:extLst>
          </p:cNvPr>
          <p:cNvSpPr txBox="1"/>
          <p:nvPr/>
        </p:nvSpPr>
        <p:spPr>
          <a:xfrm>
            <a:off x="4579354" y="4763447"/>
            <a:ext cx="431583" cy="314894"/>
          </a:xfrm>
          <a:prstGeom prst="rect">
            <a:avLst/>
          </a:prstGeom>
          <a:noFill/>
          <a:ln>
            <a:noFill/>
          </a:ln>
        </p:spPr>
        <p:txBody>
          <a:bodyPr wrap="square" lIns="0" tIns="0" rIns="0" bIns="0" rtlCol="0" anchor="ctr">
            <a:spAutoFit/>
          </a:bodyPr>
          <a:lstStyle/>
          <a:p>
            <a:pPr algn="ctr">
              <a:lnSpc>
                <a:spcPct val="85000"/>
              </a:lnSpc>
            </a:pPr>
            <a:r>
              <a:rPr lang="en-US" sz="800" b="1">
                <a:solidFill>
                  <a:schemeClr val="accent5">
                    <a:lumMod val="75000"/>
                  </a:schemeClr>
                </a:solidFill>
              </a:rPr>
              <a:t>5-Yr CAGR: ~8%</a:t>
            </a:r>
          </a:p>
        </p:txBody>
      </p:sp>
      <p:cxnSp>
        <p:nvCxnSpPr>
          <p:cNvPr id="35" name="Straight Arrow Connector 34">
            <a:extLst>
              <a:ext uri="{FF2B5EF4-FFF2-40B4-BE49-F238E27FC236}">
                <a16:creationId xmlns:a16="http://schemas.microsoft.com/office/drawing/2014/main" id="{D00B3D0D-FEBB-CF6B-FE57-3797DEEC15D9}"/>
              </a:ext>
            </a:extLst>
          </p:cNvPr>
          <p:cNvCxnSpPr>
            <a:cxnSpLocks/>
          </p:cNvCxnSpPr>
          <p:nvPr/>
        </p:nvCxnSpPr>
        <p:spPr>
          <a:xfrm flipV="1">
            <a:off x="3065103" y="4983809"/>
            <a:ext cx="1514251" cy="359118"/>
          </a:xfrm>
          <a:prstGeom prst="straightConnector1">
            <a:avLst/>
          </a:prstGeom>
          <a:ln w="6350">
            <a:solidFill>
              <a:schemeClr val="accent5">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37" name="TextBox 36">
            <a:extLst>
              <a:ext uri="{FF2B5EF4-FFF2-40B4-BE49-F238E27FC236}">
                <a16:creationId xmlns:a16="http://schemas.microsoft.com/office/drawing/2014/main" id="{4D5C8F87-FA20-A5CD-6159-987D7A9ECD2E}"/>
              </a:ext>
            </a:extLst>
          </p:cNvPr>
          <p:cNvSpPr txBox="1"/>
          <p:nvPr/>
        </p:nvSpPr>
        <p:spPr>
          <a:xfrm>
            <a:off x="-243043" y="6408846"/>
            <a:ext cx="7026586" cy="224292"/>
          </a:xfrm>
          <a:prstGeom prst="rect">
            <a:avLst/>
          </a:prstGeom>
          <a:noFill/>
        </p:spPr>
        <p:txBody>
          <a:bodyPr vert="horz" wrap="square" lIns="45720" tIns="45720" rIns="45720" bIns="45720" rtlCol="0" anchor="ctr">
            <a:spAutoFit/>
          </a:bodyPr>
          <a:lstStyle/>
          <a:p>
            <a:pPr marL="339725" indent="-106363">
              <a:lnSpc>
                <a:spcPct val="85000"/>
              </a:lnSpc>
            </a:pPr>
            <a:r>
              <a:rPr lang="en-US" sz="1000" i="1" dirty="0"/>
              <a:t>(1) Source for 2026E Revenue Projection: midpoint of guidance provided in </a:t>
            </a:r>
            <a:r>
              <a:rPr lang="en-US" sz="1000" i="1" dirty="0" err="1"/>
              <a:t>Goofy’s</a:t>
            </a:r>
            <a:r>
              <a:rPr lang="en-US" sz="1000" i="1" dirty="0"/>
              <a:t> Q4 and Full Year 2025 Earnings Release</a:t>
            </a:r>
          </a:p>
        </p:txBody>
      </p:sp>
      <p:sp>
        <p:nvSpPr>
          <p:cNvPr id="38" name="TextBox 37">
            <a:extLst>
              <a:ext uri="{FF2B5EF4-FFF2-40B4-BE49-F238E27FC236}">
                <a16:creationId xmlns:a16="http://schemas.microsoft.com/office/drawing/2014/main" id="{8291AE9C-870A-390B-94E2-B72CB057FCCF}"/>
              </a:ext>
            </a:extLst>
          </p:cNvPr>
          <p:cNvSpPr txBox="1"/>
          <p:nvPr/>
        </p:nvSpPr>
        <p:spPr>
          <a:xfrm>
            <a:off x="5095158" y="1249175"/>
            <a:ext cx="3989586" cy="182880"/>
          </a:xfrm>
          <a:prstGeom prst="rect">
            <a:avLst/>
          </a:prstGeom>
          <a:solidFill>
            <a:schemeClr val="tx2"/>
          </a:solidFill>
          <a:ln>
            <a:solidFill>
              <a:schemeClr val="tx1"/>
            </a:solidFill>
          </a:ln>
        </p:spPr>
        <p:txBody>
          <a:bodyPr wrap="none" lIns="91440" tIns="91440" rIns="91440" bIns="91440" rtlCol="0" anchor="ctr">
            <a:noAutofit/>
          </a:bodyPr>
          <a:lstStyle/>
          <a:p>
            <a:pPr algn="ctr">
              <a:lnSpc>
                <a:spcPct val="85000"/>
              </a:lnSpc>
            </a:pPr>
            <a:r>
              <a:rPr lang="en-US" sz="1100" b="1">
                <a:solidFill>
                  <a:schemeClr val="bg1"/>
                </a:solidFill>
              </a:rPr>
              <a:t>Peer Screening Criteria</a:t>
            </a:r>
            <a:endParaRPr lang="en-US" sz="1100" b="1" baseline="30000">
              <a:solidFill>
                <a:schemeClr val="bg1"/>
              </a:solidFill>
            </a:endParaRPr>
          </a:p>
        </p:txBody>
      </p:sp>
      <p:sp>
        <p:nvSpPr>
          <p:cNvPr id="50" name="Footer Placeholder 1">
            <a:extLst>
              <a:ext uri="{FF2B5EF4-FFF2-40B4-BE49-F238E27FC236}">
                <a16:creationId xmlns:a16="http://schemas.microsoft.com/office/drawing/2014/main" id="{A08CD04F-0B6B-B3B7-D5B7-F4AF513D7776}"/>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16" name="Arrow: Right 15">
            <a:extLst>
              <a:ext uri="{FF2B5EF4-FFF2-40B4-BE49-F238E27FC236}">
                <a16:creationId xmlns:a16="http://schemas.microsoft.com/office/drawing/2014/main" id="{C411AB20-9C4F-0BA7-414B-BA04642190C2}"/>
              </a:ext>
            </a:extLst>
          </p:cNvPr>
          <p:cNvSpPr/>
          <p:nvPr/>
        </p:nvSpPr>
        <p:spPr>
          <a:xfrm>
            <a:off x="78834" y="1395967"/>
            <a:ext cx="4924999" cy="365760"/>
          </a:xfrm>
          <a:prstGeom prst="rightArrow">
            <a:avLst/>
          </a:prstGeom>
          <a:solidFill>
            <a:schemeClr val="tx2">
              <a:lumMod val="60000"/>
              <a:lumOff val="40000"/>
            </a:schemeClr>
          </a:solid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vert="horz" wrap="square" lIns="45720" tIns="45720" rIns="45720" bIns="45720" rtlCol="0" anchor="ctr">
            <a:spAutoFit/>
          </a:bodyPr>
          <a:lstStyle/>
          <a:p>
            <a:pPr algn="ctr">
              <a:lnSpc>
                <a:spcPct val="85000"/>
              </a:lnSpc>
            </a:pPr>
            <a:endParaRPr lang="en-US" sz="1100" b="1" i="1">
              <a:solidFill>
                <a:schemeClr val="bg1"/>
              </a:solidFill>
            </a:endParaRPr>
          </a:p>
        </p:txBody>
      </p:sp>
      <p:sp>
        <p:nvSpPr>
          <p:cNvPr id="19" name="TextBox 18">
            <a:extLst>
              <a:ext uri="{FF2B5EF4-FFF2-40B4-BE49-F238E27FC236}">
                <a16:creationId xmlns:a16="http://schemas.microsoft.com/office/drawing/2014/main" id="{CEA9A72E-99AD-ECD5-5FF6-C17F20911EBA}"/>
              </a:ext>
            </a:extLst>
          </p:cNvPr>
          <p:cNvSpPr txBox="1"/>
          <p:nvPr/>
        </p:nvSpPr>
        <p:spPr>
          <a:xfrm>
            <a:off x="202548" y="1466310"/>
            <a:ext cx="1190320" cy="244682"/>
          </a:xfrm>
          <a:prstGeom prst="rect">
            <a:avLst/>
          </a:prstGeom>
          <a:noFill/>
        </p:spPr>
        <p:txBody>
          <a:bodyPr wrap="square" lIns="45720" tIns="45720" rIns="45720" bIns="45720" rtlCol="0" anchor="ctr">
            <a:spAutoFit/>
          </a:bodyPr>
          <a:lstStyle/>
          <a:p>
            <a:pPr marL="0" marR="0" lvl="0" indent="0" algn="ctr" defTabSz="914400" eaLnBrk="1" fontAlgn="auto" latinLnBrk="0" hangingPunct="1">
              <a:lnSpc>
                <a:spcPct val="90000"/>
              </a:lnSpc>
              <a:spcBef>
                <a:spcPts val="0"/>
              </a:spcBef>
              <a:spcAft>
                <a:spcPts val="0"/>
              </a:spcAft>
              <a:buClrTx/>
              <a:buSzTx/>
              <a:buFontTx/>
              <a:buNone/>
              <a:tabLst/>
              <a:defRPr/>
            </a:pPr>
            <a:r>
              <a:rPr kumimoji="0" lang="en-US" sz="1100" b="1" i="0" u="none" strike="noStrike" kern="0" cap="none" spc="0" normalizeH="0" baseline="0" noProof="0" dirty="0">
                <a:ln>
                  <a:noFill/>
                </a:ln>
                <a:solidFill>
                  <a:schemeClr val="bg1"/>
                </a:solidFill>
                <a:effectLst/>
                <a:uLnTx/>
                <a:uFillTx/>
              </a:rPr>
              <a:t>Goofy Then</a:t>
            </a:r>
          </a:p>
        </p:txBody>
      </p:sp>
      <p:sp>
        <p:nvSpPr>
          <p:cNvPr id="21" name="TextBox 20">
            <a:extLst>
              <a:ext uri="{FF2B5EF4-FFF2-40B4-BE49-F238E27FC236}">
                <a16:creationId xmlns:a16="http://schemas.microsoft.com/office/drawing/2014/main" id="{341984D7-5B19-ABB3-A294-10C91ADCBCDF}"/>
              </a:ext>
            </a:extLst>
          </p:cNvPr>
          <p:cNvSpPr txBox="1"/>
          <p:nvPr/>
        </p:nvSpPr>
        <p:spPr>
          <a:xfrm>
            <a:off x="2290056" y="1474037"/>
            <a:ext cx="2178921" cy="244682"/>
          </a:xfrm>
          <a:prstGeom prst="rect">
            <a:avLst/>
          </a:prstGeom>
          <a:noFill/>
        </p:spPr>
        <p:txBody>
          <a:bodyPr wrap="square" lIns="45720" tIns="45720" rIns="45720" bIns="45720" rtlCol="0" anchor="ctr">
            <a:spAutoFit/>
          </a:bodyPr>
          <a:lstStyle/>
          <a:p>
            <a:pPr marL="0" marR="0" lvl="0" indent="0" algn="ctr" defTabSz="914400" eaLnBrk="1" fontAlgn="auto" latinLnBrk="0" hangingPunct="1">
              <a:lnSpc>
                <a:spcPct val="90000"/>
              </a:lnSpc>
              <a:spcBef>
                <a:spcPts val="0"/>
              </a:spcBef>
              <a:spcAft>
                <a:spcPts val="0"/>
              </a:spcAft>
              <a:buClrTx/>
              <a:buSzTx/>
              <a:buFontTx/>
              <a:buNone/>
              <a:tabLst/>
              <a:defRPr/>
            </a:pPr>
            <a:r>
              <a:rPr kumimoji="0" lang="en-US" sz="1100" b="1" i="0" u="none" strike="noStrike" kern="0" cap="none" spc="0" normalizeH="0" baseline="0" noProof="0" dirty="0">
                <a:ln>
                  <a:noFill/>
                </a:ln>
                <a:solidFill>
                  <a:schemeClr val="bg1"/>
                </a:solidFill>
                <a:effectLst/>
                <a:uLnTx/>
                <a:uFillTx/>
              </a:rPr>
              <a:t>Goofy Ahead</a:t>
            </a:r>
          </a:p>
        </p:txBody>
      </p:sp>
      <p:sp>
        <p:nvSpPr>
          <p:cNvPr id="43" name="Rectangle 42">
            <a:extLst>
              <a:ext uri="{FF2B5EF4-FFF2-40B4-BE49-F238E27FC236}">
                <a16:creationId xmlns:a16="http://schemas.microsoft.com/office/drawing/2014/main" id="{5B42D137-430C-EEAD-A179-1D402F7ED40A}"/>
              </a:ext>
            </a:extLst>
          </p:cNvPr>
          <p:cNvSpPr/>
          <p:nvPr/>
        </p:nvSpPr>
        <p:spPr>
          <a:xfrm>
            <a:off x="159808" y="1722577"/>
            <a:ext cx="1490163" cy="975442"/>
          </a:xfrm>
          <a:prstGeom prst="rect">
            <a:avLst/>
          </a:prstGeom>
          <a:noFill/>
          <a:ln w="6350">
            <a:no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marL="171450" indent="-107950">
              <a:lnSpc>
                <a:spcPct val="90000"/>
              </a:lnSpc>
              <a:spcBef>
                <a:spcPts val="100"/>
              </a:spcBef>
              <a:buFont typeface="Wingdings" panose="05000000000000000000" pitchFamily="2" charset="2"/>
              <a:buChar char="§"/>
            </a:pPr>
            <a:r>
              <a:rPr lang="en-US" sz="1000">
                <a:solidFill>
                  <a:schemeClr val="tx1"/>
                </a:solidFill>
              </a:rPr>
              <a:t>Hardware focus</a:t>
            </a:r>
          </a:p>
          <a:p>
            <a:pPr marL="171450" indent="-107950">
              <a:lnSpc>
                <a:spcPct val="90000"/>
              </a:lnSpc>
              <a:spcBef>
                <a:spcPts val="100"/>
              </a:spcBef>
              <a:buFont typeface="Wingdings" panose="05000000000000000000" pitchFamily="2" charset="2"/>
              <a:buChar char="§"/>
            </a:pPr>
            <a:r>
              <a:rPr lang="en-US" sz="1000">
                <a:solidFill>
                  <a:schemeClr val="tx1"/>
                </a:solidFill>
              </a:rPr>
              <a:t>Software as an enabler</a:t>
            </a:r>
          </a:p>
          <a:p>
            <a:pPr marL="171450" indent="-107950">
              <a:lnSpc>
                <a:spcPct val="90000"/>
              </a:lnSpc>
              <a:spcBef>
                <a:spcPts val="100"/>
              </a:spcBef>
              <a:buFont typeface="Wingdings" panose="05000000000000000000" pitchFamily="2" charset="2"/>
              <a:buChar char="§"/>
            </a:pPr>
            <a:r>
              <a:rPr lang="en-US" sz="1000">
                <a:solidFill>
                  <a:schemeClr val="tx1"/>
                </a:solidFill>
              </a:rPr>
              <a:t>B2B engagement model</a:t>
            </a:r>
          </a:p>
        </p:txBody>
      </p:sp>
      <p:sp>
        <p:nvSpPr>
          <p:cNvPr id="44" name="Rectangle 43">
            <a:extLst>
              <a:ext uri="{FF2B5EF4-FFF2-40B4-BE49-F238E27FC236}">
                <a16:creationId xmlns:a16="http://schemas.microsoft.com/office/drawing/2014/main" id="{CA2D527E-967B-3035-9302-7402BD061047}"/>
              </a:ext>
            </a:extLst>
          </p:cNvPr>
          <p:cNvSpPr/>
          <p:nvPr/>
        </p:nvSpPr>
        <p:spPr>
          <a:xfrm>
            <a:off x="1821656" y="1678392"/>
            <a:ext cx="3016400" cy="1129736"/>
          </a:xfrm>
          <a:prstGeom prst="rect">
            <a:avLst/>
          </a:prstGeom>
          <a:noFill/>
          <a:ln w="6350">
            <a:no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marL="171450" indent="-107950" algn="l" rtl="0" eaLnBrk="1" latinLnBrk="0" hangingPunct="1">
              <a:lnSpc>
                <a:spcPct val="90000"/>
              </a:lnSpc>
              <a:spcBef>
                <a:spcPts val="100"/>
              </a:spcBef>
              <a:buFont typeface="Wingdings" panose="05000000000000000000" pitchFamily="2" charset="2"/>
              <a:buChar char="§"/>
            </a:pPr>
            <a:r>
              <a:rPr lang="en-US" sz="1000" b="1">
                <a:solidFill>
                  <a:srgbClr val="000000"/>
                </a:solidFill>
                <a:effectLst/>
                <a:latin typeface="Calibri" panose="020F0502020204030204" pitchFamily="34" charset="0"/>
              </a:rPr>
              <a:t>Instrument platforms </a:t>
            </a:r>
            <a:r>
              <a:rPr lang="en-US" sz="1000">
                <a:solidFill>
                  <a:srgbClr val="000000"/>
                </a:solidFill>
                <a:effectLst/>
                <a:latin typeface="Calibri" panose="020F0502020204030204" pitchFamily="34" charset="0"/>
              </a:rPr>
              <a:t>leveraging large installed base and menu expansion</a:t>
            </a:r>
          </a:p>
          <a:p>
            <a:pPr marL="171450" indent="-107950" algn="l" rtl="0" eaLnBrk="1" latinLnBrk="0" hangingPunct="1">
              <a:lnSpc>
                <a:spcPct val="90000"/>
              </a:lnSpc>
              <a:spcBef>
                <a:spcPts val="100"/>
              </a:spcBef>
              <a:buFont typeface="Wingdings" panose="05000000000000000000" pitchFamily="2" charset="2"/>
              <a:buChar char="§"/>
            </a:pPr>
            <a:r>
              <a:rPr lang="en-US" sz="1000" b="1">
                <a:solidFill>
                  <a:srgbClr val="000000"/>
                </a:solidFill>
                <a:effectLst/>
                <a:latin typeface="Calibri" panose="020F0502020204030204" pitchFamily="34" charset="0"/>
              </a:rPr>
              <a:t>Software- and AI-integrated platforms </a:t>
            </a:r>
            <a:r>
              <a:rPr lang="en-US" sz="1000">
                <a:solidFill>
                  <a:srgbClr val="000000"/>
                </a:solidFill>
                <a:effectLst/>
                <a:latin typeface="Calibri" panose="020F0502020204030204" pitchFamily="34" charset="0"/>
              </a:rPr>
              <a:t>into everyday processes and decision-making</a:t>
            </a:r>
          </a:p>
          <a:p>
            <a:pPr marL="171450" indent="-107950" algn="l" rtl="0" eaLnBrk="1" latinLnBrk="0" hangingPunct="1">
              <a:lnSpc>
                <a:spcPct val="90000"/>
              </a:lnSpc>
              <a:spcBef>
                <a:spcPts val="100"/>
              </a:spcBef>
              <a:buFont typeface="Wingdings" panose="05000000000000000000" pitchFamily="2" charset="2"/>
              <a:buChar char="§"/>
            </a:pPr>
            <a:r>
              <a:rPr lang="en-US" sz="1000" b="1">
                <a:solidFill>
                  <a:srgbClr val="000000"/>
                </a:solidFill>
                <a:effectLst/>
                <a:latin typeface="Calibri" panose="020F0502020204030204" pitchFamily="34" charset="0"/>
              </a:rPr>
              <a:t>End‑to‑end ecosystem of integrated solutions</a:t>
            </a:r>
          </a:p>
          <a:p>
            <a:pPr marL="171450" indent="-107950" algn="l" rtl="0" eaLnBrk="1" latinLnBrk="0" hangingPunct="1">
              <a:lnSpc>
                <a:spcPct val="90000"/>
              </a:lnSpc>
              <a:spcBef>
                <a:spcPts val="100"/>
              </a:spcBef>
              <a:buFont typeface="Wingdings" panose="05000000000000000000" pitchFamily="2" charset="2"/>
              <a:buChar char="§"/>
            </a:pPr>
            <a:r>
              <a:rPr lang="en-US" sz="1000" b="1">
                <a:solidFill>
                  <a:srgbClr val="000000"/>
                </a:solidFill>
                <a:latin typeface="Calibri" panose="020F0502020204030204" pitchFamily="34" charset="0"/>
              </a:rPr>
              <a:t>Fundamentally B2B, with targeted B2B2C and B2C engagement </a:t>
            </a:r>
            <a:r>
              <a:rPr lang="en-US" sz="1000">
                <a:solidFill>
                  <a:srgbClr val="000000"/>
                </a:solidFill>
                <a:effectLst/>
                <a:latin typeface="Calibri" panose="020F0502020204030204" pitchFamily="34" charset="0"/>
              </a:rPr>
              <a:t>to stimulate demand and visits</a:t>
            </a:r>
            <a:endParaRPr lang="en-US" sz="1000">
              <a:solidFill>
                <a:schemeClr val="tx1"/>
              </a:solidFill>
            </a:endParaRPr>
          </a:p>
        </p:txBody>
      </p:sp>
      <p:sp>
        <p:nvSpPr>
          <p:cNvPr id="49" name="Arrow: Right 48">
            <a:extLst>
              <a:ext uri="{FF2B5EF4-FFF2-40B4-BE49-F238E27FC236}">
                <a16:creationId xmlns:a16="http://schemas.microsoft.com/office/drawing/2014/main" id="{157012A0-7CFE-9924-D4ED-D822C335F11D}"/>
              </a:ext>
            </a:extLst>
          </p:cNvPr>
          <p:cNvSpPr/>
          <p:nvPr/>
        </p:nvSpPr>
        <p:spPr>
          <a:xfrm>
            <a:off x="1655769" y="1836405"/>
            <a:ext cx="183944" cy="569005"/>
          </a:xfrm>
          <a:prstGeom prst="rightArrow">
            <a:avLst/>
          </a:prstGeom>
          <a:solidFill>
            <a:schemeClr val="accent1">
              <a:lumMod val="20000"/>
              <a:lumOff val="80000"/>
            </a:schemeClr>
          </a:solid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vert="horz" wrap="square" lIns="45720" tIns="45720" rIns="45720" bIns="45720" rtlCol="0" anchor="ctr">
            <a:spAutoFit/>
          </a:bodyPr>
          <a:lstStyle/>
          <a:p>
            <a:pPr algn="ctr">
              <a:lnSpc>
                <a:spcPct val="85000"/>
              </a:lnSpc>
            </a:pPr>
            <a:endParaRPr lang="en-US" sz="1400" i="1">
              <a:solidFill>
                <a:schemeClr val="tx1"/>
              </a:solidFill>
            </a:endParaRPr>
          </a:p>
        </p:txBody>
      </p:sp>
      <p:sp>
        <p:nvSpPr>
          <p:cNvPr id="54" name="TextBox 53">
            <a:extLst>
              <a:ext uri="{FF2B5EF4-FFF2-40B4-BE49-F238E27FC236}">
                <a16:creationId xmlns:a16="http://schemas.microsoft.com/office/drawing/2014/main" id="{BE4972DD-A399-7438-7084-3886DAD95E35}"/>
              </a:ext>
            </a:extLst>
          </p:cNvPr>
          <p:cNvSpPr txBox="1"/>
          <p:nvPr/>
        </p:nvSpPr>
        <p:spPr>
          <a:xfrm>
            <a:off x="6564303" y="1467496"/>
            <a:ext cx="1244937" cy="355097"/>
          </a:xfrm>
          <a:prstGeom prst="rect">
            <a:avLst/>
          </a:prstGeom>
          <a:noFill/>
        </p:spPr>
        <p:txBody>
          <a:bodyPr vert="horz" wrap="square" lIns="45720" tIns="45720" rIns="45720" bIns="45720" rtlCol="0" anchor="ctr">
            <a:spAutoFit/>
          </a:bodyPr>
          <a:lstStyle/>
          <a:p>
            <a:pPr>
              <a:lnSpc>
                <a:spcPct val="85000"/>
              </a:lnSpc>
            </a:pPr>
            <a:r>
              <a:rPr lang="en-US" sz="1000" b="1">
                <a:solidFill>
                  <a:srgbClr val="FF0000"/>
                </a:solidFill>
              </a:rPr>
              <a:t>New Criterion</a:t>
            </a:r>
            <a:r>
              <a:rPr lang="en-US" sz="1000" b="1" i="1">
                <a:solidFill>
                  <a:srgbClr val="FF0000"/>
                </a:solidFill>
              </a:rPr>
              <a:t> </a:t>
            </a:r>
            <a:r>
              <a:rPr lang="en-US" sz="1000" i="1">
                <a:solidFill>
                  <a:srgbClr val="FF0000"/>
                </a:solidFill>
              </a:rPr>
              <a:t>(Change vs. last year)</a:t>
            </a:r>
          </a:p>
        </p:txBody>
      </p:sp>
      <p:sp>
        <p:nvSpPr>
          <p:cNvPr id="58" name="TextBox 57">
            <a:extLst>
              <a:ext uri="{FF2B5EF4-FFF2-40B4-BE49-F238E27FC236}">
                <a16:creationId xmlns:a16="http://schemas.microsoft.com/office/drawing/2014/main" id="{8022568E-2E24-C6B3-26C2-50075519394F}"/>
              </a:ext>
            </a:extLst>
          </p:cNvPr>
          <p:cNvSpPr txBox="1"/>
          <p:nvPr/>
        </p:nvSpPr>
        <p:spPr>
          <a:xfrm>
            <a:off x="3415316" y="3117180"/>
            <a:ext cx="1505370" cy="138499"/>
          </a:xfrm>
          <a:prstGeom prst="rect">
            <a:avLst/>
          </a:prstGeom>
          <a:noFill/>
          <a:ln>
            <a:noFill/>
          </a:ln>
        </p:spPr>
        <p:txBody>
          <a:bodyPr wrap="square" lIns="0" tIns="0" rIns="0" bIns="0" rtlCol="0" anchor="ctr">
            <a:spAutoFit/>
          </a:bodyPr>
          <a:lstStyle/>
          <a:p>
            <a:r>
              <a:rPr lang="en-US" sz="900" b="1" err="1">
                <a:solidFill>
                  <a:schemeClr val="accent6"/>
                </a:solidFill>
              </a:rPr>
              <a:t>VetSoft</a:t>
            </a:r>
            <a:r>
              <a:rPr lang="en-US" sz="900" b="1">
                <a:solidFill>
                  <a:schemeClr val="accent6"/>
                </a:solidFill>
              </a:rPr>
              <a:t>, </a:t>
            </a:r>
            <a:r>
              <a:rPr lang="en-US" sz="900" b="1" err="1">
                <a:solidFill>
                  <a:schemeClr val="accent6"/>
                </a:solidFill>
              </a:rPr>
              <a:t>Svcs</a:t>
            </a:r>
            <a:r>
              <a:rPr lang="en-US" sz="900" b="1">
                <a:solidFill>
                  <a:schemeClr val="accent6"/>
                </a:solidFill>
              </a:rPr>
              <a:t> &amp; Dx Imaging</a:t>
            </a:r>
          </a:p>
        </p:txBody>
      </p:sp>
      <p:sp>
        <p:nvSpPr>
          <p:cNvPr id="60" name="Rectangle 59">
            <a:extLst>
              <a:ext uri="{FF2B5EF4-FFF2-40B4-BE49-F238E27FC236}">
                <a16:creationId xmlns:a16="http://schemas.microsoft.com/office/drawing/2014/main" id="{56ECE6FE-A0B5-A853-45F5-E7DEEEA31CE3}"/>
              </a:ext>
            </a:extLst>
          </p:cNvPr>
          <p:cNvSpPr/>
          <p:nvPr/>
        </p:nvSpPr>
        <p:spPr>
          <a:xfrm>
            <a:off x="59256" y="2827913"/>
            <a:ext cx="2444688" cy="1793163"/>
          </a:xfrm>
          <a:prstGeom prst="rect">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algn="ctr">
              <a:lnSpc>
                <a:spcPct val="85000"/>
              </a:lnSpc>
            </a:pPr>
            <a:r>
              <a:rPr lang="en-US" sz="1100" b="1">
                <a:solidFill>
                  <a:schemeClr val="tx1"/>
                </a:solidFill>
              </a:rPr>
              <a:t>Integrated Growth Flywheel</a:t>
            </a:r>
          </a:p>
          <a:p>
            <a:pPr marL="58737">
              <a:lnSpc>
                <a:spcPct val="85000"/>
              </a:lnSpc>
            </a:pPr>
            <a:endParaRPr lang="en-US" sz="1100" b="1">
              <a:solidFill>
                <a:schemeClr val="tx1"/>
              </a:solidFill>
            </a:endParaRPr>
          </a:p>
          <a:p>
            <a:pPr algn="ctr">
              <a:lnSpc>
                <a:spcPct val="85000"/>
              </a:lnSpc>
            </a:pPr>
            <a:endParaRPr lang="en-US" sz="1100" b="1">
              <a:solidFill>
                <a:schemeClr val="tx1"/>
              </a:solidFill>
            </a:endParaRPr>
          </a:p>
        </p:txBody>
      </p:sp>
      <p:pic>
        <p:nvPicPr>
          <p:cNvPr id="70" name="Picture 69">
            <a:extLst>
              <a:ext uri="{FF2B5EF4-FFF2-40B4-BE49-F238E27FC236}">
                <a16:creationId xmlns:a16="http://schemas.microsoft.com/office/drawing/2014/main" id="{C3CBCCAF-BBB8-2925-AC76-ABB5476296DB}"/>
              </a:ext>
            </a:extLst>
          </p:cNvPr>
          <p:cNvPicPr>
            <a:picLocks noChangeAspect="1"/>
          </p:cNvPicPr>
          <p:nvPr/>
        </p:nvPicPr>
        <p:blipFill>
          <a:blip r:embed="rId6"/>
          <a:stretch>
            <a:fillRect/>
          </a:stretch>
        </p:blipFill>
        <p:spPr>
          <a:xfrm>
            <a:off x="159808" y="3149697"/>
            <a:ext cx="2201415" cy="1461650"/>
          </a:xfrm>
          <a:prstGeom prst="rect">
            <a:avLst/>
          </a:prstGeom>
        </p:spPr>
      </p:pic>
      <p:sp>
        <p:nvSpPr>
          <p:cNvPr id="71" name="TextBox 70">
            <a:extLst>
              <a:ext uri="{FF2B5EF4-FFF2-40B4-BE49-F238E27FC236}">
                <a16:creationId xmlns:a16="http://schemas.microsoft.com/office/drawing/2014/main" id="{BC037C99-7323-17CE-25AF-2088199975D6}"/>
              </a:ext>
            </a:extLst>
          </p:cNvPr>
          <p:cNvSpPr txBox="1"/>
          <p:nvPr/>
        </p:nvSpPr>
        <p:spPr>
          <a:xfrm>
            <a:off x="1392868" y="3464360"/>
            <a:ext cx="821896" cy="328808"/>
          </a:xfrm>
          <a:prstGeom prst="rect">
            <a:avLst/>
          </a:prstGeom>
          <a:solidFill>
            <a:schemeClr val="bg1">
              <a:lumMod val="95000"/>
            </a:schemeClr>
          </a:solidFill>
          <a:ln>
            <a:solidFill>
              <a:schemeClr val="tx1"/>
            </a:solidFill>
          </a:ln>
        </p:spPr>
        <p:txBody>
          <a:bodyPr vert="horz" wrap="square" lIns="45720" tIns="45720" rIns="45720" bIns="45720" rtlCol="0" anchor="ctr">
            <a:spAutoFit/>
          </a:bodyPr>
          <a:lstStyle/>
          <a:p>
            <a:pPr algn="ctr">
              <a:lnSpc>
                <a:spcPct val="85000"/>
              </a:lnSpc>
            </a:pPr>
            <a:r>
              <a:rPr lang="en-US" sz="900" b="1"/>
              <a:t>Innovation-Driven Growth</a:t>
            </a:r>
          </a:p>
        </p:txBody>
      </p:sp>
      <p:sp>
        <p:nvSpPr>
          <p:cNvPr id="72" name="TextBox 71">
            <a:extLst>
              <a:ext uri="{FF2B5EF4-FFF2-40B4-BE49-F238E27FC236}">
                <a16:creationId xmlns:a16="http://schemas.microsoft.com/office/drawing/2014/main" id="{69FB68F2-A30F-F1AA-5FEA-5965BC5E7F00}"/>
              </a:ext>
            </a:extLst>
          </p:cNvPr>
          <p:cNvSpPr txBox="1"/>
          <p:nvPr/>
        </p:nvSpPr>
        <p:spPr>
          <a:xfrm>
            <a:off x="932726" y="4089468"/>
            <a:ext cx="695335" cy="328808"/>
          </a:xfrm>
          <a:prstGeom prst="rect">
            <a:avLst/>
          </a:prstGeom>
          <a:solidFill>
            <a:schemeClr val="bg1">
              <a:lumMod val="95000"/>
            </a:schemeClr>
          </a:solidFill>
          <a:ln>
            <a:solidFill>
              <a:schemeClr val="tx1"/>
            </a:solidFill>
          </a:ln>
        </p:spPr>
        <p:txBody>
          <a:bodyPr vert="horz" wrap="square" lIns="45720" tIns="45720" rIns="45720" bIns="45720" rtlCol="0" anchor="ctr">
            <a:spAutoFit/>
          </a:bodyPr>
          <a:lstStyle/>
          <a:p>
            <a:pPr algn="ctr">
              <a:lnSpc>
                <a:spcPct val="85000"/>
              </a:lnSpc>
            </a:pPr>
            <a:r>
              <a:rPr lang="en-US" sz="900" b="1"/>
              <a:t>Integrated Solutions</a:t>
            </a:r>
          </a:p>
        </p:txBody>
      </p:sp>
      <p:sp>
        <p:nvSpPr>
          <p:cNvPr id="73" name="TextBox 72">
            <a:extLst>
              <a:ext uri="{FF2B5EF4-FFF2-40B4-BE49-F238E27FC236}">
                <a16:creationId xmlns:a16="http://schemas.microsoft.com/office/drawing/2014/main" id="{7A295C1D-C6CE-D22D-FF25-31E0AEAA7903}"/>
              </a:ext>
            </a:extLst>
          </p:cNvPr>
          <p:cNvSpPr txBox="1"/>
          <p:nvPr/>
        </p:nvSpPr>
        <p:spPr>
          <a:xfrm>
            <a:off x="304093" y="3463003"/>
            <a:ext cx="747881" cy="328808"/>
          </a:xfrm>
          <a:prstGeom prst="rect">
            <a:avLst/>
          </a:prstGeom>
          <a:solidFill>
            <a:schemeClr val="bg1">
              <a:lumMod val="95000"/>
            </a:schemeClr>
          </a:solidFill>
          <a:ln>
            <a:solidFill>
              <a:schemeClr val="tx1"/>
            </a:solidFill>
          </a:ln>
        </p:spPr>
        <p:txBody>
          <a:bodyPr vert="horz" wrap="square" lIns="45720" tIns="45720" rIns="45720" bIns="45720" rtlCol="0" anchor="ctr">
            <a:spAutoFit/>
          </a:bodyPr>
          <a:lstStyle/>
          <a:p>
            <a:pPr algn="ctr">
              <a:lnSpc>
                <a:spcPct val="85000"/>
              </a:lnSpc>
            </a:pPr>
            <a:r>
              <a:rPr lang="en-US" sz="900" b="1"/>
              <a:t>Customer Engagement</a:t>
            </a:r>
          </a:p>
        </p:txBody>
      </p:sp>
      <p:sp>
        <p:nvSpPr>
          <p:cNvPr id="74" name="Arrow: Bent 73">
            <a:extLst>
              <a:ext uri="{FF2B5EF4-FFF2-40B4-BE49-F238E27FC236}">
                <a16:creationId xmlns:a16="http://schemas.microsoft.com/office/drawing/2014/main" id="{05A97B93-BC7B-6DD4-25E7-271D37564D17}"/>
              </a:ext>
            </a:extLst>
          </p:cNvPr>
          <p:cNvSpPr/>
          <p:nvPr/>
        </p:nvSpPr>
        <p:spPr>
          <a:xfrm rot="16729362">
            <a:off x="653223" y="3934722"/>
            <a:ext cx="228528" cy="242622"/>
          </a:xfrm>
          <a:prstGeom prst="bentArrow">
            <a:avLst>
              <a:gd name="adj1" fmla="val 16530"/>
              <a:gd name="adj2" fmla="val 22930"/>
              <a:gd name="adj3" fmla="val 25000"/>
              <a:gd name="adj4" fmla="val 82668"/>
            </a:avLst>
          </a:prstGeom>
          <a:solidFill>
            <a:schemeClr val="bg1">
              <a:lumMod val="95000"/>
            </a:schemeClr>
          </a:solid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wrap="square" lIns="91440" tIns="91440" rIns="91440" bIns="73152" rtlCol="0" anchor="ctr">
            <a:spAutoFit/>
          </a:bodyPr>
          <a:lstStyle/>
          <a:p>
            <a:pPr algn="ctr">
              <a:lnSpc>
                <a:spcPct val="85000"/>
              </a:lnSpc>
            </a:pPr>
            <a:endParaRPr lang="en-US" sz="1100">
              <a:solidFill>
                <a:schemeClr val="tx1"/>
              </a:solidFill>
            </a:endParaRPr>
          </a:p>
        </p:txBody>
      </p:sp>
      <p:sp>
        <p:nvSpPr>
          <p:cNvPr id="75" name="Arrow: Bent 74">
            <a:extLst>
              <a:ext uri="{FF2B5EF4-FFF2-40B4-BE49-F238E27FC236}">
                <a16:creationId xmlns:a16="http://schemas.microsoft.com/office/drawing/2014/main" id="{9336FA31-1113-3DF7-CA78-390BA5617196}"/>
              </a:ext>
            </a:extLst>
          </p:cNvPr>
          <p:cNvSpPr/>
          <p:nvPr/>
        </p:nvSpPr>
        <p:spPr>
          <a:xfrm rot="2451031">
            <a:off x="1154447" y="3223318"/>
            <a:ext cx="228528" cy="242622"/>
          </a:xfrm>
          <a:prstGeom prst="bentArrow">
            <a:avLst>
              <a:gd name="adj1" fmla="val 16530"/>
              <a:gd name="adj2" fmla="val 22930"/>
              <a:gd name="adj3" fmla="val 25000"/>
              <a:gd name="adj4" fmla="val 82668"/>
            </a:avLst>
          </a:prstGeom>
          <a:solidFill>
            <a:schemeClr val="bg1">
              <a:lumMod val="95000"/>
            </a:schemeClr>
          </a:solid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wrap="square" lIns="91440" tIns="91440" rIns="91440" bIns="73152" rtlCol="0" anchor="ctr">
            <a:spAutoFit/>
          </a:bodyPr>
          <a:lstStyle/>
          <a:p>
            <a:pPr algn="ctr">
              <a:lnSpc>
                <a:spcPct val="85000"/>
              </a:lnSpc>
            </a:pPr>
            <a:endParaRPr lang="en-US" sz="1100">
              <a:solidFill>
                <a:schemeClr val="tx1"/>
              </a:solidFill>
            </a:endParaRPr>
          </a:p>
        </p:txBody>
      </p:sp>
      <p:sp>
        <p:nvSpPr>
          <p:cNvPr id="76" name="Arrow: Bent 75">
            <a:extLst>
              <a:ext uri="{FF2B5EF4-FFF2-40B4-BE49-F238E27FC236}">
                <a16:creationId xmlns:a16="http://schemas.microsoft.com/office/drawing/2014/main" id="{B92DB8A0-DB76-DC06-3BF9-1E6086B9AD7D}"/>
              </a:ext>
            </a:extLst>
          </p:cNvPr>
          <p:cNvSpPr/>
          <p:nvPr/>
        </p:nvSpPr>
        <p:spPr>
          <a:xfrm rot="9113166">
            <a:off x="1632156" y="3952805"/>
            <a:ext cx="228528" cy="242622"/>
          </a:xfrm>
          <a:prstGeom prst="bentArrow">
            <a:avLst>
              <a:gd name="adj1" fmla="val 16530"/>
              <a:gd name="adj2" fmla="val 22930"/>
              <a:gd name="adj3" fmla="val 25000"/>
              <a:gd name="adj4" fmla="val 82668"/>
            </a:avLst>
          </a:prstGeom>
          <a:solidFill>
            <a:schemeClr val="bg1">
              <a:lumMod val="95000"/>
            </a:schemeClr>
          </a:solid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wrap="square" lIns="91440" tIns="91440" rIns="91440" bIns="73152" rtlCol="0" anchor="ctr">
            <a:spAutoFit/>
          </a:bodyPr>
          <a:lstStyle/>
          <a:p>
            <a:pPr algn="ctr">
              <a:lnSpc>
                <a:spcPct val="85000"/>
              </a:lnSpc>
            </a:pPr>
            <a:endParaRPr lang="en-US" sz="1100">
              <a:solidFill>
                <a:schemeClr val="tx1"/>
              </a:solidFill>
            </a:endParaRPr>
          </a:p>
        </p:txBody>
      </p:sp>
      <p:cxnSp>
        <p:nvCxnSpPr>
          <p:cNvPr id="77" name="Straight Arrow Connector 76">
            <a:extLst>
              <a:ext uri="{FF2B5EF4-FFF2-40B4-BE49-F238E27FC236}">
                <a16:creationId xmlns:a16="http://schemas.microsoft.com/office/drawing/2014/main" id="{81646D1F-ED0A-3137-EADD-7E0B2C9AA486}"/>
              </a:ext>
            </a:extLst>
          </p:cNvPr>
          <p:cNvCxnSpPr>
            <a:cxnSpLocks/>
          </p:cNvCxnSpPr>
          <p:nvPr/>
        </p:nvCxnSpPr>
        <p:spPr>
          <a:xfrm flipV="1">
            <a:off x="3228920" y="3913274"/>
            <a:ext cx="1343080" cy="122404"/>
          </a:xfrm>
          <a:prstGeom prst="straightConnector1">
            <a:avLst/>
          </a:prstGeom>
          <a:ln w="6350">
            <a:solidFill>
              <a:schemeClr val="tx2"/>
            </a:solidFill>
            <a:tailEnd type="triangle"/>
          </a:ln>
        </p:spPr>
        <p:style>
          <a:lnRef idx="1">
            <a:schemeClr val="dk1"/>
          </a:lnRef>
          <a:fillRef idx="0">
            <a:schemeClr val="dk1"/>
          </a:fillRef>
          <a:effectRef idx="0">
            <a:schemeClr val="dk1"/>
          </a:effectRef>
          <a:fontRef idx="minor">
            <a:schemeClr val="tx1"/>
          </a:fontRef>
        </p:style>
      </p:cxnSp>
      <p:cxnSp>
        <p:nvCxnSpPr>
          <p:cNvPr id="10" name="Straight Arrow Connector 9">
            <a:extLst>
              <a:ext uri="{FF2B5EF4-FFF2-40B4-BE49-F238E27FC236}">
                <a16:creationId xmlns:a16="http://schemas.microsoft.com/office/drawing/2014/main" id="{ED8FB10C-C652-76F6-EF32-466974201EDC}"/>
              </a:ext>
            </a:extLst>
          </p:cNvPr>
          <p:cNvCxnSpPr>
            <a:cxnSpLocks/>
          </p:cNvCxnSpPr>
          <p:nvPr/>
        </p:nvCxnSpPr>
        <p:spPr>
          <a:xfrm flipV="1">
            <a:off x="3222636" y="3657600"/>
            <a:ext cx="1349364" cy="195998"/>
          </a:xfrm>
          <a:prstGeom prst="straightConnector1">
            <a:avLst/>
          </a:prstGeom>
          <a:ln w="6350">
            <a:solidFill>
              <a:schemeClr val="accent6"/>
            </a:solidFill>
            <a:tailEnd type="triangle"/>
          </a:ln>
        </p:spPr>
        <p:style>
          <a:lnRef idx="1">
            <a:schemeClr val="dk1"/>
          </a:lnRef>
          <a:fillRef idx="0">
            <a:schemeClr val="dk1"/>
          </a:fillRef>
          <a:effectRef idx="0">
            <a:schemeClr val="dk1"/>
          </a:effectRef>
          <a:fontRef idx="minor">
            <a:schemeClr val="tx1"/>
          </a:fontRef>
        </p:style>
      </p:cxnSp>
      <p:sp>
        <p:nvSpPr>
          <p:cNvPr id="9" name="TextBox 8">
            <a:extLst>
              <a:ext uri="{FF2B5EF4-FFF2-40B4-BE49-F238E27FC236}">
                <a16:creationId xmlns:a16="http://schemas.microsoft.com/office/drawing/2014/main" id="{9482C674-78F7-BCE8-7E3E-87074F531DB1}"/>
              </a:ext>
            </a:extLst>
          </p:cNvPr>
          <p:cNvSpPr txBox="1"/>
          <p:nvPr/>
        </p:nvSpPr>
        <p:spPr>
          <a:xfrm>
            <a:off x="3434527" y="3261521"/>
            <a:ext cx="813819" cy="138499"/>
          </a:xfrm>
          <a:prstGeom prst="rect">
            <a:avLst/>
          </a:prstGeom>
          <a:noFill/>
          <a:ln>
            <a:noFill/>
          </a:ln>
        </p:spPr>
        <p:txBody>
          <a:bodyPr wrap="square" lIns="0" tIns="0" rIns="0" bIns="0" rtlCol="0" anchor="ctr">
            <a:spAutoFit/>
          </a:bodyPr>
          <a:lstStyle/>
          <a:p>
            <a:r>
              <a:rPr lang="en-US" sz="900" b="1">
                <a:solidFill>
                  <a:schemeClr val="tx2"/>
                </a:solidFill>
              </a:rPr>
              <a:t>CAG Diagnostics</a:t>
            </a:r>
          </a:p>
        </p:txBody>
      </p:sp>
      <p:sp>
        <p:nvSpPr>
          <p:cNvPr id="11" name="TextBox 10">
            <a:extLst>
              <a:ext uri="{FF2B5EF4-FFF2-40B4-BE49-F238E27FC236}">
                <a16:creationId xmlns:a16="http://schemas.microsoft.com/office/drawing/2014/main" id="{8C9F1734-92AC-78F6-C346-88EF90560A5C}"/>
              </a:ext>
            </a:extLst>
          </p:cNvPr>
          <p:cNvSpPr txBox="1"/>
          <p:nvPr/>
        </p:nvSpPr>
        <p:spPr>
          <a:xfrm>
            <a:off x="4538187" y="3845656"/>
            <a:ext cx="457200" cy="365760"/>
          </a:xfrm>
          <a:prstGeom prst="rect">
            <a:avLst/>
          </a:prstGeom>
          <a:noFill/>
          <a:ln>
            <a:noFill/>
          </a:ln>
        </p:spPr>
        <p:txBody>
          <a:bodyPr wrap="square" lIns="91440" tIns="91440" rIns="91440" bIns="91440" rtlCol="0" anchor="ctr">
            <a:spAutoFit/>
          </a:bodyPr>
          <a:lstStyle/>
          <a:p>
            <a:pPr algn="ctr"/>
            <a:r>
              <a:rPr lang="en-US" sz="800" b="1">
                <a:solidFill>
                  <a:schemeClr val="tx2"/>
                </a:solidFill>
              </a:rPr>
              <a:t>3-Yr CAGR: ~9%</a:t>
            </a:r>
          </a:p>
        </p:txBody>
      </p:sp>
      <p:cxnSp>
        <p:nvCxnSpPr>
          <p:cNvPr id="18" name="Straight Connector 17">
            <a:extLst>
              <a:ext uri="{FF2B5EF4-FFF2-40B4-BE49-F238E27FC236}">
                <a16:creationId xmlns:a16="http://schemas.microsoft.com/office/drawing/2014/main" id="{0702A1DA-6697-F679-92D2-F76448FB7017}"/>
              </a:ext>
            </a:extLst>
          </p:cNvPr>
          <p:cNvCxnSpPr>
            <a:cxnSpLocks/>
          </p:cNvCxnSpPr>
          <p:nvPr/>
        </p:nvCxnSpPr>
        <p:spPr>
          <a:xfrm>
            <a:off x="3259683" y="3192812"/>
            <a:ext cx="94614" cy="0"/>
          </a:xfrm>
          <a:prstGeom prst="line">
            <a:avLst/>
          </a:prstGeom>
          <a:ln w="38100">
            <a:solidFill>
              <a:schemeClr val="accent6">
                <a:lumMod val="60000"/>
                <a:lumOff val="40000"/>
              </a:schemeClr>
            </a:solidFill>
          </a:ln>
        </p:spPr>
        <p:style>
          <a:lnRef idx="1">
            <a:schemeClr val="dk1"/>
          </a:lnRef>
          <a:fillRef idx="0">
            <a:schemeClr val="dk1"/>
          </a:fillRef>
          <a:effectRef idx="0">
            <a:schemeClr val="dk1"/>
          </a:effectRef>
          <a:fontRef idx="minor">
            <a:schemeClr val="tx1"/>
          </a:fontRef>
        </p:style>
      </p:cxnSp>
      <p:sp>
        <p:nvSpPr>
          <p:cNvPr id="12" name="TextBox 11">
            <a:extLst>
              <a:ext uri="{FF2B5EF4-FFF2-40B4-BE49-F238E27FC236}">
                <a16:creationId xmlns:a16="http://schemas.microsoft.com/office/drawing/2014/main" id="{E6B90D72-CE22-976E-51D5-48865533D749}"/>
              </a:ext>
            </a:extLst>
          </p:cNvPr>
          <p:cNvSpPr txBox="1"/>
          <p:nvPr/>
        </p:nvSpPr>
        <p:spPr>
          <a:xfrm>
            <a:off x="4538187" y="3324399"/>
            <a:ext cx="457200" cy="553998"/>
          </a:xfrm>
          <a:prstGeom prst="rect">
            <a:avLst/>
          </a:prstGeom>
          <a:noFill/>
          <a:ln>
            <a:noFill/>
          </a:ln>
        </p:spPr>
        <p:txBody>
          <a:bodyPr wrap="square" lIns="91440" tIns="91440" rIns="91440" bIns="91440" rtlCol="0" anchor="ctr">
            <a:spAutoFit/>
          </a:bodyPr>
          <a:lstStyle/>
          <a:p>
            <a:pPr algn="ctr"/>
            <a:r>
              <a:rPr lang="en-US" sz="800" b="1">
                <a:solidFill>
                  <a:schemeClr val="accent6"/>
                </a:solidFill>
              </a:rPr>
              <a:t>3-Yr CAGR: ~15%</a:t>
            </a:r>
          </a:p>
        </p:txBody>
      </p:sp>
      <p:cxnSp>
        <p:nvCxnSpPr>
          <p:cNvPr id="22" name="Straight Connector 21">
            <a:extLst>
              <a:ext uri="{FF2B5EF4-FFF2-40B4-BE49-F238E27FC236}">
                <a16:creationId xmlns:a16="http://schemas.microsoft.com/office/drawing/2014/main" id="{B5F557E2-ECED-EFDC-48AD-7BEF1ED571DE}"/>
              </a:ext>
            </a:extLst>
          </p:cNvPr>
          <p:cNvCxnSpPr>
            <a:cxnSpLocks/>
          </p:cNvCxnSpPr>
          <p:nvPr/>
        </p:nvCxnSpPr>
        <p:spPr>
          <a:xfrm>
            <a:off x="3259680" y="3345212"/>
            <a:ext cx="94614" cy="0"/>
          </a:xfrm>
          <a:prstGeom prst="line">
            <a:avLst/>
          </a:prstGeom>
          <a:ln w="38100">
            <a:solidFill>
              <a:schemeClr val="tx2">
                <a:lumMod val="60000"/>
                <a:lumOff val="40000"/>
              </a:schemeClr>
            </a:solidFill>
          </a:ln>
        </p:spPr>
        <p:style>
          <a:lnRef idx="1">
            <a:schemeClr val="dk1"/>
          </a:lnRef>
          <a:fillRef idx="0">
            <a:schemeClr val="dk1"/>
          </a:fillRef>
          <a:effectRef idx="0">
            <a:schemeClr val="dk1"/>
          </a:effectRef>
          <a:fontRef idx="minor">
            <a:schemeClr val="tx1"/>
          </a:fontRef>
        </p:style>
      </p:cxnSp>
      <p:sp>
        <p:nvSpPr>
          <p:cNvPr id="23" name="TextBox 22">
            <a:extLst>
              <a:ext uri="{FF2B5EF4-FFF2-40B4-BE49-F238E27FC236}">
                <a16:creationId xmlns:a16="http://schemas.microsoft.com/office/drawing/2014/main" id="{3D02167D-7380-D68F-927E-C52058D8C127}"/>
              </a:ext>
            </a:extLst>
          </p:cNvPr>
          <p:cNvSpPr txBox="1"/>
          <p:nvPr/>
        </p:nvSpPr>
        <p:spPr>
          <a:xfrm>
            <a:off x="7788479" y="1467496"/>
            <a:ext cx="1244937" cy="355097"/>
          </a:xfrm>
          <a:prstGeom prst="rect">
            <a:avLst/>
          </a:prstGeom>
          <a:noFill/>
        </p:spPr>
        <p:txBody>
          <a:bodyPr vert="horz" wrap="square" lIns="45720" tIns="45720" rIns="45720" bIns="45720" rtlCol="0" anchor="ctr">
            <a:spAutoFit/>
          </a:bodyPr>
          <a:lstStyle/>
          <a:p>
            <a:pPr marL="114300" indent="-114300">
              <a:lnSpc>
                <a:spcPct val="85000"/>
              </a:lnSpc>
              <a:buFont typeface="Wingdings" panose="05000000000000000000" pitchFamily="2" charset="2"/>
              <a:buChar char="ü"/>
            </a:pPr>
            <a:r>
              <a:rPr lang="en-US" sz="1000" b="1">
                <a:solidFill>
                  <a:schemeClr val="accent2">
                    <a:lumMod val="50000"/>
                  </a:schemeClr>
                </a:solidFill>
              </a:rPr>
              <a:t>New Criterion</a:t>
            </a:r>
            <a:r>
              <a:rPr lang="en-US" sz="1000" b="1" i="1">
                <a:solidFill>
                  <a:schemeClr val="accent2">
                    <a:lumMod val="50000"/>
                  </a:schemeClr>
                </a:solidFill>
              </a:rPr>
              <a:t> suggested by AI</a:t>
            </a:r>
            <a:endParaRPr lang="en-US" sz="1000" i="1">
              <a:solidFill>
                <a:schemeClr val="accent2">
                  <a:lumMod val="50000"/>
                </a:schemeClr>
              </a:solidFill>
            </a:endParaRPr>
          </a:p>
        </p:txBody>
      </p:sp>
    </p:spTree>
    <p:extLst>
      <p:ext uri="{BB962C8B-B14F-4D97-AF65-F5344CB8AC3E}">
        <p14:creationId xmlns:p14="http://schemas.microsoft.com/office/powerpoint/2010/main" val="635223702"/>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13F0D5-497B-D6C9-251B-1ECC6C0D1D79}"/>
            </a:ext>
          </a:extLst>
        </p:cNvPr>
        <p:cNvGrpSpPr/>
        <p:nvPr/>
      </p:nvGrpSpPr>
      <p:grpSpPr>
        <a:xfrm>
          <a:off x="0" y="0"/>
          <a:ext cx="0" cy="0"/>
          <a:chOff x="0" y="0"/>
          <a:chExt cx="0" cy="0"/>
        </a:xfrm>
      </p:grpSpPr>
      <p:graphicFrame>
        <p:nvGraphicFramePr>
          <p:cNvPr id="12" name="Content Placeholder 11">
            <a:extLst>
              <a:ext uri="{FF2B5EF4-FFF2-40B4-BE49-F238E27FC236}">
                <a16:creationId xmlns:a16="http://schemas.microsoft.com/office/drawing/2014/main" id="{A74F9488-CADC-83E8-6DF9-372C5FD8C945}"/>
              </a:ext>
            </a:extLst>
          </p:cNvPr>
          <p:cNvGraphicFramePr>
            <a:graphicFrameLocks noGrp="1"/>
          </p:cNvGraphicFramePr>
          <p:nvPr>
            <p:ph idx="1"/>
            <p:extLst>
              <p:ext uri="{D42A27DB-BD31-4B8C-83A1-F6EECF244321}">
                <p14:modId xmlns:p14="http://schemas.microsoft.com/office/powerpoint/2010/main" val="3901122266"/>
              </p:ext>
            </p:extLst>
          </p:nvPr>
        </p:nvGraphicFramePr>
        <p:xfrm>
          <a:off x="960671" y="5926874"/>
          <a:ext cx="2011680" cy="183211"/>
        </p:xfrm>
        <a:graphic>
          <a:graphicData uri="http://schemas.openxmlformats.org/drawingml/2006/table">
            <a:tbl>
              <a:tblPr firstRow="1" bandRow="1">
                <a:tableStyleId>{5940675A-B579-460E-94D1-54222C63F5DA}</a:tableStyleId>
              </a:tblPr>
              <a:tblGrid>
                <a:gridCol w="274320">
                  <a:extLst>
                    <a:ext uri="{9D8B030D-6E8A-4147-A177-3AD203B41FA5}">
                      <a16:colId xmlns:a16="http://schemas.microsoft.com/office/drawing/2014/main" val="3438579452"/>
                    </a:ext>
                  </a:extLst>
                </a:gridCol>
                <a:gridCol w="1737360">
                  <a:extLst>
                    <a:ext uri="{9D8B030D-6E8A-4147-A177-3AD203B41FA5}">
                      <a16:colId xmlns:a16="http://schemas.microsoft.com/office/drawing/2014/main" val="2511897402"/>
                    </a:ext>
                  </a:extLst>
                </a:gridCol>
              </a:tblGrid>
              <a:tr h="127044">
                <a:tc>
                  <a:txBody>
                    <a:bodyPr/>
                    <a:lstStyle/>
                    <a:p>
                      <a:pPr algn="ctr"/>
                      <a:r>
                        <a:rPr lang="en-US" sz="900"/>
                        <a:t>HCE</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900"/>
                        <a:t>  Health Care Equipment</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30570224"/>
                  </a:ext>
                </a:extLst>
              </a:tr>
              <a:tr h="46051">
                <a:tc>
                  <a:txBody>
                    <a:bodyPr/>
                    <a:lstStyle/>
                    <a:p>
                      <a:pPr algn="ctr"/>
                      <a:endParaRPr lang="en-US" sz="100"/>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00"/>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97095924"/>
                  </a:ext>
                </a:extLst>
              </a:tr>
            </a:tbl>
          </a:graphicData>
        </a:graphic>
      </p:graphicFrame>
      <p:sp>
        <p:nvSpPr>
          <p:cNvPr id="3" name="Footer Placeholder 2">
            <a:extLst>
              <a:ext uri="{FF2B5EF4-FFF2-40B4-BE49-F238E27FC236}">
                <a16:creationId xmlns:a16="http://schemas.microsoft.com/office/drawing/2014/main" id="{4C7CD4A8-4176-4FCB-071D-04200710328A}"/>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4" name="Slide Number Placeholder 3">
            <a:extLst>
              <a:ext uri="{FF2B5EF4-FFF2-40B4-BE49-F238E27FC236}">
                <a16:creationId xmlns:a16="http://schemas.microsoft.com/office/drawing/2014/main" id="{F8CEDED4-3B2C-35A7-CBE8-BFC66FC7003E}"/>
              </a:ext>
            </a:extLst>
          </p:cNvPr>
          <p:cNvSpPr>
            <a:spLocks noGrp="1"/>
          </p:cNvSpPr>
          <p:nvPr>
            <p:ph type="sldNum" sz="quarter" idx="12"/>
          </p:nvPr>
        </p:nvSpPr>
        <p:spPr/>
        <p:txBody>
          <a:bodyPr/>
          <a:lstStyle/>
          <a:p>
            <a:fld id="{91690BAF-E217-4185-92FD-0CEA06F2B7C8}" type="slidenum">
              <a:rPr lang="en-US" smtClean="0"/>
              <a:pPr/>
              <a:t>5</a:t>
            </a:fld>
            <a:endParaRPr lang="en-US"/>
          </a:p>
        </p:txBody>
      </p:sp>
      <p:sp>
        <p:nvSpPr>
          <p:cNvPr id="5" name="Title 4">
            <a:extLst>
              <a:ext uri="{FF2B5EF4-FFF2-40B4-BE49-F238E27FC236}">
                <a16:creationId xmlns:a16="http://schemas.microsoft.com/office/drawing/2014/main" id="{CAB414D8-A6F1-BD87-4CE2-D75E7E6412B7}"/>
              </a:ext>
            </a:extLst>
          </p:cNvPr>
          <p:cNvSpPr>
            <a:spLocks noGrp="1"/>
          </p:cNvSpPr>
          <p:nvPr>
            <p:ph type="title"/>
          </p:nvPr>
        </p:nvSpPr>
        <p:spPr/>
        <p:txBody>
          <a:bodyPr/>
          <a:lstStyle/>
          <a:p>
            <a:r>
              <a:rPr lang="en-US" dirty="0" err="1"/>
              <a:t>Goofy’s</a:t>
            </a:r>
            <a:r>
              <a:rPr lang="en-US" dirty="0"/>
              <a:t> current peers continue to meet most of the screening criteria</a:t>
            </a:r>
          </a:p>
        </p:txBody>
      </p:sp>
      <p:sp>
        <p:nvSpPr>
          <p:cNvPr id="2" name="TextBox 1">
            <a:extLst>
              <a:ext uri="{FF2B5EF4-FFF2-40B4-BE49-F238E27FC236}">
                <a16:creationId xmlns:a16="http://schemas.microsoft.com/office/drawing/2014/main" id="{19BE8E32-9798-AFE0-B66A-8CC30BEA6CB6}"/>
              </a:ext>
            </a:extLst>
          </p:cNvPr>
          <p:cNvSpPr txBox="1"/>
          <p:nvPr/>
        </p:nvSpPr>
        <p:spPr>
          <a:xfrm>
            <a:off x="1909308" y="1229706"/>
            <a:ext cx="5331124" cy="369397"/>
          </a:xfrm>
          <a:prstGeom prst="rect">
            <a:avLst/>
          </a:prstGeom>
          <a:noFill/>
        </p:spPr>
        <p:txBody>
          <a:bodyPr wrap="square" lIns="91440" tIns="91440" rIns="91440" bIns="91440" rtlCol="0" anchor="ctr">
            <a:spAutoFit/>
          </a:bodyPr>
          <a:lstStyle/>
          <a:p>
            <a:pPr algn="ctr">
              <a:lnSpc>
                <a:spcPct val="85000"/>
              </a:lnSpc>
            </a:pPr>
            <a:r>
              <a:rPr lang="en-US" sz="1400" b="1" dirty="0" err="1"/>
              <a:t>Goofy’s</a:t>
            </a:r>
            <a:r>
              <a:rPr lang="en-US" sz="1400" b="1" dirty="0"/>
              <a:t> Current Peers vs Evaluation Criteria</a:t>
            </a:r>
          </a:p>
        </p:txBody>
      </p:sp>
      <p:sp>
        <p:nvSpPr>
          <p:cNvPr id="6" name="TextBox 5">
            <a:extLst>
              <a:ext uri="{FF2B5EF4-FFF2-40B4-BE49-F238E27FC236}">
                <a16:creationId xmlns:a16="http://schemas.microsoft.com/office/drawing/2014/main" id="{DE368CFE-C6CD-4479-6323-0D8E52191EAC}"/>
              </a:ext>
            </a:extLst>
          </p:cNvPr>
          <p:cNvSpPr txBox="1"/>
          <p:nvPr/>
        </p:nvSpPr>
        <p:spPr>
          <a:xfrm>
            <a:off x="545660" y="5880038"/>
            <a:ext cx="614702" cy="230832"/>
          </a:xfrm>
          <a:prstGeom prst="rect">
            <a:avLst/>
          </a:prstGeom>
          <a:noFill/>
          <a:ln>
            <a:noFill/>
          </a:ln>
        </p:spPr>
        <p:txBody>
          <a:bodyPr wrap="square" rtlCol="0" anchor="ctr">
            <a:spAutoFit/>
          </a:bodyPr>
          <a:lstStyle/>
          <a:p>
            <a:r>
              <a:rPr lang="en-US" sz="900" b="1" i="1"/>
              <a:t>Key:</a:t>
            </a:r>
          </a:p>
        </p:txBody>
      </p:sp>
      <p:graphicFrame>
        <p:nvGraphicFramePr>
          <p:cNvPr id="7" name="Table 14">
            <a:extLst>
              <a:ext uri="{FF2B5EF4-FFF2-40B4-BE49-F238E27FC236}">
                <a16:creationId xmlns:a16="http://schemas.microsoft.com/office/drawing/2014/main" id="{6A90AC3F-20F7-B1A2-D28C-2D2863471F10}"/>
              </a:ext>
            </a:extLst>
          </p:cNvPr>
          <p:cNvGraphicFramePr>
            <a:graphicFrameLocks noGrp="1"/>
          </p:cNvGraphicFramePr>
          <p:nvPr>
            <p:extLst>
              <p:ext uri="{D42A27DB-BD31-4B8C-83A1-F6EECF244321}">
                <p14:modId xmlns:p14="http://schemas.microsoft.com/office/powerpoint/2010/main" val="973627855"/>
              </p:ext>
            </p:extLst>
          </p:nvPr>
        </p:nvGraphicFramePr>
        <p:xfrm>
          <a:off x="2488398" y="5926874"/>
          <a:ext cx="2011680" cy="183211"/>
        </p:xfrm>
        <a:graphic>
          <a:graphicData uri="http://schemas.openxmlformats.org/drawingml/2006/table">
            <a:tbl>
              <a:tblPr firstRow="1" bandRow="1">
                <a:tableStyleId>{5940675A-B579-460E-94D1-54222C63F5DA}</a:tableStyleId>
              </a:tblPr>
              <a:tblGrid>
                <a:gridCol w="274320">
                  <a:extLst>
                    <a:ext uri="{9D8B030D-6E8A-4147-A177-3AD203B41FA5}">
                      <a16:colId xmlns:a16="http://schemas.microsoft.com/office/drawing/2014/main" val="1448559794"/>
                    </a:ext>
                  </a:extLst>
                </a:gridCol>
                <a:gridCol w="1737360">
                  <a:extLst>
                    <a:ext uri="{9D8B030D-6E8A-4147-A177-3AD203B41FA5}">
                      <a16:colId xmlns:a16="http://schemas.microsoft.com/office/drawing/2014/main" val="1242357177"/>
                    </a:ext>
                  </a:extLst>
                </a:gridCol>
              </a:tblGrid>
              <a:tr h="127044">
                <a:tc>
                  <a:txBody>
                    <a:bodyPr/>
                    <a:lstStyle/>
                    <a:p>
                      <a:pPr algn="ctr"/>
                      <a:r>
                        <a:rPr lang="en-US" sz="900"/>
                        <a:t>HCS</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900"/>
                        <a:t>  Health Care Supplies</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03461171"/>
                  </a:ext>
                </a:extLst>
              </a:tr>
              <a:tr h="46051">
                <a:tc>
                  <a:txBody>
                    <a:bodyPr/>
                    <a:lstStyle/>
                    <a:p>
                      <a:pPr algn="ctr"/>
                      <a:endParaRPr lang="en-US" sz="100"/>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00"/>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727313861"/>
                  </a:ext>
                </a:extLst>
              </a:tr>
            </a:tbl>
          </a:graphicData>
        </a:graphic>
      </p:graphicFrame>
      <p:graphicFrame>
        <p:nvGraphicFramePr>
          <p:cNvPr id="8" name="Table 14">
            <a:extLst>
              <a:ext uri="{FF2B5EF4-FFF2-40B4-BE49-F238E27FC236}">
                <a16:creationId xmlns:a16="http://schemas.microsoft.com/office/drawing/2014/main" id="{3C638637-A9E1-D479-AD2F-8948A9E5FF1D}"/>
              </a:ext>
            </a:extLst>
          </p:cNvPr>
          <p:cNvGraphicFramePr>
            <a:graphicFrameLocks noGrp="1"/>
          </p:cNvGraphicFramePr>
          <p:nvPr>
            <p:extLst>
              <p:ext uri="{D42A27DB-BD31-4B8C-83A1-F6EECF244321}">
                <p14:modId xmlns:p14="http://schemas.microsoft.com/office/powerpoint/2010/main" val="626055684"/>
              </p:ext>
            </p:extLst>
          </p:nvPr>
        </p:nvGraphicFramePr>
        <p:xfrm>
          <a:off x="7317665" y="5926874"/>
          <a:ext cx="1571303" cy="137160"/>
        </p:xfrm>
        <a:graphic>
          <a:graphicData uri="http://schemas.openxmlformats.org/drawingml/2006/table">
            <a:tbl>
              <a:tblPr firstRow="1" bandRow="1">
                <a:tableStyleId>{5940675A-B579-460E-94D1-54222C63F5DA}</a:tableStyleId>
              </a:tblPr>
              <a:tblGrid>
                <a:gridCol w="274320">
                  <a:extLst>
                    <a:ext uri="{9D8B030D-6E8A-4147-A177-3AD203B41FA5}">
                      <a16:colId xmlns:a16="http://schemas.microsoft.com/office/drawing/2014/main" val="1448559794"/>
                    </a:ext>
                  </a:extLst>
                </a:gridCol>
                <a:gridCol w="1296983">
                  <a:extLst>
                    <a:ext uri="{9D8B030D-6E8A-4147-A177-3AD203B41FA5}">
                      <a16:colId xmlns:a16="http://schemas.microsoft.com/office/drawing/2014/main" val="1242357177"/>
                    </a:ext>
                  </a:extLst>
                </a:gridCol>
              </a:tblGrid>
              <a:tr h="137160">
                <a:tc>
                  <a:txBody>
                    <a:bodyPr/>
                    <a:lstStyle/>
                    <a:p>
                      <a:endParaRPr lang="en-US" sz="900"/>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D7D7"/>
                    </a:solidFill>
                  </a:tcPr>
                </a:tc>
                <a:tc>
                  <a:txBody>
                    <a:bodyPr/>
                    <a:lstStyle/>
                    <a:p>
                      <a:r>
                        <a:rPr lang="en-US" sz="900"/>
                        <a:t> Does not meet criterion</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19601939"/>
                  </a:ext>
                </a:extLst>
              </a:tr>
            </a:tbl>
          </a:graphicData>
        </a:graphic>
      </p:graphicFrame>
      <p:graphicFrame>
        <p:nvGraphicFramePr>
          <p:cNvPr id="9" name="Table 8">
            <a:extLst>
              <a:ext uri="{FF2B5EF4-FFF2-40B4-BE49-F238E27FC236}">
                <a16:creationId xmlns:a16="http://schemas.microsoft.com/office/drawing/2014/main" id="{A3721137-DE2B-37F9-DAB3-C6032B6111C7}"/>
              </a:ext>
            </a:extLst>
          </p:cNvPr>
          <p:cNvGraphicFramePr>
            <a:graphicFrameLocks noGrp="1"/>
          </p:cNvGraphicFramePr>
          <p:nvPr>
            <p:extLst>
              <p:ext uri="{D42A27DB-BD31-4B8C-83A1-F6EECF244321}">
                <p14:modId xmlns:p14="http://schemas.microsoft.com/office/powerpoint/2010/main" val="2644924289"/>
              </p:ext>
            </p:extLst>
          </p:nvPr>
        </p:nvGraphicFramePr>
        <p:xfrm>
          <a:off x="129888" y="1573409"/>
          <a:ext cx="8967252" cy="4270248"/>
        </p:xfrm>
        <a:graphic>
          <a:graphicData uri="http://schemas.openxmlformats.org/drawingml/2006/table">
            <a:tbl>
              <a:tblPr/>
              <a:tblGrid>
                <a:gridCol w="1005840">
                  <a:extLst>
                    <a:ext uri="{9D8B030D-6E8A-4147-A177-3AD203B41FA5}">
                      <a16:colId xmlns:a16="http://schemas.microsoft.com/office/drawing/2014/main" val="622012959"/>
                    </a:ext>
                  </a:extLst>
                </a:gridCol>
                <a:gridCol w="434823">
                  <a:extLst>
                    <a:ext uri="{9D8B030D-6E8A-4147-A177-3AD203B41FA5}">
                      <a16:colId xmlns:a16="http://schemas.microsoft.com/office/drawing/2014/main" val="1508796440"/>
                    </a:ext>
                  </a:extLst>
                </a:gridCol>
                <a:gridCol w="434823">
                  <a:extLst>
                    <a:ext uri="{9D8B030D-6E8A-4147-A177-3AD203B41FA5}">
                      <a16:colId xmlns:a16="http://schemas.microsoft.com/office/drawing/2014/main" val="1714278704"/>
                    </a:ext>
                  </a:extLst>
                </a:gridCol>
                <a:gridCol w="434823">
                  <a:extLst>
                    <a:ext uri="{9D8B030D-6E8A-4147-A177-3AD203B41FA5}">
                      <a16:colId xmlns:a16="http://schemas.microsoft.com/office/drawing/2014/main" val="1350400205"/>
                    </a:ext>
                  </a:extLst>
                </a:gridCol>
                <a:gridCol w="434823">
                  <a:extLst>
                    <a:ext uri="{9D8B030D-6E8A-4147-A177-3AD203B41FA5}">
                      <a16:colId xmlns:a16="http://schemas.microsoft.com/office/drawing/2014/main" val="2017494284"/>
                    </a:ext>
                  </a:extLst>
                </a:gridCol>
                <a:gridCol w="434823">
                  <a:extLst>
                    <a:ext uri="{9D8B030D-6E8A-4147-A177-3AD203B41FA5}">
                      <a16:colId xmlns:a16="http://schemas.microsoft.com/office/drawing/2014/main" val="3296180336"/>
                    </a:ext>
                  </a:extLst>
                </a:gridCol>
                <a:gridCol w="434823">
                  <a:extLst>
                    <a:ext uri="{9D8B030D-6E8A-4147-A177-3AD203B41FA5}">
                      <a16:colId xmlns:a16="http://schemas.microsoft.com/office/drawing/2014/main" val="3361456056"/>
                    </a:ext>
                  </a:extLst>
                </a:gridCol>
                <a:gridCol w="434823">
                  <a:extLst>
                    <a:ext uri="{9D8B030D-6E8A-4147-A177-3AD203B41FA5}">
                      <a16:colId xmlns:a16="http://schemas.microsoft.com/office/drawing/2014/main" val="3131891626"/>
                    </a:ext>
                  </a:extLst>
                </a:gridCol>
                <a:gridCol w="548640">
                  <a:extLst>
                    <a:ext uri="{9D8B030D-6E8A-4147-A177-3AD203B41FA5}">
                      <a16:colId xmlns:a16="http://schemas.microsoft.com/office/drawing/2014/main" val="2601643439"/>
                    </a:ext>
                  </a:extLst>
                </a:gridCol>
                <a:gridCol w="521788">
                  <a:extLst>
                    <a:ext uri="{9D8B030D-6E8A-4147-A177-3AD203B41FA5}">
                      <a16:colId xmlns:a16="http://schemas.microsoft.com/office/drawing/2014/main" val="3165801263"/>
                    </a:ext>
                  </a:extLst>
                </a:gridCol>
                <a:gridCol w="521788">
                  <a:extLst>
                    <a:ext uri="{9D8B030D-6E8A-4147-A177-3AD203B41FA5}">
                      <a16:colId xmlns:a16="http://schemas.microsoft.com/office/drawing/2014/main" val="913644262"/>
                    </a:ext>
                  </a:extLst>
                </a:gridCol>
                <a:gridCol w="434823">
                  <a:extLst>
                    <a:ext uri="{9D8B030D-6E8A-4147-A177-3AD203B41FA5}">
                      <a16:colId xmlns:a16="http://schemas.microsoft.com/office/drawing/2014/main" val="1781673758"/>
                    </a:ext>
                  </a:extLst>
                </a:gridCol>
                <a:gridCol w="347859">
                  <a:extLst>
                    <a:ext uri="{9D8B030D-6E8A-4147-A177-3AD203B41FA5}">
                      <a16:colId xmlns:a16="http://schemas.microsoft.com/office/drawing/2014/main" val="973255869"/>
                    </a:ext>
                  </a:extLst>
                </a:gridCol>
                <a:gridCol w="434823">
                  <a:extLst>
                    <a:ext uri="{9D8B030D-6E8A-4147-A177-3AD203B41FA5}">
                      <a16:colId xmlns:a16="http://schemas.microsoft.com/office/drawing/2014/main" val="3529758529"/>
                    </a:ext>
                  </a:extLst>
                </a:gridCol>
                <a:gridCol w="521788">
                  <a:extLst>
                    <a:ext uri="{9D8B030D-6E8A-4147-A177-3AD203B41FA5}">
                      <a16:colId xmlns:a16="http://schemas.microsoft.com/office/drawing/2014/main" val="2018310327"/>
                    </a:ext>
                  </a:extLst>
                </a:gridCol>
                <a:gridCol w="330209">
                  <a:extLst>
                    <a:ext uri="{9D8B030D-6E8A-4147-A177-3AD203B41FA5}">
                      <a16:colId xmlns:a16="http://schemas.microsoft.com/office/drawing/2014/main" val="323064083"/>
                    </a:ext>
                  </a:extLst>
                </a:gridCol>
                <a:gridCol w="165104">
                  <a:extLst>
                    <a:ext uri="{9D8B030D-6E8A-4147-A177-3AD203B41FA5}">
                      <a16:colId xmlns:a16="http://schemas.microsoft.com/office/drawing/2014/main" val="470051971"/>
                    </a:ext>
                  </a:extLst>
                </a:gridCol>
                <a:gridCol w="330209">
                  <a:extLst>
                    <a:ext uri="{9D8B030D-6E8A-4147-A177-3AD203B41FA5}">
                      <a16:colId xmlns:a16="http://schemas.microsoft.com/office/drawing/2014/main" val="767653357"/>
                    </a:ext>
                  </a:extLst>
                </a:gridCol>
                <a:gridCol w="412761">
                  <a:extLst>
                    <a:ext uri="{9D8B030D-6E8A-4147-A177-3AD203B41FA5}">
                      <a16:colId xmlns:a16="http://schemas.microsoft.com/office/drawing/2014/main" val="2451576078"/>
                    </a:ext>
                  </a:extLst>
                </a:gridCol>
                <a:gridCol w="347859">
                  <a:extLst>
                    <a:ext uri="{9D8B030D-6E8A-4147-A177-3AD203B41FA5}">
                      <a16:colId xmlns:a16="http://schemas.microsoft.com/office/drawing/2014/main" val="3204437892"/>
                    </a:ext>
                  </a:extLst>
                </a:gridCol>
              </a:tblGrid>
              <a:tr h="147882">
                <a:tc>
                  <a:txBody>
                    <a:bodyPr/>
                    <a:lstStyle/>
                    <a:p>
                      <a:pPr algn="l" fontAlgn="b"/>
                      <a:r>
                        <a:rPr lang="en-US" sz="900" b="1" i="1" u="none" strike="noStrike" dirty="0">
                          <a:solidFill>
                            <a:srgbClr val="FFFFFF"/>
                          </a:solidFill>
                          <a:effectLst/>
                          <a:latin typeface="Calibri" panose="020F0502020204030204" pitchFamily="34" charset="0"/>
                        </a:rPr>
                        <a:t>($MMs)</a:t>
                      </a:r>
                    </a:p>
                  </a:txBody>
                  <a:tcPr marL="0" marR="0" marT="9144" marB="9144" anchor="b">
                    <a:lnL>
                      <a:noFill/>
                    </a:lnL>
                    <a:lnR>
                      <a:noFill/>
                    </a:lnR>
                    <a:lnT w="6350" cap="flat" cmpd="sng" algn="ctr">
                      <a:solidFill>
                        <a:srgbClr val="000000"/>
                      </a:solidFill>
                      <a:prstDash val="solid"/>
                      <a:round/>
                      <a:headEnd type="none" w="med" len="med"/>
                      <a:tailEnd type="none" w="med" len="med"/>
                    </a:lnT>
                    <a:lnB>
                      <a:noFill/>
                    </a:lnB>
                    <a:solidFill>
                      <a:srgbClr val="006EBE"/>
                    </a:solidFill>
                  </a:tcPr>
                </a:tc>
                <a:tc>
                  <a:txBody>
                    <a:bodyPr/>
                    <a:lstStyle/>
                    <a:p>
                      <a:pPr algn="l" fontAlgn="b"/>
                      <a:r>
                        <a:rPr lang="en-US" sz="900" b="0" i="0" u="none" strike="noStrike">
                          <a:solidFill>
                            <a:srgbClr val="000000"/>
                          </a:solidFill>
                          <a:effectLst/>
                          <a:latin typeface="Calibri" panose="020F0502020204030204" pitchFamily="34" charset="0"/>
                        </a:rPr>
                        <a:t> </a:t>
                      </a:r>
                    </a:p>
                  </a:txBody>
                  <a:tcPr marL="0" marR="0" marT="9144" marB="9144" anchor="b">
                    <a:lnL>
                      <a:noFill/>
                    </a:lnL>
                    <a:lnR>
                      <a:noFill/>
                    </a:lnR>
                    <a:lnT w="6350" cap="flat" cmpd="sng" algn="ctr">
                      <a:solidFill>
                        <a:srgbClr val="000000"/>
                      </a:solidFill>
                      <a:prstDash val="solid"/>
                      <a:round/>
                      <a:headEnd type="none" w="med" len="med"/>
                      <a:tailEnd type="none" w="med" len="med"/>
                    </a:lnT>
                    <a:lnB>
                      <a:noFill/>
                    </a:lnB>
                    <a:solidFill>
                      <a:srgbClr val="006EBE"/>
                    </a:solidFill>
                  </a:tcPr>
                </a:tc>
                <a:tc>
                  <a:txBody>
                    <a:bodyPr/>
                    <a:lstStyle/>
                    <a:p>
                      <a:pPr algn="l" fontAlgn="b"/>
                      <a:r>
                        <a:rPr lang="en-US" sz="900" b="0" i="0" u="none" strike="noStrike">
                          <a:solidFill>
                            <a:srgbClr val="000000"/>
                          </a:solidFill>
                          <a:effectLst/>
                          <a:latin typeface="Calibri" panose="020F0502020204030204" pitchFamily="34" charset="0"/>
                        </a:rPr>
                        <a:t> </a:t>
                      </a:r>
                    </a:p>
                  </a:txBody>
                  <a:tcPr marL="0" marR="0" marT="9144" marB="9144" anchor="b">
                    <a:lnL>
                      <a:noFill/>
                    </a:lnL>
                    <a:lnR>
                      <a:noFill/>
                    </a:lnR>
                    <a:lnT w="6350" cap="flat" cmpd="sng" algn="ctr">
                      <a:solidFill>
                        <a:srgbClr val="000000"/>
                      </a:solidFill>
                      <a:prstDash val="solid"/>
                      <a:round/>
                      <a:headEnd type="none" w="med" len="med"/>
                      <a:tailEnd type="none" w="med" len="med"/>
                    </a:lnT>
                    <a:lnB>
                      <a:noFill/>
                    </a:lnB>
                    <a:solidFill>
                      <a:srgbClr val="006EBE"/>
                    </a:solidFill>
                  </a:tcPr>
                </a:tc>
                <a:tc rowSpan="3">
                  <a:txBody>
                    <a:bodyPr/>
                    <a:lstStyle/>
                    <a:p>
                      <a:pPr algn="ctr" rtl="0" fontAlgn="b"/>
                      <a:r>
                        <a:rPr lang="en-US" sz="900" b="1" i="0" u="none" strike="noStrike">
                          <a:solidFill>
                            <a:srgbClr val="FFFFFF"/>
                          </a:solidFill>
                          <a:effectLst/>
                          <a:latin typeface="Calibri" panose="020F0502020204030204" pitchFamily="34" charset="0"/>
                        </a:rPr>
                        <a:t>FYE Rev.</a:t>
                      </a:r>
                    </a:p>
                    <a:p>
                      <a:pPr algn="ctr" rtl="0" fontAlgn="b"/>
                      <a:r>
                        <a:rPr lang="en-US" sz="900" b="1" i="0" u="none" strike="noStrike">
                          <a:solidFill>
                            <a:srgbClr val="FFFFFF"/>
                          </a:solidFill>
                          <a:effectLst/>
                          <a:latin typeface="Calibri" panose="020F0502020204030204" pitchFamily="34" charset="0"/>
                        </a:rPr>
                        <a:t>3-Yr CAGR</a:t>
                      </a:r>
                    </a:p>
                  </a:txBody>
                  <a:tcPr marL="0" marR="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rowSpan="3">
                  <a:txBody>
                    <a:bodyPr/>
                    <a:lstStyle/>
                    <a:p>
                      <a:pPr algn="ctr" fontAlgn="b"/>
                      <a:r>
                        <a:rPr lang="en-US" sz="900" b="1" i="0" u="none" strike="noStrike">
                          <a:solidFill>
                            <a:srgbClr val="FFFFFF"/>
                          </a:solidFill>
                          <a:effectLst/>
                          <a:latin typeface="Calibri" panose="020F0502020204030204" pitchFamily="34" charset="0"/>
                        </a:rPr>
                        <a:t>TSR as of 3/1/26</a:t>
                      </a:r>
                    </a:p>
                    <a:p>
                      <a:pPr algn="ctr" fontAlgn="b"/>
                      <a:r>
                        <a:rPr lang="en-US" sz="900" b="1" i="0" u="none" strike="noStrike">
                          <a:solidFill>
                            <a:srgbClr val="FFFFFF"/>
                          </a:solidFill>
                          <a:effectLst/>
                          <a:latin typeface="Calibri" panose="020F0502020204030204" pitchFamily="34" charset="0"/>
                        </a:rPr>
                        <a:t>3-Yr CAGR</a:t>
                      </a:r>
                    </a:p>
                  </a:txBody>
                  <a:tcPr marL="0" marR="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rowSpan="3">
                  <a:txBody>
                    <a:bodyPr/>
                    <a:lstStyle/>
                    <a:p>
                      <a:pPr algn="ctr" rtl="0" fontAlgn="b"/>
                      <a:r>
                        <a:rPr lang="en-US" sz="900" b="1" i="0" u="none" strike="noStrike">
                          <a:solidFill>
                            <a:srgbClr val="FFFFFF"/>
                          </a:solidFill>
                          <a:effectLst/>
                          <a:latin typeface="Calibri" panose="020F0502020204030204" pitchFamily="34" charset="0"/>
                        </a:rPr>
                        <a:t>Market Cap as of 3/1/26</a:t>
                      </a:r>
                    </a:p>
                  </a:txBody>
                  <a:tcPr marL="0" marR="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rowSpan="3">
                  <a:txBody>
                    <a:bodyPr/>
                    <a:lstStyle/>
                    <a:p>
                      <a:pPr marL="0" marR="0" lvl="0" indent="0" algn="ctr" defTabSz="914378" rtl="0" eaLnBrk="1" fontAlgn="b" latinLnBrk="0" hangingPunct="1">
                        <a:lnSpc>
                          <a:spcPct val="100000"/>
                        </a:lnSpc>
                        <a:spcBef>
                          <a:spcPts val="0"/>
                        </a:spcBef>
                        <a:spcAft>
                          <a:spcPts val="0"/>
                        </a:spcAft>
                        <a:buClrTx/>
                        <a:buSzTx/>
                        <a:buFontTx/>
                        <a:buNone/>
                        <a:tabLst/>
                        <a:defRPr/>
                      </a:pPr>
                      <a:r>
                        <a:rPr lang="en-US" sz="900" b="1" i="0" u="none" strike="noStrike">
                          <a:solidFill>
                            <a:srgbClr val="FFFFFF"/>
                          </a:solidFill>
                          <a:effectLst/>
                          <a:latin typeface="Calibri" panose="020F0502020204030204" pitchFamily="34" charset="0"/>
                        </a:rPr>
                        <a:t>Market Cap to Revenue</a:t>
                      </a:r>
                    </a:p>
                  </a:txBody>
                  <a:tcPr marL="0" marR="0" marT="9144" marB="9144" anchor="b">
                    <a:lnL>
                      <a:noFill/>
                    </a:lnL>
                    <a:lnR>
                      <a:noFill/>
                    </a:lnR>
                    <a:lnT w="6350" cap="flat" cmpd="sng" algn="ctr">
                      <a:solidFill>
                        <a:srgbClr val="000000"/>
                      </a:solidFill>
                      <a:prstDash val="solid"/>
                      <a:round/>
                      <a:headEnd type="none" w="med" len="med"/>
                      <a:tailEnd type="none" w="med" len="med"/>
                    </a:lnT>
                    <a:solidFill>
                      <a:srgbClr val="006EBE"/>
                    </a:solidFill>
                  </a:tcPr>
                </a:tc>
                <a:tc gridSpan="12">
                  <a:txBody>
                    <a:bodyPr/>
                    <a:lstStyle/>
                    <a:p>
                      <a:pPr algn="ctr" fontAlgn="b"/>
                      <a:r>
                        <a:rPr lang="en-US" sz="900" b="1" i="0" u="none" strike="noStrike">
                          <a:solidFill>
                            <a:srgbClr val="FFFFFF"/>
                          </a:solidFill>
                          <a:effectLst/>
                          <a:latin typeface="Calibri" panose="020F0502020204030204" pitchFamily="34" charset="0"/>
                        </a:rPr>
                        <a:t>Business Model Criteria</a:t>
                      </a:r>
                    </a:p>
                  </a:txBody>
                  <a:tcPr marL="0" marR="0" marT="9144" marB="9144" anchor="b">
                    <a:lnL>
                      <a:noFill/>
                    </a:lnL>
                    <a:lnR>
                      <a:noFill/>
                    </a:lnR>
                    <a:lnT w="6350" cap="flat" cmpd="sng" algn="ctr">
                      <a:solidFill>
                        <a:srgbClr val="000000"/>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006EBE"/>
                    </a:solidFill>
                  </a:tcPr>
                </a:tc>
                <a:tc hMerge="1">
                  <a:txBody>
                    <a:bodyPr/>
                    <a:lstStyle/>
                    <a:p>
                      <a:endParaRPr lang="en-US"/>
                    </a:p>
                  </a:txBody>
                  <a:tcPr/>
                </a:tc>
                <a:tc hMerge="1">
                  <a:txBody>
                    <a:bodyPr/>
                    <a:lstStyle/>
                    <a:p>
                      <a:endParaRPr lang="en-US"/>
                    </a:p>
                  </a:txBody>
                  <a:tcPr>
                    <a:lnL w="12700" cmpd="sng">
                      <a:noFill/>
                      <a:prstDash val="solid"/>
                    </a:ln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rowSpan="3">
                  <a:txBody>
                    <a:bodyPr/>
                    <a:lstStyle/>
                    <a:p>
                      <a:pPr algn="ctr" rtl="0" fontAlgn="b"/>
                      <a:r>
                        <a:rPr lang="en-US" sz="900" b="1" i="0" u="none" strike="noStrike">
                          <a:solidFill>
                            <a:srgbClr val="FFFFFF"/>
                          </a:solidFill>
                          <a:effectLst/>
                          <a:latin typeface="Calibri" panose="020F0502020204030204" pitchFamily="34" charset="0"/>
                        </a:rPr>
                        <a:t>Bus. Model Count</a:t>
                      </a:r>
                    </a:p>
                  </a:txBody>
                  <a:tcPr marL="0" marR="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4069540251"/>
                  </a:ext>
                </a:extLst>
              </a:tr>
              <a:tr h="147882">
                <a:tc>
                  <a:txBody>
                    <a:bodyPr/>
                    <a:lstStyle/>
                    <a:p>
                      <a:pPr algn="l" rtl="0" fontAlgn="t"/>
                      <a:r>
                        <a:rPr lang="en-US" sz="900" b="1" i="0" u="none" strike="noStrike">
                          <a:solidFill>
                            <a:srgbClr val="FFFFFF"/>
                          </a:solidFill>
                          <a:effectLst/>
                          <a:latin typeface="Calibri" panose="020F0502020204030204" pitchFamily="34" charset="0"/>
                        </a:rPr>
                        <a:t> </a:t>
                      </a:r>
                    </a:p>
                  </a:txBody>
                  <a:tcPr marL="0" marR="0" marT="9144" marB="9144">
                    <a:lnL>
                      <a:noFill/>
                    </a:lnL>
                    <a:lnR>
                      <a:noFill/>
                    </a:lnR>
                    <a:lnT>
                      <a:noFill/>
                    </a:lnT>
                    <a:lnB>
                      <a:noFill/>
                    </a:lnB>
                    <a:solidFill>
                      <a:srgbClr val="006EBE"/>
                    </a:solidFill>
                  </a:tcPr>
                </a:tc>
                <a:tc>
                  <a:txBody>
                    <a:bodyPr/>
                    <a:lstStyle/>
                    <a:p>
                      <a:pPr algn="l" rtl="0" fontAlgn="t"/>
                      <a:r>
                        <a:rPr lang="en-US" sz="900" b="1" i="0" u="none" strike="noStrike">
                          <a:solidFill>
                            <a:srgbClr val="FFFFFF"/>
                          </a:solidFill>
                          <a:effectLst/>
                          <a:latin typeface="Calibri" panose="020F0502020204030204" pitchFamily="34" charset="0"/>
                        </a:rPr>
                        <a:t> </a:t>
                      </a:r>
                    </a:p>
                  </a:txBody>
                  <a:tcPr marL="0" marR="0" marT="9144" marB="9144">
                    <a:lnL>
                      <a:noFill/>
                    </a:lnL>
                    <a:lnR>
                      <a:noFill/>
                    </a:lnR>
                    <a:lnT>
                      <a:noFill/>
                    </a:lnT>
                    <a:lnB>
                      <a:noFill/>
                    </a:lnB>
                    <a:solidFill>
                      <a:srgbClr val="006EBE"/>
                    </a:solidFill>
                  </a:tcPr>
                </a:tc>
                <a:tc rowSpan="2">
                  <a:txBody>
                    <a:bodyPr/>
                    <a:lstStyle/>
                    <a:p>
                      <a:pPr algn="ctr" rtl="0" fontAlgn="b"/>
                      <a:r>
                        <a:rPr lang="en-US" sz="900" b="1" i="0" u="none" strike="noStrike">
                          <a:solidFill>
                            <a:srgbClr val="FFFFFF"/>
                          </a:solidFill>
                          <a:effectLst/>
                          <a:latin typeface="Calibri" panose="020F0502020204030204" pitchFamily="34" charset="0"/>
                        </a:rPr>
                        <a:t>FYE </a:t>
                      </a:r>
                    </a:p>
                    <a:p>
                      <a:pPr algn="ctr" rtl="0" fontAlgn="b"/>
                      <a:r>
                        <a:rPr lang="en-US" sz="900" b="1" i="0" u="none" strike="noStrike">
                          <a:solidFill>
                            <a:srgbClr val="FFFFFF"/>
                          </a:solidFill>
                          <a:effectLst/>
                          <a:latin typeface="Calibri" panose="020F0502020204030204" pitchFamily="34" charset="0"/>
                        </a:rPr>
                        <a:t>Rev.</a:t>
                      </a:r>
                    </a:p>
                  </a:txBody>
                  <a:tcPr marL="0" marR="0" marT="9144" marB="9144" anchor="b">
                    <a:lnL>
                      <a:noFill/>
                    </a:lnL>
                    <a:lnR>
                      <a:noFill/>
                    </a:lnR>
                    <a:lnT>
                      <a:noFill/>
                    </a:lnT>
                    <a:lnB w="6350" cap="flat" cmpd="sng" algn="ctr">
                      <a:solidFill>
                        <a:srgbClr val="000000"/>
                      </a:solidFill>
                      <a:prstDash val="solid"/>
                      <a:round/>
                      <a:headEnd type="none" w="med" len="med"/>
                      <a:tailEnd type="none" w="med" len="med"/>
                    </a:lnB>
                    <a:solidFill>
                      <a:srgbClr val="006EBE"/>
                    </a:solidFill>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pPr algn="ctr" rtl="0" fontAlgn="b"/>
                      <a:endParaRPr lang="en-US" sz="900" b="1" i="0" u="none" strike="noStrike">
                        <a:solidFill>
                          <a:srgbClr val="FFFFFF"/>
                        </a:solidFill>
                        <a:effectLst/>
                        <a:latin typeface="Calibri" panose="020F0502020204030204" pitchFamily="34" charset="0"/>
                      </a:endParaRPr>
                    </a:p>
                  </a:txBody>
                  <a:tcPr marL="0" marR="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rowSpan="2">
                  <a:txBody>
                    <a:bodyPr/>
                    <a:lstStyle/>
                    <a:p>
                      <a:pPr algn="ctr" rtl="0" fontAlgn="b"/>
                      <a:r>
                        <a:rPr lang="en-US" sz="900" b="1" i="0" u="none" strike="noStrike">
                          <a:solidFill>
                            <a:srgbClr val="FFFFFF"/>
                          </a:solidFill>
                          <a:effectLst/>
                          <a:latin typeface="Calibri" panose="020F0502020204030204" pitchFamily="34" charset="0"/>
                        </a:rPr>
                        <a:t>Majority Direct Sales</a:t>
                      </a:r>
                    </a:p>
                  </a:txBody>
                  <a:tcPr marL="0" marR="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rowSpan="2">
                  <a:txBody>
                    <a:bodyPr/>
                    <a:lstStyle/>
                    <a:p>
                      <a:pPr algn="ctr" rtl="0" fontAlgn="b"/>
                      <a:r>
                        <a:rPr lang="en-US" sz="900" b="1" i="0" u="none" strike="noStrike">
                          <a:solidFill>
                            <a:srgbClr val="FFFFFF"/>
                          </a:solidFill>
                          <a:effectLst/>
                          <a:latin typeface="Calibri" panose="020F0502020204030204" pitchFamily="34" charset="0"/>
                        </a:rPr>
                        <a:t>Proprietary Product</a:t>
                      </a:r>
                    </a:p>
                  </a:txBody>
                  <a:tcPr marL="0" marR="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rowSpan="2">
                  <a:txBody>
                    <a:bodyPr/>
                    <a:lstStyle/>
                    <a:p>
                      <a:pPr algn="ctr" rtl="0" fontAlgn="b"/>
                      <a:r>
                        <a:rPr lang="en-US" sz="900" b="1" i="0" u="none" strike="noStrike">
                          <a:solidFill>
                            <a:srgbClr val="FFFFFF"/>
                          </a:solidFill>
                          <a:effectLst/>
                          <a:latin typeface="Calibri" panose="020F0502020204030204" pitchFamily="34" charset="0"/>
                        </a:rPr>
                        <a:t>Integrated Platforms</a:t>
                      </a:r>
                    </a:p>
                  </a:txBody>
                  <a:tcPr marL="0" marR="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rowSpan="2">
                  <a:txBody>
                    <a:bodyPr/>
                    <a:lstStyle/>
                    <a:p>
                      <a:pPr algn="ctr" rtl="0" fontAlgn="b"/>
                      <a:r>
                        <a:rPr lang="en-US" sz="900" b="1" i="0" u="none" strike="noStrike">
                          <a:solidFill>
                            <a:srgbClr val="FFFFFF"/>
                          </a:solidFill>
                          <a:effectLst/>
                          <a:latin typeface="Calibri" panose="020F0502020204030204" pitchFamily="34" charset="0"/>
                        </a:rPr>
                        <a:t>Diagnostic </a:t>
                      </a:r>
                    </a:p>
                    <a:p>
                      <a:pPr algn="ctr" rtl="0" fontAlgn="b"/>
                      <a:r>
                        <a:rPr lang="en-US" sz="900" b="1" i="0" u="none" strike="noStrike">
                          <a:solidFill>
                            <a:srgbClr val="FFFFFF"/>
                          </a:solidFill>
                          <a:effectLst/>
                          <a:latin typeface="Calibri" panose="020F0502020204030204" pitchFamily="34" charset="0"/>
                        </a:rPr>
                        <a:t>Support </a:t>
                      </a:r>
                    </a:p>
                    <a:p>
                      <a:pPr algn="ctr" rtl="0" fontAlgn="b"/>
                      <a:r>
                        <a:rPr lang="en-US" sz="900" b="1" i="0" u="none" strike="noStrike">
                          <a:solidFill>
                            <a:srgbClr val="FFFFFF"/>
                          </a:solidFill>
                          <a:effectLst/>
                          <a:latin typeface="Calibri" panose="020F0502020204030204" pitchFamily="34" charset="0"/>
                        </a:rPr>
                        <a:t>&amp; Service</a:t>
                      </a:r>
                    </a:p>
                  </a:txBody>
                  <a:tcPr marL="0" marR="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rtl="0" fontAlgn="b"/>
                      <a:r>
                        <a:rPr lang="en-US" sz="900" b="1" i="0" u="none" strike="noStrike">
                          <a:solidFill>
                            <a:srgbClr val="FFFFFF"/>
                          </a:solidFill>
                          <a:effectLst/>
                          <a:latin typeface="Calibri" panose="020F0502020204030204" pitchFamily="34" charset="0"/>
                        </a:rPr>
                        <a:t> </a:t>
                      </a:r>
                    </a:p>
                  </a:txBody>
                  <a:tcPr marL="0" marR="0" marT="9144" marB="9144" anchor="b">
                    <a:lnL>
                      <a:noFill/>
                    </a:lnL>
                    <a:lnR>
                      <a:noFill/>
                    </a:lnR>
                    <a:lnT w="6350" cap="flat" cmpd="sng" algn="ctr">
                      <a:solidFill>
                        <a:schemeClr val="bg1"/>
                      </a:solidFill>
                      <a:prstDash val="solid"/>
                      <a:round/>
                      <a:headEnd type="none" w="med" len="med"/>
                      <a:tailEnd type="none" w="med" len="med"/>
                    </a:lnT>
                    <a:lnB>
                      <a:noFill/>
                    </a:lnB>
                    <a:solidFill>
                      <a:srgbClr val="006EBE"/>
                    </a:solidFill>
                  </a:tcPr>
                </a:tc>
                <a:tc>
                  <a:txBody>
                    <a:bodyPr/>
                    <a:lstStyle/>
                    <a:p>
                      <a:pPr algn="ctr" rtl="0" fontAlgn="b"/>
                      <a:endParaRPr lang="en-US" sz="900" b="1" i="0" u="none" strike="noStrike">
                        <a:solidFill>
                          <a:srgbClr val="FFFFFF"/>
                        </a:solidFill>
                        <a:effectLst/>
                        <a:latin typeface="Calibri" panose="020F0502020204030204" pitchFamily="34" charset="0"/>
                      </a:endParaRPr>
                    </a:p>
                  </a:txBody>
                  <a:tcPr marL="0" marR="0" marT="9144" marB="9144" anchor="b">
                    <a:lnL>
                      <a:noFill/>
                    </a:lnL>
                    <a:lnR>
                      <a:noFill/>
                    </a:lnR>
                    <a:lnT w="6350" cap="flat" cmpd="sng" algn="ctr">
                      <a:solidFill>
                        <a:schemeClr val="bg1"/>
                      </a:solidFill>
                      <a:prstDash val="solid"/>
                      <a:round/>
                      <a:headEnd type="none" w="med" len="med"/>
                      <a:tailEnd type="none" w="med" len="med"/>
                    </a:lnT>
                    <a:lnB>
                      <a:noFill/>
                    </a:lnB>
                    <a:solidFill>
                      <a:srgbClr val="006EBE"/>
                    </a:solidFill>
                  </a:tcPr>
                </a:tc>
                <a:tc>
                  <a:txBody>
                    <a:bodyPr/>
                    <a:lstStyle/>
                    <a:p>
                      <a:pPr algn="ctr" rtl="0" fontAlgn="b"/>
                      <a:r>
                        <a:rPr lang="en-US" sz="900" b="1" i="0" u="none" strike="noStrike">
                          <a:solidFill>
                            <a:srgbClr val="FFFFFF"/>
                          </a:solidFill>
                          <a:effectLst/>
                          <a:latin typeface="Calibri" panose="020F0502020204030204" pitchFamily="34" charset="0"/>
                        </a:rPr>
                        <a:t> </a:t>
                      </a:r>
                    </a:p>
                  </a:txBody>
                  <a:tcPr marL="0" marR="0" marT="9144" marB="9144" anchor="b">
                    <a:lnL>
                      <a:noFill/>
                    </a:lnL>
                    <a:lnR>
                      <a:noFill/>
                    </a:lnR>
                    <a:lnT w="6350" cap="flat" cmpd="sng" algn="ctr">
                      <a:solidFill>
                        <a:schemeClr val="bg1"/>
                      </a:solidFill>
                      <a:prstDash val="solid"/>
                      <a:round/>
                      <a:headEnd type="none" w="med" len="med"/>
                      <a:tailEnd type="none" w="med" len="med"/>
                    </a:lnT>
                    <a:lnB>
                      <a:noFill/>
                    </a:lnB>
                    <a:solidFill>
                      <a:srgbClr val="006EBE"/>
                    </a:solidFill>
                  </a:tcPr>
                </a:tc>
                <a:tc>
                  <a:txBody>
                    <a:bodyPr/>
                    <a:lstStyle/>
                    <a:p>
                      <a:pPr algn="ctr" rtl="0" fontAlgn="b"/>
                      <a:r>
                        <a:rPr lang="en-US" sz="900" b="1" i="0" u="none" strike="noStrike">
                          <a:solidFill>
                            <a:srgbClr val="FFFFFF"/>
                          </a:solidFill>
                          <a:effectLst/>
                          <a:latin typeface="Calibri" panose="020F0502020204030204" pitchFamily="34" charset="0"/>
                        </a:rPr>
                        <a:t> </a:t>
                      </a:r>
                    </a:p>
                  </a:txBody>
                  <a:tcPr marL="0" marR="0" marT="9144" marB="9144" anchor="b">
                    <a:lnL>
                      <a:noFill/>
                    </a:lnL>
                    <a:lnR>
                      <a:noFill/>
                    </a:lnR>
                    <a:lnT w="6350" cap="flat" cmpd="sng" algn="ctr">
                      <a:solidFill>
                        <a:schemeClr val="bg1"/>
                      </a:solidFill>
                      <a:prstDash val="solid"/>
                      <a:round/>
                      <a:headEnd type="none" w="med" len="med"/>
                      <a:tailEnd type="none" w="med" len="med"/>
                    </a:lnT>
                    <a:lnB>
                      <a:noFill/>
                    </a:lnB>
                    <a:solidFill>
                      <a:srgbClr val="006EBE"/>
                    </a:solidFill>
                  </a:tcPr>
                </a:tc>
                <a:tc gridSpan="3">
                  <a:txBody>
                    <a:bodyPr/>
                    <a:lstStyle/>
                    <a:p>
                      <a:pPr algn="ctr" rtl="0" fontAlgn="b"/>
                      <a:r>
                        <a:rPr lang="en-US" sz="900" b="1" i="0" u="none" strike="noStrike">
                          <a:solidFill>
                            <a:srgbClr val="FFFFFF"/>
                          </a:solidFill>
                          <a:effectLst/>
                          <a:latin typeface="Calibri" panose="020F0502020204030204" pitchFamily="34" charset="0"/>
                        </a:rPr>
                        <a:t>Int'l Presence</a:t>
                      </a:r>
                    </a:p>
                  </a:txBody>
                  <a:tcPr marL="0" marR="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6EBE"/>
                    </a:solidFill>
                  </a:tcPr>
                </a:tc>
                <a:tc hMerge="1">
                  <a:txBody>
                    <a:bodyPr/>
                    <a:lstStyle/>
                    <a:p>
                      <a:endParaRPr lang="en-US"/>
                    </a:p>
                  </a:txBody>
                  <a:tcPr/>
                </a:tc>
                <a:tc hMerge="1">
                  <a:txBody>
                    <a:bodyPr/>
                    <a:lstStyle/>
                    <a:p>
                      <a:endParaRPr lang="en-US"/>
                    </a:p>
                  </a:txBody>
                  <a:tcPr/>
                </a:tc>
                <a:tc rowSpan="2">
                  <a:txBody>
                    <a:bodyPr/>
                    <a:lstStyle/>
                    <a:p>
                      <a:pPr algn="ctr" rtl="0" fontAlgn="b"/>
                      <a:r>
                        <a:rPr lang="en-US" sz="900" b="1" i="0" u="none" strike="noStrike">
                          <a:solidFill>
                            <a:srgbClr val="FFFFFF"/>
                          </a:solidFill>
                          <a:effectLst/>
                          <a:latin typeface="Calibri" panose="020F0502020204030204" pitchFamily="34" charset="0"/>
                        </a:rPr>
                        <a:t>Animal Health Related</a:t>
                      </a:r>
                    </a:p>
                  </a:txBody>
                  <a:tcPr marL="0" marR="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vMerge="1">
                  <a:txBody>
                    <a:bodyPr/>
                    <a:lstStyle/>
                    <a:p>
                      <a:endParaRPr lang="en-US"/>
                    </a:p>
                  </a:txBody>
                  <a:tcPr/>
                </a:tc>
                <a:extLst>
                  <a:ext uri="{0D108BD9-81ED-4DB2-BD59-A6C34878D82A}">
                    <a16:rowId xmlns:a16="http://schemas.microsoft.com/office/drawing/2014/main" val="1049663808"/>
                  </a:ext>
                </a:extLst>
              </a:tr>
              <a:tr h="408850">
                <a:tc>
                  <a:txBody>
                    <a:bodyPr/>
                    <a:lstStyle/>
                    <a:p>
                      <a:pPr algn="ctr" rtl="0" fontAlgn="b"/>
                      <a:r>
                        <a:rPr lang="en-US" sz="900" b="1" i="0" u="none" strike="noStrike">
                          <a:solidFill>
                            <a:srgbClr val="FFFFFF"/>
                          </a:solidFill>
                          <a:effectLst/>
                          <a:latin typeface="Calibri" panose="020F0502020204030204" pitchFamily="34" charset="0"/>
                        </a:rPr>
                        <a:t>Company Name</a:t>
                      </a:r>
                    </a:p>
                  </a:txBody>
                  <a:tcPr marL="0" marR="0" marT="9144" marB="9144" anchor="b">
                    <a:lnL>
                      <a:noFill/>
                    </a:lnL>
                    <a:lnR>
                      <a:noFill/>
                    </a:lnR>
                    <a:lnT>
                      <a:noFill/>
                    </a:lnT>
                    <a:lnB w="6350" cap="flat" cmpd="sng" algn="ctr">
                      <a:solidFill>
                        <a:srgbClr val="000000"/>
                      </a:solidFill>
                      <a:prstDash val="solid"/>
                      <a:round/>
                      <a:headEnd type="none" w="med" len="med"/>
                      <a:tailEnd type="none" w="med" len="med"/>
                    </a:lnB>
                    <a:solidFill>
                      <a:srgbClr val="006EBE"/>
                    </a:solidFill>
                  </a:tcPr>
                </a:tc>
                <a:tc>
                  <a:txBody>
                    <a:bodyPr/>
                    <a:lstStyle/>
                    <a:p>
                      <a:pPr algn="ctr" rtl="0" fontAlgn="b"/>
                      <a:r>
                        <a:rPr lang="en-US" sz="900" b="1" i="0" u="none" strike="noStrike">
                          <a:solidFill>
                            <a:srgbClr val="FFFFFF"/>
                          </a:solidFill>
                          <a:effectLst/>
                          <a:latin typeface="Calibri" panose="020F0502020204030204" pitchFamily="34" charset="0"/>
                        </a:rPr>
                        <a:t>Primary </a:t>
                      </a:r>
                    </a:p>
                    <a:p>
                      <a:pPr algn="ctr" rtl="0" fontAlgn="b"/>
                      <a:r>
                        <a:rPr lang="en-US" sz="900" b="1" i="0" u="none" strike="noStrike">
                          <a:solidFill>
                            <a:srgbClr val="FFFFFF"/>
                          </a:solidFill>
                          <a:effectLst/>
                          <a:latin typeface="Calibri" panose="020F0502020204030204" pitchFamily="34" charset="0"/>
                        </a:rPr>
                        <a:t>Industry</a:t>
                      </a:r>
                    </a:p>
                  </a:txBody>
                  <a:tcPr marL="0" marR="0" marT="9144" marB="9144" anchor="b">
                    <a:lnL>
                      <a:noFill/>
                    </a:lnL>
                    <a:lnR>
                      <a:noFill/>
                    </a:lnR>
                    <a:lnT>
                      <a:noFill/>
                    </a:lnT>
                    <a:lnB w="6350" cap="flat" cmpd="sng" algn="ctr">
                      <a:solidFill>
                        <a:srgbClr val="000000"/>
                      </a:solidFill>
                      <a:prstDash val="solid"/>
                      <a:round/>
                      <a:headEnd type="none" w="med" len="med"/>
                      <a:tailEnd type="none" w="med" len="med"/>
                    </a:lnB>
                    <a:solidFill>
                      <a:srgbClr val="006EBE"/>
                    </a:solidFill>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rtl="0" fontAlgn="b"/>
                      <a:r>
                        <a:rPr lang="en-US" sz="900" b="1" i="0" u="none" strike="noStrike">
                          <a:solidFill>
                            <a:srgbClr val="FFFFFF"/>
                          </a:solidFill>
                          <a:effectLst/>
                          <a:latin typeface="Calibri" panose="020F0502020204030204" pitchFamily="34" charset="0"/>
                        </a:rPr>
                        <a:t>Majority B2B; B2C a Plus</a:t>
                      </a:r>
                    </a:p>
                  </a:txBody>
                  <a:tcPr marL="0" marR="0" marT="9144" marB="9144" anchor="b">
                    <a:lnL>
                      <a:noFill/>
                    </a:lnL>
                    <a:lnR>
                      <a:noFill/>
                    </a:lnR>
                    <a:lnT>
                      <a:noFill/>
                    </a:lnT>
                    <a:lnB w="6350" cap="flat" cmpd="sng" algn="ctr">
                      <a:solidFill>
                        <a:srgbClr val="000000"/>
                      </a:solidFill>
                      <a:prstDash val="solid"/>
                      <a:round/>
                      <a:headEnd type="none" w="med" len="med"/>
                      <a:tailEnd type="none" w="med" len="med"/>
                    </a:lnB>
                    <a:solidFill>
                      <a:srgbClr val="006EBE"/>
                    </a:solidFill>
                  </a:tcPr>
                </a:tc>
                <a:tc>
                  <a:txBody>
                    <a:bodyPr/>
                    <a:lstStyle/>
                    <a:p>
                      <a:pPr algn="ctr" rtl="0" fontAlgn="b"/>
                      <a:r>
                        <a:rPr lang="en-US" sz="900" b="1" i="0" u="none" strike="noStrike">
                          <a:solidFill>
                            <a:srgbClr val="FFFFFF"/>
                          </a:solidFill>
                          <a:effectLst/>
                          <a:latin typeface="Calibri" panose="020F0502020204030204" pitchFamily="34" charset="0"/>
                        </a:rPr>
                        <a:t>R&amp;D</a:t>
                      </a:r>
                    </a:p>
                  </a:txBody>
                  <a:tcPr marL="0" marR="0" marT="9144" marB="9144" anchor="b">
                    <a:lnL>
                      <a:noFill/>
                    </a:lnL>
                    <a:lnR>
                      <a:noFill/>
                    </a:lnR>
                    <a:lnT>
                      <a:noFill/>
                    </a:lnT>
                    <a:lnB w="6350" cap="flat" cmpd="sng" algn="ctr">
                      <a:solidFill>
                        <a:srgbClr val="000000"/>
                      </a:solidFill>
                      <a:prstDash val="solid"/>
                      <a:round/>
                      <a:headEnd type="none" w="med" len="med"/>
                      <a:tailEnd type="none" w="med" len="med"/>
                    </a:lnB>
                    <a:solidFill>
                      <a:srgbClr val="006EBE"/>
                    </a:solidFill>
                  </a:tcPr>
                </a:tc>
                <a:tc>
                  <a:txBody>
                    <a:bodyPr/>
                    <a:lstStyle/>
                    <a:p>
                      <a:pPr algn="ctr" rtl="0" fontAlgn="b"/>
                      <a:r>
                        <a:rPr lang="en-US" sz="900" b="1" i="0" u="none" strike="noStrike">
                          <a:solidFill>
                            <a:srgbClr val="FFFFFF"/>
                          </a:solidFill>
                          <a:effectLst/>
                          <a:latin typeface="Calibri" panose="020F0502020204030204" pitchFamily="34" charset="0"/>
                        </a:rPr>
                        <a:t>Manu-facturer </a:t>
                      </a:r>
                    </a:p>
                  </a:txBody>
                  <a:tcPr marL="0" marR="0" marT="9144" marB="9144" anchor="b">
                    <a:lnL>
                      <a:noFill/>
                    </a:lnL>
                    <a:lnR>
                      <a:noFill/>
                    </a:lnR>
                    <a:lnT>
                      <a:noFill/>
                    </a:lnT>
                    <a:lnB w="6350" cap="flat" cmpd="sng" algn="ctr">
                      <a:solidFill>
                        <a:srgbClr val="000000"/>
                      </a:solidFill>
                      <a:prstDash val="solid"/>
                      <a:round/>
                      <a:headEnd type="none" w="med" len="med"/>
                      <a:tailEnd type="none" w="med" len="med"/>
                    </a:lnB>
                    <a:solidFill>
                      <a:srgbClr val="006EBE"/>
                    </a:solidFill>
                  </a:tcPr>
                </a:tc>
                <a:tc>
                  <a:txBody>
                    <a:bodyPr/>
                    <a:lstStyle/>
                    <a:p>
                      <a:pPr algn="ctr" rtl="0" fontAlgn="b"/>
                      <a:r>
                        <a:rPr lang="en-US" sz="900" b="1" i="0" u="none" strike="noStrike">
                          <a:solidFill>
                            <a:srgbClr val="FFFFFF"/>
                          </a:solidFill>
                          <a:effectLst/>
                          <a:latin typeface="Calibri" panose="020F0502020204030204" pitchFamily="34" charset="0"/>
                        </a:rPr>
                        <a:t>Recurring </a:t>
                      </a:r>
                    </a:p>
                    <a:p>
                      <a:pPr algn="ctr" rtl="0" fontAlgn="b"/>
                      <a:r>
                        <a:rPr lang="en-US" sz="900" b="1" i="0" u="none" strike="noStrike">
                          <a:solidFill>
                            <a:srgbClr val="FFFFFF"/>
                          </a:solidFill>
                          <a:effectLst/>
                          <a:latin typeface="Calibri" panose="020F0502020204030204" pitchFamily="34" charset="0"/>
                        </a:rPr>
                        <a:t>Rev.</a:t>
                      </a:r>
                    </a:p>
                  </a:txBody>
                  <a:tcPr marL="0" marR="0" marT="9144" marB="9144" anchor="b">
                    <a:lnL>
                      <a:noFill/>
                    </a:lnL>
                    <a:lnR>
                      <a:noFill/>
                    </a:lnR>
                    <a:lnT>
                      <a:noFill/>
                    </a:lnT>
                    <a:lnB w="6350" cap="flat" cmpd="sng" algn="ctr">
                      <a:solidFill>
                        <a:srgbClr val="000000"/>
                      </a:solidFill>
                      <a:prstDash val="solid"/>
                      <a:round/>
                      <a:headEnd type="none" w="med" len="med"/>
                      <a:tailEnd type="none" w="med" len="med"/>
                    </a:lnB>
                    <a:solidFill>
                      <a:srgbClr val="006EBE"/>
                    </a:solidFill>
                  </a:tcPr>
                </a:tc>
                <a:tc>
                  <a:txBody>
                    <a:bodyPr/>
                    <a:lstStyle/>
                    <a:p>
                      <a:pPr algn="ctr" rtl="0" fontAlgn="b"/>
                      <a:r>
                        <a:rPr lang="en-US" sz="900" b="1" i="0" u="none" strike="noStrike">
                          <a:solidFill>
                            <a:srgbClr val="FFFFFF"/>
                          </a:solidFill>
                          <a:effectLst/>
                          <a:latin typeface="Calibri" panose="020F0502020204030204" pitchFamily="34" charset="0"/>
                        </a:rPr>
                        <a:t>Int'l % of Rev.</a:t>
                      </a:r>
                    </a:p>
                  </a:txBody>
                  <a:tcPr marL="0" marR="0" marT="9144" marB="9144" anchor="b">
                    <a:lnL>
                      <a:noFill/>
                    </a:lnL>
                    <a:lnR>
                      <a:noFill/>
                    </a:lnR>
                    <a:lnT w="635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rtl="0" fontAlgn="b"/>
                      <a:r>
                        <a:rPr lang="en-US" sz="900" b="1" i="0" u="none" strike="noStrike">
                          <a:solidFill>
                            <a:srgbClr val="000000"/>
                          </a:solidFill>
                          <a:effectLst/>
                          <a:latin typeface="Calibri" panose="020F0502020204030204" pitchFamily="34" charset="0"/>
                        </a:rPr>
                        <a:t> </a:t>
                      </a:r>
                    </a:p>
                  </a:txBody>
                  <a:tcPr marL="0" marR="0" marT="9144" marB="9144" anchor="b">
                    <a:lnL>
                      <a:noFill/>
                    </a:lnL>
                    <a:lnR>
                      <a:noFill/>
                    </a:lnR>
                    <a:lnT w="635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rtl="0" fontAlgn="b"/>
                      <a:r>
                        <a:rPr lang="en-US" sz="900" b="1" i="0" u="none" strike="noStrike">
                          <a:solidFill>
                            <a:srgbClr val="FFFFFF"/>
                          </a:solidFill>
                          <a:effectLst/>
                          <a:latin typeface="Calibri" panose="020F0502020204030204" pitchFamily="34" charset="0"/>
                        </a:rPr>
                        <a:t>Int'l 3-Yr Rev. CAGR</a:t>
                      </a:r>
                    </a:p>
                  </a:txBody>
                  <a:tcPr marL="0" marR="0" marT="9144" marB="9144" anchor="b">
                    <a:lnL>
                      <a:noFill/>
                    </a:lnL>
                    <a:lnR>
                      <a:noFill/>
                    </a:lnR>
                    <a:lnT w="635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633296137"/>
                  </a:ext>
                </a:extLst>
              </a:tr>
              <a:tr h="147882">
                <a:tc>
                  <a:txBody>
                    <a:bodyPr/>
                    <a:lstStyle/>
                    <a:p>
                      <a:pPr algn="l" fontAlgn="b"/>
                      <a:r>
                        <a:rPr lang="en-US" sz="900" b="1" i="1" u="none" strike="noStrike">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l" fontAlgn="b"/>
                      <a:r>
                        <a:rPr lang="en-US" sz="900" b="0" i="0" u="none" strike="noStrike">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l" fontAlgn="b"/>
                      <a:r>
                        <a:rPr lang="en-US" sz="900" b="0" i="0" u="none" strike="noStrike">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l" fontAlgn="b"/>
                      <a:r>
                        <a:rPr lang="en-US" sz="900" b="0" i="0" u="none" strike="noStrike">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l" fontAlgn="b"/>
                      <a:r>
                        <a:rPr lang="en-US" sz="900" b="0" i="0" u="none" strike="noStrike">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l" fontAlgn="b"/>
                      <a:r>
                        <a:rPr lang="en-US" sz="900" b="0" i="0" u="none" strike="noStrike">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l" fontAlgn="b"/>
                      <a:endParaRPr lang="en-US" sz="900" b="0" i="0" u="none" strike="noStrike">
                        <a:effectLst/>
                        <a:latin typeface="Calibri" panose="020F0502020204030204" pitchFamily="34" charset="0"/>
                      </a:endParaRPr>
                    </a:p>
                  </a:txBody>
                  <a:tcPr marL="0" marR="0" marT="9144" marB="9144" anchor="ctr">
                    <a:lnL>
                      <a:noFill/>
                    </a:lnL>
                    <a:lnR>
                      <a:noFill/>
                    </a:lnR>
                    <a:lnB w="6350" cap="flat" cmpd="sng" algn="ctr">
                      <a:solidFill>
                        <a:srgbClr val="000000"/>
                      </a:solidFill>
                      <a:prstDash val="solid"/>
                      <a:round/>
                      <a:headEnd type="none" w="med" len="med"/>
                      <a:tailEnd type="none" w="med" len="med"/>
                    </a:lnB>
                    <a:solidFill>
                      <a:srgbClr val="FFFFDB"/>
                    </a:solidFill>
                  </a:tcPr>
                </a:tc>
                <a:tc>
                  <a:txBody>
                    <a:bodyPr/>
                    <a:lstStyle/>
                    <a:p>
                      <a:pPr algn="l" fontAlgn="b"/>
                      <a:r>
                        <a:rPr lang="en-US" sz="900" b="0" i="0" u="none" strike="noStrike">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l" fontAlgn="b"/>
                      <a:r>
                        <a:rPr lang="en-US" sz="900" b="0" i="0" u="none" strike="noStrike">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l" fontAlgn="b"/>
                      <a:endParaRPr lang="en-US" sz="900" b="0" i="0" u="none" strike="noStrike">
                        <a:effectLst/>
                        <a:latin typeface="Calibri" panose="020F0502020204030204" pitchFamily="34" charset="0"/>
                      </a:endParaRP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l" fontAlgn="b"/>
                      <a:r>
                        <a:rPr lang="en-US" sz="900" b="0" i="0" u="none" strike="noStrike">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l" fontAlgn="b"/>
                      <a:r>
                        <a:rPr lang="en-US" sz="900" b="0" i="0" u="none" strike="noStrike">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r>
                        <a:rPr lang="en-US" sz="900" b="1" i="0" u="sng" strike="noStrike">
                          <a:effectLst/>
                          <a:latin typeface="Calibri" panose="020F0502020204030204" pitchFamily="34" charset="0"/>
                        </a:rPr>
                        <a:t>&gt;</a:t>
                      </a:r>
                      <a:r>
                        <a:rPr lang="en-US" sz="900" b="1" i="0" u="none" strike="noStrike">
                          <a:effectLst/>
                          <a:latin typeface="Calibri" panose="020F0502020204030204" pitchFamily="34" charset="0"/>
                        </a:rPr>
                        <a:t> 5%</a:t>
                      </a:r>
                      <a:endParaRPr lang="en-US" sz="900" b="0" i="0" u="none" strike="noStrike">
                        <a:effectLst/>
                        <a:latin typeface="Calibri" panose="020F0502020204030204" pitchFamily="34" charset="0"/>
                      </a:endParaRP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l" fontAlgn="b"/>
                      <a:r>
                        <a:rPr lang="en-US" sz="900" b="0" i="0" u="none" strike="noStrike">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l" fontAlgn="b"/>
                      <a:r>
                        <a:rPr lang="en-US" sz="900" b="0" i="0" u="none" strike="noStrike">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r>
                        <a:rPr lang="en-US" sz="900" b="1" i="0" u="sng" strike="noStrike">
                          <a:effectLst/>
                          <a:latin typeface="Calibri" panose="020F0502020204030204" pitchFamily="34" charset="0"/>
                        </a:rPr>
                        <a:t>&gt;</a:t>
                      </a:r>
                      <a:r>
                        <a:rPr lang="en-US" sz="900" b="1" i="0" u="none" strike="noStrike">
                          <a:effectLst/>
                          <a:latin typeface="Calibri" panose="020F0502020204030204" pitchFamily="34" charset="0"/>
                        </a:rPr>
                        <a:t> 30%</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r>
                        <a:rPr lang="en-US" sz="900" b="1" i="0" u="none" strike="noStrike">
                          <a:effectLst/>
                          <a:latin typeface="Calibri" panose="020F0502020204030204" pitchFamily="34" charset="0"/>
                        </a:rPr>
                        <a:t>or</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r>
                        <a:rPr lang="en-US" sz="900" b="1" i="0" u="sng" strike="noStrike">
                          <a:effectLst/>
                          <a:latin typeface="Calibri" panose="020F0502020204030204" pitchFamily="34" charset="0"/>
                        </a:rPr>
                        <a:t>&gt;</a:t>
                      </a:r>
                      <a:r>
                        <a:rPr lang="en-US" sz="900" b="1" i="0" u="none" strike="noStrike">
                          <a:effectLst/>
                          <a:latin typeface="Calibri" panose="020F0502020204030204" pitchFamily="34" charset="0"/>
                        </a:rPr>
                        <a:t> 10%</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r>
                        <a:rPr lang="en-US" sz="900" b="1" i="0" u="none" strike="noStrike">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r>
                        <a:rPr lang="en-US" sz="900" b="1" i="0" u="sng" strike="noStrike">
                          <a:effectLst/>
                          <a:latin typeface="Calibri" panose="020F0502020204030204" pitchFamily="34" charset="0"/>
                        </a:rPr>
                        <a:t>&gt;</a:t>
                      </a:r>
                      <a:r>
                        <a:rPr lang="en-US" sz="900" b="1" i="0" u="none" strike="noStrike">
                          <a:effectLst/>
                          <a:latin typeface="Calibri" panose="020F0502020204030204" pitchFamily="34" charset="0"/>
                        </a:rPr>
                        <a:t> 6</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extLst>
                  <a:ext uri="{0D108BD9-81ED-4DB2-BD59-A6C34878D82A}">
                    <a16:rowId xmlns:a16="http://schemas.microsoft.com/office/drawing/2014/main" val="3725892395"/>
                  </a:ext>
                </a:extLst>
              </a:tr>
              <a:tr h="147882">
                <a:tc>
                  <a:txBody>
                    <a:bodyPr/>
                    <a:lstStyle/>
                    <a:p>
                      <a:pPr algn="l" rtl="0" fontAlgn="b">
                        <a:buNone/>
                      </a:pPr>
                      <a:r>
                        <a:rPr lang="en-US" sz="900" b="0" i="0" u="none" strike="noStrike" dirty="0">
                          <a:solidFill>
                            <a:schemeClr val="tx1"/>
                          </a:solidFill>
                          <a:effectLst/>
                          <a:latin typeface="Calibri" panose="020F0502020204030204" pitchFamily="34" charset="0"/>
                        </a:rPr>
                        <a:t>Intuitive</a:t>
                      </a:r>
                    </a:p>
                  </a:txBody>
                  <a:tcPr marL="0" marR="0"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HCE</a:t>
                      </a:r>
                    </a:p>
                  </a:txBody>
                  <a:tcPr marL="0" marR="0"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$10,065 </a:t>
                      </a:r>
                    </a:p>
                  </a:txBody>
                  <a:tcPr marL="0" marR="0"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17%</a:t>
                      </a:r>
                    </a:p>
                  </a:txBody>
                  <a:tcPr marL="0" marR="0"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30%</a:t>
                      </a:r>
                    </a:p>
                  </a:txBody>
                  <a:tcPr marL="0" marR="0"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$178,812 </a:t>
                      </a:r>
                    </a:p>
                  </a:txBody>
                  <a:tcPr marL="0" marR="0"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17.8X</a:t>
                      </a:r>
                    </a:p>
                  </a:txBody>
                  <a:tcPr marL="0" marR="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ctr">
                        <a:buNone/>
                      </a:pPr>
                      <a:r>
                        <a:rPr lang="en-US" sz="900" b="0" i="0" u="none" strike="noStrike">
                          <a:solidFill>
                            <a:srgbClr val="000000"/>
                          </a:solidFill>
                          <a:effectLst/>
                          <a:latin typeface="Calibri" panose="020F0502020204030204" pitchFamily="34" charset="0"/>
                        </a:rPr>
                        <a:t>x</a:t>
                      </a:r>
                    </a:p>
                  </a:txBody>
                  <a:tcPr marL="0" marR="0"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13%</a:t>
                      </a:r>
                    </a:p>
                  </a:txBody>
                  <a:tcPr marL="0" marR="0"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32%</a:t>
                      </a:r>
                    </a:p>
                  </a:txBody>
                  <a:tcPr marL="0" marR="0"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16%</a:t>
                      </a:r>
                    </a:p>
                  </a:txBody>
                  <a:tcPr marL="0" marR="0"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ctr">
                        <a:buNone/>
                      </a:pPr>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w="6350" cap="flat" cmpd="sng" algn="ctr">
                      <a:solidFill>
                        <a:srgbClr val="000000"/>
                      </a:solidFill>
                      <a:prstDash val="solid"/>
                      <a:round/>
                      <a:headEnd type="none" w="med" len="med"/>
                      <a:tailEnd type="none" w="med" len="med"/>
                    </a:lnT>
                    <a:lnB>
                      <a:noFill/>
                    </a:lnB>
                    <a:solidFill>
                      <a:schemeClr val="accent4">
                        <a:lumMod val="20000"/>
                        <a:lumOff val="80000"/>
                      </a:schemeClr>
                    </a:solidFill>
                  </a:tcPr>
                </a:tc>
                <a:tc>
                  <a:txBody>
                    <a:bodyPr/>
                    <a:lstStyle/>
                    <a:p>
                      <a:pPr algn="ctr" rtl="0" fontAlgn="b">
                        <a:buNone/>
                      </a:pPr>
                      <a:r>
                        <a:rPr lang="en-US" sz="900" b="0" i="0" u="none" strike="noStrike">
                          <a:solidFill>
                            <a:schemeClr val="tx1"/>
                          </a:solidFill>
                          <a:effectLst/>
                          <a:latin typeface="Calibri" panose="020F0502020204030204" pitchFamily="34" charset="0"/>
                        </a:rPr>
                        <a:t>9</a:t>
                      </a:r>
                    </a:p>
                  </a:txBody>
                  <a:tcPr marL="0" marR="0" marT="0" marB="0" anchor="b">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942545711"/>
                  </a:ext>
                </a:extLst>
              </a:tr>
              <a:tr h="147882">
                <a:tc>
                  <a:txBody>
                    <a:bodyPr/>
                    <a:lstStyle/>
                    <a:p>
                      <a:pPr algn="l" rtl="0" fontAlgn="b">
                        <a:buNone/>
                      </a:pPr>
                      <a:r>
                        <a:rPr lang="en-US" sz="900" b="0" i="0" u="none" strike="noStrike" dirty="0">
                          <a:solidFill>
                            <a:schemeClr val="tx1"/>
                          </a:solidFill>
                          <a:effectLst/>
                          <a:latin typeface="Calibri" panose="020F0502020204030204" pitchFamily="34" charset="0"/>
                        </a:rPr>
                        <a:t>Zoetis</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P</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$9,467 </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5%</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-7%</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$55,341 </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5.8X</a:t>
                      </a:r>
                    </a:p>
                  </a:txBody>
                  <a:tcPr marL="0" marR="0" marT="0" marB="0" anchor="b">
                    <a:lnL>
                      <a:noFill/>
                    </a:lnL>
                    <a:lnR>
                      <a:noFill/>
                    </a:lnR>
                    <a:lnT>
                      <a:noFill/>
                    </a:lnT>
                    <a:lnB>
                      <a:noFill/>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0" marB="0" anchor="ctr">
                    <a:lnL>
                      <a:noFill/>
                    </a:lnL>
                    <a:lnR>
                      <a:noFill/>
                    </a:lnR>
                    <a:lnT>
                      <a:noFill/>
                    </a:lnT>
                    <a:lnB>
                      <a:noFill/>
                    </a:lnB>
                    <a:solidFill>
                      <a:schemeClr val="bg1">
                        <a:lumMod val="95000"/>
                      </a:schemeClr>
                    </a:solidFill>
                  </a:tcPr>
                </a:tc>
                <a:tc>
                  <a:txBody>
                    <a:bodyPr/>
                    <a:lstStyle/>
                    <a:p>
                      <a:pPr algn="ctr" fontAlgn="ctr">
                        <a:buNone/>
                      </a:pPr>
                      <a:r>
                        <a:rPr lang="en-US" sz="900" b="0" i="0" u="none" strike="noStrike">
                          <a:solidFill>
                            <a:srgbClr val="000000"/>
                          </a:solidFill>
                          <a:effectLst/>
                          <a:latin typeface="Calibri" panose="020F0502020204030204" pitchFamily="34" charset="0"/>
                        </a:rPr>
                        <a:t> </a:t>
                      </a:r>
                    </a:p>
                  </a:txBody>
                  <a:tcPr marL="0" marR="0" marT="0" marB="0" anchor="ctr">
                    <a:lnL>
                      <a:noFill/>
                    </a:lnL>
                    <a:lnR>
                      <a:noFill/>
                    </a:lnR>
                    <a:lnT>
                      <a:noFill/>
                    </a:lnT>
                    <a:lnB>
                      <a:noFill/>
                    </a:lnB>
                    <a:solidFill>
                      <a:schemeClr val="accent4">
                        <a:lumMod val="20000"/>
                        <a:lumOff val="80000"/>
                      </a:schemeClr>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solidFill>
                      <a:schemeClr val="bg1">
                        <a:lumMod val="95000"/>
                      </a:schemeClr>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solidFill>
                      <a:schemeClr val="bg1">
                        <a:lumMod val="95000"/>
                      </a:schemeClr>
                    </a:solidFill>
                  </a:tcPr>
                </a:tc>
                <a:tc>
                  <a:txBody>
                    <a:bodyPr/>
                    <a:lstStyle/>
                    <a:p>
                      <a:pPr algn="ctr" fontAlgn="ctr">
                        <a:buNone/>
                      </a:pPr>
                      <a:r>
                        <a:rPr lang="en-US" sz="900" b="0" i="0" u="none" strike="noStrike">
                          <a:solidFill>
                            <a:schemeClr val="tx1"/>
                          </a:solidFill>
                          <a:effectLst/>
                          <a:latin typeface="Calibri" panose="020F0502020204030204" pitchFamily="34" charset="0"/>
                        </a:rPr>
                        <a:t>7%</a:t>
                      </a:r>
                    </a:p>
                  </a:txBody>
                  <a:tcPr marL="0" marR="0" marT="0" marB="0" anchor="ctr">
                    <a:lnL>
                      <a:noFill/>
                    </a:lnL>
                    <a:lnR>
                      <a:noFill/>
                    </a:lnR>
                    <a:lnT>
                      <a:noFill/>
                    </a:lnT>
                    <a:lnB>
                      <a:noFill/>
                    </a:lnB>
                    <a:solidFill>
                      <a:schemeClr val="bg1">
                        <a:lumMod val="95000"/>
                      </a:schemeClr>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solidFill>
                      <a:schemeClr val="bg1">
                        <a:lumMod val="95000"/>
                      </a:schemeClr>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solidFill>
                      <a:schemeClr val="bg1">
                        <a:lumMod val="95000"/>
                      </a:schemeClr>
                    </a:solidFill>
                  </a:tcPr>
                </a:tc>
                <a:tc>
                  <a:txBody>
                    <a:bodyPr/>
                    <a:lstStyle/>
                    <a:p>
                      <a:pPr algn="ctr" rtl="0" fontAlgn="b">
                        <a:buNone/>
                      </a:pPr>
                      <a:r>
                        <a:rPr lang="en-US" sz="900" b="0" i="0" u="none" strike="noStrike">
                          <a:solidFill>
                            <a:schemeClr val="tx1"/>
                          </a:solidFill>
                          <a:effectLst/>
                          <a:latin typeface="Calibri" panose="020F0502020204030204" pitchFamily="34" charset="0"/>
                        </a:rPr>
                        <a:t>46%</a:t>
                      </a:r>
                    </a:p>
                  </a:txBody>
                  <a:tcPr marL="0" marR="0" marT="9144" marB="9144" anchor="ctr">
                    <a:lnL>
                      <a:noFill/>
                    </a:lnL>
                    <a:lnR>
                      <a:noFill/>
                    </a:lnR>
                    <a:lnT>
                      <a:noFill/>
                    </a:lnT>
                    <a:lnB>
                      <a:noFill/>
                    </a:lnB>
                    <a:solidFill>
                      <a:schemeClr val="bg1">
                        <a:lumMod val="95000"/>
                      </a:schemeClr>
                    </a:solidFill>
                  </a:tcPr>
                </a:tc>
                <a:tc>
                  <a:txBody>
                    <a:bodyPr/>
                    <a:lstStyle/>
                    <a:p>
                      <a:pPr algn="ctr" fontAlgn="b"/>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a:noFill/>
                    </a:lnB>
                    <a:solidFill>
                      <a:schemeClr val="bg1">
                        <a:lumMod val="95000"/>
                      </a:schemeClr>
                    </a:solidFill>
                  </a:tcPr>
                </a:tc>
                <a:tc>
                  <a:txBody>
                    <a:bodyPr/>
                    <a:lstStyle/>
                    <a:p>
                      <a:pPr algn="ctr" rtl="0" fontAlgn="b">
                        <a:buNone/>
                      </a:pPr>
                      <a:r>
                        <a:rPr lang="en-US" sz="900" b="0" i="0" u="none" strike="noStrike">
                          <a:solidFill>
                            <a:schemeClr val="tx1"/>
                          </a:solidFill>
                          <a:effectLst/>
                          <a:latin typeface="Calibri" panose="020F0502020204030204" pitchFamily="34" charset="0"/>
                        </a:rPr>
                        <a:t>5%</a:t>
                      </a:r>
                    </a:p>
                  </a:txBody>
                  <a:tcPr marL="0" marR="0" marT="9144" marB="9144" anchor="ctr">
                    <a:lnL>
                      <a:noFill/>
                    </a:lnL>
                    <a:lnR>
                      <a:noFill/>
                    </a:lnR>
                    <a:lnT>
                      <a:noFill/>
                    </a:lnT>
                    <a:lnB>
                      <a:noFill/>
                    </a:lnB>
                    <a:solidFill>
                      <a:schemeClr val="bg1">
                        <a:lumMod val="95000"/>
                      </a:schemeClr>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solidFill>
                      <a:schemeClr val="bg1">
                        <a:lumMod val="95000"/>
                      </a:schemeClr>
                    </a:solidFill>
                  </a:tcPr>
                </a:tc>
                <a:tc>
                  <a:txBody>
                    <a:bodyPr/>
                    <a:lstStyle/>
                    <a:p>
                      <a:pPr algn="ctr" rtl="0" fontAlgn="b">
                        <a:buNone/>
                      </a:pPr>
                      <a:r>
                        <a:rPr lang="en-US" sz="900" b="0" i="0" u="none" strike="noStrike">
                          <a:solidFill>
                            <a:schemeClr val="tx1"/>
                          </a:solidFill>
                          <a:effectLst/>
                          <a:latin typeface="Calibri" panose="020F0502020204030204" pitchFamily="34" charset="0"/>
                        </a:rPr>
                        <a:t>9</a:t>
                      </a:r>
                    </a:p>
                  </a:txBody>
                  <a:tcPr marL="0" marR="0" marT="0" marB="0" anchor="b">
                    <a:lnL>
                      <a:noFill/>
                    </a:lnL>
                    <a:lnR>
                      <a:noFill/>
                    </a:lnR>
                    <a:lnT>
                      <a:noFill/>
                    </a:lnT>
                    <a:lnB>
                      <a:noFill/>
                    </a:lnB>
                    <a:solidFill>
                      <a:srgbClr val="F2F2F2"/>
                    </a:solidFill>
                  </a:tcPr>
                </a:tc>
                <a:extLst>
                  <a:ext uri="{0D108BD9-81ED-4DB2-BD59-A6C34878D82A}">
                    <a16:rowId xmlns:a16="http://schemas.microsoft.com/office/drawing/2014/main" val="3395156327"/>
                  </a:ext>
                </a:extLst>
              </a:tr>
              <a:tr h="147882">
                <a:tc>
                  <a:txBody>
                    <a:bodyPr/>
                    <a:lstStyle/>
                    <a:p>
                      <a:pPr algn="l" rtl="0" fontAlgn="b">
                        <a:buNone/>
                      </a:pPr>
                      <a:r>
                        <a:rPr lang="en-US" sz="900" b="0" i="0" u="none" strike="noStrike" dirty="0">
                          <a:solidFill>
                            <a:schemeClr val="tx1"/>
                          </a:solidFill>
                          <a:effectLst/>
                          <a:latin typeface="Calibri" panose="020F0502020204030204" pitchFamily="34" charset="0"/>
                        </a:rPr>
                        <a:t>Agilent</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LS</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$6,948 </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0%</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-3%</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$34,314 </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4.9X</a:t>
                      </a:r>
                    </a:p>
                  </a:txBody>
                  <a:tcPr marL="0" marR="0" marT="0" marB="0" anchor="b">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0" marB="0" anchor="ctr">
                    <a:lnL>
                      <a:noFill/>
                    </a:lnL>
                    <a:lnR>
                      <a:noFill/>
                    </a:lnR>
                    <a:lnT>
                      <a:noFill/>
                    </a:lnT>
                    <a:lnB>
                      <a:noFill/>
                    </a:lnB>
                    <a:noFill/>
                  </a:tcPr>
                </a:tc>
                <a:tc>
                  <a:txBody>
                    <a:bodyPr/>
                    <a:lstStyle/>
                    <a:p>
                      <a:pPr algn="ctr" fontAlgn="ctr">
                        <a:buNone/>
                      </a:pPr>
                      <a:r>
                        <a:rPr lang="en-US" sz="900" b="0" i="0" u="none" strike="noStrike">
                          <a:solidFill>
                            <a:srgbClr val="000000"/>
                          </a:solidFill>
                          <a:effectLst/>
                          <a:latin typeface="Calibri" panose="020F0502020204030204" pitchFamily="34" charset="0"/>
                        </a:rPr>
                        <a:t>x</a:t>
                      </a:r>
                    </a:p>
                  </a:txBody>
                  <a:tcPr marL="0" marR="0" marT="0" marB="0"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7%</a:t>
                      </a:r>
                    </a:p>
                  </a:txBody>
                  <a:tcPr marL="0" marR="0" marT="0" marB="0"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60%</a:t>
                      </a:r>
                    </a:p>
                  </a:txBody>
                  <a:tcPr marL="0" marR="0" marT="9144" marB="9144" anchor="ctr">
                    <a:lnL>
                      <a:noFill/>
                    </a:lnL>
                    <a:lnR>
                      <a:noFill/>
                    </a:lnR>
                    <a:lnT>
                      <a:noFill/>
                    </a:lnT>
                    <a:lnB>
                      <a:noFill/>
                    </a:lnB>
                    <a:noFill/>
                  </a:tcPr>
                </a:tc>
                <a:tc>
                  <a:txBody>
                    <a:bodyPr/>
                    <a:lstStyle/>
                    <a:p>
                      <a:pPr algn="ctr" fontAlgn="b"/>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0%</a:t>
                      </a:r>
                    </a:p>
                  </a:txBody>
                  <a:tcPr marL="0" marR="0" marT="9144" marB="9144" anchor="ctr">
                    <a:lnL>
                      <a:noFill/>
                    </a:lnL>
                    <a:lnR>
                      <a:noFill/>
                    </a:lnR>
                    <a:lnT>
                      <a:noFill/>
                    </a:lnT>
                    <a:lnB>
                      <a:noFill/>
                    </a:lnB>
                    <a:noFill/>
                  </a:tcPr>
                </a:tc>
                <a:tc>
                  <a:txBody>
                    <a:bodyPr/>
                    <a:lstStyle/>
                    <a:p>
                      <a:pPr algn="ctr" fontAlgn="ctr">
                        <a:buNone/>
                      </a:pPr>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a:noFill/>
                    </a:lnB>
                    <a:solidFill>
                      <a:schemeClr val="accent4">
                        <a:lumMod val="20000"/>
                        <a:lumOff val="80000"/>
                      </a:schemeClr>
                    </a:solidFill>
                  </a:tcPr>
                </a:tc>
                <a:tc>
                  <a:txBody>
                    <a:bodyPr/>
                    <a:lstStyle/>
                    <a:p>
                      <a:pPr algn="ctr" rtl="0" fontAlgn="b">
                        <a:buNone/>
                      </a:pPr>
                      <a:r>
                        <a:rPr lang="en-US" sz="900" b="0" i="0" u="none" strike="noStrike">
                          <a:solidFill>
                            <a:schemeClr val="tx1"/>
                          </a:solidFill>
                          <a:effectLst/>
                          <a:latin typeface="Calibri" panose="020F0502020204030204" pitchFamily="34" charset="0"/>
                        </a:rPr>
                        <a:t>9</a:t>
                      </a:r>
                    </a:p>
                  </a:txBody>
                  <a:tcPr marL="0" marR="0" marT="0" marB="0" anchor="b">
                    <a:lnL>
                      <a:noFill/>
                    </a:lnL>
                    <a:lnR>
                      <a:noFill/>
                    </a:lnR>
                    <a:lnT>
                      <a:noFill/>
                    </a:lnT>
                    <a:lnB>
                      <a:noFill/>
                    </a:lnB>
                    <a:noFill/>
                  </a:tcPr>
                </a:tc>
                <a:extLst>
                  <a:ext uri="{0D108BD9-81ED-4DB2-BD59-A6C34878D82A}">
                    <a16:rowId xmlns:a16="http://schemas.microsoft.com/office/drawing/2014/main" val="3568532183"/>
                  </a:ext>
                </a:extLst>
              </a:tr>
              <a:tr h="147882">
                <a:tc>
                  <a:txBody>
                    <a:bodyPr/>
                    <a:lstStyle/>
                    <a:p>
                      <a:pPr algn="l" rtl="0" fontAlgn="b">
                        <a:buNone/>
                      </a:pPr>
                      <a:r>
                        <a:rPr lang="en-US" sz="900" b="0" i="0" u="none" strike="noStrike" dirty="0">
                          <a:solidFill>
                            <a:schemeClr val="tx1"/>
                          </a:solidFill>
                          <a:effectLst/>
                          <a:latin typeface="Calibri" panose="020F0502020204030204" pitchFamily="34" charset="0"/>
                        </a:rPr>
                        <a:t>Edwards Lifesciences</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HCE</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$6,068 </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11%</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3%</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$50,222 </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8.3X</a:t>
                      </a:r>
                    </a:p>
                  </a:txBody>
                  <a:tcPr marL="0" marR="0" marT="0" marB="0" anchor="b">
                    <a:lnL>
                      <a:noFill/>
                    </a:lnL>
                    <a:lnR>
                      <a:noFill/>
                    </a:lnR>
                    <a:lnT>
                      <a:noFill/>
                    </a:lnT>
                    <a:lnB>
                      <a:noFill/>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0" marB="0" anchor="ctr">
                    <a:lnL>
                      <a:noFill/>
                    </a:lnL>
                    <a:lnR>
                      <a:noFill/>
                    </a:lnR>
                    <a:lnT>
                      <a:noFill/>
                    </a:lnT>
                    <a:lnB>
                      <a:noFill/>
                    </a:lnB>
                    <a:solidFill>
                      <a:schemeClr val="bg1">
                        <a:lumMod val="95000"/>
                      </a:schemeClr>
                    </a:solidFill>
                  </a:tcPr>
                </a:tc>
                <a:tc>
                  <a:txBody>
                    <a:bodyPr/>
                    <a:lstStyle/>
                    <a:p>
                      <a:pPr algn="ctr" fontAlgn="ctr">
                        <a:buNone/>
                      </a:pPr>
                      <a:r>
                        <a:rPr lang="en-US" sz="900" b="0" i="0" u="none" strike="noStrike">
                          <a:solidFill>
                            <a:srgbClr val="000000"/>
                          </a:solidFill>
                          <a:effectLst/>
                          <a:latin typeface="Calibri" panose="020F0502020204030204" pitchFamily="34" charset="0"/>
                        </a:rPr>
                        <a:t> </a:t>
                      </a:r>
                    </a:p>
                  </a:txBody>
                  <a:tcPr marL="0" marR="0" marT="0" marB="0" anchor="ctr">
                    <a:lnL>
                      <a:noFill/>
                    </a:lnL>
                    <a:lnR>
                      <a:noFill/>
                    </a:lnR>
                    <a:lnT>
                      <a:noFill/>
                    </a:lnT>
                    <a:lnB>
                      <a:noFill/>
                    </a:lnB>
                    <a:solidFill>
                      <a:schemeClr val="accent4">
                        <a:lumMod val="20000"/>
                        <a:lumOff val="80000"/>
                      </a:schemeClr>
                    </a:solidFill>
                  </a:tcPr>
                </a:tc>
                <a:tc>
                  <a:txBody>
                    <a:bodyPr/>
                    <a:lstStyle/>
                    <a:p>
                      <a:pPr algn="ctr" fontAlgn="ctr">
                        <a:buNone/>
                      </a:pPr>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a:noFill/>
                    </a:lnB>
                    <a:solidFill>
                      <a:schemeClr val="accent4">
                        <a:lumMod val="20000"/>
                        <a:lumOff val="80000"/>
                      </a:schemeClr>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solidFill>
                      <a:schemeClr val="bg1">
                        <a:lumMod val="95000"/>
                      </a:schemeClr>
                    </a:solidFill>
                  </a:tcPr>
                </a:tc>
                <a:tc>
                  <a:txBody>
                    <a:bodyPr/>
                    <a:lstStyle/>
                    <a:p>
                      <a:pPr algn="ctr" fontAlgn="ctr">
                        <a:buNone/>
                      </a:pPr>
                      <a:r>
                        <a:rPr lang="en-US" sz="900" b="0" i="0" u="none" strike="noStrike">
                          <a:solidFill>
                            <a:schemeClr val="tx1"/>
                          </a:solidFill>
                          <a:effectLst/>
                          <a:latin typeface="Calibri" panose="020F0502020204030204" pitchFamily="34" charset="0"/>
                        </a:rPr>
                        <a:t>18%</a:t>
                      </a:r>
                    </a:p>
                  </a:txBody>
                  <a:tcPr marL="0" marR="0" marT="0" marB="0" anchor="ctr">
                    <a:lnL>
                      <a:noFill/>
                    </a:lnL>
                    <a:lnR>
                      <a:noFill/>
                    </a:lnR>
                    <a:lnT>
                      <a:noFill/>
                    </a:lnT>
                    <a:lnB>
                      <a:noFill/>
                    </a:lnB>
                    <a:solidFill>
                      <a:schemeClr val="bg1">
                        <a:lumMod val="95000"/>
                      </a:schemeClr>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solidFill>
                      <a:schemeClr val="bg1">
                        <a:lumMod val="95000"/>
                      </a:schemeClr>
                    </a:solidFill>
                  </a:tcPr>
                </a:tc>
                <a:tc>
                  <a:txBody>
                    <a:bodyPr/>
                    <a:lstStyle/>
                    <a:p>
                      <a:pPr algn="ctr" fontAlgn="ctr">
                        <a:buNone/>
                      </a:pPr>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a:noFill/>
                    </a:lnB>
                    <a:solidFill>
                      <a:schemeClr val="accent4">
                        <a:lumMod val="20000"/>
                        <a:lumOff val="80000"/>
                      </a:schemeClr>
                    </a:solidFill>
                  </a:tcPr>
                </a:tc>
                <a:tc>
                  <a:txBody>
                    <a:bodyPr/>
                    <a:lstStyle/>
                    <a:p>
                      <a:pPr algn="ctr" rtl="0" fontAlgn="b">
                        <a:buNone/>
                      </a:pPr>
                      <a:r>
                        <a:rPr lang="en-US" sz="900" b="0" i="0" u="none" strike="noStrike">
                          <a:solidFill>
                            <a:schemeClr val="tx1"/>
                          </a:solidFill>
                          <a:effectLst/>
                          <a:latin typeface="Calibri" panose="020F0502020204030204" pitchFamily="34" charset="0"/>
                        </a:rPr>
                        <a:t>42%</a:t>
                      </a:r>
                    </a:p>
                  </a:txBody>
                  <a:tcPr marL="0" marR="0" marT="9144" marB="9144" anchor="ctr">
                    <a:lnL>
                      <a:noFill/>
                    </a:lnL>
                    <a:lnR>
                      <a:noFill/>
                    </a:lnR>
                    <a:lnT>
                      <a:noFill/>
                    </a:lnT>
                    <a:lnB>
                      <a:noFill/>
                    </a:lnB>
                    <a:solidFill>
                      <a:schemeClr val="bg1">
                        <a:lumMod val="95000"/>
                      </a:schemeClr>
                    </a:solidFill>
                  </a:tcPr>
                </a:tc>
                <a:tc>
                  <a:txBody>
                    <a:bodyPr/>
                    <a:lstStyle/>
                    <a:p>
                      <a:pPr algn="ctr" fontAlgn="b"/>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a:noFill/>
                    </a:lnB>
                    <a:solidFill>
                      <a:schemeClr val="bg1">
                        <a:lumMod val="95000"/>
                      </a:schemeClr>
                    </a:solidFill>
                  </a:tcPr>
                </a:tc>
                <a:tc>
                  <a:txBody>
                    <a:bodyPr/>
                    <a:lstStyle/>
                    <a:p>
                      <a:pPr algn="ctr" rtl="0" fontAlgn="b">
                        <a:buNone/>
                      </a:pPr>
                      <a:r>
                        <a:rPr lang="en-US" sz="900" b="0" i="0" u="none" strike="noStrike">
                          <a:solidFill>
                            <a:schemeClr val="tx1"/>
                          </a:solidFill>
                          <a:effectLst/>
                          <a:latin typeface="Calibri" panose="020F0502020204030204" pitchFamily="34" charset="0"/>
                        </a:rPr>
                        <a:t>4%</a:t>
                      </a:r>
                    </a:p>
                  </a:txBody>
                  <a:tcPr marL="0" marR="0" marT="9144" marB="9144" anchor="ctr">
                    <a:lnL>
                      <a:noFill/>
                    </a:lnL>
                    <a:lnR>
                      <a:noFill/>
                    </a:lnR>
                    <a:lnT>
                      <a:noFill/>
                    </a:lnT>
                    <a:lnB>
                      <a:noFill/>
                    </a:lnB>
                    <a:solidFill>
                      <a:schemeClr val="bg1">
                        <a:lumMod val="95000"/>
                      </a:schemeClr>
                    </a:solidFill>
                  </a:tcPr>
                </a:tc>
                <a:tc>
                  <a:txBody>
                    <a:bodyPr/>
                    <a:lstStyle/>
                    <a:p>
                      <a:pPr algn="ctr" fontAlgn="ctr">
                        <a:buNone/>
                      </a:pPr>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a:noFill/>
                    </a:lnB>
                    <a:solidFill>
                      <a:schemeClr val="accent4">
                        <a:lumMod val="20000"/>
                        <a:lumOff val="80000"/>
                      </a:schemeClr>
                    </a:solidFill>
                  </a:tcPr>
                </a:tc>
                <a:tc>
                  <a:txBody>
                    <a:bodyPr/>
                    <a:lstStyle/>
                    <a:p>
                      <a:pPr algn="ctr" rtl="0" fontAlgn="b">
                        <a:buNone/>
                      </a:pPr>
                      <a:r>
                        <a:rPr lang="en-US" sz="900" b="0" i="0" u="none" strike="noStrike">
                          <a:solidFill>
                            <a:schemeClr val="tx1"/>
                          </a:solidFill>
                          <a:effectLst/>
                          <a:latin typeface="Calibri" panose="020F0502020204030204" pitchFamily="34" charset="0"/>
                        </a:rPr>
                        <a:t>6</a:t>
                      </a:r>
                    </a:p>
                  </a:txBody>
                  <a:tcPr marL="0" marR="0" marT="0" marB="0" anchor="b">
                    <a:lnL>
                      <a:noFill/>
                    </a:lnL>
                    <a:lnR>
                      <a:noFill/>
                    </a:lnR>
                    <a:lnT>
                      <a:noFill/>
                    </a:lnT>
                    <a:lnB>
                      <a:noFill/>
                    </a:lnB>
                    <a:solidFill>
                      <a:schemeClr val="bg1">
                        <a:lumMod val="95000"/>
                      </a:schemeClr>
                    </a:solidFill>
                  </a:tcPr>
                </a:tc>
                <a:extLst>
                  <a:ext uri="{0D108BD9-81ED-4DB2-BD59-A6C34878D82A}">
                    <a16:rowId xmlns:a16="http://schemas.microsoft.com/office/drawing/2014/main" val="3724615379"/>
                  </a:ext>
                </a:extLst>
              </a:tr>
              <a:tr h="147882">
                <a:tc>
                  <a:txBody>
                    <a:bodyPr/>
                    <a:lstStyle/>
                    <a:p>
                      <a:pPr algn="l" rtl="0" fontAlgn="b">
                        <a:buNone/>
                      </a:pPr>
                      <a:r>
                        <a:rPr lang="en-US" sz="900" b="0" i="0" u="none" strike="noStrike" dirty="0">
                          <a:solidFill>
                            <a:schemeClr val="tx1"/>
                          </a:solidFill>
                          <a:effectLst/>
                          <a:latin typeface="Calibri" panose="020F0502020204030204" pitchFamily="34" charset="0"/>
                        </a:rPr>
                        <a:t>STERIS</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HCE</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$5,460 </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9%</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11%</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$24,749 </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4.5X</a:t>
                      </a:r>
                    </a:p>
                  </a:txBody>
                  <a:tcPr marL="0" marR="0" marT="0" marB="0" anchor="b">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0" marB="0" anchor="ctr">
                    <a:lnL>
                      <a:noFill/>
                    </a:lnL>
                    <a:lnR>
                      <a:noFill/>
                    </a:lnR>
                    <a:lnT>
                      <a:noFill/>
                    </a:lnT>
                    <a:lnB>
                      <a:noFill/>
                    </a:lnB>
                    <a:noFill/>
                  </a:tcPr>
                </a:tc>
                <a:tc>
                  <a:txBody>
                    <a:bodyPr/>
                    <a:lstStyle/>
                    <a:p>
                      <a:pPr algn="ctr" fontAlgn="ctr">
                        <a:buNone/>
                      </a:pPr>
                      <a:r>
                        <a:rPr lang="en-US" sz="900" b="0" i="0" u="none" strike="noStrike">
                          <a:solidFill>
                            <a:srgbClr val="000000"/>
                          </a:solidFill>
                          <a:effectLst/>
                          <a:latin typeface="Calibri" panose="020F0502020204030204" pitchFamily="34" charset="0"/>
                        </a:rPr>
                        <a:t>x</a:t>
                      </a:r>
                    </a:p>
                  </a:txBody>
                  <a:tcPr marL="0" marR="0" marT="0" marB="0"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2%</a:t>
                      </a:r>
                    </a:p>
                  </a:txBody>
                  <a:tcPr marL="0" marR="0" marT="0" marB="0" anchor="ctr">
                    <a:lnL>
                      <a:noFill/>
                    </a:lnL>
                    <a:lnR>
                      <a:noFill/>
                    </a:lnR>
                    <a:lnT>
                      <a:noFill/>
                    </a:lnT>
                    <a:lnB>
                      <a:noFill/>
                    </a:lnB>
                    <a:solidFill>
                      <a:schemeClr val="accent4">
                        <a:lumMod val="20000"/>
                        <a:lumOff val="80000"/>
                      </a:schemeClr>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27%</a:t>
                      </a:r>
                    </a:p>
                  </a:txBody>
                  <a:tcPr marL="0" marR="0" marT="9144" marB="9144" anchor="ctr">
                    <a:lnL>
                      <a:noFill/>
                    </a:lnL>
                    <a:lnR>
                      <a:noFill/>
                    </a:lnR>
                    <a:lnT>
                      <a:noFill/>
                    </a:lnT>
                    <a:lnB>
                      <a:noFill/>
                    </a:lnB>
                    <a:solidFill>
                      <a:schemeClr val="accent4">
                        <a:lumMod val="20000"/>
                        <a:lumOff val="80000"/>
                      </a:schemeClr>
                    </a:solidFill>
                  </a:tcPr>
                </a:tc>
                <a:tc>
                  <a:txBody>
                    <a:bodyPr/>
                    <a:lstStyle/>
                    <a:p>
                      <a:pPr algn="ctr" fontAlgn="b"/>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a:noFill/>
                    </a:lnB>
                    <a:solidFill>
                      <a:schemeClr val="accent4">
                        <a:lumMod val="20000"/>
                        <a:lumOff val="80000"/>
                      </a:schemeClr>
                    </a:solidFill>
                  </a:tcPr>
                </a:tc>
                <a:tc>
                  <a:txBody>
                    <a:bodyPr/>
                    <a:lstStyle/>
                    <a:p>
                      <a:pPr algn="ctr" rtl="0" fontAlgn="b">
                        <a:buNone/>
                      </a:pPr>
                      <a:r>
                        <a:rPr lang="en-US" sz="900" b="0" i="0" u="none" strike="noStrike">
                          <a:solidFill>
                            <a:schemeClr val="tx1"/>
                          </a:solidFill>
                          <a:effectLst/>
                          <a:latin typeface="Calibri" panose="020F0502020204030204" pitchFamily="34" charset="0"/>
                        </a:rPr>
                        <a:t>4%</a:t>
                      </a:r>
                    </a:p>
                  </a:txBody>
                  <a:tcPr marL="0" marR="0" marT="9144" marB="9144" anchor="ctr">
                    <a:lnL>
                      <a:noFill/>
                    </a:lnL>
                    <a:lnR>
                      <a:noFill/>
                    </a:lnR>
                    <a:lnT>
                      <a:noFill/>
                    </a:lnT>
                    <a:lnB>
                      <a:noFill/>
                    </a:lnB>
                    <a:solidFill>
                      <a:schemeClr val="accent4">
                        <a:lumMod val="20000"/>
                        <a:lumOff val="80000"/>
                      </a:schemeClr>
                    </a:solidFill>
                  </a:tcPr>
                </a:tc>
                <a:tc>
                  <a:txBody>
                    <a:bodyPr/>
                    <a:lstStyle/>
                    <a:p>
                      <a:pPr algn="ctr" fontAlgn="ctr">
                        <a:buNone/>
                      </a:pPr>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a:noFill/>
                    </a:lnB>
                    <a:solidFill>
                      <a:schemeClr val="accent4">
                        <a:lumMod val="20000"/>
                        <a:lumOff val="80000"/>
                      </a:schemeClr>
                    </a:solidFill>
                  </a:tcPr>
                </a:tc>
                <a:tc>
                  <a:txBody>
                    <a:bodyPr/>
                    <a:lstStyle/>
                    <a:p>
                      <a:pPr algn="ctr" rtl="0" fontAlgn="b">
                        <a:buNone/>
                      </a:pPr>
                      <a:r>
                        <a:rPr lang="en-US" sz="900" b="0" i="0" u="none" strike="noStrike">
                          <a:solidFill>
                            <a:schemeClr val="tx1"/>
                          </a:solidFill>
                          <a:effectLst/>
                          <a:latin typeface="Calibri" panose="020F0502020204030204" pitchFamily="34" charset="0"/>
                        </a:rPr>
                        <a:t>7</a:t>
                      </a:r>
                    </a:p>
                  </a:txBody>
                  <a:tcPr marL="0" marR="0" marT="0" marB="0" anchor="b">
                    <a:lnL>
                      <a:noFill/>
                    </a:lnL>
                    <a:lnR>
                      <a:noFill/>
                    </a:lnR>
                    <a:lnT>
                      <a:noFill/>
                    </a:lnT>
                    <a:lnB>
                      <a:noFill/>
                    </a:lnB>
                    <a:noFill/>
                  </a:tcPr>
                </a:tc>
                <a:extLst>
                  <a:ext uri="{0D108BD9-81ED-4DB2-BD59-A6C34878D82A}">
                    <a16:rowId xmlns:a16="http://schemas.microsoft.com/office/drawing/2014/main" val="2485509275"/>
                  </a:ext>
                </a:extLst>
              </a:tr>
              <a:tr h="147882">
                <a:tc>
                  <a:txBody>
                    <a:bodyPr/>
                    <a:lstStyle/>
                    <a:p>
                      <a:pPr algn="l" rtl="0" fontAlgn="b">
                        <a:buNone/>
                      </a:pPr>
                      <a:r>
                        <a:rPr lang="en-US" sz="900" b="0" i="0" u="none" strike="noStrike" dirty="0">
                          <a:solidFill>
                            <a:schemeClr val="tx1"/>
                          </a:solidFill>
                          <a:effectLst/>
                          <a:latin typeface="Calibri" panose="020F0502020204030204" pitchFamily="34" charset="0"/>
                        </a:rPr>
                        <a:t>ResMed</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HCE</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$5,146 </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13%</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7%</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$37,332 </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7.3X</a:t>
                      </a:r>
                    </a:p>
                  </a:txBody>
                  <a:tcPr marL="0" marR="0" marT="0" marB="0" anchor="b">
                    <a:lnL>
                      <a:noFill/>
                    </a:lnL>
                    <a:lnR>
                      <a:noFill/>
                    </a:lnR>
                    <a:lnT>
                      <a:noFill/>
                    </a:lnT>
                    <a:lnB>
                      <a:noFill/>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0" marB="0" anchor="ctr">
                    <a:lnL>
                      <a:noFill/>
                    </a:lnL>
                    <a:lnR>
                      <a:noFill/>
                    </a:lnR>
                    <a:lnT>
                      <a:noFill/>
                    </a:lnT>
                    <a:lnB>
                      <a:noFill/>
                    </a:lnB>
                    <a:solidFill>
                      <a:schemeClr val="bg1">
                        <a:lumMod val="95000"/>
                      </a:schemeClr>
                    </a:solidFill>
                  </a:tcPr>
                </a:tc>
                <a:tc>
                  <a:txBody>
                    <a:bodyPr/>
                    <a:lstStyle/>
                    <a:p>
                      <a:pPr algn="ctr" fontAlgn="ctr">
                        <a:buNone/>
                      </a:pPr>
                      <a:r>
                        <a:rPr lang="en-US" sz="900" b="0" i="0" u="none" strike="noStrike">
                          <a:solidFill>
                            <a:srgbClr val="000000"/>
                          </a:solidFill>
                          <a:effectLst/>
                          <a:latin typeface="Calibri" panose="020F0502020204030204" pitchFamily="34" charset="0"/>
                        </a:rPr>
                        <a:t>x</a:t>
                      </a:r>
                    </a:p>
                  </a:txBody>
                  <a:tcPr marL="0" marR="0" marT="0" marB="0" anchor="ctr">
                    <a:lnL>
                      <a:noFill/>
                    </a:lnL>
                    <a:lnR>
                      <a:noFill/>
                    </a:lnR>
                    <a:lnT>
                      <a:noFill/>
                    </a:lnT>
                    <a:lnB>
                      <a:noFill/>
                    </a:lnB>
                    <a:solidFill>
                      <a:schemeClr val="bg1">
                        <a:lumMod val="95000"/>
                      </a:schemeClr>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7%</a:t>
                      </a:r>
                    </a:p>
                  </a:txBody>
                  <a:tcPr marL="0" marR="0" marT="0" marB="0" anchor="ctr">
                    <a:lnL>
                      <a:noFill/>
                    </a:lnL>
                    <a:lnR>
                      <a:noFill/>
                    </a:lnR>
                    <a:lnT>
                      <a:noFill/>
                    </a:lnT>
                    <a:lnB>
                      <a:noFill/>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solidFill>
                      <a:schemeClr val="bg1">
                        <a:lumMod val="95000"/>
                      </a:schemeClr>
                    </a:solidFill>
                  </a:tcPr>
                </a:tc>
                <a:tc>
                  <a:txBody>
                    <a:bodyPr/>
                    <a:lstStyle/>
                    <a:p>
                      <a:pPr algn="ctr" rtl="0" fontAlgn="b">
                        <a:buNone/>
                      </a:pPr>
                      <a:r>
                        <a:rPr lang="en-US" sz="900" b="0" i="0" u="none" strike="noStrike">
                          <a:solidFill>
                            <a:schemeClr val="tx1"/>
                          </a:solidFill>
                          <a:effectLst/>
                          <a:latin typeface="Calibri" panose="020F0502020204030204" pitchFamily="34" charset="0"/>
                        </a:rPr>
                        <a:t>36%</a:t>
                      </a:r>
                    </a:p>
                  </a:txBody>
                  <a:tcPr marL="0" marR="0" marT="9144" marB="9144" anchor="ctr">
                    <a:lnL>
                      <a:noFill/>
                    </a:lnL>
                    <a:lnR>
                      <a:noFill/>
                    </a:lnR>
                    <a:lnT>
                      <a:noFill/>
                    </a:lnT>
                    <a:lnB>
                      <a:noFill/>
                    </a:lnB>
                    <a:solidFill>
                      <a:schemeClr val="bg1">
                        <a:lumMod val="95000"/>
                      </a:schemeClr>
                    </a:solidFill>
                  </a:tcPr>
                </a:tc>
                <a:tc>
                  <a:txBody>
                    <a:bodyPr/>
                    <a:lstStyle/>
                    <a:p>
                      <a:pPr algn="ctr" fontAlgn="b"/>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a:noFill/>
                    </a:lnB>
                    <a:solidFill>
                      <a:schemeClr val="bg1">
                        <a:lumMod val="95000"/>
                      </a:schemeClr>
                    </a:solidFill>
                  </a:tcPr>
                </a:tc>
                <a:tc>
                  <a:txBody>
                    <a:bodyPr/>
                    <a:lstStyle/>
                    <a:p>
                      <a:pPr algn="ctr" rtl="0" fontAlgn="b">
                        <a:buNone/>
                      </a:pPr>
                      <a:r>
                        <a:rPr lang="en-US" sz="900" b="0" i="0" u="none" strike="noStrike">
                          <a:solidFill>
                            <a:schemeClr val="tx1"/>
                          </a:solidFill>
                          <a:effectLst/>
                          <a:latin typeface="Calibri" panose="020F0502020204030204" pitchFamily="34" charset="0"/>
                        </a:rPr>
                        <a:t>12%</a:t>
                      </a:r>
                    </a:p>
                  </a:txBody>
                  <a:tcPr marL="0" marR="0" marT="9144" marB="9144" anchor="ctr">
                    <a:lnL>
                      <a:noFill/>
                    </a:lnL>
                    <a:lnR>
                      <a:noFill/>
                    </a:lnR>
                    <a:lnT>
                      <a:noFill/>
                    </a:lnT>
                    <a:lnB>
                      <a:noFill/>
                    </a:lnB>
                    <a:solidFill>
                      <a:schemeClr val="bg1">
                        <a:lumMod val="95000"/>
                      </a:schemeClr>
                    </a:solidFill>
                  </a:tcPr>
                </a:tc>
                <a:tc>
                  <a:txBody>
                    <a:bodyPr/>
                    <a:lstStyle/>
                    <a:p>
                      <a:pPr algn="ctr" fontAlgn="ctr">
                        <a:buNone/>
                      </a:pPr>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a:noFill/>
                    </a:lnB>
                    <a:solidFill>
                      <a:schemeClr val="accent4">
                        <a:lumMod val="20000"/>
                        <a:lumOff val="80000"/>
                      </a:schemeClr>
                    </a:solidFill>
                  </a:tcPr>
                </a:tc>
                <a:tc>
                  <a:txBody>
                    <a:bodyPr/>
                    <a:lstStyle/>
                    <a:p>
                      <a:pPr algn="ctr" rtl="0" fontAlgn="b">
                        <a:buNone/>
                      </a:pPr>
                      <a:r>
                        <a:rPr lang="en-US" sz="900" b="0" i="0" u="none" strike="noStrike">
                          <a:solidFill>
                            <a:schemeClr val="tx1"/>
                          </a:solidFill>
                          <a:effectLst/>
                          <a:latin typeface="Calibri" panose="020F0502020204030204" pitchFamily="34" charset="0"/>
                        </a:rPr>
                        <a:t>9</a:t>
                      </a:r>
                    </a:p>
                  </a:txBody>
                  <a:tcPr marL="0" marR="0" marT="0" marB="0" anchor="b">
                    <a:lnL>
                      <a:noFill/>
                    </a:lnL>
                    <a:lnR>
                      <a:noFill/>
                    </a:lnR>
                    <a:lnT>
                      <a:noFill/>
                    </a:lnT>
                    <a:lnB>
                      <a:noFill/>
                    </a:lnB>
                    <a:solidFill>
                      <a:srgbClr val="F2F2F2"/>
                    </a:solidFill>
                  </a:tcPr>
                </a:tc>
                <a:extLst>
                  <a:ext uri="{0D108BD9-81ED-4DB2-BD59-A6C34878D82A}">
                    <a16:rowId xmlns:a16="http://schemas.microsoft.com/office/drawing/2014/main" val="3042485748"/>
                  </a:ext>
                </a:extLst>
              </a:tr>
              <a:tr h="147882">
                <a:tc>
                  <a:txBody>
                    <a:bodyPr/>
                    <a:lstStyle/>
                    <a:p>
                      <a:pPr algn="l" rtl="0" fontAlgn="b">
                        <a:buNone/>
                      </a:pPr>
                      <a:r>
                        <a:rPr lang="en-US" sz="900" b="0" i="0" u="none" strike="noStrike" dirty="0">
                          <a:solidFill>
                            <a:schemeClr val="tx1"/>
                          </a:solidFill>
                          <a:effectLst/>
                          <a:latin typeface="Calibri" panose="020F0502020204030204" pitchFamily="34" charset="0"/>
                        </a:rPr>
                        <a:t>Elanco</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P</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$4,715 </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2%</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33%</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$13,125 </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2.8X</a:t>
                      </a:r>
                    </a:p>
                  </a:txBody>
                  <a:tcPr marL="0" marR="0" marT="0" marB="0" anchor="b">
                    <a:lnL>
                      <a:noFill/>
                    </a:lnL>
                    <a:lnR>
                      <a:noFill/>
                    </a:lnR>
                    <a:lnT>
                      <a:noFill/>
                    </a:lnT>
                    <a:lnB>
                      <a:noFill/>
                    </a:lnB>
                    <a:noFill/>
                  </a:tcPr>
                </a:tc>
                <a:tc>
                  <a:txBody>
                    <a:bodyPr/>
                    <a:lstStyle/>
                    <a:p>
                      <a:pPr algn="ctr" fontAlgn="ctr">
                        <a:buNone/>
                      </a:pPr>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a:noFill/>
                    </a:lnB>
                    <a:solidFill>
                      <a:schemeClr val="accent4">
                        <a:lumMod val="20000"/>
                        <a:lumOff val="80000"/>
                      </a:schemeClr>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0" marB="0" anchor="ctr">
                    <a:lnL>
                      <a:noFill/>
                    </a:lnL>
                    <a:lnR>
                      <a:noFill/>
                    </a:lnR>
                    <a:lnT>
                      <a:noFill/>
                    </a:lnT>
                    <a:lnB>
                      <a:noFill/>
                    </a:lnB>
                    <a:noFill/>
                  </a:tcPr>
                </a:tc>
                <a:tc>
                  <a:txBody>
                    <a:bodyPr/>
                    <a:lstStyle/>
                    <a:p>
                      <a:pPr algn="ctr" fontAlgn="ctr">
                        <a:buNone/>
                      </a:pPr>
                      <a:endParaRPr lang="en-US" sz="900" b="0" i="0" u="none" strike="noStrike">
                        <a:solidFill>
                          <a:srgbClr val="000000"/>
                        </a:solidFill>
                        <a:effectLst/>
                        <a:latin typeface="Calibri" panose="020F0502020204030204" pitchFamily="34" charset="0"/>
                      </a:endParaRPr>
                    </a:p>
                  </a:txBody>
                  <a:tcPr marL="0" marR="0" marT="0" marB="0" anchor="ctr">
                    <a:lnL>
                      <a:noFill/>
                    </a:lnL>
                    <a:lnR>
                      <a:noFill/>
                    </a:lnR>
                    <a:lnT>
                      <a:noFill/>
                    </a:lnT>
                    <a:lnB>
                      <a:noFill/>
                    </a:lnB>
                    <a:solidFill>
                      <a:schemeClr val="accent4">
                        <a:lumMod val="20000"/>
                        <a:lumOff val="80000"/>
                      </a:schemeClr>
                    </a:solidFill>
                  </a:tcPr>
                </a:tc>
                <a:tc>
                  <a:txBody>
                    <a:bodyPr/>
                    <a:lstStyle/>
                    <a:p>
                      <a:pPr algn="ctr" fontAlgn="ctr">
                        <a:buNone/>
                      </a:pPr>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a:noFill/>
                    </a:lnB>
                    <a:solidFill>
                      <a:schemeClr val="accent4">
                        <a:lumMod val="20000"/>
                        <a:lumOff val="80000"/>
                      </a:schemeClr>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8%</a:t>
                      </a:r>
                    </a:p>
                  </a:txBody>
                  <a:tcPr marL="0" marR="0" marT="0" marB="0"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noFill/>
                  </a:tcPr>
                </a:tc>
                <a:tc>
                  <a:txBody>
                    <a:bodyPr/>
                    <a:lstStyle/>
                    <a:p>
                      <a:pPr algn="ctr" fontAlgn="ctr">
                        <a:buNone/>
                      </a:pPr>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a:noFill/>
                    </a:lnB>
                    <a:solidFill>
                      <a:schemeClr val="accent4">
                        <a:lumMod val="20000"/>
                        <a:lumOff val="80000"/>
                      </a:schemeClr>
                    </a:solidFill>
                  </a:tcPr>
                </a:tc>
                <a:tc>
                  <a:txBody>
                    <a:bodyPr/>
                    <a:lstStyle/>
                    <a:p>
                      <a:pPr algn="ctr" rtl="0" fontAlgn="b">
                        <a:buNone/>
                      </a:pPr>
                      <a:r>
                        <a:rPr lang="en-US" sz="900" b="0" i="0" u="none" strike="noStrike">
                          <a:solidFill>
                            <a:schemeClr val="tx1"/>
                          </a:solidFill>
                          <a:effectLst/>
                          <a:latin typeface="Calibri" panose="020F0502020204030204" pitchFamily="34" charset="0"/>
                        </a:rPr>
                        <a:t>53%</a:t>
                      </a:r>
                    </a:p>
                  </a:txBody>
                  <a:tcPr marL="0" marR="0" marT="9144" marB="9144" anchor="ctr">
                    <a:lnL>
                      <a:noFill/>
                    </a:lnL>
                    <a:lnR>
                      <a:noFill/>
                    </a:lnR>
                    <a:lnT>
                      <a:noFill/>
                    </a:lnT>
                    <a:lnB>
                      <a:noFill/>
                    </a:lnB>
                    <a:noFill/>
                  </a:tcPr>
                </a:tc>
                <a:tc>
                  <a:txBody>
                    <a:bodyPr/>
                    <a:lstStyle/>
                    <a:p>
                      <a:pPr algn="ctr" fontAlgn="b"/>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0%</a:t>
                      </a:r>
                    </a:p>
                  </a:txBody>
                  <a:tcPr marL="0" marR="0" marT="9144" marB="9144"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6</a:t>
                      </a:r>
                    </a:p>
                  </a:txBody>
                  <a:tcPr marL="0" marR="0" marT="0" marB="0" anchor="b">
                    <a:lnL>
                      <a:noFill/>
                    </a:lnL>
                    <a:lnR>
                      <a:noFill/>
                    </a:lnR>
                    <a:lnT>
                      <a:noFill/>
                    </a:lnT>
                    <a:lnB>
                      <a:noFill/>
                    </a:lnB>
                    <a:noFill/>
                  </a:tcPr>
                </a:tc>
                <a:extLst>
                  <a:ext uri="{0D108BD9-81ED-4DB2-BD59-A6C34878D82A}">
                    <a16:rowId xmlns:a16="http://schemas.microsoft.com/office/drawing/2014/main" val="2332298446"/>
                  </a:ext>
                </a:extLst>
              </a:tr>
              <a:tr h="147882">
                <a:tc>
                  <a:txBody>
                    <a:bodyPr/>
                    <a:lstStyle/>
                    <a:p>
                      <a:pPr algn="l" rtl="0" fontAlgn="b">
                        <a:buNone/>
                      </a:pPr>
                      <a:r>
                        <a:rPr lang="en-US" sz="900" b="0" i="0" u="none" strike="noStrike" dirty="0" err="1">
                          <a:solidFill>
                            <a:schemeClr val="tx1"/>
                          </a:solidFill>
                          <a:effectLst/>
                          <a:latin typeface="Calibri" panose="020F0502020204030204" pitchFamily="34" charset="0"/>
                        </a:rPr>
                        <a:t>DexCom</a:t>
                      </a:r>
                      <a:endParaRPr lang="en-US" sz="900" b="0" i="0" u="none" strike="noStrike" dirty="0">
                        <a:solidFill>
                          <a:schemeClr val="tx1"/>
                        </a:solidFill>
                        <a:effectLst/>
                        <a:latin typeface="Calibri" panose="020F0502020204030204" pitchFamily="34" charset="0"/>
                      </a:endParaRP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HCE</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$4,662 </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17%</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-13%</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$28,261 </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6.1X</a:t>
                      </a:r>
                    </a:p>
                  </a:txBody>
                  <a:tcPr marL="0" marR="0" marT="0" marB="0" anchor="b">
                    <a:lnL>
                      <a:noFill/>
                    </a:lnL>
                    <a:lnR>
                      <a:noFill/>
                    </a:lnR>
                    <a:lnT>
                      <a:noFill/>
                    </a:lnT>
                    <a:lnB>
                      <a:noFill/>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0" marB="0" anchor="ctr">
                    <a:lnL>
                      <a:noFill/>
                    </a:lnL>
                    <a:lnR>
                      <a:noFill/>
                    </a:lnR>
                    <a:lnT>
                      <a:noFill/>
                    </a:lnT>
                    <a:lnB>
                      <a:noFill/>
                    </a:lnB>
                    <a:solidFill>
                      <a:schemeClr val="bg1">
                        <a:lumMod val="95000"/>
                      </a:schemeClr>
                    </a:solidFill>
                  </a:tcPr>
                </a:tc>
                <a:tc>
                  <a:txBody>
                    <a:bodyPr/>
                    <a:lstStyle/>
                    <a:p>
                      <a:pPr algn="ctr" fontAlgn="ctr">
                        <a:buNone/>
                      </a:pPr>
                      <a:r>
                        <a:rPr lang="en-US" sz="900" b="0" i="0" u="none" strike="noStrike">
                          <a:solidFill>
                            <a:srgbClr val="000000"/>
                          </a:solidFill>
                          <a:effectLst/>
                          <a:latin typeface="Calibri" panose="020F0502020204030204" pitchFamily="34" charset="0"/>
                        </a:rPr>
                        <a:t>x</a:t>
                      </a:r>
                    </a:p>
                  </a:txBody>
                  <a:tcPr marL="0" marR="0" marT="0" marB="0" anchor="ctr">
                    <a:lnL>
                      <a:noFill/>
                    </a:lnL>
                    <a:lnR>
                      <a:noFill/>
                    </a:lnR>
                    <a:lnT>
                      <a:noFill/>
                    </a:lnT>
                    <a:lnB>
                      <a:noFill/>
                    </a:lnB>
                    <a:solidFill>
                      <a:schemeClr val="bg1">
                        <a:lumMod val="95000"/>
                      </a:schemeClr>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13%</a:t>
                      </a:r>
                    </a:p>
                  </a:txBody>
                  <a:tcPr marL="0" marR="0" marT="0" marB="0" anchor="ctr">
                    <a:lnL>
                      <a:noFill/>
                    </a:lnL>
                    <a:lnR>
                      <a:noFill/>
                    </a:lnR>
                    <a:lnT>
                      <a:noFill/>
                    </a:lnT>
                    <a:lnB>
                      <a:noFill/>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solidFill>
                      <a:schemeClr val="bg1">
                        <a:lumMod val="95000"/>
                      </a:schemeClr>
                    </a:solidFill>
                  </a:tcPr>
                </a:tc>
                <a:tc>
                  <a:txBody>
                    <a:bodyPr/>
                    <a:lstStyle/>
                    <a:p>
                      <a:pPr algn="ctr" rtl="0" fontAlgn="b">
                        <a:buNone/>
                      </a:pPr>
                      <a:r>
                        <a:rPr lang="en-US" sz="900" b="0" i="0" u="none" strike="noStrike">
                          <a:solidFill>
                            <a:schemeClr val="tx1"/>
                          </a:solidFill>
                          <a:effectLst/>
                          <a:latin typeface="Calibri" panose="020F0502020204030204" pitchFamily="34" charset="0"/>
                        </a:rPr>
                        <a:t>28%</a:t>
                      </a:r>
                    </a:p>
                  </a:txBody>
                  <a:tcPr marL="0" marR="0" marT="9144" marB="9144" anchor="ctr">
                    <a:lnL>
                      <a:noFill/>
                    </a:lnL>
                    <a:lnR>
                      <a:noFill/>
                    </a:lnR>
                    <a:lnT>
                      <a:noFill/>
                    </a:lnT>
                    <a:lnB>
                      <a:noFill/>
                    </a:lnB>
                    <a:solidFill>
                      <a:schemeClr val="bg1">
                        <a:lumMod val="95000"/>
                      </a:schemeClr>
                    </a:solidFill>
                  </a:tcPr>
                </a:tc>
                <a:tc>
                  <a:txBody>
                    <a:bodyPr/>
                    <a:lstStyle/>
                    <a:p>
                      <a:pPr algn="ctr" fontAlgn="b"/>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a:noFill/>
                    </a:lnB>
                    <a:solidFill>
                      <a:schemeClr val="bg1">
                        <a:lumMod val="95000"/>
                      </a:schemeClr>
                    </a:solidFill>
                  </a:tcPr>
                </a:tc>
                <a:tc>
                  <a:txBody>
                    <a:bodyPr/>
                    <a:lstStyle/>
                    <a:p>
                      <a:pPr algn="ctr" rtl="0" fontAlgn="b">
                        <a:buNone/>
                      </a:pPr>
                      <a:r>
                        <a:rPr lang="en-US" sz="900" b="0" i="0" u="none" strike="noStrike">
                          <a:solidFill>
                            <a:schemeClr val="tx1"/>
                          </a:solidFill>
                          <a:effectLst/>
                          <a:latin typeface="Calibri" panose="020F0502020204030204" pitchFamily="34" charset="0"/>
                        </a:rPr>
                        <a:t>20%</a:t>
                      </a:r>
                    </a:p>
                  </a:txBody>
                  <a:tcPr marL="0" marR="0" marT="9144" marB="9144" anchor="ctr">
                    <a:lnL>
                      <a:noFill/>
                    </a:lnL>
                    <a:lnR>
                      <a:noFill/>
                    </a:lnR>
                    <a:lnT>
                      <a:noFill/>
                    </a:lnT>
                    <a:lnB>
                      <a:noFill/>
                    </a:lnB>
                    <a:solidFill>
                      <a:schemeClr val="bg1">
                        <a:lumMod val="95000"/>
                      </a:schemeClr>
                    </a:solidFill>
                  </a:tcPr>
                </a:tc>
                <a:tc>
                  <a:txBody>
                    <a:bodyPr/>
                    <a:lstStyle/>
                    <a:p>
                      <a:pPr algn="ctr" fontAlgn="ctr">
                        <a:buNone/>
                      </a:pPr>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a:noFill/>
                    </a:lnB>
                    <a:solidFill>
                      <a:schemeClr val="accent4">
                        <a:lumMod val="20000"/>
                        <a:lumOff val="80000"/>
                      </a:schemeClr>
                    </a:solidFill>
                  </a:tcPr>
                </a:tc>
                <a:tc>
                  <a:txBody>
                    <a:bodyPr/>
                    <a:lstStyle/>
                    <a:p>
                      <a:pPr algn="ctr" rtl="0" fontAlgn="b">
                        <a:buNone/>
                      </a:pPr>
                      <a:r>
                        <a:rPr lang="en-US" sz="900" b="0" i="0" u="none" strike="noStrike">
                          <a:solidFill>
                            <a:schemeClr val="tx1"/>
                          </a:solidFill>
                          <a:effectLst/>
                          <a:latin typeface="Calibri" panose="020F0502020204030204" pitchFamily="34" charset="0"/>
                        </a:rPr>
                        <a:t>9</a:t>
                      </a:r>
                    </a:p>
                  </a:txBody>
                  <a:tcPr marL="0" marR="0" marT="0" marB="0" anchor="b">
                    <a:lnL>
                      <a:noFill/>
                    </a:lnL>
                    <a:lnR>
                      <a:noFill/>
                    </a:lnR>
                    <a:lnT>
                      <a:noFill/>
                    </a:lnT>
                    <a:lnB>
                      <a:noFill/>
                    </a:lnB>
                    <a:solidFill>
                      <a:srgbClr val="F2F2F2"/>
                    </a:solidFill>
                  </a:tcPr>
                </a:tc>
                <a:extLst>
                  <a:ext uri="{0D108BD9-81ED-4DB2-BD59-A6C34878D82A}">
                    <a16:rowId xmlns:a16="http://schemas.microsoft.com/office/drawing/2014/main" val="3775875522"/>
                  </a:ext>
                </a:extLst>
              </a:tr>
              <a:tr h="147882">
                <a:tc>
                  <a:txBody>
                    <a:bodyPr/>
                    <a:lstStyle/>
                    <a:p>
                      <a:pPr algn="l" rtl="0" fontAlgn="b">
                        <a:buNone/>
                      </a:pPr>
                      <a:r>
                        <a:rPr lang="en-US" sz="900" b="0" i="0" u="none" strike="noStrike" dirty="0">
                          <a:solidFill>
                            <a:schemeClr val="tx1"/>
                          </a:solidFill>
                          <a:effectLst/>
                          <a:latin typeface="Calibri" panose="020F0502020204030204" pitchFamily="34" charset="0"/>
                        </a:rPr>
                        <a:t>Illumina</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LS</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$4,343 </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-2%</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-11%</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$20,559 </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4.7X</a:t>
                      </a:r>
                    </a:p>
                  </a:txBody>
                  <a:tcPr marL="0" marR="0" marT="0" marB="0" anchor="b">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0" marB="0" anchor="ctr">
                    <a:lnL>
                      <a:noFill/>
                    </a:lnL>
                    <a:lnR>
                      <a:noFill/>
                    </a:lnR>
                    <a:lnT>
                      <a:noFill/>
                    </a:lnT>
                    <a:lnB>
                      <a:noFill/>
                    </a:lnB>
                    <a:noFill/>
                  </a:tcPr>
                </a:tc>
                <a:tc>
                  <a:txBody>
                    <a:bodyPr/>
                    <a:lstStyle/>
                    <a:p>
                      <a:pPr algn="ctr" fontAlgn="ctr">
                        <a:buNone/>
                      </a:pPr>
                      <a:r>
                        <a:rPr lang="en-US" sz="900" b="0" i="0" u="none" strike="noStrike">
                          <a:solidFill>
                            <a:srgbClr val="000000"/>
                          </a:solidFill>
                          <a:effectLst/>
                          <a:latin typeface="Calibri" panose="020F0502020204030204" pitchFamily="34" charset="0"/>
                        </a:rPr>
                        <a:t>x</a:t>
                      </a:r>
                    </a:p>
                  </a:txBody>
                  <a:tcPr marL="0" marR="0" marT="0" marB="0"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22%</a:t>
                      </a:r>
                    </a:p>
                  </a:txBody>
                  <a:tcPr marL="0" marR="0" marT="0" marB="0"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48%</a:t>
                      </a:r>
                    </a:p>
                  </a:txBody>
                  <a:tcPr marL="0" marR="0" marT="9144" marB="9144" anchor="ctr">
                    <a:lnL>
                      <a:noFill/>
                    </a:lnL>
                    <a:lnR>
                      <a:noFill/>
                    </a:lnR>
                    <a:lnT>
                      <a:noFill/>
                    </a:lnT>
                    <a:lnB>
                      <a:noFill/>
                    </a:lnB>
                    <a:noFill/>
                  </a:tcPr>
                </a:tc>
                <a:tc>
                  <a:txBody>
                    <a:bodyPr/>
                    <a:lstStyle/>
                    <a:p>
                      <a:pPr algn="ctr" fontAlgn="b"/>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-3%</a:t>
                      </a:r>
                    </a:p>
                  </a:txBody>
                  <a:tcPr marL="0" marR="0" marT="9144" marB="9144" anchor="ctr">
                    <a:lnL>
                      <a:noFill/>
                    </a:lnL>
                    <a:lnR>
                      <a:noFill/>
                    </a:lnR>
                    <a:lnT>
                      <a:noFill/>
                    </a:lnT>
                    <a:lnB>
                      <a:noFill/>
                    </a:lnB>
                    <a:noFill/>
                  </a:tcPr>
                </a:tc>
                <a:tc>
                  <a:txBody>
                    <a:bodyPr/>
                    <a:lstStyle/>
                    <a:p>
                      <a:pPr algn="ctr" fontAlgn="ctr">
                        <a:buNone/>
                      </a:pPr>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a:noFill/>
                    </a:lnB>
                    <a:solidFill>
                      <a:schemeClr val="accent4">
                        <a:lumMod val="20000"/>
                        <a:lumOff val="80000"/>
                      </a:schemeClr>
                    </a:solidFill>
                  </a:tcPr>
                </a:tc>
                <a:tc>
                  <a:txBody>
                    <a:bodyPr/>
                    <a:lstStyle/>
                    <a:p>
                      <a:pPr algn="ctr" rtl="0" fontAlgn="b">
                        <a:buNone/>
                      </a:pPr>
                      <a:r>
                        <a:rPr lang="en-US" sz="900" b="0" i="0" u="none" strike="noStrike">
                          <a:solidFill>
                            <a:schemeClr val="tx1"/>
                          </a:solidFill>
                          <a:effectLst/>
                          <a:latin typeface="Calibri" panose="020F0502020204030204" pitchFamily="34" charset="0"/>
                        </a:rPr>
                        <a:t>9</a:t>
                      </a:r>
                    </a:p>
                  </a:txBody>
                  <a:tcPr marL="0" marR="0" marT="0" marB="0" anchor="b">
                    <a:lnL>
                      <a:noFill/>
                    </a:lnL>
                    <a:lnR>
                      <a:noFill/>
                    </a:lnR>
                    <a:lnT>
                      <a:noFill/>
                    </a:lnT>
                    <a:lnB>
                      <a:noFill/>
                    </a:lnB>
                    <a:noFill/>
                  </a:tcPr>
                </a:tc>
                <a:extLst>
                  <a:ext uri="{0D108BD9-81ED-4DB2-BD59-A6C34878D82A}">
                    <a16:rowId xmlns:a16="http://schemas.microsoft.com/office/drawing/2014/main" val="3855367447"/>
                  </a:ext>
                </a:extLst>
              </a:tr>
              <a:tr h="147882">
                <a:tc>
                  <a:txBody>
                    <a:bodyPr/>
                    <a:lstStyle/>
                    <a:p>
                      <a:pPr algn="l" rtl="0" fontAlgn="b">
                        <a:buNone/>
                      </a:pPr>
                      <a:r>
                        <a:rPr lang="en-US" sz="900" b="0" i="0" u="none" strike="noStrike" dirty="0">
                          <a:solidFill>
                            <a:schemeClr val="tx1"/>
                          </a:solidFill>
                          <a:effectLst/>
                          <a:latin typeface="Calibri" panose="020F0502020204030204" pitchFamily="34" charset="0"/>
                        </a:rPr>
                        <a:t>Hologic</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HCE</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$4,101 </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-6%</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-2%</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$16,824 </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4.1X</a:t>
                      </a:r>
                    </a:p>
                  </a:txBody>
                  <a:tcPr marL="0" marR="0" marT="0" marB="0" anchor="b">
                    <a:lnL>
                      <a:noFill/>
                    </a:lnL>
                    <a:lnR>
                      <a:noFill/>
                    </a:lnR>
                    <a:lnT>
                      <a:noFill/>
                    </a:lnT>
                    <a:lnB>
                      <a:noFill/>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0" marB="0" anchor="ctr">
                    <a:lnL>
                      <a:noFill/>
                    </a:lnL>
                    <a:lnR>
                      <a:noFill/>
                    </a:lnR>
                    <a:lnT>
                      <a:noFill/>
                    </a:lnT>
                    <a:lnB>
                      <a:noFill/>
                    </a:lnB>
                    <a:solidFill>
                      <a:schemeClr val="bg1">
                        <a:lumMod val="95000"/>
                      </a:schemeClr>
                    </a:solidFill>
                  </a:tcPr>
                </a:tc>
                <a:tc>
                  <a:txBody>
                    <a:bodyPr/>
                    <a:lstStyle/>
                    <a:p>
                      <a:pPr algn="ctr" fontAlgn="ctr">
                        <a:buNone/>
                      </a:pPr>
                      <a:r>
                        <a:rPr lang="en-US" sz="900" b="0" i="0" u="none" strike="noStrike">
                          <a:solidFill>
                            <a:srgbClr val="000000"/>
                          </a:solidFill>
                          <a:effectLst/>
                          <a:latin typeface="Calibri" panose="020F0502020204030204" pitchFamily="34" charset="0"/>
                        </a:rPr>
                        <a:t> </a:t>
                      </a:r>
                    </a:p>
                  </a:txBody>
                  <a:tcPr marL="0" marR="0" marT="0" marB="0" anchor="ctr">
                    <a:lnL>
                      <a:noFill/>
                    </a:lnL>
                    <a:lnR>
                      <a:noFill/>
                    </a:lnR>
                    <a:lnT>
                      <a:noFill/>
                    </a:lnT>
                    <a:lnB>
                      <a:noFill/>
                    </a:lnB>
                    <a:solidFill>
                      <a:schemeClr val="accent4">
                        <a:lumMod val="20000"/>
                        <a:lumOff val="80000"/>
                      </a:schemeClr>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15%</a:t>
                      </a:r>
                    </a:p>
                  </a:txBody>
                  <a:tcPr marL="0" marR="0" marT="0" marB="0" anchor="ctr">
                    <a:lnL>
                      <a:noFill/>
                    </a:lnL>
                    <a:lnR>
                      <a:noFill/>
                    </a:lnR>
                    <a:lnT>
                      <a:noFill/>
                    </a:lnT>
                    <a:lnB>
                      <a:noFill/>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solidFill>
                      <a:schemeClr val="bg1">
                        <a:lumMod val="95000"/>
                      </a:schemeClr>
                    </a:solidFill>
                  </a:tcPr>
                </a:tc>
                <a:tc>
                  <a:txBody>
                    <a:bodyPr/>
                    <a:lstStyle/>
                    <a:p>
                      <a:pPr algn="ctr" rtl="0" fontAlgn="b">
                        <a:buNone/>
                      </a:pPr>
                      <a:r>
                        <a:rPr lang="en-US" sz="900" b="0" i="0" u="none" strike="noStrike">
                          <a:solidFill>
                            <a:schemeClr val="tx1"/>
                          </a:solidFill>
                          <a:effectLst/>
                          <a:latin typeface="Calibri" panose="020F0502020204030204" pitchFamily="34" charset="0"/>
                        </a:rPr>
                        <a:t>26%</a:t>
                      </a:r>
                    </a:p>
                  </a:txBody>
                  <a:tcPr marL="0" marR="0" marT="9144" marB="9144" anchor="ctr">
                    <a:lnL>
                      <a:noFill/>
                    </a:lnL>
                    <a:lnR>
                      <a:noFill/>
                    </a:lnR>
                    <a:lnT>
                      <a:noFill/>
                    </a:lnT>
                    <a:lnB>
                      <a:noFill/>
                    </a:lnB>
                    <a:solidFill>
                      <a:schemeClr val="accent4">
                        <a:lumMod val="20000"/>
                        <a:lumOff val="80000"/>
                      </a:schemeClr>
                    </a:solidFill>
                  </a:tcPr>
                </a:tc>
                <a:tc>
                  <a:txBody>
                    <a:bodyPr/>
                    <a:lstStyle/>
                    <a:p>
                      <a:pPr algn="ctr" fontAlgn="b"/>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a:noFill/>
                    </a:lnB>
                    <a:solidFill>
                      <a:schemeClr val="accent4">
                        <a:lumMod val="20000"/>
                        <a:lumOff val="80000"/>
                      </a:schemeClr>
                    </a:solidFill>
                  </a:tcPr>
                </a:tc>
                <a:tc>
                  <a:txBody>
                    <a:bodyPr/>
                    <a:lstStyle/>
                    <a:p>
                      <a:pPr algn="ctr" rtl="0" fontAlgn="b">
                        <a:buNone/>
                      </a:pPr>
                      <a:r>
                        <a:rPr lang="en-US" sz="900" b="0" i="0" u="none" strike="noStrike">
                          <a:solidFill>
                            <a:schemeClr val="tx1"/>
                          </a:solidFill>
                          <a:effectLst/>
                          <a:latin typeface="Calibri" panose="020F0502020204030204" pitchFamily="34" charset="0"/>
                        </a:rPr>
                        <a:t>-9%</a:t>
                      </a:r>
                    </a:p>
                  </a:txBody>
                  <a:tcPr marL="0" marR="0" marT="9144" marB="9144" anchor="ctr">
                    <a:lnL>
                      <a:noFill/>
                    </a:lnL>
                    <a:lnR>
                      <a:noFill/>
                    </a:lnR>
                    <a:lnT>
                      <a:noFill/>
                    </a:lnT>
                    <a:lnB>
                      <a:noFill/>
                    </a:lnB>
                    <a:solidFill>
                      <a:schemeClr val="accent4">
                        <a:lumMod val="20000"/>
                        <a:lumOff val="80000"/>
                      </a:schemeClr>
                    </a:solidFill>
                  </a:tcPr>
                </a:tc>
                <a:tc>
                  <a:txBody>
                    <a:bodyPr/>
                    <a:lstStyle/>
                    <a:p>
                      <a:pPr algn="ctr" fontAlgn="ctr">
                        <a:buNone/>
                      </a:pPr>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a:noFill/>
                    </a:lnB>
                    <a:solidFill>
                      <a:schemeClr val="accent4">
                        <a:lumMod val="20000"/>
                        <a:lumOff val="80000"/>
                      </a:schemeClr>
                    </a:solidFill>
                  </a:tcPr>
                </a:tc>
                <a:tc>
                  <a:txBody>
                    <a:bodyPr/>
                    <a:lstStyle/>
                    <a:p>
                      <a:pPr algn="ctr" rtl="0" fontAlgn="b">
                        <a:buNone/>
                      </a:pPr>
                      <a:r>
                        <a:rPr lang="en-US" sz="900" b="0" i="0" u="none" strike="noStrike">
                          <a:solidFill>
                            <a:schemeClr val="tx1"/>
                          </a:solidFill>
                          <a:effectLst/>
                          <a:latin typeface="Calibri" panose="020F0502020204030204" pitchFamily="34" charset="0"/>
                        </a:rPr>
                        <a:t>7</a:t>
                      </a:r>
                    </a:p>
                  </a:txBody>
                  <a:tcPr marL="0" marR="0" marT="0" marB="0" anchor="b">
                    <a:lnL>
                      <a:noFill/>
                    </a:lnL>
                    <a:lnR>
                      <a:noFill/>
                    </a:lnR>
                    <a:lnT>
                      <a:noFill/>
                    </a:lnT>
                    <a:lnB>
                      <a:noFill/>
                    </a:lnB>
                    <a:solidFill>
                      <a:srgbClr val="F2F2F2"/>
                    </a:solidFill>
                  </a:tcPr>
                </a:tc>
                <a:extLst>
                  <a:ext uri="{0D108BD9-81ED-4DB2-BD59-A6C34878D82A}">
                    <a16:rowId xmlns:a16="http://schemas.microsoft.com/office/drawing/2014/main" val="2162973241"/>
                  </a:ext>
                </a:extLst>
              </a:tr>
              <a:tr h="147882">
                <a:tc>
                  <a:txBody>
                    <a:bodyPr/>
                    <a:lstStyle/>
                    <a:p>
                      <a:pPr algn="l" rtl="0" fontAlgn="b">
                        <a:buNone/>
                      </a:pPr>
                      <a:r>
                        <a:rPr lang="en-US" sz="900" b="0" i="0" u="none" strike="noStrike" dirty="0">
                          <a:solidFill>
                            <a:schemeClr val="tx1"/>
                          </a:solidFill>
                          <a:effectLst/>
                          <a:latin typeface="Calibri" panose="020F0502020204030204" pitchFamily="34" charset="0"/>
                        </a:rPr>
                        <a:t>Cooper</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HCS</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$4,092 </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7%</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1%</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$16,325 </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4.0X</a:t>
                      </a:r>
                    </a:p>
                  </a:txBody>
                  <a:tcPr marL="0" marR="0" marT="0" marB="0" anchor="b">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0" marB="0" anchor="ctr">
                    <a:lnL>
                      <a:noFill/>
                    </a:lnL>
                    <a:lnR>
                      <a:noFill/>
                    </a:lnR>
                    <a:lnT>
                      <a:noFill/>
                    </a:lnT>
                    <a:lnB>
                      <a:noFill/>
                    </a:lnB>
                    <a:noFill/>
                  </a:tcPr>
                </a:tc>
                <a:tc>
                  <a:txBody>
                    <a:bodyPr/>
                    <a:lstStyle/>
                    <a:p>
                      <a:pPr algn="ctr" fontAlgn="ctr">
                        <a:buNone/>
                      </a:pPr>
                      <a:endParaRPr lang="en-US" sz="900" b="0" i="0" u="none" strike="noStrike">
                        <a:solidFill>
                          <a:srgbClr val="000000"/>
                        </a:solidFill>
                        <a:effectLst/>
                        <a:latin typeface="Calibri" panose="020F0502020204030204" pitchFamily="34" charset="0"/>
                      </a:endParaRPr>
                    </a:p>
                  </a:txBody>
                  <a:tcPr marL="0" marR="0" marT="0" marB="0" anchor="ctr">
                    <a:lnL>
                      <a:noFill/>
                    </a:lnL>
                    <a:lnR>
                      <a:noFill/>
                    </a:lnR>
                    <a:lnT>
                      <a:noFill/>
                    </a:lnT>
                    <a:lnB>
                      <a:noFill/>
                    </a:lnB>
                    <a:solidFill>
                      <a:schemeClr val="accent4">
                        <a:lumMod val="20000"/>
                        <a:lumOff val="80000"/>
                      </a:schemeClr>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4%</a:t>
                      </a:r>
                    </a:p>
                  </a:txBody>
                  <a:tcPr marL="0" marR="0" marT="0" marB="0" anchor="ctr">
                    <a:lnL>
                      <a:noFill/>
                    </a:lnL>
                    <a:lnR>
                      <a:noFill/>
                    </a:lnR>
                    <a:lnT>
                      <a:noFill/>
                    </a:lnT>
                    <a:lnB>
                      <a:noFill/>
                    </a:lnB>
                    <a:solidFill>
                      <a:schemeClr val="accent4">
                        <a:lumMod val="20000"/>
                        <a:lumOff val="80000"/>
                      </a:schemeClr>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50%</a:t>
                      </a:r>
                    </a:p>
                  </a:txBody>
                  <a:tcPr marL="0" marR="0" marT="9144" marB="9144" anchor="ctr">
                    <a:lnL>
                      <a:noFill/>
                    </a:lnL>
                    <a:lnR>
                      <a:noFill/>
                    </a:lnR>
                    <a:lnT>
                      <a:noFill/>
                    </a:lnT>
                    <a:lnB>
                      <a:noFill/>
                    </a:lnB>
                    <a:noFill/>
                  </a:tcPr>
                </a:tc>
                <a:tc>
                  <a:txBody>
                    <a:bodyPr/>
                    <a:lstStyle/>
                    <a:p>
                      <a:pPr algn="ctr" fontAlgn="b"/>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21%</a:t>
                      </a:r>
                    </a:p>
                  </a:txBody>
                  <a:tcPr marL="0" marR="0" marT="9144" marB="9144" anchor="ctr">
                    <a:lnL>
                      <a:noFill/>
                    </a:lnL>
                    <a:lnR>
                      <a:noFill/>
                    </a:lnR>
                    <a:lnT>
                      <a:noFill/>
                    </a:lnT>
                    <a:lnB>
                      <a:noFill/>
                    </a:lnB>
                    <a:noFill/>
                  </a:tcPr>
                </a:tc>
                <a:tc>
                  <a:txBody>
                    <a:bodyPr/>
                    <a:lstStyle/>
                    <a:p>
                      <a:pPr algn="ctr" fontAlgn="ctr">
                        <a:buNone/>
                      </a:pPr>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a:noFill/>
                    </a:lnB>
                    <a:solidFill>
                      <a:schemeClr val="accent4">
                        <a:lumMod val="20000"/>
                        <a:lumOff val="80000"/>
                      </a:schemeClr>
                    </a:solidFill>
                  </a:tcPr>
                </a:tc>
                <a:tc>
                  <a:txBody>
                    <a:bodyPr/>
                    <a:lstStyle/>
                    <a:p>
                      <a:pPr algn="ctr" rtl="0" fontAlgn="b">
                        <a:buNone/>
                      </a:pPr>
                      <a:r>
                        <a:rPr lang="en-US" sz="900" b="0" i="0" u="none" strike="noStrike">
                          <a:solidFill>
                            <a:schemeClr val="tx1"/>
                          </a:solidFill>
                          <a:effectLst/>
                          <a:latin typeface="Calibri" panose="020F0502020204030204" pitchFamily="34" charset="0"/>
                        </a:rPr>
                        <a:t>7</a:t>
                      </a:r>
                    </a:p>
                  </a:txBody>
                  <a:tcPr marL="0" marR="0" marT="0" marB="0" anchor="b">
                    <a:lnL>
                      <a:noFill/>
                    </a:lnL>
                    <a:lnR>
                      <a:noFill/>
                    </a:lnR>
                    <a:lnT>
                      <a:noFill/>
                    </a:lnT>
                    <a:lnB>
                      <a:noFill/>
                    </a:lnB>
                    <a:noFill/>
                  </a:tcPr>
                </a:tc>
                <a:extLst>
                  <a:ext uri="{0D108BD9-81ED-4DB2-BD59-A6C34878D82A}">
                    <a16:rowId xmlns:a16="http://schemas.microsoft.com/office/drawing/2014/main" val="4245963046"/>
                  </a:ext>
                </a:extLst>
              </a:tr>
              <a:tr h="147882">
                <a:tc>
                  <a:txBody>
                    <a:bodyPr/>
                    <a:lstStyle/>
                    <a:p>
                      <a:pPr algn="l" rtl="0" fontAlgn="b">
                        <a:buNone/>
                      </a:pPr>
                      <a:r>
                        <a:rPr lang="en-US" sz="900" b="0" i="0" u="none" strike="noStrike" dirty="0">
                          <a:solidFill>
                            <a:schemeClr val="tx1"/>
                          </a:solidFill>
                          <a:effectLst/>
                          <a:latin typeface="Calibri" panose="020F0502020204030204" pitchFamily="34" charset="0"/>
                        </a:rPr>
                        <a:t>Align</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HCS</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$4,035 </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3%</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-15%</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$13,551 </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3.4X</a:t>
                      </a:r>
                    </a:p>
                  </a:txBody>
                  <a:tcPr marL="0" marR="0" marT="0" marB="0" anchor="b">
                    <a:lnL>
                      <a:noFill/>
                    </a:lnL>
                    <a:lnR>
                      <a:noFill/>
                    </a:lnR>
                    <a:lnT>
                      <a:noFill/>
                    </a:lnT>
                    <a:lnB>
                      <a:noFill/>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0" marB="0" anchor="ctr">
                    <a:lnL>
                      <a:noFill/>
                    </a:lnL>
                    <a:lnR>
                      <a:noFill/>
                    </a:lnR>
                    <a:lnT>
                      <a:noFill/>
                    </a:lnT>
                    <a:lnB>
                      <a:noFill/>
                    </a:lnB>
                    <a:solidFill>
                      <a:schemeClr val="bg1">
                        <a:lumMod val="95000"/>
                      </a:schemeClr>
                    </a:solidFill>
                  </a:tcPr>
                </a:tc>
                <a:tc>
                  <a:txBody>
                    <a:bodyPr/>
                    <a:lstStyle/>
                    <a:p>
                      <a:pPr algn="ctr" fontAlgn="ctr">
                        <a:buNone/>
                      </a:pPr>
                      <a:r>
                        <a:rPr lang="en-US" sz="900" b="0" i="0" u="none" strike="noStrike">
                          <a:solidFill>
                            <a:srgbClr val="000000"/>
                          </a:solidFill>
                          <a:effectLst/>
                          <a:latin typeface="Calibri" panose="020F0502020204030204" pitchFamily="34" charset="0"/>
                        </a:rPr>
                        <a:t>x</a:t>
                      </a:r>
                    </a:p>
                  </a:txBody>
                  <a:tcPr marL="0" marR="0" marT="0" marB="0" anchor="ctr">
                    <a:lnL>
                      <a:noFill/>
                    </a:lnL>
                    <a:lnR>
                      <a:noFill/>
                    </a:lnR>
                    <a:lnT>
                      <a:noFill/>
                    </a:lnT>
                    <a:lnB>
                      <a:noFill/>
                    </a:lnB>
                    <a:solidFill>
                      <a:schemeClr val="bg1">
                        <a:lumMod val="95000"/>
                      </a:schemeClr>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9%</a:t>
                      </a:r>
                    </a:p>
                  </a:txBody>
                  <a:tcPr marL="0" marR="0" marT="0" marB="0" anchor="ctr">
                    <a:lnL>
                      <a:noFill/>
                    </a:lnL>
                    <a:lnR>
                      <a:noFill/>
                    </a:lnR>
                    <a:lnT>
                      <a:noFill/>
                    </a:lnT>
                    <a:lnB>
                      <a:noFill/>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solidFill>
                      <a:schemeClr val="bg1">
                        <a:lumMod val="95000"/>
                      </a:schemeClr>
                    </a:solidFill>
                  </a:tcPr>
                </a:tc>
                <a:tc>
                  <a:txBody>
                    <a:bodyPr/>
                    <a:lstStyle/>
                    <a:p>
                      <a:pPr algn="ctr" fontAlgn="ctr">
                        <a:buNone/>
                      </a:pPr>
                      <a:endParaRPr lang="en-US" sz="900" b="0" i="0" u="none" strike="noStrike">
                        <a:solidFill>
                          <a:schemeClr val="tx1"/>
                        </a:solidFill>
                        <a:effectLst/>
                        <a:highlight>
                          <a:srgbClr val="FFFF00"/>
                        </a:highlight>
                        <a:latin typeface="Calibri" panose="020F0502020204030204" pitchFamily="34" charset="0"/>
                      </a:endParaRPr>
                    </a:p>
                  </a:txBody>
                  <a:tcPr marL="0" marR="0" marT="9144" marB="9144" anchor="ctr">
                    <a:lnL>
                      <a:noFill/>
                    </a:lnL>
                    <a:lnR>
                      <a:noFill/>
                    </a:lnR>
                    <a:lnT>
                      <a:noFill/>
                    </a:lnT>
                    <a:lnB>
                      <a:noFill/>
                    </a:lnB>
                    <a:solidFill>
                      <a:schemeClr val="accent4">
                        <a:lumMod val="20000"/>
                        <a:lumOff val="80000"/>
                      </a:schemeClr>
                    </a:solidFill>
                  </a:tcPr>
                </a:tc>
                <a:tc>
                  <a:txBody>
                    <a:bodyPr/>
                    <a:lstStyle/>
                    <a:p>
                      <a:pPr algn="ctr" rtl="0" fontAlgn="b">
                        <a:buNone/>
                      </a:pPr>
                      <a:r>
                        <a:rPr lang="en-US" sz="900" b="0" i="0" u="none" strike="noStrike">
                          <a:solidFill>
                            <a:schemeClr val="tx1"/>
                          </a:solidFill>
                          <a:effectLst/>
                          <a:latin typeface="Calibri" panose="020F0502020204030204" pitchFamily="34" charset="0"/>
                        </a:rPr>
                        <a:t>59%</a:t>
                      </a:r>
                    </a:p>
                  </a:txBody>
                  <a:tcPr marL="0" marR="0" marT="9144" marB="9144" anchor="ctr">
                    <a:lnL>
                      <a:noFill/>
                    </a:lnL>
                    <a:lnR>
                      <a:noFill/>
                    </a:lnR>
                    <a:lnT>
                      <a:noFill/>
                    </a:lnT>
                    <a:lnB>
                      <a:noFill/>
                    </a:lnB>
                    <a:solidFill>
                      <a:schemeClr val="bg1">
                        <a:lumMod val="95000"/>
                      </a:schemeClr>
                    </a:solidFill>
                  </a:tcPr>
                </a:tc>
                <a:tc>
                  <a:txBody>
                    <a:bodyPr/>
                    <a:lstStyle/>
                    <a:p>
                      <a:pPr algn="ctr" fontAlgn="b"/>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a:noFill/>
                    </a:lnB>
                    <a:solidFill>
                      <a:schemeClr val="bg1">
                        <a:lumMod val="95000"/>
                      </a:schemeClr>
                    </a:solidFill>
                  </a:tcPr>
                </a:tc>
                <a:tc>
                  <a:txBody>
                    <a:bodyPr/>
                    <a:lstStyle/>
                    <a:p>
                      <a:pPr algn="ctr" rtl="0" fontAlgn="b">
                        <a:buNone/>
                      </a:pPr>
                      <a:r>
                        <a:rPr lang="en-US" sz="900" b="0" i="0" u="none" strike="noStrike">
                          <a:solidFill>
                            <a:schemeClr val="tx1"/>
                          </a:solidFill>
                          <a:effectLst/>
                          <a:latin typeface="Calibri" panose="020F0502020204030204" pitchFamily="34" charset="0"/>
                        </a:rPr>
                        <a:t>5%</a:t>
                      </a:r>
                    </a:p>
                  </a:txBody>
                  <a:tcPr marL="0" marR="0" marT="9144" marB="9144" anchor="ctr">
                    <a:lnL>
                      <a:noFill/>
                    </a:lnL>
                    <a:lnR>
                      <a:noFill/>
                    </a:lnR>
                    <a:lnT>
                      <a:noFill/>
                    </a:lnT>
                    <a:lnB>
                      <a:noFill/>
                    </a:lnB>
                    <a:solidFill>
                      <a:schemeClr val="bg1">
                        <a:lumMod val="95000"/>
                      </a:schemeClr>
                    </a:solidFill>
                  </a:tcPr>
                </a:tc>
                <a:tc>
                  <a:txBody>
                    <a:bodyPr/>
                    <a:lstStyle/>
                    <a:p>
                      <a:pPr algn="ctr" fontAlgn="ctr">
                        <a:buNone/>
                      </a:pPr>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a:noFill/>
                    </a:lnB>
                    <a:solidFill>
                      <a:schemeClr val="accent4">
                        <a:lumMod val="20000"/>
                        <a:lumOff val="80000"/>
                      </a:schemeClr>
                    </a:solidFill>
                  </a:tcPr>
                </a:tc>
                <a:tc>
                  <a:txBody>
                    <a:bodyPr/>
                    <a:lstStyle/>
                    <a:p>
                      <a:pPr algn="ctr" rtl="0" fontAlgn="b">
                        <a:buNone/>
                      </a:pPr>
                      <a:r>
                        <a:rPr lang="en-US" sz="900" b="0" i="0" u="none" strike="noStrike">
                          <a:solidFill>
                            <a:schemeClr val="tx1"/>
                          </a:solidFill>
                          <a:effectLst/>
                          <a:latin typeface="Calibri" panose="020F0502020204030204" pitchFamily="34" charset="0"/>
                        </a:rPr>
                        <a:t>8</a:t>
                      </a:r>
                    </a:p>
                  </a:txBody>
                  <a:tcPr marL="0" marR="0" marT="0" marB="0" anchor="b">
                    <a:lnL>
                      <a:noFill/>
                    </a:lnL>
                    <a:lnR>
                      <a:noFill/>
                    </a:lnR>
                    <a:lnT>
                      <a:noFill/>
                    </a:lnT>
                    <a:lnB>
                      <a:noFill/>
                    </a:lnB>
                    <a:solidFill>
                      <a:srgbClr val="F2F2F2"/>
                    </a:solidFill>
                  </a:tcPr>
                </a:tc>
                <a:extLst>
                  <a:ext uri="{0D108BD9-81ED-4DB2-BD59-A6C34878D82A}">
                    <a16:rowId xmlns:a16="http://schemas.microsoft.com/office/drawing/2014/main" val="2372183973"/>
                  </a:ext>
                </a:extLst>
              </a:tr>
              <a:tr h="147882">
                <a:tc>
                  <a:txBody>
                    <a:bodyPr/>
                    <a:lstStyle/>
                    <a:p>
                      <a:pPr algn="l" rtl="0" fontAlgn="b">
                        <a:buNone/>
                      </a:pPr>
                      <a:r>
                        <a:rPr lang="en-US" sz="900" b="0" i="0" u="none" strike="noStrike" dirty="0">
                          <a:solidFill>
                            <a:schemeClr val="tx1"/>
                          </a:solidFill>
                          <a:effectLst/>
                          <a:latin typeface="Calibri" panose="020F0502020204030204" pitchFamily="34" charset="0"/>
                        </a:rPr>
                        <a:t>Mettler-</a:t>
                      </a:r>
                      <a:r>
                        <a:rPr lang="en-US" sz="900" b="0" i="0" u="none" strike="noStrike" dirty="0" err="1">
                          <a:solidFill>
                            <a:schemeClr val="tx1"/>
                          </a:solidFill>
                          <a:effectLst/>
                          <a:latin typeface="Calibri" panose="020F0502020204030204" pitchFamily="34" charset="0"/>
                        </a:rPr>
                        <a:t>Toldeo</a:t>
                      </a:r>
                      <a:endParaRPr lang="en-US" sz="900" b="0" i="0" u="none" strike="noStrike" dirty="0">
                        <a:solidFill>
                          <a:schemeClr val="tx1"/>
                        </a:solidFill>
                        <a:effectLst/>
                        <a:latin typeface="Calibri" panose="020F0502020204030204" pitchFamily="34" charset="0"/>
                      </a:endParaRP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LS</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$4,026 </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1%</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-1%</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$27,778 </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6.9X</a:t>
                      </a:r>
                    </a:p>
                  </a:txBody>
                  <a:tcPr marL="0" marR="0" marT="0" marB="0" anchor="b">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0" marB="0" anchor="ctr">
                    <a:lnL>
                      <a:noFill/>
                    </a:lnL>
                    <a:lnR>
                      <a:noFill/>
                    </a:lnR>
                    <a:lnT>
                      <a:noFill/>
                    </a:lnT>
                    <a:lnB>
                      <a:noFill/>
                    </a:lnB>
                    <a:noFill/>
                  </a:tcPr>
                </a:tc>
                <a:tc>
                  <a:txBody>
                    <a:bodyPr/>
                    <a:lstStyle/>
                    <a:p>
                      <a:pPr algn="ctr" fontAlgn="ctr">
                        <a:buNone/>
                      </a:pPr>
                      <a:r>
                        <a:rPr lang="en-US" sz="900" b="0" i="0" u="none" strike="noStrike">
                          <a:solidFill>
                            <a:srgbClr val="000000"/>
                          </a:solidFill>
                          <a:effectLst/>
                          <a:latin typeface="Calibri" panose="020F0502020204030204" pitchFamily="34" charset="0"/>
                        </a:rPr>
                        <a:t>x</a:t>
                      </a:r>
                    </a:p>
                  </a:txBody>
                  <a:tcPr marL="0" marR="0" marT="0" marB="0" anchor="ctr">
                    <a:lnL>
                      <a:noFill/>
                    </a:lnL>
                    <a:lnR>
                      <a:noFill/>
                    </a:lnR>
                    <a:lnT>
                      <a:noFill/>
                    </a:lnT>
                    <a:lnB>
                      <a:noFill/>
                    </a:lnB>
                    <a:noFill/>
                  </a:tcPr>
                </a:tc>
                <a:tc>
                  <a:txBody>
                    <a:bodyPr/>
                    <a:lstStyle/>
                    <a:p>
                      <a:pPr algn="ctr" fontAlgn="ctr">
                        <a:buNone/>
                      </a:pPr>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a:noFill/>
                    </a:lnB>
                    <a:solidFill>
                      <a:schemeClr val="accent4">
                        <a:lumMod val="20000"/>
                        <a:lumOff val="80000"/>
                      </a:schemeClr>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5%</a:t>
                      </a:r>
                    </a:p>
                  </a:txBody>
                  <a:tcPr marL="0" marR="0" marT="0" marB="0"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65%</a:t>
                      </a:r>
                    </a:p>
                  </a:txBody>
                  <a:tcPr marL="0" marR="0" marT="9144" marB="9144" anchor="ctr">
                    <a:lnL>
                      <a:noFill/>
                    </a:lnL>
                    <a:lnR>
                      <a:noFill/>
                    </a:lnR>
                    <a:lnT>
                      <a:noFill/>
                    </a:lnT>
                    <a:lnB>
                      <a:noFill/>
                    </a:lnB>
                    <a:noFill/>
                  </a:tcPr>
                </a:tc>
                <a:tc>
                  <a:txBody>
                    <a:bodyPr/>
                    <a:lstStyle/>
                    <a:p>
                      <a:pPr algn="ctr" fontAlgn="b"/>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4%</a:t>
                      </a:r>
                    </a:p>
                  </a:txBody>
                  <a:tcPr marL="0" marR="0" marT="9144" marB="9144" anchor="ctr">
                    <a:lnL>
                      <a:noFill/>
                    </a:lnL>
                    <a:lnR>
                      <a:noFill/>
                    </a:lnR>
                    <a:lnT>
                      <a:noFill/>
                    </a:lnT>
                    <a:lnB>
                      <a:noFill/>
                    </a:lnB>
                    <a:noFill/>
                  </a:tcPr>
                </a:tc>
                <a:tc>
                  <a:txBody>
                    <a:bodyPr/>
                    <a:lstStyle/>
                    <a:p>
                      <a:pPr algn="ctr" fontAlgn="ctr">
                        <a:buNone/>
                      </a:pPr>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a:noFill/>
                    </a:lnB>
                    <a:solidFill>
                      <a:schemeClr val="accent4">
                        <a:lumMod val="20000"/>
                        <a:lumOff val="80000"/>
                      </a:schemeClr>
                    </a:solidFill>
                  </a:tcPr>
                </a:tc>
                <a:tc>
                  <a:txBody>
                    <a:bodyPr/>
                    <a:lstStyle/>
                    <a:p>
                      <a:pPr algn="ctr" rtl="0" fontAlgn="b">
                        <a:buNone/>
                      </a:pPr>
                      <a:r>
                        <a:rPr lang="en-US" sz="900" b="0" i="0" u="none" strike="noStrike">
                          <a:solidFill>
                            <a:schemeClr val="tx1"/>
                          </a:solidFill>
                          <a:effectLst/>
                          <a:latin typeface="Calibri" panose="020F0502020204030204" pitchFamily="34" charset="0"/>
                        </a:rPr>
                        <a:t>8</a:t>
                      </a:r>
                    </a:p>
                  </a:txBody>
                  <a:tcPr marL="0" marR="0" marT="0" marB="0" anchor="b">
                    <a:lnL>
                      <a:noFill/>
                    </a:lnL>
                    <a:lnR>
                      <a:noFill/>
                    </a:lnR>
                    <a:lnT>
                      <a:noFill/>
                    </a:lnT>
                    <a:lnB>
                      <a:noFill/>
                    </a:lnB>
                    <a:noFill/>
                  </a:tcPr>
                </a:tc>
                <a:extLst>
                  <a:ext uri="{0D108BD9-81ED-4DB2-BD59-A6C34878D82A}">
                    <a16:rowId xmlns:a16="http://schemas.microsoft.com/office/drawing/2014/main" val="759630688"/>
                  </a:ext>
                </a:extLst>
              </a:tr>
              <a:tr h="147882">
                <a:tc>
                  <a:txBody>
                    <a:bodyPr/>
                    <a:lstStyle/>
                    <a:p>
                      <a:pPr algn="l" rtl="0" fontAlgn="b">
                        <a:buNone/>
                      </a:pPr>
                      <a:r>
                        <a:rPr lang="en-US" sz="900" b="0" i="0" u="none" strike="noStrike" dirty="0">
                          <a:solidFill>
                            <a:schemeClr val="tx1"/>
                          </a:solidFill>
                          <a:effectLst/>
                          <a:latin typeface="Calibri" panose="020F0502020204030204" pitchFamily="34" charset="0"/>
                        </a:rPr>
                        <a:t>Waters</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LS</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$3,165 </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2%</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1%</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$31,332 </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9.9X</a:t>
                      </a:r>
                    </a:p>
                  </a:txBody>
                  <a:tcPr marL="0" marR="0" marT="0" marB="0" anchor="b">
                    <a:lnL>
                      <a:noFill/>
                    </a:lnL>
                    <a:lnR>
                      <a:noFill/>
                    </a:lnR>
                    <a:lnT>
                      <a:noFill/>
                    </a:lnT>
                    <a:lnB>
                      <a:noFill/>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0" marB="0" anchor="ctr">
                    <a:lnL>
                      <a:noFill/>
                    </a:lnL>
                    <a:lnR>
                      <a:noFill/>
                    </a:lnR>
                    <a:lnT>
                      <a:noFill/>
                    </a:lnT>
                    <a:lnB>
                      <a:noFill/>
                    </a:lnB>
                    <a:solidFill>
                      <a:schemeClr val="bg1">
                        <a:lumMod val="95000"/>
                      </a:schemeClr>
                    </a:solidFill>
                  </a:tcPr>
                </a:tc>
                <a:tc>
                  <a:txBody>
                    <a:bodyPr/>
                    <a:lstStyle/>
                    <a:p>
                      <a:pPr algn="ctr" fontAlgn="ctr">
                        <a:buNone/>
                      </a:pPr>
                      <a:r>
                        <a:rPr lang="en-US" sz="900" b="0" i="0" u="none" strike="noStrike">
                          <a:solidFill>
                            <a:srgbClr val="000000"/>
                          </a:solidFill>
                          <a:effectLst/>
                          <a:latin typeface="Calibri" panose="020F0502020204030204" pitchFamily="34" charset="0"/>
                        </a:rPr>
                        <a:t>x</a:t>
                      </a:r>
                    </a:p>
                  </a:txBody>
                  <a:tcPr marL="0" marR="0" marT="0" marB="0" anchor="ctr">
                    <a:lnL>
                      <a:noFill/>
                    </a:lnL>
                    <a:lnR>
                      <a:noFill/>
                    </a:lnR>
                    <a:lnT>
                      <a:noFill/>
                    </a:lnT>
                    <a:lnB>
                      <a:noFill/>
                    </a:lnB>
                    <a:solidFill>
                      <a:schemeClr val="bg1">
                        <a:lumMod val="95000"/>
                      </a:schemeClr>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6%</a:t>
                      </a:r>
                    </a:p>
                  </a:txBody>
                  <a:tcPr marL="0" marR="0" marT="0" marB="0" anchor="ctr">
                    <a:lnL>
                      <a:noFill/>
                    </a:lnL>
                    <a:lnR>
                      <a:noFill/>
                    </a:lnR>
                    <a:lnT>
                      <a:noFill/>
                    </a:lnT>
                    <a:lnB>
                      <a:noFill/>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69%</a:t>
                      </a:r>
                    </a:p>
                  </a:txBody>
                  <a:tcPr marL="0" marR="0" marT="9144" marB="9144" anchor="ctr">
                    <a:lnL>
                      <a:noFill/>
                    </a:lnL>
                    <a:lnR>
                      <a:noFill/>
                    </a:lnR>
                    <a:lnT>
                      <a:noFill/>
                    </a:lnT>
                    <a:lnB>
                      <a:noFill/>
                    </a:lnB>
                    <a:solidFill>
                      <a:srgbClr val="F2F2F2"/>
                    </a:solidFill>
                  </a:tcPr>
                </a:tc>
                <a:tc>
                  <a:txBody>
                    <a:bodyPr/>
                    <a:lstStyle/>
                    <a:p>
                      <a:pPr algn="ctr" fontAlgn="b"/>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2%</a:t>
                      </a:r>
                    </a:p>
                  </a:txBody>
                  <a:tcPr marL="0" marR="0" marT="9144" marB="9144" anchor="ctr">
                    <a:lnL>
                      <a:noFill/>
                    </a:lnL>
                    <a:lnR>
                      <a:noFill/>
                    </a:lnR>
                    <a:lnT>
                      <a:noFill/>
                    </a:lnT>
                    <a:lnB>
                      <a:noFill/>
                    </a:lnB>
                    <a:solidFill>
                      <a:schemeClr val="bg1">
                        <a:lumMod val="95000"/>
                      </a:schemeClr>
                    </a:solidFill>
                  </a:tcPr>
                </a:tc>
                <a:tc>
                  <a:txBody>
                    <a:bodyPr/>
                    <a:lstStyle/>
                    <a:p>
                      <a:pPr algn="ctr" fontAlgn="ctr">
                        <a:buNone/>
                      </a:pPr>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a:noFill/>
                    </a:lnB>
                    <a:solidFill>
                      <a:schemeClr val="accent4">
                        <a:lumMod val="20000"/>
                        <a:lumOff val="80000"/>
                      </a:schemeClr>
                    </a:solidFill>
                  </a:tcPr>
                </a:tc>
                <a:tc>
                  <a:txBody>
                    <a:bodyPr/>
                    <a:lstStyle/>
                    <a:p>
                      <a:pPr algn="ctr" rtl="0" fontAlgn="b">
                        <a:buNone/>
                      </a:pPr>
                      <a:r>
                        <a:rPr lang="en-US" sz="900" b="0" i="0" u="none" strike="noStrike">
                          <a:solidFill>
                            <a:schemeClr val="tx1"/>
                          </a:solidFill>
                          <a:effectLst/>
                          <a:latin typeface="Calibri" panose="020F0502020204030204" pitchFamily="34" charset="0"/>
                        </a:rPr>
                        <a:t>9</a:t>
                      </a:r>
                    </a:p>
                  </a:txBody>
                  <a:tcPr marL="0" marR="0" marT="0" marB="0" anchor="b">
                    <a:lnL>
                      <a:noFill/>
                    </a:lnL>
                    <a:lnR>
                      <a:noFill/>
                    </a:lnR>
                    <a:lnT>
                      <a:noFill/>
                    </a:lnT>
                    <a:lnB>
                      <a:noFill/>
                    </a:lnB>
                    <a:solidFill>
                      <a:srgbClr val="F2F2F2"/>
                    </a:solidFill>
                  </a:tcPr>
                </a:tc>
                <a:extLst>
                  <a:ext uri="{0D108BD9-81ED-4DB2-BD59-A6C34878D82A}">
                    <a16:rowId xmlns:a16="http://schemas.microsoft.com/office/drawing/2014/main" val="464381234"/>
                  </a:ext>
                </a:extLst>
              </a:tr>
              <a:tr h="147882">
                <a:tc>
                  <a:txBody>
                    <a:bodyPr/>
                    <a:lstStyle/>
                    <a:p>
                      <a:pPr algn="l" rtl="0" fontAlgn="b">
                        <a:buNone/>
                      </a:pPr>
                      <a:r>
                        <a:rPr lang="en-US" sz="900" b="0" i="0" u="none" strike="noStrike" dirty="0" err="1">
                          <a:solidFill>
                            <a:schemeClr val="tx1"/>
                          </a:solidFill>
                          <a:effectLst/>
                          <a:latin typeface="Calibri" panose="020F0502020204030204" pitchFamily="34" charset="0"/>
                        </a:rPr>
                        <a:t>Revvity</a:t>
                      </a:r>
                      <a:endParaRPr lang="en-US" sz="900" b="0" i="0" u="none" strike="noStrike" dirty="0">
                        <a:solidFill>
                          <a:schemeClr val="tx1"/>
                        </a:solidFill>
                        <a:effectLst/>
                        <a:latin typeface="Calibri" panose="020F0502020204030204" pitchFamily="34" charset="0"/>
                      </a:endParaRP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LS</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$2,856 </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-5%</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-7%</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$10,991 </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3.8X</a:t>
                      </a:r>
                    </a:p>
                  </a:txBody>
                  <a:tcPr marL="0" marR="0" marT="0" marB="0" anchor="b">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0" marB="0" anchor="ctr">
                    <a:lnL>
                      <a:noFill/>
                    </a:lnL>
                    <a:lnR>
                      <a:noFill/>
                    </a:lnR>
                    <a:lnT>
                      <a:noFill/>
                    </a:lnT>
                    <a:lnB>
                      <a:noFill/>
                    </a:lnB>
                    <a:noFill/>
                  </a:tcPr>
                </a:tc>
                <a:tc>
                  <a:txBody>
                    <a:bodyPr/>
                    <a:lstStyle/>
                    <a:p>
                      <a:pPr algn="ctr" fontAlgn="ctr">
                        <a:buNone/>
                      </a:pPr>
                      <a:r>
                        <a:rPr lang="en-US" sz="900" b="0" i="0" u="none" strike="noStrike">
                          <a:solidFill>
                            <a:srgbClr val="000000"/>
                          </a:solidFill>
                          <a:effectLst/>
                          <a:latin typeface="Calibri" panose="020F0502020204030204" pitchFamily="34" charset="0"/>
                        </a:rPr>
                        <a:t>x</a:t>
                      </a:r>
                    </a:p>
                  </a:txBody>
                  <a:tcPr marL="0" marR="0" marT="0" marB="0"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8%</a:t>
                      </a:r>
                    </a:p>
                  </a:txBody>
                  <a:tcPr marL="0" marR="0" marT="0" marB="0"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61%</a:t>
                      </a:r>
                    </a:p>
                  </a:txBody>
                  <a:tcPr marL="0" marR="0" marT="9144" marB="9144" anchor="ctr">
                    <a:lnL>
                      <a:noFill/>
                    </a:lnL>
                    <a:lnR>
                      <a:noFill/>
                    </a:lnR>
                    <a:lnT>
                      <a:noFill/>
                    </a:lnT>
                    <a:lnB>
                      <a:noFill/>
                    </a:lnB>
                    <a:noFill/>
                  </a:tcPr>
                </a:tc>
                <a:tc>
                  <a:txBody>
                    <a:bodyPr/>
                    <a:lstStyle/>
                    <a:p>
                      <a:pPr algn="ctr" fontAlgn="b"/>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-17%</a:t>
                      </a:r>
                    </a:p>
                  </a:txBody>
                  <a:tcPr marL="0" marR="0" marT="9144" marB="9144" anchor="ctr">
                    <a:lnL>
                      <a:noFill/>
                    </a:lnL>
                    <a:lnR>
                      <a:noFill/>
                    </a:lnR>
                    <a:lnT>
                      <a:noFill/>
                    </a:lnT>
                    <a:lnB>
                      <a:noFill/>
                    </a:lnB>
                    <a:noFill/>
                  </a:tcPr>
                </a:tc>
                <a:tc>
                  <a:txBody>
                    <a:bodyPr/>
                    <a:lstStyle/>
                    <a:p>
                      <a:pPr algn="ctr" fontAlgn="ctr">
                        <a:buNone/>
                      </a:pPr>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a:noFill/>
                    </a:lnB>
                    <a:solidFill>
                      <a:schemeClr val="accent4">
                        <a:lumMod val="20000"/>
                        <a:lumOff val="80000"/>
                      </a:schemeClr>
                    </a:solidFill>
                  </a:tcPr>
                </a:tc>
                <a:tc>
                  <a:txBody>
                    <a:bodyPr/>
                    <a:lstStyle/>
                    <a:p>
                      <a:pPr algn="ctr" rtl="0" fontAlgn="b">
                        <a:buNone/>
                      </a:pPr>
                      <a:r>
                        <a:rPr lang="en-US" sz="900" b="0" i="0" u="none" strike="noStrike">
                          <a:solidFill>
                            <a:schemeClr val="tx1"/>
                          </a:solidFill>
                          <a:effectLst/>
                          <a:latin typeface="Calibri" panose="020F0502020204030204" pitchFamily="34" charset="0"/>
                        </a:rPr>
                        <a:t>9</a:t>
                      </a:r>
                    </a:p>
                  </a:txBody>
                  <a:tcPr marL="0" marR="0" marT="0" marB="0" anchor="b">
                    <a:lnL>
                      <a:noFill/>
                    </a:lnL>
                    <a:lnR>
                      <a:noFill/>
                    </a:lnR>
                    <a:lnT>
                      <a:noFill/>
                    </a:lnT>
                    <a:lnB>
                      <a:noFill/>
                    </a:lnB>
                    <a:noFill/>
                  </a:tcPr>
                </a:tc>
                <a:extLst>
                  <a:ext uri="{0D108BD9-81ED-4DB2-BD59-A6C34878D82A}">
                    <a16:rowId xmlns:a16="http://schemas.microsoft.com/office/drawing/2014/main" val="3570109716"/>
                  </a:ext>
                </a:extLst>
              </a:tr>
              <a:tr h="147882">
                <a:tc>
                  <a:txBody>
                    <a:bodyPr/>
                    <a:lstStyle/>
                    <a:p>
                      <a:pPr algn="l" rtl="0" fontAlgn="b">
                        <a:buNone/>
                      </a:pPr>
                      <a:r>
                        <a:rPr lang="en-US" sz="900" b="0" i="0" u="none" strike="noStrike">
                          <a:solidFill>
                            <a:schemeClr val="tx1"/>
                          </a:solidFill>
                          <a:effectLst/>
                          <a:latin typeface="Calibri" panose="020F0502020204030204" pitchFamily="34" charset="0"/>
                        </a:rPr>
                        <a:t>Bio-Rad</a:t>
                      </a:r>
                    </a:p>
                  </a:txBody>
                  <a:tcPr marL="0" marR="0" marT="9144" marB="9144" anchor="ctr">
                    <a:lnL>
                      <a:noFill/>
                    </a:lnL>
                    <a:lnR>
                      <a:noFill/>
                    </a:lnR>
                    <a:lnT>
                      <a:noFill/>
                    </a:lnT>
                    <a:lnB w="6350" cap="flat" cmpd="sng" algn="ctr">
                      <a:solidFill>
                        <a:schemeClr val="tx1"/>
                      </a:solidFill>
                      <a:prstDash val="solid"/>
                      <a:round/>
                      <a:headEnd type="none" w="med" len="med"/>
                      <a:tailEnd type="none" w="med" len="med"/>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LS</a:t>
                      </a:r>
                    </a:p>
                  </a:txBody>
                  <a:tcPr marL="0" marR="0" marT="9144" marB="9144" anchor="ctr">
                    <a:lnL>
                      <a:noFill/>
                    </a:lnL>
                    <a:lnR>
                      <a:noFill/>
                    </a:lnR>
                    <a:lnT>
                      <a:noFill/>
                    </a:lnT>
                    <a:lnB w="6350" cap="flat" cmpd="sng" algn="ctr">
                      <a:solidFill>
                        <a:schemeClr val="tx1"/>
                      </a:solidFill>
                      <a:prstDash val="solid"/>
                      <a:round/>
                      <a:headEnd type="none" w="med" len="med"/>
                      <a:tailEnd type="none" w="med" len="med"/>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$2,583 </a:t>
                      </a:r>
                    </a:p>
                  </a:txBody>
                  <a:tcPr marL="0" marR="0" marT="9144" marB="9144" anchor="ctr">
                    <a:lnL>
                      <a:noFill/>
                    </a:lnL>
                    <a:lnR>
                      <a:noFill/>
                    </a:lnR>
                    <a:lnT>
                      <a:noFill/>
                    </a:lnT>
                    <a:lnB w="6350" cap="flat" cmpd="sng" algn="ctr">
                      <a:solidFill>
                        <a:schemeClr val="tx1"/>
                      </a:solidFill>
                      <a:prstDash val="solid"/>
                      <a:round/>
                      <a:headEnd type="none" w="med" len="med"/>
                      <a:tailEnd type="none" w="med" len="med"/>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-3%</a:t>
                      </a:r>
                    </a:p>
                  </a:txBody>
                  <a:tcPr marL="0" marR="0" marT="9144" marB="9144" anchor="ctr">
                    <a:lnL>
                      <a:noFill/>
                    </a:lnL>
                    <a:lnR>
                      <a:noFill/>
                    </a:lnR>
                    <a:lnT>
                      <a:noFill/>
                    </a:lnT>
                    <a:lnB w="6350" cap="flat" cmpd="sng" algn="ctr">
                      <a:solidFill>
                        <a:schemeClr val="tx1"/>
                      </a:solidFill>
                      <a:prstDash val="solid"/>
                      <a:round/>
                      <a:headEnd type="none" w="med" len="med"/>
                      <a:tailEnd type="none" w="med" len="med"/>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-16%</a:t>
                      </a:r>
                    </a:p>
                  </a:txBody>
                  <a:tcPr marL="0" marR="0" marT="9144" marB="9144" anchor="ctr">
                    <a:lnL>
                      <a:noFill/>
                    </a:lnL>
                    <a:lnR>
                      <a:noFill/>
                    </a:lnR>
                    <a:lnT>
                      <a:noFill/>
                    </a:lnT>
                    <a:lnB w="6350" cap="flat" cmpd="sng" algn="ctr">
                      <a:solidFill>
                        <a:schemeClr val="tx1"/>
                      </a:solidFill>
                      <a:prstDash val="solid"/>
                      <a:round/>
                      <a:headEnd type="none" w="med" len="med"/>
                      <a:tailEnd type="none" w="med" len="med"/>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$7,467 </a:t>
                      </a:r>
                    </a:p>
                  </a:txBody>
                  <a:tcPr marL="0" marR="0" marT="9144" marB="9144" anchor="ctr">
                    <a:lnL>
                      <a:noFill/>
                    </a:lnL>
                    <a:lnR>
                      <a:noFill/>
                    </a:lnR>
                    <a:lnT>
                      <a:noFill/>
                    </a:lnT>
                    <a:lnB w="6350" cap="flat" cmpd="sng" algn="ctr">
                      <a:solidFill>
                        <a:schemeClr val="tx1"/>
                      </a:solidFill>
                      <a:prstDash val="solid"/>
                      <a:round/>
                      <a:headEnd type="none" w="med" len="med"/>
                      <a:tailEnd type="none" w="med" len="med"/>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2.9X</a:t>
                      </a:r>
                    </a:p>
                  </a:txBody>
                  <a:tcPr marL="0" marR="0" marT="0" marB="0" anchor="b">
                    <a:lnL>
                      <a:noFill/>
                    </a:lnL>
                    <a:lnR>
                      <a:noFill/>
                    </a:lnR>
                    <a:lnT>
                      <a:noFill/>
                    </a:lnT>
                    <a:lnB w="6350" cap="flat" cmpd="sng" algn="ctr">
                      <a:solidFill>
                        <a:schemeClr val="tx1"/>
                      </a:solidFill>
                      <a:prstDash val="solid"/>
                      <a:round/>
                      <a:headEnd type="none" w="med" len="med"/>
                      <a:tailEnd type="none" w="med" len="med"/>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w="6350" cap="flat" cmpd="sng" algn="ctr">
                      <a:solidFill>
                        <a:schemeClr val="tx1"/>
                      </a:solidFill>
                      <a:prstDash val="solid"/>
                      <a:round/>
                      <a:headEnd type="none" w="med" len="med"/>
                      <a:tailEnd type="none" w="med" len="med"/>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0" marB="0" anchor="ctr">
                    <a:lnL>
                      <a:noFill/>
                    </a:lnL>
                    <a:lnR>
                      <a:noFill/>
                    </a:lnR>
                    <a:lnT>
                      <a:noFill/>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buNone/>
                      </a:pPr>
                      <a:r>
                        <a:rPr lang="en-US" sz="900" b="0" i="0" u="none" strike="noStrike">
                          <a:solidFill>
                            <a:srgbClr val="000000"/>
                          </a:solidFill>
                          <a:effectLst/>
                          <a:latin typeface="Calibri" panose="020F0502020204030204" pitchFamily="34" charset="0"/>
                        </a:rPr>
                        <a:t>x</a:t>
                      </a:r>
                    </a:p>
                  </a:txBody>
                  <a:tcPr marL="0" marR="0" marT="0" marB="0" anchor="ctr">
                    <a:lnL>
                      <a:noFill/>
                    </a:lnL>
                    <a:lnR>
                      <a:noFill/>
                    </a:lnR>
                    <a:lnT>
                      <a:noFill/>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w="6350" cap="flat" cmpd="sng" algn="ctr">
                      <a:solidFill>
                        <a:schemeClr val="tx1"/>
                      </a:solidFill>
                      <a:prstDash val="solid"/>
                      <a:round/>
                      <a:headEnd type="none" w="med" len="med"/>
                      <a:tailEnd type="none" w="med" len="med"/>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w="6350" cap="flat" cmpd="sng" algn="ctr">
                      <a:solidFill>
                        <a:schemeClr val="tx1"/>
                      </a:solidFill>
                      <a:prstDash val="solid"/>
                      <a:round/>
                      <a:headEnd type="none" w="med" len="med"/>
                      <a:tailEnd type="none" w="med" len="med"/>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11%</a:t>
                      </a:r>
                    </a:p>
                  </a:txBody>
                  <a:tcPr marL="0" marR="0" marT="0" marB="0" anchor="ctr">
                    <a:lnL>
                      <a:noFill/>
                    </a:lnL>
                    <a:lnR>
                      <a:noFill/>
                    </a:lnR>
                    <a:lnT>
                      <a:noFill/>
                    </a:lnT>
                    <a:lnB w="6350" cap="flat" cmpd="sng" algn="ctr">
                      <a:solidFill>
                        <a:schemeClr val="tx1"/>
                      </a:solidFill>
                      <a:prstDash val="solid"/>
                      <a:round/>
                      <a:headEnd type="none" w="med" len="med"/>
                      <a:tailEnd type="none" w="med" len="med"/>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w="6350" cap="flat" cmpd="sng" algn="ctr">
                      <a:solidFill>
                        <a:schemeClr val="tx1"/>
                      </a:solidFill>
                      <a:prstDash val="solid"/>
                      <a:round/>
                      <a:headEnd type="none" w="med" len="med"/>
                      <a:tailEnd type="none" w="med" len="med"/>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w="6350" cap="flat" cmpd="sng" algn="ctr">
                      <a:solidFill>
                        <a:schemeClr val="tx1"/>
                      </a:solidFill>
                      <a:prstDash val="solid"/>
                      <a:round/>
                      <a:headEnd type="none" w="med" len="med"/>
                      <a:tailEnd type="none" w="med" len="med"/>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60%</a:t>
                      </a:r>
                    </a:p>
                  </a:txBody>
                  <a:tcPr marL="0" marR="0" marT="9144" marB="9144" anchor="ctr">
                    <a:lnL>
                      <a:noFill/>
                    </a:lnL>
                    <a:lnR>
                      <a:noFill/>
                    </a:lnR>
                    <a:lnT>
                      <a:noFill/>
                    </a:lnT>
                    <a:lnB w="6350" cap="flat" cmpd="sng" algn="ctr">
                      <a:solidFill>
                        <a:schemeClr val="tx1"/>
                      </a:solidFill>
                      <a:prstDash val="solid"/>
                      <a:round/>
                      <a:headEnd type="none" w="med" len="med"/>
                      <a:tailEnd type="none" w="med" len="med"/>
                    </a:lnB>
                    <a:solidFill>
                      <a:srgbClr val="F2F2F2"/>
                    </a:solidFill>
                  </a:tcPr>
                </a:tc>
                <a:tc>
                  <a:txBody>
                    <a:bodyPr/>
                    <a:lstStyle/>
                    <a:p>
                      <a:pPr algn="ctr" fontAlgn="b"/>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w="6350" cap="flat" cmpd="sng" algn="ctr">
                      <a:solidFill>
                        <a:schemeClr val="tx1"/>
                      </a:solidFill>
                      <a:prstDash val="solid"/>
                      <a:round/>
                      <a:headEnd type="none" w="med" len="med"/>
                      <a:tailEnd type="none" w="med" len="med"/>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-2%</a:t>
                      </a:r>
                    </a:p>
                  </a:txBody>
                  <a:tcPr marL="0" marR="0" marT="9144" marB="9144" anchor="ctr">
                    <a:lnL>
                      <a:noFill/>
                    </a:lnL>
                    <a:lnR>
                      <a:noFill/>
                    </a:lnR>
                    <a:lnT>
                      <a:noFill/>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buNone/>
                      </a:pPr>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w="635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rtl="0" fontAlgn="b">
                        <a:buNone/>
                      </a:pPr>
                      <a:r>
                        <a:rPr lang="en-US" sz="900" b="0" i="0" u="none" strike="noStrike">
                          <a:solidFill>
                            <a:schemeClr val="tx1"/>
                          </a:solidFill>
                          <a:effectLst/>
                          <a:latin typeface="Calibri" panose="020F0502020204030204" pitchFamily="34" charset="0"/>
                        </a:rPr>
                        <a:t>9</a:t>
                      </a:r>
                    </a:p>
                  </a:txBody>
                  <a:tcPr marL="0" marR="0" marT="0" marB="0" anchor="b">
                    <a:lnL>
                      <a:noFill/>
                    </a:lnL>
                    <a:lnR>
                      <a:noFill/>
                    </a:lnR>
                    <a:lnT>
                      <a:noFill/>
                    </a:lnT>
                    <a:lnB w="6350" cap="flat" cmpd="sng" algn="ctr">
                      <a:solidFill>
                        <a:schemeClr val="tx1"/>
                      </a:solidFill>
                      <a:prstDash val="solid"/>
                      <a:round/>
                      <a:headEnd type="none" w="med" len="med"/>
                      <a:tailEnd type="none" w="med" len="med"/>
                    </a:lnB>
                    <a:solidFill>
                      <a:srgbClr val="F2F2F2"/>
                    </a:solidFill>
                  </a:tcPr>
                </a:tc>
                <a:extLst>
                  <a:ext uri="{0D108BD9-81ED-4DB2-BD59-A6C34878D82A}">
                    <a16:rowId xmlns:a16="http://schemas.microsoft.com/office/drawing/2014/main" val="1465187285"/>
                  </a:ext>
                </a:extLst>
              </a:tr>
              <a:tr h="60893">
                <a:tc>
                  <a:txBody>
                    <a:bodyPr/>
                    <a:lstStyle/>
                    <a:p>
                      <a:pPr algn="l" fontAlgn="b"/>
                      <a:endParaRPr lang="en-US" sz="300" b="0" i="0" u="none" strike="noStrike" dirty="0">
                        <a:solidFill>
                          <a:schemeClr val="tx1"/>
                        </a:solidFill>
                        <a:effectLst/>
                        <a:latin typeface="Calibri" panose="020F0502020204030204" pitchFamily="34" charset="0"/>
                      </a:endParaRPr>
                    </a:p>
                  </a:txBody>
                  <a:tcPr marL="0" marR="0" marT="9144" marB="9144" anchor="ctr">
                    <a:lnL>
                      <a:noFill/>
                    </a:lnL>
                    <a:lnR>
                      <a:noFill/>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300" b="0" i="0" u="none" strike="noStrike">
                        <a:solidFill>
                          <a:schemeClr val="tx1"/>
                        </a:solidFill>
                        <a:effectLst/>
                        <a:latin typeface="Calibri" panose="020F0502020204030204" pitchFamily="34" charset="0"/>
                      </a:endParaRPr>
                    </a:p>
                  </a:txBody>
                  <a:tcPr marL="0" marR="0" marT="9144" marB="9144" anchor="ctr">
                    <a:lnL>
                      <a:noFill/>
                    </a:lnL>
                    <a:lnR>
                      <a:noFill/>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300" b="0" i="0" u="none" strike="noStrike">
                        <a:solidFill>
                          <a:schemeClr val="tx1"/>
                        </a:solidFill>
                        <a:effectLst/>
                        <a:latin typeface="Calibri" panose="020F0502020204030204" pitchFamily="34" charset="0"/>
                      </a:endParaRPr>
                    </a:p>
                  </a:txBody>
                  <a:tcPr marL="0" marR="0" marT="9144" marB="9144" anchor="ctr">
                    <a:lnL>
                      <a:noFill/>
                    </a:lnL>
                    <a:lnR>
                      <a:noFill/>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300" b="0" i="0" u="none" strike="noStrike">
                        <a:solidFill>
                          <a:schemeClr val="tx1"/>
                        </a:solidFill>
                        <a:effectLst/>
                        <a:latin typeface="Calibri" panose="020F0502020204030204" pitchFamily="34" charset="0"/>
                      </a:endParaRPr>
                    </a:p>
                  </a:txBody>
                  <a:tcPr marL="0" marR="0" marT="9144" marB="9144" anchor="ctr">
                    <a:lnL>
                      <a:noFill/>
                    </a:lnL>
                    <a:lnR>
                      <a:noFill/>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300" b="0" i="0" u="none" strike="noStrike">
                        <a:solidFill>
                          <a:schemeClr val="tx1"/>
                        </a:solidFill>
                        <a:effectLst/>
                        <a:latin typeface="Calibri" panose="020F0502020204030204" pitchFamily="34" charset="0"/>
                      </a:endParaRPr>
                    </a:p>
                  </a:txBody>
                  <a:tcPr marL="0" marR="0" marT="9144" marB="9144" anchor="ctr">
                    <a:lnL>
                      <a:noFill/>
                    </a:lnL>
                    <a:lnR>
                      <a:noFill/>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300" b="0" i="0" u="none" strike="noStrike">
                        <a:solidFill>
                          <a:schemeClr val="tx1"/>
                        </a:solidFill>
                        <a:effectLst/>
                        <a:latin typeface="Calibri" panose="020F0502020204030204" pitchFamily="34" charset="0"/>
                      </a:endParaRPr>
                    </a:p>
                  </a:txBody>
                  <a:tcPr marL="0" marR="0" marT="9144" marB="9144" anchor="ctr">
                    <a:lnL>
                      <a:noFill/>
                    </a:lnL>
                    <a:lnR>
                      <a:noFill/>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lnSpc>
                          <a:spcPct val="90000"/>
                        </a:lnSpc>
                      </a:pPr>
                      <a:endParaRPr lang="en-US" sz="100" b="0" i="0" u="none" strike="noStrike">
                        <a:solidFill>
                          <a:schemeClr val="accent4"/>
                        </a:solidFill>
                        <a:effectLst/>
                        <a:latin typeface="Calibri" panose="020F0502020204030204" pitchFamily="34" charset="0"/>
                      </a:endParaRPr>
                    </a:p>
                  </a:txBody>
                  <a:tcPr marL="27432" marR="27432" marT="0" marB="0" anchor="b">
                    <a:lnL>
                      <a:noFill/>
                    </a:lnL>
                    <a:lnR>
                      <a:noFill/>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300" b="0" i="0" u="none" strike="noStrike">
                        <a:solidFill>
                          <a:schemeClr val="tx1"/>
                        </a:solidFill>
                        <a:effectLst/>
                        <a:latin typeface="Calibri" panose="020F0502020204030204" pitchFamily="34" charset="0"/>
                      </a:endParaRPr>
                    </a:p>
                  </a:txBody>
                  <a:tcPr marL="0" marR="0" marT="9144" marB="9144" anchor="ctr">
                    <a:lnL>
                      <a:noFill/>
                    </a:lnL>
                    <a:lnR>
                      <a:noFill/>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300" b="0" i="0" u="none" strike="noStrike">
                        <a:solidFill>
                          <a:schemeClr val="tx1"/>
                        </a:solidFill>
                        <a:effectLst/>
                        <a:latin typeface="Calibri" panose="020F0502020204030204" pitchFamily="34" charset="0"/>
                      </a:endParaRPr>
                    </a:p>
                  </a:txBody>
                  <a:tcPr marL="0" marR="0" marT="9144" marB="9144" anchor="ctr">
                    <a:lnL>
                      <a:noFill/>
                    </a:lnL>
                    <a:lnR>
                      <a:noFill/>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300" b="0" i="0" u="none" strike="noStrike">
                        <a:solidFill>
                          <a:schemeClr val="tx1"/>
                        </a:solidFill>
                        <a:effectLst/>
                        <a:latin typeface="Calibri" panose="020F0502020204030204" pitchFamily="34" charset="0"/>
                      </a:endParaRPr>
                    </a:p>
                  </a:txBody>
                  <a:tcPr marL="0" marR="0" marT="9144" marB="9144" anchor="ctr">
                    <a:lnL>
                      <a:noFill/>
                    </a:lnL>
                    <a:lnR>
                      <a:noFill/>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300" b="0" i="0" u="none" strike="noStrike">
                        <a:solidFill>
                          <a:schemeClr val="tx1"/>
                        </a:solidFill>
                        <a:effectLst/>
                        <a:latin typeface="Calibri" panose="020F0502020204030204" pitchFamily="34" charset="0"/>
                      </a:endParaRPr>
                    </a:p>
                  </a:txBody>
                  <a:tcPr marL="0" marR="0" marT="9144" marB="9144" anchor="ctr">
                    <a:lnL>
                      <a:noFill/>
                    </a:lnL>
                    <a:lnR>
                      <a:noFill/>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300" b="0" i="0" u="none" strike="noStrike">
                        <a:solidFill>
                          <a:schemeClr val="tx1"/>
                        </a:solidFill>
                        <a:effectLst/>
                        <a:latin typeface="Calibri" panose="020F0502020204030204" pitchFamily="34" charset="0"/>
                      </a:endParaRPr>
                    </a:p>
                  </a:txBody>
                  <a:tcPr marL="0" marR="0" marT="9144" marB="9144" anchor="ctr">
                    <a:lnL>
                      <a:noFill/>
                    </a:lnL>
                    <a:lnR>
                      <a:noFill/>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300" b="0" i="0" u="none" strike="noStrike">
                        <a:solidFill>
                          <a:schemeClr val="tx1"/>
                        </a:solidFill>
                        <a:effectLst/>
                        <a:latin typeface="Calibri" panose="020F0502020204030204" pitchFamily="34" charset="0"/>
                      </a:endParaRPr>
                    </a:p>
                  </a:txBody>
                  <a:tcPr marL="0" marR="0" marT="9144" marB="9144" anchor="ctr">
                    <a:lnL>
                      <a:noFill/>
                    </a:lnL>
                    <a:lnR>
                      <a:noFill/>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300" b="0" i="0" u="none" strike="noStrike">
                        <a:solidFill>
                          <a:schemeClr val="tx1"/>
                        </a:solidFill>
                        <a:effectLst/>
                        <a:latin typeface="Calibri" panose="020F0502020204030204" pitchFamily="34" charset="0"/>
                      </a:endParaRPr>
                    </a:p>
                  </a:txBody>
                  <a:tcPr marL="0" marR="0" marT="9144" marB="9144" anchor="ctr">
                    <a:lnL>
                      <a:noFill/>
                    </a:lnL>
                    <a:lnR>
                      <a:noFill/>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300" b="0" i="0" u="none" strike="noStrike">
                        <a:solidFill>
                          <a:schemeClr val="tx1"/>
                        </a:solidFill>
                        <a:effectLst/>
                        <a:latin typeface="Calibri" panose="020F0502020204030204" pitchFamily="34" charset="0"/>
                      </a:endParaRPr>
                    </a:p>
                  </a:txBody>
                  <a:tcPr marL="0" marR="0" marT="9144" marB="9144" anchor="ctr">
                    <a:lnL>
                      <a:noFill/>
                    </a:lnL>
                    <a:lnR>
                      <a:noFill/>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300" b="0" i="0" u="none" strike="noStrike">
                        <a:solidFill>
                          <a:schemeClr val="tx1"/>
                        </a:solidFill>
                        <a:effectLst/>
                        <a:latin typeface="Calibri" panose="020F0502020204030204" pitchFamily="34" charset="0"/>
                      </a:endParaRPr>
                    </a:p>
                  </a:txBody>
                  <a:tcPr marL="0" marR="0" marT="9144" marB="9144" anchor="ctr">
                    <a:lnL>
                      <a:noFill/>
                    </a:lnL>
                    <a:lnR>
                      <a:noFill/>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300" b="0" i="0" u="none" strike="noStrike">
                        <a:solidFill>
                          <a:srgbClr val="000000"/>
                        </a:solidFill>
                        <a:effectLst/>
                        <a:latin typeface="Calibri" panose="020F0502020204030204" pitchFamily="34" charset="0"/>
                      </a:endParaRPr>
                    </a:p>
                  </a:txBody>
                  <a:tcPr marL="0" marR="0" marT="9144" marB="9144" anchor="ctr">
                    <a:lnL>
                      <a:noFill/>
                    </a:lnL>
                    <a:lnR>
                      <a:noFill/>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300" b="0" i="0" u="none" strike="noStrike">
                        <a:solidFill>
                          <a:schemeClr val="tx1"/>
                        </a:solidFill>
                        <a:effectLst/>
                        <a:latin typeface="Calibri" panose="020F0502020204030204" pitchFamily="34" charset="0"/>
                      </a:endParaRPr>
                    </a:p>
                  </a:txBody>
                  <a:tcPr marL="0" marR="0" marT="9144" marB="9144" anchor="ctr">
                    <a:lnL>
                      <a:noFill/>
                    </a:lnL>
                    <a:lnR>
                      <a:noFill/>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300" b="0" i="0" u="none" strike="noStrike">
                        <a:solidFill>
                          <a:schemeClr val="tx1"/>
                        </a:solidFill>
                        <a:effectLst/>
                        <a:latin typeface="Calibri" panose="020F0502020204030204" pitchFamily="34" charset="0"/>
                      </a:endParaRPr>
                    </a:p>
                  </a:txBody>
                  <a:tcPr marL="0" marR="0" marT="9144" marB="9144" anchor="ctr">
                    <a:lnL>
                      <a:noFill/>
                    </a:lnL>
                    <a:lnR>
                      <a:noFill/>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300" b="0" i="0" u="none" strike="noStrike">
                        <a:solidFill>
                          <a:schemeClr val="tx1"/>
                        </a:solidFill>
                        <a:effectLst/>
                        <a:latin typeface="Calibri" panose="020F0502020204030204" pitchFamily="34" charset="0"/>
                      </a:endParaRPr>
                    </a:p>
                  </a:txBody>
                  <a:tcPr marL="0" marR="0" marT="9144" marB="9144" anchor="ctr">
                    <a:lnL>
                      <a:noFill/>
                    </a:lnL>
                    <a:lnR>
                      <a:noFill/>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50233334"/>
                  </a:ext>
                </a:extLst>
              </a:tr>
              <a:tr h="147882">
                <a:tc>
                  <a:txBody>
                    <a:bodyPr/>
                    <a:lstStyle/>
                    <a:p>
                      <a:pPr algn="l" fontAlgn="b"/>
                      <a:r>
                        <a:rPr lang="en-US" sz="900" b="0" i="0" u="none" strike="noStrike" dirty="0">
                          <a:solidFill>
                            <a:schemeClr val="tx1"/>
                          </a:solidFill>
                          <a:effectLst/>
                          <a:latin typeface="Calibri" panose="020F0502020204030204" pitchFamily="34" charset="0"/>
                        </a:rPr>
                        <a:t>75th %ile </a:t>
                      </a:r>
                    </a:p>
                  </a:txBody>
                  <a:tcPr marL="0" marR="0" marT="9144" marB="9144" anchor="ctr">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r>
                        <a:rPr lang="en-US" sz="900" b="0" i="0" u="none" strike="noStrike">
                          <a:solidFill>
                            <a:schemeClr val="tx1"/>
                          </a:solidFill>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rtl="0" fontAlgn="b">
                        <a:buNone/>
                      </a:pPr>
                      <a:r>
                        <a:rPr lang="en-US" sz="900" b="0" i="0" u="none" strike="noStrike">
                          <a:solidFill>
                            <a:srgbClr val="000000"/>
                          </a:solidFill>
                          <a:effectLst/>
                          <a:latin typeface="Calibri" panose="020F0502020204030204" pitchFamily="34" charset="0"/>
                        </a:rPr>
                        <a:t>$5,612 </a:t>
                      </a:r>
                    </a:p>
                  </a:txBody>
                  <a:tcPr marL="0" marR="0" marT="9144" marB="9144" anchor="ctr">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rtl="0" fontAlgn="b">
                        <a:buNone/>
                      </a:pPr>
                      <a:r>
                        <a:rPr lang="en-US" sz="900" b="0" i="0" u="none" strike="noStrike">
                          <a:solidFill>
                            <a:srgbClr val="000000"/>
                          </a:solidFill>
                          <a:effectLst/>
                          <a:latin typeface="Calibri" panose="020F0502020204030204" pitchFamily="34" charset="0"/>
                        </a:rPr>
                        <a:t>9%</a:t>
                      </a:r>
                    </a:p>
                  </a:txBody>
                  <a:tcPr marL="0" marR="0" marT="9144" marB="9144" anchor="ctr">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rtl="0" fontAlgn="b">
                        <a:buNone/>
                      </a:pPr>
                      <a:r>
                        <a:rPr lang="en-US" sz="900" b="0" i="0" u="none" strike="noStrike">
                          <a:solidFill>
                            <a:srgbClr val="000000"/>
                          </a:solidFill>
                          <a:effectLst/>
                          <a:latin typeface="Calibri" panose="020F0502020204030204" pitchFamily="34" charset="0"/>
                        </a:rPr>
                        <a:t>4%</a:t>
                      </a:r>
                    </a:p>
                  </a:txBody>
                  <a:tcPr marL="0" marR="0" marT="9144" marB="9144" anchor="ctr">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rtl="0" fontAlgn="b">
                        <a:buNone/>
                      </a:pPr>
                      <a:r>
                        <a:rPr lang="en-US" sz="900" b="0" i="0" u="none" strike="noStrike">
                          <a:solidFill>
                            <a:srgbClr val="000000"/>
                          </a:solidFill>
                          <a:effectLst/>
                          <a:latin typeface="Calibri" panose="020F0502020204030204" pitchFamily="34" charset="0"/>
                        </a:rPr>
                        <a:t>$35,068 </a:t>
                      </a:r>
                    </a:p>
                  </a:txBody>
                  <a:tcPr marL="0" marR="0" marT="9144" marB="9144" anchor="ctr">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rtl="0" fontAlgn="b">
                        <a:lnSpc>
                          <a:spcPct val="90000"/>
                        </a:lnSpc>
                        <a:buNone/>
                      </a:pPr>
                      <a:r>
                        <a:rPr lang="en-US" sz="900" b="0" i="0" u="none" strike="noStrike">
                          <a:solidFill>
                            <a:schemeClr val="tx1"/>
                          </a:solidFill>
                          <a:effectLst/>
                          <a:latin typeface="Calibri" panose="020F0502020204030204" pitchFamily="34" charset="0"/>
                        </a:rPr>
                        <a:t>7.0x</a:t>
                      </a:r>
                    </a:p>
                  </a:txBody>
                  <a:tcPr marL="27432" marR="27432" marT="0" marB="0"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r>
                        <a:rPr lang="en-US" sz="900" b="0" i="0" u="none" strike="noStrike">
                          <a:solidFill>
                            <a:schemeClr val="tx1"/>
                          </a:solidFill>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r>
                        <a:rPr lang="en-US" sz="900" b="0" i="0" u="none" strike="noStrike">
                          <a:solidFill>
                            <a:schemeClr val="tx1"/>
                          </a:solidFill>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r>
                        <a:rPr lang="en-US" sz="900" b="0" i="0" u="none" strike="noStrike">
                          <a:solidFill>
                            <a:schemeClr val="tx1"/>
                          </a:solidFill>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r>
                        <a:rPr lang="en-US" sz="900" b="0" i="0" u="none" strike="noStrike">
                          <a:solidFill>
                            <a:schemeClr val="tx1"/>
                          </a:solidFill>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rtl="0" fontAlgn="b">
                        <a:buNone/>
                      </a:pPr>
                      <a:r>
                        <a:rPr lang="en-US" sz="900" b="0" i="0" u="none" strike="noStrike">
                          <a:solidFill>
                            <a:srgbClr val="000000"/>
                          </a:solidFill>
                          <a:effectLst/>
                          <a:latin typeface="Calibri" panose="020F0502020204030204" pitchFamily="34" charset="0"/>
                        </a:rPr>
                        <a:t>13%</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r>
                        <a:rPr lang="en-US" sz="900" b="0" i="0" u="none" strike="noStrike">
                          <a:solidFill>
                            <a:schemeClr val="tx1"/>
                          </a:solidFill>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r>
                        <a:rPr lang="en-US" sz="900" b="0" i="0" u="none" strike="noStrike">
                          <a:solidFill>
                            <a:schemeClr val="tx1"/>
                          </a:solidFill>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r>
                        <a:rPr lang="en-US" sz="900" b="0" i="0" u="none" strike="noStrike">
                          <a:solidFill>
                            <a:schemeClr val="tx1"/>
                          </a:solidFill>
                          <a:effectLst/>
                          <a:latin typeface="Calibri" panose="020F0502020204030204" pitchFamily="34" charset="0"/>
                        </a:rPr>
                        <a:t>60%</a:t>
                      </a:r>
                    </a:p>
                  </a:txBody>
                  <a:tcPr marL="0" marR="0" marT="9144" marB="9144" anchor="ctr">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endParaRPr lang="en-US" sz="900" b="0" i="0" u="none" strike="noStrike">
                        <a:effectLst/>
                        <a:latin typeface="Calibri" panose="020F0502020204030204" pitchFamily="34" charset="0"/>
                      </a:endParaRPr>
                    </a:p>
                  </a:txBody>
                  <a:tcPr marL="0" marR="0" marT="9144" marB="9144" anchor="ctr">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r>
                        <a:rPr lang="en-US" sz="900" b="0" i="0" u="none" strike="noStrike">
                          <a:solidFill>
                            <a:schemeClr val="tx1"/>
                          </a:solidFill>
                          <a:effectLst/>
                          <a:latin typeface="Calibri" panose="020F0502020204030204" pitchFamily="34" charset="0"/>
                        </a:rPr>
                        <a:t>7%</a:t>
                      </a:r>
                    </a:p>
                  </a:txBody>
                  <a:tcPr marL="0" marR="0" marT="9144" marB="9144" anchor="ctr">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r>
                        <a:rPr lang="en-US" sz="900" b="0" i="0" u="none" strike="noStrike">
                          <a:solidFill>
                            <a:schemeClr val="tx1"/>
                          </a:solidFill>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r>
                        <a:rPr lang="en-US" sz="900" b="0" i="0" u="none" strike="noStrike">
                          <a:solidFill>
                            <a:schemeClr val="tx1"/>
                          </a:solidFill>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a:noFill/>
                    </a:lnB>
                    <a:solidFill>
                      <a:srgbClr val="FFFFDB"/>
                    </a:solidFill>
                  </a:tcPr>
                </a:tc>
                <a:extLst>
                  <a:ext uri="{0D108BD9-81ED-4DB2-BD59-A6C34878D82A}">
                    <a16:rowId xmlns:a16="http://schemas.microsoft.com/office/drawing/2014/main" val="2683212248"/>
                  </a:ext>
                </a:extLst>
              </a:tr>
              <a:tr h="147882">
                <a:tc>
                  <a:txBody>
                    <a:bodyPr/>
                    <a:lstStyle/>
                    <a:p>
                      <a:pPr algn="l" fontAlgn="b"/>
                      <a:r>
                        <a:rPr lang="en-US" sz="900" b="1" i="0" u="none" strike="noStrike" dirty="0">
                          <a:solidFill>
                            <a:schemeClr val="tx1"/>
                          </a:solidFill>
                          <a:effectLst/>
                          <a:latin typeface="Calibri" panose="020F0502020204030204" pitchFamily="34" charset="0"/>
                        </a:rPr>
                        <a:t>Median</a:t>
                      </a:r>
                    </a:p>
                  </a:txBody>
                  <a:tcPr marL="0" marR="0" marT="9144" marB="9144" anchor="ctr">
                    <a:lnL>
                      <a:noFill/>
                    </a:lnL>
                    <a:lnR>
                      <a:noFill/>
                    </a:lnR>
                    <a:lnT>
                      <a:noFill/>
                    </a:lnT>
                    <a:lnB>
                      <a:noFill/>
                    </a:lnB>
                    <a:solidFill>
                      <a:srgbClr val="FFFFDB"/>
                    </a:solidFill>
                  </a:tcPr>
                </a:tc>
                <a:tc>
                  <a:txBody>
                    <a:bodyPr/>
                    <a:lstStyle/>
                    <a:p>
                      <a:pPr algn="ctr" fontAlgn="b"/>
                      <a:r>
                        <a:rPr lang="en-US" sz="900" b="0" i="0" u="none" strike="noStrike">
                          <a:solidFill>
                            <a:schemeClr val="tx1"/>
                          </a:solidFill>
                          <a:effectLst/>
                          <a:latin typeface="Calibri" panose="020F0502020204030204" pitchFamily="34" charset="0"/>
                        </a:rPr>
                        <a:t> </a:t>
                      </a:r>
                    </a:p>
                  </a:txBody>
                  <a:tcPr marL="0" marR="0" marT="9144" marB="9144" anchor="ctr">
                    <a:lnL>
                      <a:noFill/>
                    </a:lnL>
                    <a:lnR>
                      <a:noFill/>
                    </a:lnR>
                    <a:lnT>
                      <a:noFill/>
                    </a:lnT>
                    <a:lnB>
                      <a:noFill/>
                    </a:lnB>
                    <a:solidFill>
                      <a:srgbClr val="FFFFDB"/>
                    </a:solidFill>
                  </a:tcPr>
                </a:tc>
                <a:tc>
                  <a:txBody>
                    <a:bodyPr/>
                    <a:lstStyle/>
                    <a:p>
                      <a:pPr algn="ctr" rtl="0" fontAlgn="b">
                        <a:buNone/>
                      </a:pPr>
                      <a:r>
                        <a:rPr lang="en-US" sz="900" b="1" i="0" u="none" strike="noStrike">
                          <a:solidFill>
                            <a:srgbClr val="000000"/>
                          </a:solidFill>
                          <a:effectLst/>
                          <a:latin typeface="Calibri" panose="020F0502020204030204" pitchFamily="34" charset="0"/>
                        </a:rPr>
                        <a:t>$4,503 </a:t>
                      </a:r>
                    </a:p>
                  </a:txBody>
                  <a:tcPr marL="0" marR="0" marT="9144" marB="9144" anchor="ctr">
                    <a:lnL>
                      <a:noFill/>
                    </a:lnL>
                    <a:lnR>
                      <a:noFill/>
                    </a:lnR>
                    <a:lnT>
                      <a:noFill/>
                    </a:lnT>
                    <a:lnB>
                      <a:noFill/>
                    </a:lnB>
                    <a:solidFill>
                      <a:srgbClr val="FFFFDB"/>
                    </a:solidFill>
                  </a:tcPr>
                </a:tc>
                <a:tc>
                  <a:txBody>
                    <a:bodyPr/>
                    <a:lstStyle/>
                    <a:p>
                      <a:pPr algn="ctr" rtl="0" fontAlgn="b">
                        <a:buNone/>
                      </a:pPr>
                      <a:r>
                        <a:rPr lang="en-US" sz="900" b="1" i="0" u="none" strike="noStrike">
                          <a:solidFill>
                            <a:srgbClr val="000000"/>
                          </a:solidFill>
                          <a:effectLst/>
                          <a:latin typeface="Calibri" panose="020F0502020204030204" pitchFamily="34" charset="0"/>
                        </a:rPr>
                        <a:t>2%</a:t>
                      </a:r>
                    </a:p>
                  </a:txBody>
                  <a:tcPr marL="0" marR="0" marT="9144" marB="9144" anchor="ctr">
                    <a:lnL>
                      <a:noFill/>
                    </a:lnL>
                    <a:lnR>
                      <a:noFill/>
                    </a:lnR>
                    <a:lnT>
                      <a:noFill/>
                    </a:lnT>
                    <a:lnB>
                      <a:noFill/>
                    </a:lnB>
                    <a:solidFill>
                      <a:srgbClr val="FFFFDB"/>
                    </a:solidFill>
                  </a:tcPr>
                </a:tc>
                <a:tc>
                  <a:txBody>
                    <a:bodyPr/>
                    <a:lstStyle/>
                    <a:p>
                      <a:pPr algn="ctr" rtl="0" fontAlgn="b">
                        <a:buNone/>
                      </a:pPr>
                      <a:r>
                        <a:rPr lang="en-US" sz="900" b="1" i="0" u="none" strike="noStrike">
                          <a:solidFill>
                            <a:srgbClr val="000000"/>
                          </a:solidFill>
                          <a:effectLst/>
                          <a:latin typeface="Calibri" panose="020F0502020204030204" pitchFamily="34" charset="0"/>
                        </a:rPr>
                        <a:t>-1%</a:t>
                      </a:r>
                    </a:p>
                  </a:txBody>
                  <a:tcPr marL="0" marR="0" marT="9144" marB="9144" anchor="ctr">
                    <a:lnL>
                      <a:noFill/>
                    </a:lnL>
                    <a:lnR>
                      <a:noFill/>
                    </a:lnR>
                    <a:lnT>
                      <a:noFill/>
                    </a:lnT>
                    <a:lnB>
                      <a:noFill/>
                    </a:lnB>
                    <a:solidFill>
                      <a:srgbClr val="FFFFDB"/>
                    </a:solidFill>
                  </a:tcPr>
                </a:tc>
                <a:tc>
                  <a:txBody>
                    <a:bodyPr/>
                    <a:lstStyle/>
                    <a:p>
                      <a:pPr algn="ctr" rtl="0" fontAlgn="b">
                        <a:buNone/>
                      </a:pPr>
                      <a:r>
                        <a:rPr lang="en-US" sz="900" b="1" i="0" u="none" strike="noStrike">
                          <a:solidFill>
                            <a:srgbClr val="000000"/>
                          </a:solidFill>
                          <a:effectLst/>
                          <a:latin typeface="Calibri" panose="020F0502020204030204" pitchFamily="34" charset="0"/>
                        </a:rPr>
                        <a:t>$26,264 </a:t>
                      </a:r>
                    </a:p>
                  </a:txBody>
                  <a:tcPr marL="0" marR="0" marT="9144" marB="9144" anchor="ctr">
                    <a:lnL>
                      <a:noFill/>
                    </a:lnL>
                    <a:lnR>
                      <a:noFill/>
                    </a:lnR>
                    <a:lnT>
                      <a:noFill/>
                    </a:lnT>
                    <a:lnB>
                      <a:noFill/>
                    </a:lnB>
                    <a:solidFill>
                      <a:srgbClr val="FFFFDB"/>
                    </a:solidFill>
                  </a:tcPr>
                </a:tc>
                <a:tc>
                  <a:txBody>
                    <a:bodyPr/>
                    <a:lstStyle/>
                    <a:p>
                      <a:pPr algn="ctr" rtl="0" fontAlgn="b">
                        <a:lnSpc>
                          <a:spcPct val="90000"/>
                        </a:lnSpc>
                        <a:buNone/>
                      </a:pPr>
                      <a:r>
                        <a:rPr lang="en-US" sz="900" b="1" i="0" u="none" strike="noStrike">
                          <a:solidFill>
                            <a:schemeClr val="tx1"/>
                          </a:solidFill>
                          <a:effectLst/>
                          <a:latin typeface="Calibri" panose="020F0502020204030204" pitchFamily="34" charset="0"/>
                        </a:rPr>
                        <a:t>4.8x</a:t>
                      </a:r>
                    </a:p>
                  </a:txBody>
                  <a:tcPr marL="27432" marR="27432" marT="0" marB="0" anchor="b">
                    <a:lnL>
                      <a:noFill/>
                    </a:lnL>
                    <a:lnR>
                      <a:noFill/>
                    </a:lnR>
                    <a:lnT>
                      <a:noFill/>
                    </a:lnT>
                    <a:lnB>
                      <a:noFill/>
                    </a:lnB>
                    <a:solidFill>
                      <a:srgbClr val="FFFFDB"/>
                    </a:solidFill>
                  </a:tcPr>
                </a:tc>
                <a:tc>
                  <a:txBody>
                    <a:bodyPr/>
                    <a:lstStyle/>
                    <a:p>
                      <a:pPr algn="ctr" fontAlgn="b"/>
                      <a:r>
                        <a:rPr lang="en-US" sz="900" b="0" i="0" u="none" strike="noStrike">
                          <a:solidFill>
                            <a:schemeClr val="tx1"/>
                          </a:solidFill>
                          <a:effectLst/>
                          <a:latin typeface="Calibri" panose="020F0502020204030204" pitchFamily="34" charset="0"/>
                        </a:rPr>
                        <a:t> </a:t>
                      </a:r>
                    </a:p>
                  </a:txBody>
                  <a:tcPr marL="0" marR="0" marT="9144" marB="9144" anchor="ctr">
                    <a:lnL>
                      <a:noFill/>
                    </a:lnL>
                    <a:lnR>
                      <a:noFill/>
                    </a:lnR>
                    <a:lnT>
                      <a:noFill/>
                    </a:lnT>
                    <a:lnB>
                      <a:noFill/>
                    </a:lnB>
                    <a:solidFill>
                      <a:srgbClr val="FFFFDB"/>
                    </a:solidFill>
                  </a:tcPr>
                </a:tc>
                <a:tc>
                  <a:txBody>
                    <a:bodyPr/>
                    <a:lstStyle/>
                    <a:p>
                      <a:pPr algn="ctr" fontAlgn="b"/>
                      <a:r>
                        <a:rPr lang="en-US" sz="900" b="0" i="0" u="none" strike="noStrike">
                          <a:solidFill>
                            <a:schemeClr val="tx1"/>
                          </a:solidFill>
                          <a:effectLst/>
                          <a:latin typeface="Calibri" panose="020F0502020204030204" pitchFamily="34" charset="0"/>
                        </a:rPr>
                        <a:t> </a:t>
                      </a:r>
                    </a:p>
                  </a:txBody>
                  <a:tcPr marL="0" marR="0" marT="9144" marB="9144" anchor="ctr">
                    <a:lnL>
                      <a:noFill/>
                    </a:lnL>
                    <a:lnR>
                      <a:noFill/>
                    </a:lnR>
                    <a:lnT>
                      <a:noFill/>
                    </a:lnT>
                    <a:lnB>
                      <a:noFill/>
                    </a:lnB>
                    <a:solidFill>
                      <a:srgbClr val="FFFFDB"/>
                    </a:solidFill>
                  </a:tcPr>
                </a:tc>
                <a:tc>
                  <a:txBody>
                    <a:bodyPr/>
                    <a:lstStyle/>
                    <a:p>
                      <a:pPr algn="ctr" fontAlgn="b"/>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a:noFill/>
                    </a:lnB>
                    <a:solidFill>
                      <a:srgbClr val="FFFFDB"/>
                    </a:solidFill>
                  </a:tcPr>
                </a:tc>
                <a:tc>
                  <a:txBody>
                    <a:bodyPr/>
                    <a:lstStyle/>
                    <a:p>
                      <a:pPr algn="ctr" fontAlgn="b"/>
                      <a:r>
                        <a:rPr lang="en-US" sz="900" b="0" i="0" u="none" strike="noStrike">
                          <a:solidFill>
                            <a:schemeClr val="tx1"/>
                          </a:solidFill>
                          <a:effectLst/>
                          <a:latin typeface="Calibri" panose="020F0502020204030204" pitchFamily="34" charset="0"/>
                        </a:rPr>
                        <a:t> </a:t>
                      </a:r>
                    </a:p>
                  </a:txBody>
                  <a:tcPr marL="0" marR="0" marT="9144" marB="9144" anchor="ctr">
                    <a:lnL>
                      <a:noFill/>
                    </a:lnL>
                    <a:lnR>
                      <a:noFill/>
                    </a:lnR>
                    <a:lnT>
                      <a:noFill/>
                    </a:lnT>
                    <a:lnB>
                      <a:noFill/>
                    </a:lnB>
                    <a:solidFill>
                      <a:srgbClr val="FFFFDB"/>
                    </a:solidFill>
                  </a:tcPr>
                </a:tc>
                <a:tc>
                  <a:txBody>
                    <a:bodyPr/>
                    <a:lstStyle/>
                    <a:p>
                      <a:pPr algn="ctr" fontAlgn="b"/>
                      <a:r>
                        <a:rPr lang="en-US" sz="900" b="0" i="0" u="none" strike="noStrike">
                          <a:solidFill>
                            <a:schemeClr val="tx1"/>
                          </a:solidFill>
                          <a:effectLst/>
                          <a:latin typeface="Calibri" panose="020F0502020204030204" pitchFamily="34" charset="0"/>
                        </a:rPr>
                        <a:t> </a:t>
                      </a:r>
                    </a:p>
                  </a:txBody>
                  <a:tcPr marL="0" marR="0" marT="9144" marB="9144" anchor="ctr">
                    <a:lnL>
                      <a:noFill/>
                    </a:lnL>
                    <a:lnR>
                      <a:noFill/>
                    </a:lnR>
                    <a:lnT>
                      <a:noFill/>
                    </a:lnT>
                    <a:lnB>
                      <a:noFill/>
                    </a:lnB>
                    <a:solidFill>
                      <a:srgbClr val="FFFFDB"/>
                    </a:solidFill>
                  </a:tcPr>
                </a:tc>
                <a:tc>
                  <a:txBody>
                    <a:bodyPr/>
                    <a:lstStyle/>
                    <a:p>
                      <a:pPr algn="ctr" rtl="0" fontAlgn="b">
                        <a:buNone/>
                      </a:pPr>
                      <a:r>
                        <a:rPr lang="en-US" sz="900" b="1" i="0" u="none" strike="noStrike">
                          <a:solidFill>
                            <a:srgbClr val="000000"/>
                          </a:solidFill>
                          <a:effectLst/>
                          <a:latin typeface="Calibri" panose="020F0502020204030204" pitchFamily="34" charset="0"/>
                        </a:rPr>
                        <a:t>8%</a:t>
                      </a:r>
                    </a:p>
                  </a:txBody>
                  <a:tcPr marL="0" marR="0" marT="0" marB="0" anchor="ctr">
                    <a:lnL>
                      <a:noFill/>
                    </a:lnL>
                    <a:lnR>
                      <a:noFill/>
                    </a:lnR>
                    <a:lnT>
                      <a:noFill/>
                    </a:lnT>
                    <a:lnB>
                      <a:noFill/>
                    </a:lnB>
                    <a:solidFill>
                      <a:srgbClr val="FFFFDB"/>
                    </a:solidFill>
                  </a:tcPr>
                </a:tc>
                <a:tc>
                  <a:txBody>
                    <a:bodyPr/>
                    <a:lstStyle/>
                    <a:p>
                      <a:pPr algn="ctr" fontAlgn="b"/>
                      <a:r>
                        <a:rPr lang="en-US" sz="900" b="0" i="0" u="none" strike="noStrike">
                          <a:solidFill>
                            <a:schemeClr val="tx1"/>
                          </a:solidFill>
                          <a:effectLst/>
                          <a:latin typeface="Calibri" panose="020F0502020204030204" pitchFamily="34" charset="0"/>
                        </a:rPr>
                        <a:t> </a:t>
                      </a:r>
                    </a:p>
                  </a:txBody>
                  <a:tcPr marL="0" marR="0" marT="9144" marB="9144" anchor="ctr">
                    <a:lnL>
                      <a:noFill/>
                    </a:lnL>
                    <a:lnR>
                      <a:noFill/>
                    </a:lnR>
                    <a:lnT>
                      <a:noFill/>
                    </a:lnT>
                    <a:lnB>
                      <a:noFill/>
                    </a:lnB>
                    <a:solidFill>
                      <a:srgbClr val="FFFFDB"/>
                    </a:solidFill>
                  </a:tcPr>
                </a:tc>
                <a:tc>
                  <a:txBody>
                    <a:bodyPr/>
                    <a:lstStyle/>
                    <a:p>
                      <a:pPr algn="ctr" fontAlgn="b"/>
                      <a:r>
                        <a:rPr lang="en-US" sz="900" b="0" i="0" u="none" strike="noStrike">
                          <a:solidFill>
                            <a:schemeClr val="tx1"/>
                          </a:solidFill>
                          <a:effectLst/>
                          <a:latin typeface="Calibri" panose="020F0502020204030204" pitchFamily="34" charset="0"/>
                        </a:rPr>
                        <a:t> </a:t>
                      </a:r>
                    </a:p>
                  </a:txBody>
                  <a:tcPr marL="0" marR="0" marT="9144" marB="9144" anchor="ctr">
                    <a:lnL>
                      <a:noFill/>
                    </a:lnL>
                    <a:lnR>
                      <a:noFill/>
                    </a:lnR>
                    <a:lnT>
                      <a:noFill/>
                    </a:lnT>
                    <a:lnB>
                      <a:noFill/>
                    </a:lnB>
                    <a:solidFill>
                      <a:srgbClr val="FFFFDB"/>
                    </a:solidFill>
                  </a:tcPr>
                </a:tc>
                <a:tc>
                  <a:txBody>
                    <a:bodyPr/>
                    <a:lstStyle/>
                    <a:p>
                      <a:pPr algn="ctr" fontAlgn="b"/>
                      <a:r>
                        <a:rPr lang="en-US" sz="900" b="1" i="0" u="none" strike="noStrike">
                          <a:solidFill>
                            <a:schemeClr val="tx1"/>
                          </a:solidFill>
                          <a:effectLst/>
                          <a:latin typeface="Calibri" panose="020F0502020204030204" pitchFamily="34" charset="0"/>
                        </a:rPr>
                        <a:t>49%</a:t>
                      </a:r>
                    </a:p>
                  </a:txBody>
                  <a:tcPr marL="0" marR="0" marT="9144" marB="9144" anchor="ctr">
                    <a:lnL>
                      <a:noFill/>
                    </a:lnL>
                    <a:lnR>
                      <a:noFill/>
                    </a:lnR>
                    <a:lnT>
                      <a:noFill/>
                    </a:lnT>
                    <a:lnB>
                      <a:noFill/>
                    </a:lnB>
                    <a:solidFill>
                      <a:srgbClr val="FFFFDB"/>
                    </a:solidFill>
                  </a:tcPr>
                </a:tc>
                <a:tc>
                  <a:txBody>
                    <a:bodyPr/>
                    <a:lstStyle/>
                    <a:p>
                      <a:pPr algn="ctr" fontAlgn="b"/>
                      <a:endParaRPr lang="en-US" sz="900" b="1" i="0" u="none" strike="noStrike">
                        <a:effectLst/>
                        <a:latin typeface="Calibri" panose="020F0502020204030204" pitchFamily="34" charset="0"/>
                      </a:endParaRPr>
                    </a:p>
                  </a:txBody>
                  <a:tcPr marL="0" marR="0" marT="9144" marB="9144" anchor="ctr">
                    <a:lnL>
                      <a:noFill/>
                    </a:lnL>
                    <a:lnR>
                      <a:noFill/>
                    </a:lnR>
                    <a:lnT>
                      <a:noFill/>
                    </a:lnT>
                    <a:lnB>
                      <a:noFill/>
                    </a:lnB>
                    <a:solidFill>
                      <a:srgbClr val="FFFFDB"/>
                    </a:solidFill>
                  </a:tcPr>
                </a:tc>
                <a:tc>
                  <a:txBody>
                    <a:bodyPr/>
                    <a:lstStyle/>
                    <a:p>
                      <a:pPr algn="ctr" fontAlgn="b"/>
                      <a:r>
                        <a:rPr lang="en-US" sz="900" b="1" i="0" u="none" strike="noStrike">
                          <a:solidFill>
                            <a:schemeClr val="tx1"/>
                          </a:solidFill>
                          <a:effectLst/>
                          <a:latin typeface="Calibri" panose="020F0502020204030204" pitchFamily="34" charset="0"/>
                        </a:rPr>
                        <a:t>4%</a:t>
                      </a:r>
                    </a:p>
                  </a:txBody>
                  <a:tcPr marL="0" marR="0" marT="9144" marB="9144" anchor="ctr">
                    <a:lnL>
                      <a:noFill/>
                    </a:lnL>
                    <a:lnR>
                      <a:noFill/>
                    </a:lnR>
                    <a:lnT>
                      <a:noFill/>
                    </a:lnT>
                    <a:lnB>
                      <a:noFill/>
                    </a:lnB>
                    <a:solidFill>
                      <a:srgbClr val="FFFFDB"/>
                    </a:solidFill>
                  </a:tcPr>
                </a:tc>
                <a:tc>
                  <a:txBody>
                    <a:bodyPr/>
                    <a:lstStyle/>
                    <a:p>
                      <a:pPr algn="ctr" fontAlgn="b"/>
                      <a:r>
                        <a:rPr lang="en-US" sz="900" b="0" i="0" u="none" strike="noStrike">
                          <a:solidFill>
                            <a:schemeClr val="tx1"/>
                          </a:solidFill>
                          <a:effectLst/>
                          <a:latin typeface="Calibri" panose="020F0502020204030204" pitchFamily="34" charset="0"/>
                        </a:rPr>
                        <a:t> </a:t>
                      </a:r>
                    </a:p>
                  </a:txBody>
                  <a:tcPr marL="0" marR="0" marT="9144" marB="9144" anchor="ctr">
                    <a:lnL>
                      <a:noFill/>
                    </a:lnL>
                    <a:lnR>
                      <a:noFill/>
                    </a:lnR>
                    <a:lnT>
                      <a:noFill/>
                    </a:lnT>
                    <a:lnB>
                      <a:noFill/>
                    </a:lnB>
                    <a:solidFill>
                      <a:srgbClr val="FFFFDB"/>
                    </a:solidFill>
                  </a:tcPr>
                </a:tc>
                <a:tc>
                  <a:txBody>
                    <a:bodyPr/>
                    <a:lstStyle/>
                    <a:p>
                      <a:pPr algn="ctr" fontAlgn="b"/>
                      <a:r>
                        <a:rPr lang="en-US" sz="900" b="0" i="0" u="none" strike="noStrike">
                          <a:solidFill>
                            <a:schemeClr val="tx1"/>
                          </a:solidFill>
                          <a:effectLst/>
                          <a:latin typeface="Calibri" panose="020F0502020204030204" pitchFamily="34" charset="0"/>
                        </a:rPr>
                        <a:t> </a:t>
                      </a:r>
                      <a:r>
                        <a:rPr lang="en-US" sz="900" b="1" i="0" u="none" strike="noStrike">
                          <a:solidFill>
                            <a:schemeClr val="tx1"/>
                          </a:solidFill>
                          <a:effectLst/>
                          <a:latin typeface="Calibri" panose="020F0502020204030204" pitchFamily="34" charset="0"/>
                        </a:rPr>
                        <a:t>9</a:t>
                      </a:r>
                    </a:p>
                  </a:txBody>
                  <a:tcPr marL="0" marR="0" marT="9144" marB="9144" anchor="ctr">
                    <a:lnL>
                      <a:noFill/>
                    </a:lnL>
                    <a:lnR>
                      <a:noFill/>
                    </a:lnR>
                    <a:lnT>
                      <a:noFill/>
                    </a:lnT>
                    <a:lnB>
                      <a:noFill/>
                    </a:lnB>
                    <a:solidFill>
                      <a:srgbClr val="FFFFDB"/>
                    </a:solidFill>
                  </a:tcPr>
                </a:tc>
                <a:extLst>
                  <a:ext uri="{0D108BD9-81ED-4DB2-BD59-A6C34878D82A}">
                    <a16:rowId xmlns:a16="http://schemas.microsoft.com/office/drawing/2014/main" val="2202507738"/>
                  </a:ext>
                </a:extLst>
              </a:tr>
              <a:tr h="147882">
                <a:tc>
                  <a:txBody>
                    <a:bodyPr/>
                    <a:lstStyle/>
                    <a:p>
                      <a:pPr algn="l" fontAlgn="b"/>
                      <a:r>
                        <a:rPr lang="en-US" sz="900" b="0" i="0" u="none" strike="noStrike" dirty="0">
                          <a:solidFill>
                            <a:schemeClr val="tx1"/>
                          </a:solidFill>
                          <a:effectLst/>
                          <a:latin typeface="Calibri" panose="020F0502020204030204" pitchFamily="34" charset="0"/>
                        </a:rPr>
                        <a:t>25th %ile </a:t>
                      </a:r>
                    </a:p>
                  </a:txBody>
                  <a:tcPr marL="0" marR="0" marT="9144" marB="9144" anchor="ctr">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r>
                        <a:rPr lang="en-US" sz="900" b="0" i="0" u="none" strike="noStrike">
                          <a:solidFill>
                            <a:schemeClr val="tx1"/>
                          </a:solidFill>
                          <a:effectLst/>
                          <a:latin typeface="Calibri" panose="020F0502020204030204" pitchFamily="34" charset="0"/>
                        </a:rPr>
                        <a:t> </a:t>
                      </a:r>
                    </a:p>
                  </a:txBody>
                  <a:tcPr marL="0" marR="0" marT="9144" marB="9144" anchor="ctr">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rtl="0" fontAlgn="b">
                        <a:buNone/>
                      </a:pPr>
                      <a:r>
                        <a:rPr lang="en-US" sz="900" b="0" i="0" u="none" strike="noStrike">
                          <a:solidFill>
                            <a:srgbClr val="000000"/>
                          </a:solidFill>
                          <a:effectLst/>
                          <a:latin typeface="Calibri" panose="020F0502020204030204" pitchFamily="34" charset="0"/>
                        </a:rPr>
                        <a:t>$4,033 </a:t>
                      </a:r>
                    </a:p>
                  </a:txBody>
                  <a:tcPr marL="0" marR="0" marT="9144" marB="9144" anchor="ctr">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rtl="0" fontAlgn="b">
                        <a:buNone/>
                      </a:pPr>
                      <a:r>
                        <a:rPr lang="en-US" sz="900" b="0" i="0" u="none" strike="noStrike">
                          <a:solidFill>
                            <a:srgbClr val="000000"/>
                          </a:solidFill>
                          <a:effectLst/>
                          <a:latin typeface="Calibri" panose="020F0502020204030204" pitchFamily="34" charset="0"/>
                        </a:rPr>
                        <a:t>0%</a:t>
                      </a:r>
                    </a:p>
                  </a:txBody>
                  <a:tcPr marL="0" marR="0" marT="9144" marB="9144" anchor="ctr">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rtl="0" fontAlgn="b">
                        <a:buNone/>
                      </a:pPr>
                      <a:r>
                        <a:rPr lang="en-US" sz="900" b="0" i="0" u="none" strike="noStrike">
                          <a:solidFill>
                            <a:srgbClr val="000000"/>
                          </a:solidFill>
                          <a:effectLst/>
                          <a:latin typeface="Calibri" panose="020F0502020204030204" pitchFamily="34" charset="0"/>
                        </a:rPr>
                        <a:t>-8%</a:t>
                      </a:r>
                    </a:p>
                  </a:txBody>
                  <a:tcPr marL="0" marR="0" marT="9144" marB="9144" anchor="ctr">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rtl="0" fontAlgn="b">
                        <a:buNone/>
                      </a:pPr>
                      <a:r>
                        <a:rPr lang="en-US" sz="900" b="0" i="0" u="none" strike="noStrike">
                          <a:solidFill>
                            <a:srgbClr val="000000"/>
                          </a:solidFill>
                          <a:effectLst/>
                          <a:latin typeface="Calibri" panose="020F0502020204030204" pitchFamily="34" charset="0"/>
                        </a:rPr>
                        <a:t>$15,632 </a:t>
                      </a:r>
                    </a:p>
                  </a:txBody>
                  <a:tcPr marL="0" marR="0" marT="9144" marB="9144" anchor="ctr">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rtl="0" fontAlgn="b">
                        <a:lnSpc>
                          <a:spcPct val="90000"/>
                        </a:lnSpc>
                        <a:buNone/>
                      </a:pPr>
                      <a:r>
                        <a:rPr lang="en-US" sz="900" b="0" i="0" u="none" strike="noStrike">
                          <a:solidFill>
                            <a:schemeClr val="tx1"/>
                          </a:solidFill>
                          <a:effectLst/>
                          <a:latin typeface="Calibri" panose="020F0502020204030204" pitchFamily="34" charset="0"/>
                        </a:rPr>
                        <a:t>3.0x</a:t>
                      </a: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r>
                        <a:rPr lang="en-US" sz="900" b="0" i="0" u="none" strike="noStrike">
                          <a:solidFill>
                            <a:schemeClr val="tx1"/>
                          </a:solidFill>
                          <a:effectLst/>
                          <a:latin typeface="Calibri" panose="020F0502020204030204" pitchFamily="34" charset="0"/>
                        </a:rPr>
                        <a:t> </a:t>
                      </a:r>
                    </a:p>
                  </a:txBody>
                  <a:tcPr marL="0" marR="0" marT="9144" marB="9144" anchor="ctr">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r>
                        <a:rPr lang="en-US" sz="900" b="0" i="0" u="none" strike="noStrike">
                          <a:solidFill>
                            <a:schemeClr val="tx1"/>
                          </a:solidFill>
                          <a:effectLst/>
                          <a:latin typeface="Calibri" panose="020F0502020204030204" pitchFamily="34" charset="0"/>
                        </a:rPr>
                        <a:t> </a:t>
                      </a:r>
                    </a:p>
                  </a:txBody>
                  <a:tcPr marL="0" marR="0" marT="9144" marB="9144" anchor="ctr">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r>
                        <a:rPr lang="en-US" sz="900" b="0" i="0" u="none" strike="noStrike">
                          <a:solidFill>
                            <a:schemeClr val="tx1"/>
                          </a:solidFill>
                          <a:effectLst/>
                          <a:latin typeface="Calibri" panose="020F0502020204030204" pitchFamily="34" charset="0"/>
                        </a:rPr>
                        <a:t> </a:t>
                      </a:r>
                    </a:p>
                  </a:txBody>
                  <a:tcPr marL="0" marR="0" marT="9144" marB="9144" anchor="ctr">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r>
                        <a:rPr lang="en-US" sz="900" b="0" i="0" u="none" strike="noStrike">
                          <a:solidFill>
                            <a:schemeClr val="tx1"/>
                          </a:solidFill>
                          <a:effectLst/>
                          <a:latin typeface="Calibri" panose="020F0502020204030204" pitchFamily="34" charset="0"/>
                        </a:rPr>
                        <a:t> </a:t>
                      </a:r>
                    </a:p>
                  </a:txBody>
                  <a:tcPr marL="0" marR="0" marT="9144" marB="9144" anchor="ctr">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rtl="0" fontAlgn="b">
                        <a:buNone/>
                      </a:pPr>
                      <a:r>
                        <a:rPr lang="en-US" sz="900" b="0" i="0" u="none" strike="noStrike">
                          <a:solidFill>
                            <a:srgbClr val="000000"/>
                          </a:solidFill>
                          <a:effectLst/>
                          <a:latin typeface="Calibri" panose="020F0502020204030204" pitchFamily="34" charset="0"/>
                        </a:rPr>
                        <a:t>7%</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r>
                        <a:rPr lang="en-US" sz="900" b="0" i="0" u="none" strike="noStrike">
                          <a:solidFill>
                            <a:schemeClr val="tx1"/>
                          </a:solidFill>
                          <a:effectLst/>
                          <a:latin typeface="Calibri" panose="020F0502020204030204" pitchFamily="34" charset="0"/>
                        </a:rPr>
                        <a:t> </a:t>
                      </a:r>
                    </a:p>
                  </a:txBody>
                  <a:tcPr marL="0" marR="0" marT="9144" marB="9144" anchor="ctr">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r>
                        <a:rPr lang="en-US" sz="900" b="0" i="0" u="none" strike="noStrike">
                          <a:solidFill>
                            <a:schemeClr val="tx1"/>
                          </a:solidFill>
                          <a:effectLst/>
                          <a:latin typeface="Calibri" panose="020F0502020204030204" pitchFamily="34" charset="0"/>
                        </a:rPr>
                        <a:t> </a:t>
                      </a:r>
                    </a:p>
                  </a:txBody>
                  <a:tcPr marL="0" marR="0" marT="9144" marB="9144" anchor="ctr">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r>
                        <a:rPr lang="en-US" sz="900" b="0" i="0" u="none" strike="noStrike">
                          <a:solidFill>
                            <a:schemeClr val="tx1"/>
                          </a:solidFill>
                          <a:effectLst/>
                          <a:latin typeface="Calibri" panose="020F0502020204030204" pitchFamily="34" charset="0"/>
                        </a:rPr>
                        <a:t>35%</a:t>
                      </a:r>
                    </a:p>
                  </a:txBody>
                  <a:tcPr marL="0" marR="0" marT="9144" marB="9144" anchor="ctr">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endParaRPr lang="en-US" sz="900" b="0" i="0" u="none" strike="noStrike">
                        <a:effectLst/>
                        <a:latin typeface="Calibri" panose="020F0502020204030204" pitchFamily="34" charset="0"/>
                      </a:endParaRPr>
                    </a:p>
                  </a:txBody>
                  <a:tcPr marL="0" marR="0" marT="9144" marB="9144" anchor="ctr">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r>
                        <a:rPr lang="en-US" sz="900" b="0" i="0" u="none" strike="noStrike">
                          <a:solidFill>
                            <a:schemeClr val="tx1"/>
                          </a:solidFill>
                          <a:effectLst/>
                          <a:latin typeface="Calibri" panose="020F0502020204030204" pitchFamily="34" charset="0"/>
                        </a:rPr>
                        <a:t>-1%</a:t>
                      </a:r>
                    </a:p>
                  </a:txBody>
                  <a:tcPr marL="0" marR="0" marT="9144" marB="9144" anchor="ctr">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r>
                        <a:rPr lang="en-US" sz="900" b="0" i="0" u="none" strike="noStrike">
                          <a:solidFill>
                            <a:schemeClr val="tx1"/>
                          </a:solidFill>
                          <a:effectLst/>
                          <a:latin typeface="Calibri" panose="020F0502020204030204" pitchFamily="34" charset="0"/>
                        </a:rPr>
                        <a:t> </a:t>
                      </a:r>
                    </a:p>
                  </a:txBody>
                  <a:tcPr marL="0" marR="0" marT="9144" marB="9144" anchor="ctr">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r>
                        <a:rPr lang="en-US" sz="900" b="0" i="0" u="none" strike="noStrike">
                          <a:solidFill>
                            <a:schemeClr val="tx1"/>
                          </a:solidFill>
                          <a:effectLst/>
                          <a:latin typeface="Calibri" panose="020F0502020204030204" pitchFamily="34" charset="0"/>
                        </a:rPr>
                        <a:t> </a:t>
                      </a:r>
                    </a:p>
                  </a:txBody>
                  <a:tcPr marL="0" marR="0" marT="9144" marB="9144" anchor="ctr">
                    <a:lnL>
                      <a:noFill/>
                    </a:lnL>
                    <a:lnR>
                      <a:noFill/>
                    </a:lnR>
                    <a:lnT>
                      <a:noFill/>
                    </a:lnT>
                    <a:lnB w="6350" cap="flat" cmpd="sng" algn="ctr">
                      <a:solidFill>
                        <a:srgbClr val="000000"/>
                      </a:solidFill>
                      <a:prstDash val="solid"/>
                      <a:round/>
                      <a:headEnd type="none" w="med" len="med"/>
                      <a:tailEnd type="none" w="med" len="med"/>
                    </a:lnB>
                    <a:solidFill>
                      <a:srgbClr val="FFFFDB"/>
                    </a:solidFill>
                  </a:tcPr>
                </a:tc>
                <a:extLst>
                  <a:ext uri="{0D108BD9-81ED-4DB2-BD59-A6C34878D82A}">
                    <a16:rowId xmlns:a16="http://schemas.microsoft.com/office/drawing/2014/main" val="1813036718"/>
                  </a:ext>
                </a:extLst>
              </a:tr>
              <a:tr h="60893">
                <a:tc>
                  <a:txBody>
                    <a:bodyPr/>
                    <a:lstStyle/>
                    <a:p>
                      <a:pPr algn="l" fontAlgn="b"/>
                      <a:r>
                        <a:rPr lang="en-US" sz="300" b="0" i="0" u="none" strike="noStrike">
                          <a:solidFill>
                            <a:schemeClr val="tx1"/>
                          </a:solidFill>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300" b="0" i="0" u="none" strike="noStrike">
                          <a:solidFill>
                            <a:schemeClr val="tx1"/>
                          </a:solidFill>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300" b="0" i="0" u="none" strike="noStrike">
                          <a:solidFill>
                            <a:schemeClr val="tx1"/>
                          </a:solidFill>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300" b="0" i="0" u="none" strike="noStrike">
                          <a:solidFill>
                            <a:schemeClr val="tx1"/>
                          </a:solidFill>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300" b="0" i="0" u="none" strike="noStrike">
                          <a:solidFill>
                            <a:schemeClr val="tx1"/>
                          </a:solidFill>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300" b="0" i="0" u="none" strike="noStrike">
                          <a:solidFill>
                            <a:schemeClr val="tx1"/>
                          </a:solidFill>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lnSpc>
                          <a:spcPct val="90000"/>
                        </a:lnSpc>
                      </a:pPr>
                      <a:endParaRPr lang="en-US" sz="100" b="0" i="0" u="none" strike="noStrike">
                        <a:solidFill>
                          <a:schemeClr val="tx1"/>
                        </a:solidFill>
                        <a:effectLst/>
                        <a:latin typeface="Calibri" panose="020F0502020204030204" pitchFamily="34" charset="0"/>
                      </a:endParaRP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300" b="0" i="0" u="none" strike="noStrike">
                          <a:solidFill>
                            <a:schemeClr val="tx1"/>
                          </a:solidFill>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300" b="0" i="0" u="none" strike="noStrike">
                          <a:solidFill>
                            <a:schemeClr val="tx1"/>
                          </a:solidFill>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300" b="0" i="0" u="none" strike="noStrike">
                        <a:solidFill>
                          <a:schemeClr val="tx1"/>
                        </a:solidFill>
                        <a:effectLst/>
                        <a:latin typeface="Calibri" panose="020F0502020204030204" pitchFamily="34" charset="0"/>
                      </a:endParaRP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300" b="0" i="0" u="none" strike="noStrike">
                          <a:solidFill>
                            <a:schemeClr val="tx1"/>
                          </a:solidFill>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300" b="0" i="0" u="none" strike="noStrike">
                          <a:solidFill>
                            <a:schemeClr val="tx1"/>
                          </a:solidFill>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300" b="0" i="0" u="none" strike="noStrike">
                        <a:solidFill>
                          <a:schemeClr val="tx1"/>
                        </a:solidFill>
                        <a:effectLst/>
                        <a:latin typeface="Calibri" panose="020F0502020204030204" pitchFamily="34" charset="0"/>
                      </a:endParaRP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300" b="0" i="0" u="none" strike="noStrike">
                          <a:solidFill>
                            <a:schemeClr val="tx1"/>
                          </a:solidFill>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300" b="0" i="0" u="none" strike="noStrike">
                          <a:solidFill>
                            <a:schemeClr val="tx1"/>
                          </a:solidFill>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300" b="0" i="0" u="none" strike="noStrike">
                          <a:solidFill>
                            <a:schemeClr val="tx1"/>
                          </a:solidFill>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300" b="0" i="0" u="none" strike="noStrike">
                          <a:solidFill>
                            <a:srgbClr val="000000"/>
                          </a:solidFill>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300" b="0" i="0" u="none" strike="noStrike">
                          <a:solidFill>
                            <a:schemeClr val="tx1"/>
                          </a:solidFill>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300" b="0" i="0" u="none" strike="noStrike">
                          <a:solidFill>
                            <a:schemeClr val="tx1"/>
                          </a:solidFill>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300" b="0" i="0" u="none" strike="noStrike">
                          <a:solidFill>
                            <a:schemeClr val="tx1"/>
                          </a:solidFill>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83405935"/>
                  </a:ext>
                </a:extLst>
              </a:tr>
              <a:tr h="147882">
                <a:tc>
                  <a:txBody>
                    <a:bodyPr/>
                    <a:lstStyle/>
                    <a:p>
                      <a:pPr algn="l" fontAlgn="b"/>
                      <a:r>
                        <a:rPr lang="en-US" sz="900" b="1" i="0" u="none" strike="noStrike" dirty="0">
                          <a:solidFill>
                            <a:schemeClr val="tx1"/>
                          </a:solidFill>
                          <a:effectLst/>
                          <a:latin typeface="Calibri" panose="020F0502020204030204" pitchFamily="34" charset="0"/>
                        </a:rPr>
                        <a:t>Goofy</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r>
                        <a:rPr lang="en-US" sz="900" b="1" i="0" u="none" strike="noStrike">
                          <a:solidFill>
                            <a:schemeClr val="tx1"/>
                          </a:solidFill>
                          <a:effectLst/>
                          <a:latin typeface="Calibri" panose="020F0502020204030204" pitchFamily="34" charset="0"/>
                        </a:rPr>
                        <a:t>HCE</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r>
                        <a:rPr lang="en-US" sz="900" b="1" i="0" u="none" strike="noStrike">
                          <a:solidFill>
                            <a:schemeClr val="tx1"/>
                          </a:solidFill>
                          <a:effectLst/>
                          <a:latin typeface="Calibri" panose="020F0502020204030204" pitchFamily="34" charset="0"/>
                        </a:rPr>
                        <a:t>$4,304</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r>
                        <a:rPr lang="en-US" sz="900" b="1" i="0" u="none" strike="noStrike">
                          <a:solidFill>
                            <a:schemeClr val="tx1"/>
                          </a:solidFill>
                          <a:effectLst/>
                          <a:latin typeface="Calibri" panose="020F0502020204030204" pitchFamily="34" charset="0"/>
                        </a:rPr>
                        <a:t>9%</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r>
                        <a:rPr lang="en-US" sz="900" b="1" i="0" u="none" strike="noStrike">
                          <a:solidFill>
                            <a:schemeClr val="tx1"/>
                          </a:solidFill>
                          <a:effectLst/>
                          <a:latin typeface="Calibri" panose="020F0502020204030204" pitchFamily="34" charset="0"/>
                        </a:rPr>
                        <a:t>12%</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r>
                        <a:rPr lang="en-US" sz="900" b="1" i="0" u="none" strike="noStrike">
                          <a:solidFill>
                            <a:schemeClr val="tx1"/>
                          </a:solidFill>
                          <a:effectLst/>
                          <a:latin typeface="Calibri" panose="020F0502020204030204" pitchFamily="34" charset="0"/>
                        </a:rPr>
                        <a:t>$52,291</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pPr>
                      <a:r>
                        <a:rPr lang="en-US" sz="900" b="1" i="0" u="none" strike="noStrike">
                          <a:solidFill>
                            <a:schemeClr val="tx1"/>
                          </a:solidFill>
                          <a:effectLst/>
                          <a:latin typeface="Calibri" panose="020F0502020204030204" pitchFamily="34" charset="0"/>
                        </a:rPr>
                        <a:t>12.2x</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r>
                        <a:rPr lang="en-US" sz="900" b="1" i="0" u="none" strike="noStrike">
                          <a:solidFill>
                            <a:schemeClr val="tx1"/>
                          </a:solidFill>
                          <a:effectLst/>
                          <a:latin typeface="Calibri" panose="020F0502020204030204" pitchFamily="34" charset="0"/>
                        </a:rPr>
                        <a:t>x</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r>
                        <a:rPr lang="en-US" sz="900" b="1" i="0" u="none" strike="noStrike">
                          <a:solidFill>
                            <a:schemeClr val="tx1"/>
                          </a:solidFill>
                          <a:effectLst/>
                          <a:latin typeface="Calibri" panose="020F0502020204030204" pitchFamily="34" charset="0"/>
                        </a:rPr>
                        <a:t>x</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r>
                        <a:rPr lang="en-US" sz="900" b="1" i="0" u="none" strike="noStrike">
                          <a:solidFill>
                            <a:schemeClr val="tx1"/>
                          </a:solidFill>
                          <a:effectLst/>
                          <a:latin typeface="Calibri" panose="020F0502020204030204" pitchFamily="34" charset="0"/>
                        </a:rPr>
                        <a:t>x</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r>
                        <a:rPr lang="en-US" sz="900" b="1" i="0" u="none" strike="noStrike">
                          <a:solidFill>
                            <a:schemeClr val="tx1"/>
                          </a:solidFill>
                          <a:effectLst/>
                          <a:latin typeface="Calibri" panose="020F0502020204030204" pitchFamily="34" charset="0"/>
                        </a:rPr>
                        <a:t>x</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r>
                        <a:rPr lang="en-US" sz="900" b="1" i="0" u="none" strike="noStrike">
                          <a:solidFill>
                            <a:schemeClr val="tx1"/>
                          </a:solidFill>
                          <a:effectLst/>
                          <a:latin typeface="Calibri" panose="020F0502020204030204" pitchFamily="34" charset="0"/>
                        </a:rPr>
                        <a:t>x</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r>
                        <a:rPr lang="en-US" sz="900" b="1" i="0" u="none" strike="noStrike">
                          <a:solidFill>
                            <a:schemeClr val="tx1"/>
                          </a:solidFill>
                          <a:effectLst/>
                          <a:latin typeface="Calibri" panose="020F0502020204030204" pitchFamily="34" charset="0"/>
                        </a:rPr>
                        <a:t>6%</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r>
                        <a:rPr lang="en-US" sz="900" b="1" i="0" u="none" strike="noStrike">
                          <a:solidFill>
                            <a:schemeClr val="tx1"/>
                          </a:solidFill>
                          <a:effectLst/>
                          <a:latin typeface="Calibri" panose="020F0502020204030204" pitchFamily="34" charset="0"/>
                        </a:rPr>
                        <a:t>x</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r>
                        <a:rPr lang="en-US" sz="900" b="1" i="0" u="none" strike="noStrike">
                          <a:solidFill>
                            <a:schemeClr val="tx1"/>
                          </a:solidFill>
                          <a:effectLst/>
                          <a:latin typeface="Calibri" panose="020F0502020204030204" pitchFamily="34" charset="0"/>
                        </a:rPr>
                        <a:t>x</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r>
                        <a:rPr lang="en-US" sz="900" b="1" i="0" u="none" strike="noStrike">
                          <a:solidFill>
                            <a:schemeClr val="tx1"/>
                          </a:solidFill>
                          <a:effectLst/>
                          <a:latin typeface="Calibri" panose="020F0502020204030204" pitchFamily="34" charset="0"/>
                        </a:rPr>
                        <a:t>36%</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endParaRPr lang="en-US" sz="900" b="1" i="0" u="none" strike="noStrike">
                        <a:solidFill>
                          <a:srgbClr val="000000"/>
                        </a:solidFill>
                        <a:effectLst/>
                        <a:latin typeface="Calibri" panose="020F0502020204030204" pitchFamily="34" charset="0"/>
                      </a:endParaRP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r>
                        <a:rPr lang="en-US" sz="900" b="1" i="0" u="none" strike="noStrike">
                          <a:solidFill>
                            <a:schemeClr val="tx1"/>
                          </a:solidFill>
                          <a:effectLst/>
                          <a:latin typeface="Calibri" panose="020F0502020204030204" pitchFamily="34" charset="0"/>
                        </a:rPr>
                        <a:t>9%</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r>
                        <a:rPr lang="en-US" sz="900" b="1" i="0" u="none" strike="noStrike">
                          <a:solidFill>
                            <a:schemeClr val="tx1"/>
                          </a:solidFill>
                          <a:effectLst/>
                          <a:latin typeface="Calibri" panose="020F0502020204030204" pitchFamily="34" charset="0"/>
                        </a:rPr>
                        <a:t>x</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r>
                        <a:rPr lang="en-US" sz="900" b="1" i="0" u="none" strike="noStrike" dirty="0">
                          <a:solidFill>
                            <a:schemeClr val="tx1"/>
                          </a:solidFill>
                          <a:effectLst/>
                          <a:latin typeface="Calibri" panose="020F0502020204030204" pitchFamily="34" charset="0"/>
                        </a:rPr>
                        <a:t>10</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extLst>
                  <a:ext uri="{0D108BD9-81ED-4DB2-BD59-A6C34878D82A}">
                    <a16:rowId xmlns:a16="http://schemas.microsoft.com/office/drawing/2014/main" val="3517689274"/>
                  </a:ext>
                </a:extLst>
              </a:tr>
            </a:tbl>
          </a:graphicData>
        </a:graphic>
      </p:graphicFrame>
      <p:graphicFrame>
        <p:nvGraphicFramePr>
          <p:cNvPr id="10" name="Table 9">
            <a:extLst>
              <a:ext uri="{FF2B5EF4-FFF2-40B4-BE49-F238E27FC236}">
                <a16:creationId xmlns:a16="http://schemas.microsoft.com/office/drawing/2014/main" id="{981646F3-4EA6-42CF-732B-DAB271C692CB}"/>
              </a:ext>
            </a:extLst>
          </p:cNvPr>
          <p:cNvGraphicFramePr>
            <a:graphicFrameLocks noGrp="1"/>
          </p:cNvGraphicFramePr>
          <p:nvPr>
            <p:extLst>
              <p:ext uri="{D42A27DB-BD31-4B8C-83A1-F6EECF244321}">
                <p14:modId xmlns:p14="http://schemas.microsoft.com/office/powerpoint/2010/main" val="3015085351"/>
              </p:ext>
            </p:extLst>
          </p:nvPr>
        </p:nvGraphicFramePr>
        <p:xfrm>
          <a:off x="5021965" y="5926874"/>
          <a:ext cx="2011680" cy="137160"/>
        </p:xfrm>
        <a:graphic>
          <a:graphicData uri="http://schemas.openxmlformats.org/drawingml/2006/table">
            <a:tbl>
              <a:tblPr firstRow="1" bandRow="1">
                <a:tableStyleId>{5940675A-B579-460E-94D1-54222C63F5DA}</a:tableStyleId>
              </a:tblPr>
              <a:tblGrid>
                <a:gridCol w="274320">
                  <a:extLst>
                    <a:ext uri="{9D8B030D-6E8A-4147-A177-3AD203B41FA5}">
                      <a16:colId xmlns:a16="http://schemas.microsoft.com/office/drawing/2014/main" val="267115251"/>
                    </a:ext>
                  </a:extLst>
                </a:gridCol>
                <a:gridCol w="1737360">
                  <a:extLst>
                    <a:ext uri="{9D8B030D-6E8A-4147-A177-3AD203B41FA5}">
                      <a16:colId xmlns:a16="http://schemas.microsoft.com/office/drawing/2014/main" val="269626342"/>
                    </a:ext>
                  </a:extLst>
                </a:gridCol>
              </a:tblGrid>
              <a:tr h="127044">
                <a:tc>
                  <a:txBody>
                    <a:bodyPr/>
                    <a:lstStyle/>
                    <a:p>
                      <a:pPr algn="ctr"/>
                      <a:r>
                        <a:rPr lang="en-US" sz="900"/>
                        <a:t>LS</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900"/>
                        <a:t>  Life Sciences Tools &amp; </a:t>
                      </a:r>
                      <a:r>
                        <a:rPr lang="en-US" sz="900" err="1"/>
                        <a:t>Svcs</a:t>
                      </a:r>
                      <a:endParaRPr lang="en-US" sz="900"/>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88741809"/>
                  </a:ext>
                </a:extLst>
              </a:tr>
            </a:tbl>
          </a:graphicData>
        </a:graphic>
      </p:graphicFrame>
      <p:graphicFrame>
        <p:nvGraphicFramePr>
          <p:cNvPr id="13" name="Table 12">
            <a:extLst>
              <a:ext uri="{FF2B5EF4-FFF2-40B4-BE49-F238E27FC236}">
                <a16:creationId xmlns:a16="http://schemas.microsoft.com/office/drawing/2014/main" id="{92D86146-67F2-BB28-ED65-9A281014C675}"/>
              </a:ext>
            </a:extLst>
          </p:cNvPr>
          <p:cNvGraphicFramePr>
            <a:graphicFrameLocks noGrp="1"/>
          </p:cNvGraphicFramePr>
          <p:nvPr>
            <p:extLst>
              <p:ext uri="{D42A27DB-BD31-4B8C-83A1-F6EECF244321}">
                <p14:modId xmlns:p14="http://schemas.microsoft.com/office/powerpoint/2010/main" val="3568432292"/>
              </p:ext>
            </p:extLst>
          </p:nvPr>
        </p:nvGraphicFramePr>
        <p:xfrm>
          <a:off x="3849370" y="5926874"/>
          <a:ext cx="2011680" cy="183211"/>
        </p:xfrm>
        <a:graphic>
          <a:graphicData uri="http://schemas.openxmlformats.org/drawingml/2006/table">
            <a:tbl>
              <a:tblPr firstRow="1" bandRow="1">
                <a:tableStyleId>{5940675A-B579-460E-94D1-54222C63F5DA}</a:tableStyleId>
              </a:tblPr>
              <a:tblGrid>
                <a:gridCol w="274320">
                  <a:extLst>
                    <a:ext uri="{9D8B030D-6E8A-4147-A177-3AD203B41FA5}">
                      <a16:colId xmlns:a16="http://schemas.microsoft.com/office/drawing/2014/main" val="2736650706"/>
                    </a:ext>
                  </a:extLst>
                </a:gridCol>
                <a:gridCol w="1737360">
                  <a:extLst>
                    <a:ext uri="{9D8B030D-6E8A-4147-A177-3AD203B41FA5}">
                      <a16:colId xmlns:a16="http://schemas.microsoft.com/office/drawing/2014/main" val="1529697195"/>
                    </a:ext>
                  </a:extLst>
                </a:gridCol>
              </a:tblGrid>
              <a:tr h="127044">
                <a:tc>
                  <a:txBody>
                    <a:bodyPr/>
                    <a:lstStyle/>
                    <a:p>
                      <a:pPr algn="ctr"/>
                      <a:r>
                        <a:rPr lang="en-US" sz="900"/>
                        <a:t>P</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900"/>
                        <a:t>  Pharmaceuticals</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60456300"/>
                  </a:ext>
                </a:extLst>
              </a:tr>
              <a:tr h="46051">
                <a:tc>
                  <a:txBody>
                    <a:bodyPr/>
                    <a:lstStyle/>
                    <a:p>
                      <a:endParaRPr lang="en-US" sz="100"/>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a:p>
                  </a:txBody>
                  <a:tcPr marL="0" marR="0" marT="0"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22240298"/>
                  </a:ext>
                </a:extLst>
              </a:tr>
            </a:tbl>
          </a:graphicData>
        </a:graphic>
      </p:graphicFrame>
    </p:spTree>
    <p:extLst>
      <p:ext uri="{BB962C8B-B14F-4D97-AF65-F5344CB8AC3E}">
        <p14:creationId xmlns:p14="http://schemas.microsoft.com/office/powerpoint/2010/main" val="2038606935"/>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B6E3AB-8157-601F-D3EA-AF46A318511B}"/>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9BB4FFCC-CB5F-49C8-4DD9-629878EB5FFD}"/>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5" name="Title 4">
            <a:extLst>
              <a:ext uri="{FF2B5EF4-FFF2-40B4-BE49-F238E27FC236}">
                <a16:creationId xmlns:a16="http://schemas.microsoft.com/office/drawing/2014/main" id="{C7BDB9C4-3D8F-C5D9-8E01-25775B4F8010}"/>
              </a:ext>
            </a:extLst>
          </p:cNvPr>
          <p:cNvSpPr>
            <a:spLocks noGrp="1"/>
          </p:cNvSpPr>
          <p:nvPr>
            <p:ph type="title"/>
          </p:nvPr>
        </p:nvSpPr>
        <p:spPr>
          <a:xfrm>
            <a:off x="804972" y="180402"/>
            <a:ext cx="8416847" cy="964630"/>
          </a:xfrm>
        </p:spPr>
        <p:txBody>
          <a:bodyPr/>
          <a:lstStyle/>
          <a:p>
            <a:r>
              <a:rPr lang="en-US" dirty="0"/>
              <a:t>ACME evaluated five new-to-the-screen companies this year and eight from last year. Dentsply Sirona’s business model is converging with Goofy, but it still serves as a distributor of other companies’ products and uses distributors to sell its products</a:t>
            </a:r>
          </a:p>
        </p:txBody>
      </p:sp>
      <p:sp>
        <p:nvSpPr>
          <p:cNvPr id="4" name="Slide Number Placeholder 3">
            <a:extLst>
              <a:ext uri="{FF2B5EF4-FFF2-40B4-BE49-F238E27FC236}">
                <a16:creationId xmlns:a16="http://schemas.microsoft.com/office/drawing/2014/main" id="{37B476EA-16F5-3F17-8E44-36B67515E543}"/>
              </a:ext>
            </a:extLst>
          </p:cNvPr>
          <p:cNvSpPr>
            <a:spLocks noGrp="1"/>
          </p:cNvSpPr>
          <p:nvPr>
            <p:ph type="sldNum" sz="quarter" idx="12"/>
          </p:nvPr>
        </p:nvSpPr>
        <p:spPr>
          <a:xfrm>
            <a:off x="8581798" y="6577909"/>
            <a:ext cx="352260" cy="211339"/>
          </a:xfrm>
        </p:spPr>
        <p:txBody>
          <a:bodyPr/>
          <a:lstStyle/>
          <a:p>
            <a:fld id="{91690BAF-E217-4185-92FD-0CEA06F2B7C8}" type="slidenum">
              <a:rPr lang="en-US" smtClean="0"/>
              <a:pPr/>
              <a:t>6</a:t>
            </a:fld>
            <a:endParaRPr lang="en-US"/>
          </a:p>
        </p:txBody>
      </p:sp>
      <p:sp>
        <p:nvSpPr>
          <p:cNvPr id="9" name="TextBox 8">
            <a:extLst>
              <a:ext uri="{FF2B5EF4-FFF2-40B4-BE49-F238E27FC236}">
                <a16:creationId xmlns:a16="http://schemas.microsoft.com/office/drawing/2014/main" id="{396AF033-8BFA-833D-0243-3D66BAD0262C}"/>
              </a:ext>
            </a:extLst>
          </p:cNvPr>
          <p:cNvSpPr txBox="1"/>
          <p:nvPr/>
        </p:nvSpPr>
        <p:spPr>
          <a:xfrm>
            <a:off x="1212851" y="1198928"/>
            <a:ext cx="6705599" cy="552524"/>
          </a:xfrm>
          <a:prstGeom prst="rect">
            <a:avLst/>
          </a:prstGeom>
          <a:noFill/>
        </p:spPr>
        <p:txBody>
          <a:bodyPr wrap="square" lIns="91440" tIns="91440" rIns="91440" bIns="91440" rtlCol="0" anchor="ctr">
            <a:spAutoFit/>
          </a:bodyPr>
          <a:lstStyle/>
          <a:p>
            <a:pPr algn="ctr">
              <a:lnSpc>
                <a:spcPct val="85000"/>
              </a:lnSpc>
            </a:pPr>
            <a:r>
              <a:rPr lang="en-US" sz="1400" b="1" dirty="0"/>
              <a:t>Companies New to Screen and Considered Last Year</a:t>
            </a:r>
          </a:p>
          <a:p>
            <a:pPr algn="ctr">
              <a:lnSpc>
                <a:spcPct val="85000"/>
              </a:lnSpc>
            </a:pPr>
            <a:r>
              <a:rPr lang="en-US" sz="1400" b="1" dirty="0"/>
              <a:t>Rationale for Exclusion</a:t>
            </a:r>
          </a:p>
        </p:txBody>
      </p:sp>
      <p:sp>
        <p:nvSpPr>
          <p:cNvPr id="11" name="TextBox 10">
            <a:extLst>
              <a:ext uri="{FF2B5EF4-FFF2-40B4-BE49-F238E27FC236}">
                <a16:creationId xmlns:a16="http://schemas.microsoft.com/office/drawing/2014/main" id="{1ED45AA3-E247-CDF3-DBB9-1CF81941EE57}"/>
              </a:ext>
            </a:extLst>
          </p:cNvPr>
          <p:cNvSpPr txBox="1"/>
          <p:nvPr/>
        </p:nvSpPr>
        <p:spPr>
          <a:xfrm>
            <a:off x="1444648" y="6064623"/>
            <a:ext cx="6098208" cy="277064"/>
          </a:xfrm>
          <a:prstGeom prst="rect">
            <a:avLst/>
          </a:prstGeom>
          <a:solidFill>
            <a:schemeClr val="accent1">
              <a:lumMod val="20000"/>
              <a:lumOff val="80000"/>
            </a:schemeClr>
          </a:solidFill>
          <a:ln>
            <a:solidFill>
              <a:schemeClr val="tx1"/>
            </a:solidFill>
          </a:ln>
        </p:spPr>
        <p:txBody>
          <a:bodyPr vert="horz" wrap="none" lIns="45720" tIns="45720" rIns="45720" bIns="45720" rtlCol="0" anchor="ctr">
            <a:spAutoFit/>
          </a:bodyPr>
          <a:lstStyle/>
          <a:p>
            <a:pPr algn="ctr">
              <a:lnSpc>
                <a:spcPct val="85000"/>
              </a:lnSpc>
            </a:pPr>
            <a:r>
              <a:rPr lang="en-US" sz="1400" i="1" dirty="0"/>
              <a:t>As a result, ACME recommends no changes to </a:t>
            </a:r>
            <a:r>
              <a:rPr lang="en-US" sz="1400" i="1" dirty="0" err="1"/>
              <a:t>Goofy’s</a:t>
            </a:r>
            <a:r>
              <a:rPr lang="en-US" sz="1400" i="1" dirty="0"/>
              <a:t> current peer group for FY26</a:t>
            </a:r>
          </a:p>
        </p:txBody>
      </p:sp>
      <p:graphicFrame>
        <p:nvGraphicFramePr>
          <p:cNvPr id="15" name="Table 14">
            <a:extLst>
              <a:ext uri="{FF2B5EF4-FFF2-40B4-BE49-F238E27FC236}">
                <a16:creationId xmlns:a16="http://schemas.microsoft.com/office/drawing/2014/main" id="{4559243B-CC14-29F9-F588-76DCEA0C29FD}"/>
              </a:ext>
            </a:extLst>
          </p:cNvPr>
          <p:cNvGraphicFramePr>
            <a:graphicFrameLocks noGrp="1"/>
          </p:cNvGraphicFramePr>
          <p:nvPr>
            <p:extLst>
              <p:ext uri="{D42A27DB-BD31-4B8C-83A1-F6EECF244321}">
                <p14:modId xmlns:p14="http://schemas.microsoft.com/office/powerpoint/2010/main" val="3533961515"/>
              </p:ext>
            </p:extLst>
          </p:nvPr>
        </p:nvGraphicFramePr>
        <p:xfrm>
          <a:off x="38100" y="1684980"/>
          <a:ext cx="9060181" cy="3745894"/>
        </p:xfrm>
        <a:graphic>
          <a:graphicData uri="http://schemas.openxmlformats.org/drawingml/2006/table">
            <a:tbl>
              <a:tblPr/>
              <a:tblGrid>
                <a:gridCol w="1098204">
                  <a:extLst>
                    <a:ext uri="{9D8B030D-6E8A-4147-A177-3AD203B41FA5}">
                      <a16:colId xmlns:a16="http://schemas.microsoft.com/office/drawing/2014/main" val="2884048842"/>
                    </a:ext>
                  </a:extLst>
                </a:gridCol>
                <a:gridCol w="549102">
                  <a:extLst>
                    <a:ext uri="{9D8B030D-6E8A-4147-A177-3AD203B41FA5}">
                      <a16:colId xmlns:a16="http://schemas.microsoft.com/office/drawing/2014/main" val="2724871237"/>
                    </a:ext>
                  </a:extLst>
                </a:gridCol>
                <a:gridCol w="457585">
                  <a:extLst>
                    <a:ext uri="{9D8B030D-6E8A-4147-A177-3AD203B41FA5}">
                      <a16:colId xmlns:a16="http://schemas.microsoft.com/office/drawing/2014/main" val="1878695566"/>
                    </a:ext>
                  </a:extLst>
                </a:gridCol>
                <a:gridCol w="549102">
                  <a:extLst>
                    <a:ext uri="{9D8B030D-6E8A-4147-A177-3AD203B41FA5}">
                      <a16:colId xmlns:a16="http://schemas.microsoft.com/office/drawing/2014/main" val="1438676765"/>
                    </a:ext>
                  </a:extLst>
                </a:gridCol>
                <a:gridCol w="732136">
                  <a:extLst>
                    <a:ext uri="{9D8B030D-6E8A-4147-A177-3AD203B41FA5}">
                      <a16:colId xmlns:a16="http://schemas.microsoft.com/office/drawing/2014/main" val="613033579"/>
                    </a:ext>
                  </a:extLst>
                </a:gridCol>
                <a:gridCol w="640619">
                  <a:extLst>
                    <a:ext uri="{9D8B030D-6E8A-4147-A177-3AD203B41FA5}">
                      <a16:colId xmlns:a16="http://schemas.microsoft.com/office/drawing/2014/main" val="981162060"/>
                    </a:ext>
                  </a:extLst>
                </a:gridCol>
                <a:gridCol w="5033433">
                  <a:extLst>
                    <a:ext uri="{9D8B030D-6E8A-4147-A177-3AD203B41FA5}">
                      <a16:colId xmlns:a16="http://schemas.microsoft.com/office/drawing/2014/main" val="1600004102"/>
                    </a:ext>
                  </a:extLst>
                </a:gridCol>
              </a:tblGrid>
              <a:tr h="296501">
                <a:tc>
                  <a:txBody>
                    <a:bodyPr/>
                    <a:lstStyle/>
                    <a:p>
                      <a:pPr algn="ctr" rtl="0" fontAlgn="b">
                        <a:buNone/>
                      </a:pPr>
                      <a:r>
                        <a:rPr lang="en-US" sz="1000" b="1" i="0" u="none" strike="noStrike" dirty="0">
                          <a:solidFill>
                            <a:srgbClr val="FFFFFF"/>
                          </a:solidFill>
                          <a:effectLst/>
                          <a:latin typeface="+mj-lt"/>
                        </a:rPr>
                        <a:t>Company</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rtl="0" fontAlgn="b">
                        <a:buNone/>
                      </a:pPr>
                      <a:r>
                        <a:rPr lang="en-US" sz="1000" b="1" i="0" u="none" strike="noStrike">
                          <a:solidFill>
                            <a:srgbClr val="FFFFFF"/>
                          </a:solidFill>
                          <a:effectLst/>
                          <a:latin typeface="+mj-lt"/>
                        </a:rPr>
                        <a:t>Industry</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rtl="0" fontAlgn="b">
                        <a:buNone/>
                      </a:pPr>
                      <a:r>
                        <a:rPr lang="en-US" sz="1000" b="1" i="0" u="none" strike="noStrike">
                          <a:solidFill>
                            <a:srgbClr val="FFFFFF"/>
                          </a:solidFill>
                          <a:effectLst/>
                          <a:latin typeface="+mj-lt"/>
                        </a:rPr>
                        <a:t>FYE</a:t>
                      </a:r>
                      <a:br>
                        <a:rPr lang="en-US" sz="1000" b="1" i="0" u="none" strike="noStrike">
                          <a:solidFill>
                            <a:srgbClr val="FFFFFF"/>
                          </a:solidFill>
                          <a:effectLst/>
                          <a:latin typeface="+mj-lt"/>
                        </a:rPr>
                      </a:br>
                      <a:r>
                        <a:rPr lang="en-US" sz="1000" b="1" i="0" u="none" strike="noStrike">
                          <a:solidFill>
                            <a:srgbClr val="FFFFFF"/>
                          </a:solidFill>
                          <a:effectLst/>
                          <a:latin typeface="+mj-lt"/>
                        </a:rPr>
                        <a:t>MM/DD</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rtl="0" fontAlgn="b">
                        <a:buNone/>
                      </a:pPr>
                      <a:r>
                        <a:rPr lang="en-US" sz="1000" b="1" i="0" u="none" strike="noStrike">
                          <a:solidFill>
                            <a:srgbClr val="FFFFFF"/>
                          </a:solidFill>
                          <a:effectLst/>
                          <a:latin typeface="+mj-lt"/>
                        </a:rPr>
                        <a:t>FYE Revenue</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rtl="0" fontAlgn="b">
                        <a:buNone/>
                      </a:pPr>
                      <a:r>
                        <a:rPr lang="en-US" sz="1000" b="1" i="0" u="none" strike="noStrike">
                          <a:solidFill>
                            <a:srgbClr val="FFFFFF"/>
                          </a:solidFill>
                          <a:effectLst/>
                          <a:latin typeface="+mj-lt"/>
                        </a:rPr>
                        <a:t>Market Cap as of 3/1/26</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rtl="0" fontAlgn="b">
                        <a:buNone/>
                      </a:pPr>
                      <a:r>
                        <a:rPr lang="en-US" sz="1000" b="1" i="0" u="none" strike="noStrike">
                          <a:solidFill>
                            <a:srgbClr val="FFFFFF"/>
                          </a:solidFill>
                          <a:effectLst/>
                          <a:latin typeface="+mj-lt"/>
                        </a:rPr>
                        <a:t>Market Cap to Revenue</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rtl="0" fontAlgn="b">
                        <a:buNone/>
                      </a:pPr>
                      <a:r>
                        <a:rPr lang="en-US" sz="1000" b="1" i="0" u="none" strike="noStrike">
                          <a:solidFill>
                            <a:srgbClr val="FFFFFF"/>
                          </a:solidFill>
                          <a:effectLst/>
                          <a:latin typeface="+mj-lt"/>
                        </a:rPr>
                        <a:t>Reason for Exclusion</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3989138467"/>
                  </a:ext>
                </a:extLst>
              </a:tr>
              <a:tr h="156967">
                <a:tc gridSpan="3">
                  <a:txBody>
                    <a:bodyPr/>
                    <a:lstStyle/>
                    <a:p>
                      <a:pPr algn="l" rtl="0" fontAlgn="b">
                        <a:buNone/>
                      </a:pPr>
                      <a:r>
                        <a:rPr lang="en-US" sz="1000" b="1" i="0" u="none" strike="noStrike">
                          <a:solidFill>
                            <a:srgbClr val="000000"/>
                          </a:solidFill>
                          <a:effectLst/>
                          <a:latin typeface="+mj-lt"/>
                        </a:rPr>
                        <a:t>Companies New to Screen</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E3FF"/>
                    </a:solidFill>
                  </a:tcPr>
                </a:tc>
                <a:tc hMerge="1">
                  <a:txBody>
                    <a:bodyPr/>
                    <a:lstStyle/>
                    <a:p>
                      <a:endParaRPr lang="en-US"/>
                    </a:p>
                  </a:txBody>
                  <a:tcPr/>
                </a:tc>
                <a:tc hMerge="1">
                  <a:txBody>
                    <a:bodyPr/>
                    <a:lstStyle/>
                    <a:p>
                      <a:endParaRPr lang="en-US"/>
                    </a:p>
                  </a:txBody>
                  <a:tcPr/>
                </a:tc>
                <a:tc>
                  <a:txBody>
                    <a:bodyPr/>
                    <a:lstStyle/>
                    <a:p>
                      <a:pPr algn="l" rtl="0" fontAlgn="b">
                        <a:buNone/>
                      </a:pPr>
                      <a:r>
                        <a:rPr lang="en-US" sz="1000" b="0" i="0" u="none" strike="noStrike">
                          <a:solidFill>
                            <a:srgbClr val="000000"/>
                          </a:solidFill>
                          <a:effectLst/>
                          <a:latin typeface="+mj-lt"/>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E3FF"/>
                    </a:solidFill>
                  </a:tcPr>
                </a:tc>
                <a:tc>
                  <a:txBody>
                    <a:bodyPr/>
                    <a:lstStyle/>
                    <a:p>
                      <a:pPr algn="l" rtl="0" fontAlgn="b">
                        <a:buNone/>
                      </a:pPr>
                      <a:r>
                        <a:rPr lang="en-US" sz="1000" b="0" i="0" u="none" strike="noStrike">
                          <a:solidFill>
                            <a:srgbClr val="000000"/>
                          </a:solidFill>
                          <a:effectLst/>
                          <a:latin typeface="+mj-lt"/>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E3FF"/>
                    </a:solidFill>
                  </a:tcPr>
                </a:tc>
                <a:tc>
                  <a:txBody>
                    <a:bodyPr/>
                    <a:lstStyle/>
                    <a:p>
                      <a:pPr algn="l" rtl="0" fontAlgn="b">
                        <a:buNone/>
                      </a:pPr>
                      <a:r>
                        <a:rPr lang="en-US" sz="1000" b="0" i="0" u="none" strike="noStrike">
                          <a:solidFill>
                            <a:srgbClr val="000000"/>
                          </a:solidFill>
                          <a:effectLst/>
                          <a:latin typeface="+mj-lt"/>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E3FF"/>
                    </a:solidFill>
                  </a:tcPr>
                </a:tc>
                <a:tc>
                  <a:txBody>
                    <a:bodyPr/>
                    <a:lstStyle/>
                    <a:p>
                      <a:pPr algn="l" rtl="0" fontAlgn="b">
                        <a:buNone/>
                      </a:pPr>
                      <a:r>
                        <a:rPr lang="en-US" sz="1000" b="0" i="0" u="none" strike="noStrike">
                          <a:solidFill>
                            <a:srgbClr val="000000"/>
                          </a:solidFill>
                          <a:effectLst/>
                          <a:latin typeface="+mj-lt"/>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E3FF"/>
                    </a:solidFill>
                  </a:tcPr>
                </a:tc>
                <a:extLst>
                  <a:ext uri="{0D108BD9-81ED-4DB2-BD59-A6C34878D82A}">
                    <a16:rowId xmlns:a16="http://schemas.microsoft.com/office/drawing/2014/main" val="3148259908"/>
                  </a:ext>
                </a:extLst>
              </a:tr>
              <a:tr h="175269">
                <a:tc>
                  <a:txBody>
                    <a:bodyPr/>
                    <a:lstStyle/>
                    <a:p>
                      <a:pPr algn="l" rtl="0" fontAlgn="ctr">
                        <a:buNone/>
                      </a:pPr>
                      <a:r>
                        <a:rPr lang="en-US" sz="1000" b="0" i="0" u="none" strike="noStrike" err="1">
                          <a:solidFill>
                            <a:srgbClr val="000000"/>
                          </a:solidFill>
                          <a:effectLst/>
                          <a:latin typeface="+mj-lt"/>
                        </a:rPr>
                        <a:t>Accendra</a:t>
                      </a:r>
                      <a:endParaRPr lang="en-US" sz="1000" b="0" i="0" u="none" strike="noStrike">
                        <a:solidFill>
                          <a:srgbClr val="000000"/>
                        </a:solidFill>
                        <a:effectLst/>
                        <a:latin typeface="+mj-lt"/>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rtl="0" fontAlgn="ctr">
                        <a:buNone/>
                      </a:pPr>
                      <a:r>
                        <a:rPr lang="en-US" sz="1000" b="0" i="0" u="none" strike="noStrike">
                          <a:solidFill>
                            <a:srgbClr val="000000"/>
                          </a:solidFill>
                          <a:effectLst/>
                          <a:latin typeface="+mj-lt"/>
                        </a:rPr>
                        <a:t>HCD</a:t>
                      </a:r>
                    </a:p>
                  </a:txBody>
                  <a:tcPr marL="0" marR="0"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rtl="0" fontAlgn="ctr">
                        <a:buNone/>
                      </a:pPr>
                      <a:r>
                        <a:rPr lang="en-US" sz="1000" b="0" i="0" u="none" strike="noStrike">
                          <a:solidFill>
                            <a:srgbClr val="000000"/>
                          </a:solidFill>
                          <a:effectLst/>
                          <a:latin typeface="+mj-lt"/>
                        </a:rPr>
                        <a:t>12/31</a:t>
                      </a:r>
                    </a:p>
                  </a:txBody>
                  <a:tcPr marL="0" marR="0"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rtl="0" fontAlgn="ctr">
                        <a:buNone/>
                      </a:pPr>
                      <a:r>
                        <a:rPr lang="en-US" sz="1000" b="0" i="0" u="none" strike="noStrike">
                          <a:solidFill>
                            <a:srgbClr val="000000"/>
                          </a:solidFill>
                          <a:effectLst/>
                          <a:latin typeface="+mj-lt"/>
                        </a:rPr>
                        <a:t>$2,762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rtl="0" fontAlgn="ctr">
                        <a:buNone/>
                      </a:pPr>
                      <a:r>
                        <a:rPr lang="en-US" sz="1000" b="0" i="0" u="none" strike="noStrike">
                          <a:solidFill>
                            <a:srgbClr val="000000"/>
                          </a:solidFill>
                          <a:effectLst/>
                          <a:latin typeface="+mj-lt"/>
                        </a:rPr>
                        <a:t>$185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rtl="0" fontAlgn="ctr">
                        <a:buNone/>
                      </a:pPr>
                      <a:r>
                        <a:rPr lang="en-US" sz="1000" b="0" i="0" u="none" strike="noStrike">
                          <a:solidFill>
                            <a:srgbClr val="000000"/>
                          </a:solidFill>
                          <a:effectLst/>
                          <a:latin typeface="+mj-lt"/>
                        </a:rPr>
                        <a:t>0.1x</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chemeClr val="accent4">
                        <a:lumMod val="20000"/>
                        <a:lumOff val="80000"/>
                      </a:schemeClr>
                    </a:solidFill>
                  </a:tcPr>
                </a:tc>
                <a:tc>
                  <a:txBody>
                    <a:bodyPr/>
                    <a:lstStyle/>
                    <a:p>
                      <a:pPr marL="171450" indent="-171450" algn="l" rtl="0" fontAlgn="ctr">
                        <a:buFont typeface="Wingdings" panose="05000000000000000000" pitchFamily="2" charset="2"/>
                        <a:buChar char="§"/>
                      </a:pPr>
                      <a:r>
                        <a:rPr lang="en-US" sz="1000" b="0" i="0" u="none" strike="noStrike">
                          <a:solidFill>
                            <a:srgbClr val="000000"/>
                          </a:solidFill>
                          <a:effectLst/>
                          <a:latin typeface="+mj-lt"/>
                        </a:rPr>
                        <a:t>Sells through capitation arrangements with large government and commercial payors; they are not financially strong</a:t>
                      </a:r>
                    </a:p>
                  </a:txBody>
                  <a:tcPr marL="0" marR="0" marT="0" marB="0" anchor="ctr">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690283662"/>
                  </a:ext>
                </a:extLst>
              </a:tr>
              <a:tr h="175269">
                <a:tc>
                  <a:txBody>
                    <a:bodyPr/>
                    <a:lstStyle/>
                    <a:p>
                      <a:pPr algn="l" rtl="0" fontAlgn="ctr">
                        <a:buNone/>
                      </a:pPr>
                      <a:r>
                        <a:rPr lang="en-US" sz="1000" b="1" i="0" u="none" strike="noStrike">
                          <a:solidFill>
                            <a:schemeClr val="accent2">
                              <a:lumMod val="50000"/>
                            </a:schemeClr>
                          </a:solidFill>
                          <a:effectLst/>
                          <a:latin typeface="+mj-lt"/>
                        </a:rPr>
                        <a:t>Insulet</a:t>
                      </a:r>
                      <a:r>
                        <a:rPr lang="en-US" sz="1000" b="1" i="0" u="none" strike="noStrike" baseline="30000">
                          <a:solidFill>
                            <a:schemeClr val="accent2">
                              <a:lumMod val="50000"/>
                            </a:schemeClr>
                          </a:solidFill>
                          <a:effectLst/>
                          <a:latin typeface="+mj-lt"/>
                        </a:rPr>
                        <a:t>(1)</a:t>
                      </a:r>
                    </a:p>
                  </a:txBody>
                  <a:tcPr marL="0" marR="0" marT="0" marB="0" anchor="ctr">
                    <a:lnL>
                      <a:noFill/>
                    </a:lnL>
                    <a:lnR>
                      <a:noFill/>
                    </a:lnR>
                    <a:lnT>
                      <a:noFill/>
                    </a:lnT>
                    <a:lnB>
                      <a:noFill/>
                    </a:lnB>
                    <a:solidFill>
                      <a:schemeClr val="bg1">
                        <a:lumMod val="95000"/>
                      </a:schemeClr>
                    </a:solidFill>
                  </a:tcPr>
                </a:tc>
                <a:tc>
                  <a:txBody>
                    <a:bodyPr/>
                    <a:lstStyle/>
                    <a:p>
                      <a:pPr algn="ctr" rtl="0" fontAlgn="ctr">
                        <a:buNone/>
                      </a:pPr>
                      <a:r>
                        <a:rPr lang="en-US" sz="1000" b="0" i="0" u="none" strike="noStrike">
                          <a:solidFill>
                            <a:srgbClr val="000000"/>
                          </a:solidFill>
                          <a:effectLst/>
                          <a:latin typeface="+mj-lt"/>
                        </a:rPr>
                        <a:t>HCE</a:t>
                      </a:r>
                    </a:p>
                  </a:txBody>
                  <a:tcPr marL="0" marR="0" marT="0" marB="0" anchor="ctr">
                    <a:lnL>
                      <a:noFill/>
                    </a:lnL>
                    <a:lnR>
                      <a:noFill/>
                    </a:lnR>
                    <a:lnT>
                      <a:noFill/>
                    </a:lnT>
                    <a:lnB>
                      <a:noFill/>
                    </a:lnB>
                    <a:solidFill>
                      <a:schemeClr val="bg1">
                        <a:lumMod val="95000"/>
                      </a:schemeClr>
                    </a:solidFill>
                  </a:tcPr>
                </a:tc>
                <a:tc>
                  <a:txBody>
                    <a:bodyPr/>
                    <a:lstStyle/>
                    <a:p>
                      <a:pPr algn="ctr" rtl="0" fontAlgn="ctr">
                        <a:buNone/>
                      </a:pPr>
                      <a:r>
                        <a:rPr lang="en-US" sz="1000" b="0" i="0" u="none" strike="noStrike">
                          <a:solidFill>
                            <a:srgbClr val="000000"/>
                          </a:solidFill>
                          <a:effectLst/>
                          <a:latin typeface="+mj-lt"/>
                        </a:rPr>
                        <a:t>12/31</a:t>
                      </a:r>
                    </a:p>
                  </a:txBody>
                  <a:tcPr marL="0" marR="0" marT="0" marB="0" anchor="ctr">
                    <a:lnL>
                      <a:noFill/>
                    </a:lnL>
                    <a:lnR>
                      <a:noFill/>
                    </a:lnR>
                    <a:lnT>
                      <a:noFill/>
                    </a:lnT>
                    <a:lnB>
                      <a:noFill/>
                    </a:lnB>
                    <a:solidFill>
                      <a:schemeClr val="bg1">
                        <a:lumMod val="95000"/>
                      </a:schemeClr>
                    </a:solidFill>
                  </a:tcPr>
                </a:tc>
                <a:tc>
                  <a:txBody>
                    <a:bodyPr/>
                    <a:lstStyle/>
                    <a:p>
                      <a:pPr algn="ctr" rtl="0" fontAlgn="ctr">
                        <a:buNone/>
                      </a:pPr>
                      <a:r>
                        <a:rPr lang="en-US" sz="1000" b="0" i="0" u="none" strike="noStrike">
                          <a:solidFill>
                            <a:srgbClr val="000000"/>
                          </a:solidFill>
                          <a:effectLst/>
                          <a:latin typeface="+mj-lt"/>
                        </a:rPr>
                        <a:t>$2,708 </a:t>
                      </a:r>
                    </a:p>
                  </a:txBody>
                  <a:tcPr marL="0" marR="0" marT="0" marB="0" anchor="ctr">
                    <a:lnL>
                      <a:noFill/>
                    </a:lnL>
                    <a:lnR>
                      <a:noFill/>
                    </a:lnR>
                    <a:lnT>
                      <a:noFill/>
                    </a:lnT>
                    <a:lnB>
                      <a:noFill/>
                    </a:lnB>
                    <a:solidFill>
                      <a:schemeClr val="bg1">
                        <a:lumMod val="95000"/>
                      </a:schemeClr>
                    </a:solidFill>
                  </a:tcPr>
                </a:tc>
                <a:tc>
                  <a:txBody>
                    <a:bodyPr/>
                    <a:lstStyle/>
                    <a:p>
                      <a:pPr algn="ctr" rtl="0" fontAlgn="ctr">
                        <a:buNone/>
                      </a:pPr>
                      <a:r>
                        <a:rPr lang="en-US" sz="1000" b="0" i="0" u="none" strike="noStrike">
                          <a:solidFill>
                            <a:srgbClr val="000000"/>
                          </a:solidFill>
                          <a:effectLst/>
                          <a:latin typeface="+mj-lt"/>
                        </a:rPr>
                        <a:t>$17,360 </a:t>
                      </a:r>
                    </a:p>
                  </a:txBody>
                  <a:tcPr marL="0" marR="0" marT="0" marB="0" anchor="ctr">
                    <a:lnL>
                      <a:noFill/>
                    </a:lnL>
                    <a:lnR>
                      <a:noFill/>
                    </a:lnR>
                    <a:lnT>
                      <a:noFill/>
                    </a:lnT>
                    <a:lnB>
                      <a:noFill/>
                    </a:lnB>
                    <a:solidFill>
                      <a:schemeClr val="bg1">
                        <a:lumMod val="95000"/>
                      </a:schemeClr>
                    </a:solidFill>
                  </a:tcPr>
                </a:tc>
                <a:tc>
                  <a:txBody>
                    <a:bodyPr/>
                    <a:lstStyle/>
                    <a:p>
                      <a:pPr algn="ctr" rtl="0" fontAlgn="ctr">
                        <a:buNone/>
                      </a:pPr>
                      <a:r>
                        <a:rPr lang="en-US" sz="1000" b="0" i="0" u="none" strike="noStrike">
                          <a:solidFill>
                            <a:srgbClr val="000000"/>
                          </a:solidFill>
                          <a:effectLst/>
                          <a:latin typeface="+mj-lt"/>
                        </a:rPr>
                        <a:t>6.4x</a:t>
                      </a:r>
                    </a:p>
                  </a:txBody>
                  <a:tcPr marL="0" marR="0" marT="0" marB="0" anchor="ctr">
                    <a:lnL>
                      <a:noFill/>
                    </a:lnL>
                    <a:lnR>
                      <a:noFill/>
                    </a:lnR>
                    <a:lnT>
                      <a:noFill/>
                    </a:lnT>
                    <a:lnB>
                      <a:noFill/>
                    </a:lnB>
                    <a:solidFill>
                      <a:schemeClr val="bg1">
                        <a:lumMod val="95000"/>
                      </a:schemeClr>
                    </a:solidFill>
                  </a:tcPr>
                </a:tc>
                <a:tc>
                  <a:txBody>
                    <a:bodyPr/>
                    <a:lstStyle/>
                    <a:p>
                      <a:pPr marL="171450" indent="-171450" algn="l" rtl="0" fontAlgn="ctr">
                        <a:buFont typeface="Wingdings" panose="05000000000000000000" pitchFamily="2" charset="2"/>
                        <a:buChar char="§"/>
                      </a:pPr>
                      <a:r>
                        <a:rPr lang="en-US" sz="1000" b="0" i="0" u="none" strike="noStrike">
                          <a:solidFill>
                            <a:srgbClr val="000000"/>
                          </a:solidFill>
                          <a:effectLst/>
                          <a:latin typeface="+mj-lt"/>
                        </a:rPr>
                        <a:t>Sells largely through wholesalers</a:t>
                      </a:r>
                    </a:p>
                  </a:txBody>
                  <a:tcPr marL="0" marR="0"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308959831"/>
                  </a:ext>
                </a:extLst>
              </a:tr>
              <a:tr h="175269">
                <a:tc>
                  <a:txBody>
                    <a:bodyPr/>
                    <a:lstStyle/>
                    <a:p>
                      <a:pPr algn="l" rtl="0" fontAlgn="ctr">
                        <a:buNone/>
                      </a:pPr>
                      <a:r>
                        <a:rPr lang="en-US" sz="1000" b="0" i="0" u="none" strike="noStrike">
                          <a:solidFill>
                            <a:srgbClr val="000000"/>
                          </a:solidFill>
                          <a:effectLst/>
                          <a:latin typeface="+mj-lt"/>
                        </a:rPr>
                        <a:t>Concentra</a:t>
                      </a:r>
                    </a:p>
                  </a:txBody>
                  <a:tcPr marL="0" marR="0" marT="0" marB="0" anchor="ctr">
                    <a:lnL>
                      <a:noFill/>
                    </a:lnL>
                    <a:lnR>
                      <a:noFill/>
                    </a:lnR>
                    <a:lnT>
                      <a:noFill/>
                    </a:lnT>
                    <a:lnB>
                      <a:noFill/>
                    </a:lnB>
                    <a:noFill/>
                  </a:tcPr>
                </a:tc>
                <a:tc>
                  <a:txBody>
                    <a:bodyPr/>
                    <a:lstStyle/>
                    <a:p>
                      <a:pPr algn="ctr" rtl="0" fontAlgn="ctr">
                        <a:buNone/>
                      </a:pPr>
                      <a:r>
                        <a:rPr lang="en-US" sz="1000" b="0" i="0" u="none" strike="noStrike">
                          <a:solidFill>
                            <a:srgbClr val="000000"/>
                          </a:solidFill>
                          <a:effectLst/>
                          <a:latin typeface="+mj-lt"/>
                        </a:rPr>
                        <a:t>HCF</a:t>
                      </a:r>
                    </a:p>
                  </a:txBody>
                  <a:tcPr marL="0" marR="0" marT="0" marB="0" anchor="ctr">
                    <a:lnL>
                      <a:noFill/>
                    </a:lnL>
                    <a:lnR>
                      <a:noFill/>
                    </a:lnR>
                    <a:lnT>
                      <a:noFill/>
                    </a:lnT>
                    <a:lnB>
                      <a:noFill/>
                    </a:lnB>
                    <a:noFill/>
                  </a:tcPr>
                </a:tc>
                <a:tc>
                  <a:txBody>
                    <a:bodyPr/>
                    <a:lstStyle/>
                    <a:p>
                      <a:pPr algn="ctr" rtl="0" fontAlgn="ctr">
                        <a:buNone/>
                      </a:pPr>
                      <a:r>
                        <a:rPr lang="en-US" sz="1000" b="0" i="0" u="none" strike="noStrike">
                          <a:solidFill>
                            <a:srgbClr val="000000"/>
                          </a:solidFill>
                          <a:effectLst/>
                          <a:latin typeface="+mj-lt"/>
                        </a:rPr>
                        <a:t>12/31</a:t>
                      </a:r>
                    </a:p>
                  </a:txBody>
                  <a:tcPr marL="0" marR="0" marT="0" marB="0" anchor="ctr">
                    <a:lnL>
                      <a:noFill/>
                    </a:lnL>
                    <a:lnR>
                      <a:noFill/>
                    </a:lnR>
                    <a:lnT>
                      <a:noFill/>
                    </a:lnT>
                    <a:lnB>
                      <a:noFill/>
                    </a:lnB>
                    <a:noFill/>
                  </a:tcPr>
                </a:tc>
                <a:tc>
                  <a:txBody>
                    <a:bodyPr/>
                    <a:lstStyle/>
                    <a:p>
                      <a:pPr algn="ctr" rtl="0" fontAlgn="ctr">
                        <a:buNone/>
                      </a:pPr>
                      <a:r>
                        <a:rPr lang="en-US" sz="1000" b="0" i="0" u="none" strike="noStrike">
                          <a:solidFill>
                            <a:srgbClr val="000000"/>
                          </a:solidFill>
                          <a:effectLst/>
                          <a:latin typeface="+mj-lt"/>
                        </a:rPr>
                        <a:t>$2,163 </a:t>
                      </a:r>
                    </a:p>
                  </a:txBody>
                  <a:tcPr marL="0" marR="0" marT="0" marB="0" anchor="ctr">
                    <a:lnL>
                      <a:noFill/>
                    </a:lnL>
                    <a:lnR>
                      <a:noFill/>
                    </a:lnR>
                    <a:lnT>
                      <a:noFill/>
                    </a:lnT>
                    <a:lnB>
                      <a:noFill/>
                    </a:lnB>
                    <a:noFill/>
                  </a:tcPr>
                </a:tc>
                <a:tc>
                  <a:txBody>
                    <a:bodyPr/>
                    <a:lstStyle/>
                    <a:p>
                      <a:pPr algn="ctr" rtl="0" fontAlgn="ctr">
                        <a:buNone/>
                      </a:pPr>
                      <a:r>
                        <a:rPr lang="en-US" sz="1000" b="0" i="0" u="none" strike="noStrike">
                          <a:solidFill>
                            <a:srgbClr val="000000"/>
                          </a:solidFill>
                          <a:effectLst/>
                          <a:latin typeface="+mj-lt"/>
                        </a:rPr>
                        <a:t>$3,082 </a:t>
                      </a:r>
                    </a:p>
                  </a:txBody>
                  <a:tcPr marL="0" marR="0" marT="0" marB="0" anchor="ctr">
                    <a:lnL>
                      <a:noFill/>
                    </a:lnL>
                    <a:lnR>
                      <a:noFill/>
                    </a:lnR>
                    <a:lnT>
                      <a:noFill/>
                    </a:lnT>
                    <a:lnB>
                      <a:noFill/>
                    </a:lnB>
                    <a:noFill/>
                  </a:tcPr>
                </a:tc>
                <a:tc>
                  <a:txBody>
                    <a:bodyPr/>
                    <a:lstStyle/>
                    <a:p>
                      <a:pPr algn="ctr" rtl="0" fontAlgn="ctr">
                        <a:buNone/>
                      </a:pPr>
                      <a:r>
                        <a:rPr lang="en-US" sz="1000" b="0" i="0" u="none" strike="noStrike">
                          <a:solidFill>
                            <a:srgbClr val="000000"/>
                          </a:solidFill>
                          <a:effectLst/>
                          <a:latin typeface="+mj-lt"/>
                        </a:rPr>
                        <a:t>1.4x</a:t>
                      </a:r>
                    </a:p>
                  </a:txBody>
                  <a:tcPr marL="0" marR="0" marT="0" marB="0" anchor="ctr">
                    <a:lnL>
                      <a:noFill/>
                    </a:lnL>
                    <a:lnR>
                      <a:noFill/>
                    </a:lnR>
                    <a:lnT>
                      <a:noFill/>
                    </a:lnT>
                    <a:lnB>
                      <a:noFill/>
                    </a:lnB>
                    <a:noFill/>
                  </a:tcPr>
                </a:tc>
                <a:tc>
                  <a:txBody>
                    <a:bodyPr/>
                    <a:lstStyle/>
                    <a:p>
                      <a:pPr marL="171450" indent="-171450" algn="l" rtl="0" fontAlgn="ctr">
                        <a:buFont typeface="Wingdings" panose="05000000000000000000" pitchFamily="2" charset="2"/>
                        <a:buChar char="§"/>
                      </a:pPr>
                      <a:r>
                        <a:rPr lang="en-US" sz="1000" b="0" i="0" u="none" strike="noStrike">
                          <a:solidFill>
                            <a:srgbClr val="000000"/>
                          </a:solidFill>
                          <a:effectLst/>
                          <a:latin typeface="+mj-lt"/>
                        </a:rPr>
                        <a:t>Operates occupational health clinics, which is a service model</a:t>
                      </a:r>
                    </a:p>
                  </a:txBody>
                  <a:tcPr marL="0" marR="0" marT="0" marB="0" anchor="ctr">
                    <a:lnL>
                      <a:noFill/>
                    </a:lnL>
                    <a:lnR>
                      <a:noFill/>
                    </a:lnR>
                    <a:lnT>
                      <a:noFill/>
                    </a:lnT>
                    <a:lnB>
                      <a:noFill/>
                    </a:lnB>
                    <a:noFill/>
                  </a:tcPr>
                </a:tc>
                <a:extLst>
                  <a:ext uri="{0D108BD9-81ED-4DB2-BD59-A6C34878D82A}">
                    <a16:rowId xmlns:a16="http://schemas.microsoft.com/office/drawing/2014/main" val="336005239"/>
                  </a:ext>
                </a:extLst>
              </a:tr>
              <a:tr h="175269">
                <a:tc>
                  <a:txBody>
                    <a:bodyPr/>
                    <a:lstStyle/>
                    <a:p>
                      <a:pPr algn="l" rtl="0" fontAlgn="ctr">
                        <a:buNone/>
                      </a:pPr>
                      <a:r>
                        <a:rPr lang="en-US" sz="1000" b="0" i="0" u="none" strike="noStrike">
                          <a:solidFill>
                            <a:srgbClr val="000000"/>
                          </a:solidFill>
                          <a:effectLst/>
                          <a:latin typeface="+mj-lt"/>
                        </a:rPr>
                        <a:t>PTC Therapeutics</a:t>
                      </a:r>
                    </a:p>
                  </a:txBody>
                  <a:tcPr marL="0" marR="0" marT="0" marB="0" anchor="ctr">
                    <a:lnL>
                      <a:noFill/>
                    </a:lnL>
                    <a:lnR>
                      <a:noFill/>
                    </a:lnR>
                    <a:lnT>
                      <a:noFill/>
                    </a:lnT>
                    <a:lnB>
                      <a:noFill/>
                    </a:lnB>
                    <a:solidFill>
                      <a:schemeClr val="bg1">
                        <a:lumMod val="95000"/>
                      </a:schemeClr>
                    </a:solidFill>
                  </a:tcPr>
                </a:tc>
                <a:tc>
                  <a:txBody>
                    <a:bodyPr/>
                    <a:lstStyle/>
                    <a:p>
                      <a:pPr algn="ctr" rtl="0" fontAlgn="ctr">
                        <a:buNone/>
                      </a:pPr>
                      <a:r>
                        <a:rPr lang="en-US" sz="1000" b="0" i="0" u="none" strike="noStrike">
                          <a:solidFill>
                            <a:srgbClr val="000000"/>
                          </a:solidFill>
                          <a:effectLst/>
                          <a:latin typeface="+mj-lt"/>
                        </a:rPr>
                        <a:t>BT</a:t>
                      </a:r>
                    </a:p>
                  </a:txBody>
                  <a:tcPr marL="0" marR="0" marT="0" marB="0" anchor="ctr">
                    <a:lnL>
                      <a:noFill/>
                    </a:lnL>
                    <a:lnR>
                      <a:noFill/>
                    </a:lnR>
                    <a:lnT>
                      <a:noFill/>
                    </a:lnT>
                    <a:lnB>
                      <a:noFill/>
                    </a:lnB>
                    <a:solidFill>
                      <a:schemeClr val="bg1">
                        <a:lumMod val="95000"/>
                      </a:schemeClr>
                    </a:solidFill>
                  </a:tcPr>
                </a:tc>
                <a:tc>
                  <a:txBody>
                    <a:bodyPr/>
                    <a:lstStyle/>
                    <a:p>
                      <a:pPr algn="ctr" rtl="0" fontAlgn="ctr">
                        <a:buNone/>
                      </a:pPr>
                      <a:r>
                        <a:rPr lang="en-US" sz="1000" b="0" i="0" u="none" strike="noStrike">
                          <a:solidFill>
                            <a:srgbClr val="000000"/>
                          </a:solidFill>
                          <a:effectLst/>
                          <a:latin typeface="+mj-lt"/>
                        </a:rPr>
                        <a:t>12/31</a:t>
                      </a:r>
                    </a:p>
                  </a:txBody>
                  <a:tcPr marL="0" marR="0" marT="0" marB="0" anchor="ctr">
                    <a:lnL>
                      <a:noFill/>
                    </a:lnL>
                    <a:lnR>
                      <a:noFill/>
                    </a:lnR>
                    <a:lnT>
                      <a:noFill/>
                    </a:lnT>
                    <a:lnB>
                      <a:noFill/>
                    </a:lnB>
                    <a:solidFill>
                      <a:schemeClr val="bg1">
                        <a:lumMod val="95000"/>
                      </a:schemeClr>
                    </a:solidFill>
                  </a:tcPr>
                </a:tc>
                <a:tc>
                  <a:txBody>
                    <a:bodyPr/>
                    <a:lstStyle/>
                    <a:p>
                      <a:pPr algn="ctr" rtl="0" fontAlgn="ctr">
                        <a:buNone/>
                      </a:pPr>
                      <a:r>
                        <a:rPr lang="en-US" sz="1000" b="0" i="0" u="none" strike="noStrike">
                          <a:solidFill>
                            <a:srgbClr val="000000"/>
                          </a:solidFill>
                          <a:effectLst/>
                          <a:latin typeface="+mj-lt"/>
                        </a:rPr>
                        <a:t>$1,731 </a:t>
                      </a:r>
                    </a:p>
                  </a:txBody>
                  <a:tcPr marL="0" marR="0" marT="0" marB="0" anchor="ctr">
                    <a:lnL>
                      <a:noFill/>
                    </a:lnL>
                    <a:lnR>
                      <a:noFill/>
                    </a:lnR>
                    <a:lnT>
                      <a:noFill/>
                    </a:lnT>
                    <a:lnB>
                      <a:noFill/>
                    </a:lnB>
                    <a:solidFill>
                      <a:schemeClr val="bg1">
                        <a:lumMod val="95000"/>
                      </a:schemeClr>
                    </a:solidFill>
                  </a:tcPr>
                </a:tc>
                <a:tc>
                  <a:txBody>
                    <a:bodyPr/>
                    <a:lstStyle/>
                    <a:p>
                      <a:pPr algn="ctr" rtl="0" fontAlgn="ctr">
                        <a:buNone/>
                      </a:pPr>
                      <a:r>
                        <a:rPr lang="en-US" sz="1000" b="0" i="0" u="none" strike="noStrike">
                          <a:solidFill>
                            <a:srgbClr val="000000"/>
                          </a:solidFill>
                          <a:effectLst/>
                          <a:latin typeface="+mj-lt"/>
                        </a:rPr>
                        <a:t>$5,644 </a:t>
                      </a:r>
                    </a:p>
                  </a:txBody>
                  <a:tcPr marL="0" marR="0" marT="0" marB="0" anchor="ctr">
                    <a:lnL>
                      <a:noFill/>
                    </a:lnL>
                    <a:lnR>
                      <a:noFill/>
                    </a:lnR>
                    <a:lnT>
                      <a:noFill/>
                    </a:lnT>
                    <a:lnB>
                      <a:noFill/>
                    </a:lnB>
                    <a:solidFill>
                      <a:schemeClr val="bg1">
                        <a:lumMod val="95000"/>
                      </a:schemeClr>
                    </a:solidFill>
                  </a:tcPr>
                </a:tc>
                <a:tc>
                  <a:txBody>
                    <a:bodyPr/>
                    <a:lstStyle/>
                    <a:p>
                      <a:pPr algn="ctr" rtl="0" fontAlgn="ctr">
                        <a:buNone/>
                      </a:pPr>
                      <a:r>
                        <a:rPr lang="en-US" sz="1000" b="0" i="0" u="none" strike="noStrike">
                          <a:solidFill>
                            <a:srgbClr val="000000"/>
                          </a:solidFill>
                          <a:effectLst/>
                          <a:latin typeface="+mj-lt"/>
                        </a:rPr>
                        <a:t>3.3x</a:t>
                      </a:r>
                    </a:p>
                  </a:txBody>
                  <a:tcPr marL="0" marR="0" marT="0" marB="0" anchor="ctr">
                    <a:lnL>
                      <a:noFill/>
                    </a:lnL>
                    <a:lnR>
                      <a:noFill/>
                    </a:lnR>
                    <a:lnT>
                      <a:noFill/>
                    </a:lnT>
                    <a:lnB>
                      <a:noFill/>
                    </a:lnB>
                    <a:solidFill>
                      <a:schemeClr val="bg1">
                        <a:lumMod val="95000"/>
                      </a:schemeClr>
                    </a:solidFill>
                  </a:tcPr>
                </a:tc>
                <a:tc>
                  <a:txBody>
                    <a:bodyPr/>
                    <a:lstStyle/>
                    <a:p>
                      <a:pPr marL="171450" indent="-171450" algn="l" rtl="0" fontAlgn="ctr">
                        <a:buFont typeface="Wingdings" panose="05000000000000000000" pitchFamily="2" charset="2"/>
                        <a:buChar char="§"/>
                      </a:pPr>
                      <a:r>
                        <a:rPr lang="en-US" sz="1000" b="0" i="0" u="none" strike="noStrike">
                          <a:solidFill>
                            <a:srgbClr val="000000"/>
                          </a:solidFill>
                          <a:effectLst/>
                          <a:latin typeface="+mj-lt"/>
                        </a:rPr>
                        <a:t>Develops drugs, but not in animal health</a:t>
                      </a:r>
                    </a:p>
                  </a:txBody>
                  <a:tcPr marL="0" marR="0"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2883835973"/>
                  </a:ext>
                </a:extLst>
              </a:tr>
              <a:tr h="175269">
                <a:tc>
                  <a:txBody>
                    <a:bodyPr/>
                    <a:lstStyle/>
                    <a:p>
                      <a:pPr algn="l" rtl="0" fontAlgn="ctr">
                        <a:buNone/>
                      </a:pPr>
                      <a:r>
                        <a:rPr lang="en-US" sz="1000" b="1" i="0" u="none" strike="noStrike">
                          <a:solidFill>
                            <a:schemeClr val="accent2">
                              <a:lumMod val="50000"/>
                            </a:schemeClr>
                          </a:solidFill>
                          <a:effectLst/>
                          <a:latin typeface="+mj-lt"/>
                        </a:rPr>
                        <a:t>Masimo</a:t>
                      </a:r>
                      <a:r>
                        <a:rPr lang="en-US" sz="1000" b="1" i="0" u="none" strike="noStrike" baseline="30000">
                          <a:solidFill>
                            <a:schemeClr val="accent2">
                              <a:lumMod val="50000"/>
                            </a:schemeClr>
                          </a:solidFill>
                          <a:effectLst/>
                          <a:latin typeface="+mj-lt"/>
                        </a:rPr>
                        <a:t>(1)</a:t>
                      </a:r>
                    </a:p>
                  </a:txBody>
                  <a:tcPr marL="0" marR="0" marT="0"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000" b="0" i="0" u="none" strike="noStrike">
                          <a:solidFill>
                            <a:srgbClr val="000000"/>
                          </a:solidFill>
                          <a:effectLst/>
                          <a:latin typeface="+mj-lt"/>
                        </a:rPr>
                        <a:t>HCE</a:t>
                      </a:r>
                    </a:p>
                  </a:txBody>
                  <a:tcPr marL="0" marR="0" marT="0"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000" b="0" i="0" u="none" strike="noStrike">
                          <a:solidFill>
                            <a:srgbClr val="000000"/>
                          </a:solidFill>
                          <a:effectLst/>
                          <a:latin typeface="+mj-lt"/>
                        </a:rPr>
                        <a:t>1/3</a:t>
                      </a:r>
                    </a:p>
                  </a:txBody>
                  <a:tcPr marL="0" marR="0" marT="0"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000" b="0" i="0" u="none" strike="noStrike">
                          <a:solidFill>
                            <a:srgbClr val="000000"/>
                          </a:solidFill>
                          <a:effectLst/>
                          <a:latin typeface="+mj-lt"/>
                        </a:rPr>
                        <a:t>$1,527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000" b="0" i="0" u="none" strike="noStrike">
                          <a:solidFill>
                            <a:srgbClr val="000000"/>
                          </a:solidFill>
                          <a:effectLst/>
                          <a:latin typeface="+mj-lt"/>
                        </a:rPr>
                        <a:t>$9,154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000" b="0" i="0" u="none" strike="noStrike">
                          <a:solidFill>
                            <a:srgbClr val="000000"/>
                          </a:solidFill>
                          <a:effectLst/>
                          <a:latin typeface="+mj-lt"/>
                        </a:rPr>
                        <a:t>6.0x</a:t>
                      </a:r>
                    </a:p>
                  </a:txBody>
                  <a:tcPr marL="0" marR="0" marT="0"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marL="171450" indent="-171450" algn="l" rtl="0" fontAlgn="ctr">
                        <a:buFont typeface="Wingdings" panose="05000000000000000000" pitchFamily="2" charset="2"/>
                        <a:buChar char="§"/>
                      </a:pPr>
                      <a:r>
                        <a:rPr lang="en-US" sz="1000" b="0" i="0" u="none" strike="noStrike">
                          <a:solidFill>
                            <a:srgbClr val="000000"/>
                          </a:solidFill>
                          <a:effectLst/>
                          <a:latin typeface="+mj-lt"/>
                        </a:rPr>
                        <a:t>Considered in 2022, but excluded due to OEM sales model; to be acquired by Danaher in 2026</a:t>
                      </a:r>
                    </a:p>
                  </a:txBody>
                  <a:tcPr marL="0" marR="0" marT="0" marB="0" anchor="ctr">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23874318"/>
                  </a:ext>
                </a:extLst>
              </a:tr>
              <a:tr h="156967">
                <a:tc gridSpan="5">
                  <a:txBody>
                    <a:bodyPr/>
                    <a:lstStyle/>
                    <a:p>
                      <a:pPr algn="l" rtl="0" fontAlgn="b">
                        <a:buNone/>
                      </a:pPr>
                      <a:r>
                        <a:rPr lang="en-US" sz="1000" b="1" i="0" u="none" strike="noStrike">
                          <a:solidFill>
                            <a:srgbClr val="000000"/>
                          </a:solidFill>
                          <a:effectLst/>
                          <a:latin typeface="+mj-lt"/>
                        </a:rPr>
                        <a:t>Additional Companies Considered Last Year</a:t>
                      </a:r>
                      <a:endParaRPr lang="en-US" sz="1000" b="0" i="0" u="none" strike="noStrike">
                        <a:solidFill>
                          <a:srgbClr val="000000"/>
                        </a:solidFill>
                        <a:effectLst/>
                        <a:latin typeface="+mj-lt"/>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E3FF"/>
                    </a:solidFill>
                  </a:tcPr>
                </a:tc>
                <a:tc hMerge="1">
                  <a:txBody>
                    <a:bodyPr/>
                    <a:lstStyle/>
                    <a:p>
                      <a:endParaRPr lang="en-US"/>
                    </a:p>
                  </a:txBody>
                  <a:tcPr/>
                </a:tc>
                <a:tc hMerge="1">
                  <a:txBody>
                    <a:bodyPr/>
                    <a:lstStyle/>
                    <a:p>
                      <a:endParaRPr lang="en-US"/>
                    </a:p>
                  </a:txBody>
                  <a:tcPr/>
                </a:tc>
                <a:tc hMerge="1">
                  <a:txBody>
                    <a:bodyPr/>
                    <a:lstStyle/>
                    <a:p>
                      <a:endParaRP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E3FF"/>
                    </a:solidFill>
                  </a:tcPr>
                </a:tc>
                <a:tc hMerge="1">
                  <a:txBody>
                    <a:bodyPr/>
                    <a:lstStyle/>
                    <a:p>
                      <a:endParaRP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E3FF"/>
                    </a:solidFill>
                  </a:tcPr>
                </a:tc>
                <a:tc>
                  <a:txBody>
                    <a:bodyPr/>
                    <a:lstStyle/>
                    <a:p>
                      <a:pPr algn="ctr" rtl="0" fontAlgn="b">
                        <a:buNone/>
                      </a:pPr>
                      <a:r>
                        <a:rPr lang="en-US" sz="1000" b="0" i="0" u="none" strike="noStrike">
                          <a:solidFill>
                            <a:srgbClr val="000000"/>
                          </a:solidFill>
                          <a:effectLst/>
                          <a:latin typeface="Calibri" panose="020F050202020403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E3FF"/>
                    </a:solidFill>
                  </a:tcPr>
                </a:tc>
                <a:tc>
                  <a:txBody>
                    <a:bodyPr/>
                    <a:lstStyle/>
                    <a:p>
                      <a:pPr marL="171450" indent="-171450" algn="l">
                        <a:buFont typeface="Wingdings" panose="05000000000000000000" pitchFamily="2" charset="2"/>
                        <a:buChar char="§"/>
                      </a:pPr>
                      <a:endParaRP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E3FF"/>
                    </a:solidFill>
                  </a:tcPr>
                </a:tc>
                <a:extLst>
                  <a:ext uri="{0D108BD9-81ED-4DB2-BD59-A6C34878D82A}">
                    <a16:rowId xmlns:a16="http://schemas.microsoft.com/office/drawing/2014/main" val="2244084795"/>
                  </a:ext>
                </a:extLst>
              </a:tr>
              <a:tr h="197179">
                <a:tc>
                  <a:txBody>
                    <a:bodyPr/>
                    <a:lstStyle/>
                    <a:p>
                      <a:pPr algn="l" rtl="0" fontAlgn="ctr">
                        <a:buNone/>
                      </a:pPr>
                      <a:r>
                        <a:rPr lang="en-US" sz="1000" b="0" i="0" u="none" strike="noStrike">
                          <a:solidFill>
                            <a:srgbClr val="000000"/>
                          </a:solidFill>
                          <a:effectLst/>
                          <a:latin typeface="+mj-lt"/>
                        </a:rPr>
                        <a:t>Baxter International</a:t>
                      </a:r>
                    </a:p>
                  </a:txBody>
                  <a:tcPr marL="0" marR="0"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rtl="0" fontAlgn="ctr">
                        <a:buNone/>
                      </a:pPr>
                      <a:r>
                        <a:rPr lang="en-US" sz="1000" b="0" i="0" u="none" strike="noStrike">
                          <a:solidFill>
                            <a:srgbClr val="000000"/>
                          </a:solidFill>
                          <a:effectLst/>
                          <a:latin typeface="+mj-lt"/>
                        </a:rPr>
                        <a:t>HCE</a:t>
                      </a:r>
                    </a:p>
                  </a:txBody>
                  <a:tcPr marL="0" marR="0"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rtl="0" fontAlgn="ctr">
                        <a:buNone/>
                      </a:pPr>
                      <a:r>
                        <a:rPr lang="en-US" sz="1000" b="0" i="0" u="none" strike="noStrike">
                          <a:solidFill>
                            <a:srgbClr val="000000"/>
                          </a:solidFill>
                          <a:effectLst/>
                          <a:latin typeface="+mj-lt"/>
                        </a:rPr>
                        <a:t>12/31</a:t>
                      </a:r>
                    </a:p>
                  </a:txBody>
                  <a:tcPr marL="0" marR="0"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rtl="0" fontAlgn="ctr">
                        <a:buNone/>
                      </a:pPr>
                      <a:r>
                        <a:rPr lang="en-US" sz="1000" b="0" i="0" u="none" strike="noStrike">
                          <a:solidFill>
                            <a:srgbClr val="000000"/>
                          </a:solidFill>
                          <a:effectLst/>
                          <a:latin typeface="+mj-lt"/>
                        </a:rPr>
                        <a:t>$11,244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rtl="0" fontAlgn="ctr">
                        <a:buNone/>
                      </a:pPr>
                      <a:r>
                        <a:rPr lang="en-US" sz="1000" b="0" i="0" u="none" strike="noStrike">
                          <a:solidFill>
                            <a:srgbClr val="000000"/>
                          </a:solidFill>
                          <a:effectLst/>
                          <a:latin typeface="+mj-lt"/>
                        </a:rPr>
                        <a:t>$10,480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rtl="0" fontAlgn="ctr">
                        <a:buNone/>
                      </a:pPr>
                      <a:r>
                        <a:rPr lang="en-US" sz="1000" b="0" i="0" u="none" strike="noStrike">
                          <a:solidFill>
                            <a:srgbClr val="000000"/>
                          </a:solidFill>
                          <a:effectLst/>
                          <a:latin typeface="+mj-lt"/>
                        </a:rPr>
                        <a:t>0.9x</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chemeClr val="accent4">
                        <a:lumMod val="20000"/>
                        <a:lumOff val="80000"/>
                      </a:schemeClr>
                    </a:solidFill>
                  </a:tcPr>
                </a:tc>
                <a:tc rowSpan="2">
                  <a:txBody>
                    <a:bodyPr/>
                    <a:lstStyle/>
                    <a:p>
                      <a:pPr marL="171450" marR="0" lvl="0" indent="-171450" algn="l" defTabSz="914378" rtl="0" eaLnBrk="1" fontAlgn="ctr" latinLnBrk="0" hangingPunct="1">
                        <a:lnSpc>
                          <a:spcPct val="100000"/>
                        </a:lnSpc>
                        <a:spcBef>
                          <a:spcPts val="0"/>
                        </a:spcBef>
                        <a:spcAft>
                          <a:spcPts val="0"/>
                        </a:spcAft>
                        <a:buClrTx/>
                        <a:buSzTx/>
                        <a:buFont typeface="Wingdings" panose="05000000000000000000" pitchFamily="2" charset="2"/>
                        <a:buChar char="§"/>
                        <a:tabLst/>
                        <a:defRPr/>
                      </a:pPr>
                      <a:r>
                        <a:rPr lang="en-US"/>
                        <a:t>Manufactures hospital products but sales are mostly through distributors</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chemeClr val="bg1">
                        <a:lumMod val="95000"/>
                      </a:schemeClr>
                    </a:solidFill>
                  </a:tcPr>
                </a:tc>
                <a:extLst>
                  <a:ext uri="{0D108BD9-81ED-4DB2-BD59-A6C34878D82A}">
                    <a16:rowId xmlns:a16="http://schemas.microsoft.com/office/drawing/2014/main" val="2127023973"/>
                  </a:ext>
                </a:extLst>
              </a:tr>
              <a:tr h="197179">
                <a:tc>
                  <a:txBody>
                    <a:bodyPr/>
                    <a:lstStyle/>
                    <a:p>
                      <a:pPr algn="l" rtl="0" fontAlgn="ctr">
                        <a:buNone/>
                      </a:pPr>
                      <a:r>
                        <a:rPr lang="en-US" sz="1000" b="0" i="0" u="none" strike="noStrike" err="1">
                          <a:solidFill>
                            <a:srgbClr val="000000"/>
                          </a:solidFill>
                          <a:effectLst/>
                          <a:latin typeface="+mj-lt"/>
                        </a:rPr>
                        <a:t>Solventum</a:t>
                      </a:r>
                      <a:endParaRPr lang="en-US" sz="1000" b="0" i="0" u="none" strike="noStrike">
                        <a:solidFill>
                          <a:srgbClr val="000000"/>
                        </a:solidFill>
                        <a:effectLst/>
                        <a:latin typeface="+mj-lt"/>
                      </a:endParaRPr>
                    </a:p>
                  </a:txBody>
                  <a:tcPr marL="0" marR="0" marT="0" marB="0" anchor="ctr">
                    <a:lnL>
                      <a:noFill/>
                    </a:lnL>
                    <a:lnR>
                      <a:noFill/>
                    </a:lnR>
                    <a:lnT>
                      <a:noFill/>
                    </a:lnT>
                    <a:lnB>
                      <a:noFill/>
                    </a:lnB>
                    <a:solidFill>
                      <a:schemeClr val="bg1">
                        <a:lumMod val="95000"/>
                      </a:schemeClr>
                    </a:solidFill>
                  </a:tcPr>
                </a:tc>
                <a:tc>
                  <a:txBody>
                    <a:bodyPr/>
                    <a:lstStyle/>
                    <a:p>
                      <a:pPr algn="ctr" rtl="0" fontAlgn="ctr">
                        <a:buNone/>
                      </a:pPr>
                      <a:r>
                        <a:rPr lang="en-US" sz="1000" b="0" i="0" u="none" strike="noStrike">
                          <a:solidFill>
                            <a:srgbClr val="000000"/>
                          </a:solidFill>
                          <a:effectLst/>
                          <a:latin typeface="+mj-lt"/>
                        </a:rPr>
                        <a:t>HCS</a:t>
                      </a:r>
                    </a:p>
                  </a:txBody>
                  <a:tcPr marL="0" marR="0" marT="0" marB="0" anchor="ctr">
                    <a:lnL>
                      <a:noFill/>
                    </a:lnL>
                    <a:lnR>
                      <a:noFill/>
                    </a:lnR>
                    <a:lnT>
                      <a:noFill/>
                    </a:lnT>
                    <a:lnB>
                      <a:noFill/>
                    </a:lnB>
                    <a:solidFill>
                      <a:schemeClr val="bg1">
                        <a:lumMod val="95000"/>
                      </a:schemeClr>
                    </a:solidFill>
                  </a:tcPr>
                </a:tc>
                <a:tc>
                  <a:txBody>
                    <a:bodyPr/>
                    <a:lstStyle/>
                    <a:p>
                      <a:pPr algn="ctr" rtl="0" fontAlgn="ctr">
                        <a:buNone/>
                      </a:pPr>
                      <a:r>
                        <a:rPr lang="en-US" sz="1000" b="0" i="0" u="none" strike="noStrike">
                          <a:solidFill>
                            <a:srgbClr val="000000"/>
                          </a:solidFill>
                          <a:effectLst/>
                          <a:latin typeface="+mj-lt"/>
                        </a:rPr>
                        <a:t>12/31</a:t>
                      </a:r>
                    </a:p>
                  </a:txBody>
                  <a:tcPr marL="0" marR="0" marT="0" marB="0" anchor="ctr">
                    <a:lnL>
                      <a:noFill/>
                    </a:lnL>
                    <a:lnR>
                      <a:noFill/>
                    </a:lnR>
                    <a:lnT>
                      <a:noFill/>
                    </a:lnT>
                    <a:lnB>
                      <a:noFill/>
                    </a:lnB>
                    <a:solidFill>
                      <a:schemeClr val="bg1">
                        <a:lumMod val="95000"/>
                      </a:schemeClr>
                    </a:solidFill>
                  </a:tcPr>
                </a:tc>
                <a:tc>
                  <a:txBody>
                    <a:bodyPr/>
                    <a:lstStyle/>
                    <a:p>
                      <a:pPr algn="ctr" rtl="0" fontAlgn="ctr">
                        <a:buNone/>
                      </a:pPr>
                      <a:r>
                        <a:rPr lang="en-US" sz="1000" b="0" i="0" u="none" strike="noStrike">
                          <a:solidFill>
                            <a:srgbClr val="000000"/>
                          </a:solidFill>
                          <a:effectLst/>
                          <a:latin typeface="+mj-lt"/>
                        </a:rPr>
                        <a:t>$8,325 </a:t>
                      </a:r>
                    </a:p>
                  </a:txBody>
                  <a:tcPr marL="0" marR="0" marT="0" marB="0" anchor="ctr">
                    <a:lnL>
                      <a:noFill/>
                    </a:lnL>
                    <a:lnR>
                      <a:noFill/>
                    </a:lnR>
                    <a:lnT>
                      <a:noFill/>
                    </a:lnT>
                    <a:lnB>
                      <a:noFill/>
                    </a:lnB>
                    <a:solidFill>
                      <a:schemeClr val="bg1">
                        <a:lumMod val="95000"/>
                      </a:schemeClr>
                    </a:solidFill>
                  </a:tcPr>
                </a:tc>
                <a:tc>
                  <a:txBody>
                    <a:bodyPr/>
                    <a:lstStyle/>
                    <a:p>
                      <a:pPr algn="ctr" rtl="0" fontAlgn="ctr">
                        <a:buNone/>
                      </a:pPr>
                      <a:r>
                        <a:rPr lang="en-US" sz="1000" b="0" i="0" u="none" strike="noStrike">
                          <a:solidFill>
                            <a:srgbClr val="000000"/>
                          </a:solidFill>
                          <a:effectLst/>
                          <a:latin typeface="+mj-lt"/>
                        </a:rPr>
                        <a:t>$12,873 </a:t>
                      </a:r>
                    </a:p>
                  </a:txBody>
                  <a:tcPr marL="0" marR="0" marT="0" marB="0" anchor="ctr">
                    <a:lnL>
                      <a:noFill/>
                    </a:lnL>
                    <a:lnR>
                      <a:noFill/>
                    </a:lnR>
                    <a:lnT>
                      <a:noFill/>
                    </a:lnT>
                    <a:lnB>
                      <a:noFill/>
                    </a:lnB>
                    <a:solidFill>
                      <a:schemeClr val="bg1">
                        <a:lumMod val="95000"/>
                      </a:schemeClr>
                    </a:solidFill>
                  </a:tcPr>
                </a:tc>
                <a:tc>
                  <a:txBody>
                    <a:bodyPr/>
                    <a:lstStyle/>
                    <a:p>
                      <a:pPr algn="ctr" rtl="0" fontAlgn="ctr">
                        <a:buNone/>
                      </a:pPr>
                      <a:r>
                        <a:rPr lang="en-US" sz="1000" b="0" i="0" u="none" strike="noStrike">
                          <a:solidFill>
                            <a:srgbClr val="000000"/>
                          </a:solidFill>
                          <a:effectLst/>
                          <a:latin typeface="+mj-lt"/>
                        </a:rPr>
                        <a:t>1.5x</a:t>
                      </a:r>
                    </a:p>
                  </a:txBody>
                  <a:tcPr marL="0" marR="0" marT="0" marB="0" anchor="ctr">
                    <a:lnL>
                      <a:noFill/>
                    </a:lnL>
                    <a:lnR>
                      <a:noFill/>
                    </a:lnR>
                    <a:lnT>
                      <a:noFill/>
                    </a:lnT>
                    <a:lnB>
                      <a:noFill/>
                    </a:lnB>
                    <a:solidFill>
                      <a:schemeClr val="bg1">
                        <a:lumMod val="95000"/>
                      </a:schemeClr>
                    </a:solidFill>
                  </a:tcPr>
                </a:tc>
                <a:tc vMerge="1">
                  <a:txBody>
                    <a:bodyPr/>
                    <a:lstStyle/>
                    <a:p>
                      <a:pPr marL="171450" indent="-171450" algn="l" rtl="0" fontAlgn="ctr">
                        <a:buFont typeface="Wingdings" panose="05000000000000000000" pitchFamily="2" charset="2"/>
                        <a:buChar char="§"/>
                      </a:pPr>
                      <a:endParaRPr lang="en-US" sz="1000" b="0" i="0" u="none" strike="noStrike">
                        <a:solidFill>
                          <a:srgbClr val="000000"/>
                        </a:solidFill>
                        <a:effectLst/>
                        <a:latin typeface="+mj-lt"/>
                      </a:endParaRPr>
                    </a:p>
                  </a:txBody>
                  <a:tcPr marL="0" marR="0"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3010340171"/>
                  </a:ext>
                </a:extLst>
              </a:tr>
              <a:tr h="197179">
                <a:tc>
                  <a:txBody>
                    <a:bodyPr/>
                    <a:lstStyle/>
                    <a:p>
                      <a:pPr algn="l" rtl="0" fontAlgn="ctr">
                        <a:buNone/>
                      </a:pPr>
                      <a:r>
                        <a:rPr lang="en-US" sz="1000" b="0" i="0" u="none" strike="noStrike" dirty="0">
                          <a:solidFill>
                            <a:srgbClr val="000000"/>
                          </a:solidFill>
                          <a:effectLst/>
                          <a:latin typeface="+mj-lt"/>
                        </a:rPr>
                        <a:t>Avantor</a:t>
                      </a:r>
                    </a:p>
                  </a:txBody>
                  <a:tcPr marL="0" marR="0" marT="0" marB="0" anchor="ctr">
                    <a:lnL>
                      <a:noFill/>
                    </a:lnL>
                    <a:lnR>
                      <a:noFill/>
                    </a:lnR>
                    <a:lnT>
                      <a:noFill/>
                    </a:lnT>
                    <a:lnB>
                      <a:noFill/>
                    </a:lnB>
                    <a:noFill/>
                  </a:tcPr>
                </a:tc>
                <a:tc>
                  <a:txBody>
                    <a:bodyPr/>
                    <a:lstStyle/>
                    <a:p>
                      <a:pPr algn="ctr" rtl="0" fontAlgn="ctr">
                        <a:buNone/>
                      </a:pPr>
                      <a:r>
                        <a:rPr lang="en-US" sz="1000" b="0" i="0" u="none" strike="noStrike">
                          <a:solidFill>
                            <a:srgbClr val="000000"/>
                          </a:solidFill>
                          <a:effectLst/>
                          <a:latin typeface="+mj-lt"/>
                        </a:rPr>
                        <a:t>LS</a:t>
                      </a:r>
                    </a:p>
                  </a:txBody>
                  <a:tcPr marL="0" marR="0" marT="0" marB="0" anchor="ctr">
                    <a:lnL>
                      <a:noFill/>
                    </a:lnL>
                    <a:lnR>
                      <a:noFill/>
                    </a:lnR>
                    <a:lnT>
                      <a:noFill/>
                    </a:lnT>
                    <a:lnB>
                      <a:noFill/>
                    </a:lnB>
                    <a:noFill/>
                  </a:tcPr>
                </a:tc>
                <a:tc>
                  <a:txBody>
                    <a:bodyPr/>
                    <a:lstStyle/>
                    <a:p>
                      <a:pPr algn="ctr" rtl="0" fontAlgn="ctr">
                        <a:buNone/>
                      </a:pPr>
                      <a:r>
                        <a:rPr lang="en-US" sz="1000" b="0" i="0" u="none" strike="noStrike">
                          <a:solidFill>
                            <a:srgbClr val="000000"/>
                          </a:solidFill>
                          <a:effectLst/>
                          <a:latin typeface="+mj-lt"/>
                        </a:rPr>
                        <a:t>12/31</a:t>
                      </a:r>
                    </a:p>
                  </a:txBody>
                  <a:tcPr marL="0" marR="0" marT="0" marB="0" anchor="ctr">
                    <a:lnL>
                      <a:noFill/>
                    </a:lnL>
                    <a:lnR>
                      <a:noFill/>
                    </a:lnR>
                    <a:lnT>
                      <a:noFill/>
                    </a:lnT>
                    <a:lnB>
                      <a:noFill/>
                    </a:lnB>
                    <a:noFill/>
                  </a:tcPr>
                </a:tc>
                <a:tc>
                  <a:txBody>
                    <a:bodyPr/>
                    <a:lstStyle/>
                    <a:p>
                      <a:pPr algn="ctr" rtl="0" fontAlgn="ctr">
                        <a:buNone/>
                      </a:pPr>
                      <a:r>
                        <a:rPr lang="en-US" sz="1000" b="0" i="0" u="none" strike="noStrike">
                          <a:solidFill>
                            <a:srgbClr val="000000"/>
                          </a:solidFill>
                          <a:effectLst/>
                          <a:latin typeface="+mj-lt"/>
                        </a:rPr>
                        <a:t>$6,552 </a:t>
                      </a:r>
                    </a:p>
                  </a:txBody>
                  <a:tcPr marL="0" marR="0" marT="0" marB="0" anchor="ctr">
                    <a:lnL>
                      <a:noFill/>
                    </a:lnL>
                    <a:lnR>
                      <a:noFill/>
                    </a:lnR>
                    <a:lnT>
                      <a:noFill/>
                    </a:lnT>
                    <a:lnB>
                      <a:noFill/>
                    </a:lnB>
                    <a:noFill/>
                  </a:tcPr>
                </a:tc>
                <a:tc>
                  <a:txBody>
                    <a:bodyPr/>
                    <a:lstStyle/>
                    <a:p>
                      <a:pPr algn="ctr" rtl="0" fontAlgn="ctr">
                        <a:buNone/>
                      </a:pPr>
                      <a:r>
                        <a:rPr lang="en-US" sz="1000" b="0" i="0" u="none" strike="noStrike">
                          <a:solidFill>
                            <a:srgbClr val="000000"/>
                          </a:solidFill>
                          <a:effectLst/>
                          <a:latin typeface="+mj-lt"/>
                        </a:rPr>
                        <a:t>$6,173 </a:t>
                      </a:r>
                    </a:p>
                  </a:txBody>
                  <a:tcPr marL="0" marR="0" marT="0" marB="0" anchor="ctr">
                    <a:lnL>
                      <a:noFill/>
                    </a:lnL>
                    <a:lnR>
                      <a:noFill/>
                    </a:lnR>
                    <a:lnT>
                      <a:noFill/>
                    </a:lnT>
                    <a:lnB>
                      <a:noFill/>
                    </a:lnB>
                    <a:noFill/>
                  </a:tcPr>
                </a:tc>
                <a:tc>
                  <a:txBody>
                    <a:bodyPr/>
                    <a:lstStyle/>
                    <a:p>
                      <a:pPr algn="ctr" rtl="0" fontAlgn="ctr">
                        <a:buNone/>
                      </a:pPr>
                      <a:r>
                        <a:rPr lang="en-US" sz="1000" b="0" i="0" u="none" strike="noStrike">
                          <a:solidFill>
                            <a:srgbClr val="000000"/>
                          </a:solidFill>
                          <a:effectLst/>
                          <a:latin typeface="+mj-lt"/>
                        </a:rPr>
                        <a:t>0.9x</a:t>
                      </a:r>
                    </a:p>
                  </a:txBody>
                  <a:tcPr marL="0" marR="0" marT="0" marB="0" anchor="ctr">
                    <a:lnL>
                      <a:noFill/>
                    </a:lnL>
                    <a:lnR>
                      <a:noFill/>
                    </a:lnR>
                    <a:lnT>
                      <a:noFill/>
                    </a:lnT>
                    <a:lnB>
                      <a:noFill/>
                    </a:lnB>
                    <a:solidFill>
                      <a:schemeClr val="accent4">
                        <a:lumMod val="20000"/>
                        <a:lumOff val="80000"/>
                      </a:schemeClr>
                    </a:solidFill>
                  </a:tcPr>
                </a:tc>
                <a:tc>
                  <a:txBody>
                    <a:bodyPr/>
                    <a:lstStyle/>
                    <a:p>
                      <a:pPr marL="171450" indent="-171450" algn="l" rtl="0" fontAlgn="ctr">
                        <a:buFont typeface="Wingdings" panose="05000000000000000000" pitchFamily="2" charset="2"/>
                        <a:buChar char="§"/>
                      </a:pPr>
                      <a:r>
                        <a:rPr lang="en-US"/>
                        <a:t>Sells commodity‑like laboratory materials</a:t>
                      </a:r>
                      <a:endParaRPr lang="en-US" sz="1000" b="0" i="0" u="none" strike="noStrike">
                        <a:solidFill>
                          <a:srgbClr val="000000"/>
                        </a:solidFill>
                        <a:effectLst/>
                        <a:latin typeface="+mj-lt"/>
                      </a:endParaRPr>
                    </a:p>
                  </a:txBody>
                  <a:tcPr marL="0" marR="0" marT="0" marB="0" anchor="ctr">
                    <a:lnL>
                      <a:noFill/>
                    </a:lnL>
                    <a:lnR>
                      <a:noFill/>
                    </a:lnR>
                    <a:lnT>
                      <a:noFill/>
                    </a:lnT>
                    <a:lnB>
                      <a:noFill/>
                    </a:lnB>
                    <a:noFill/>
                  </a:tcPr>
                </a:tc>
                <a:extLst>
                  <a:ext uri="{0D108BD9-81ED-4DB2-BD59-A6C34878D82A}">
                    <a16:rowId xmlns:a16="http://schemas.microsoft.com/office/drawing/2014/main" val="3555976286"/>
                  </a:ext>
                </a:extLst>
              </a:tr>
              <a:tr h="197179">
                <a:tc>
                  <a:txBody>
                    <a:bodyPr/>
                    <a:lstStyle/>
                    <a:p>
                      <a:pPr algn="l" rtl="0" fontAlgn="ctr">
                        <a:buNone/>
                      </a:pPr>
                      <a:r>
                        <a:rPr lang="en-US" sz="1000" b="0" i="0" u="none" strike="noStrike" dirty="0">
                          <a:solidFill>
                            <a:srgbClr val="000000"/>
                          </a:solidFill>
                          <a:effectLst/>
                          <a:latin typeface="+mj-lt"/>
                        </a:rPr>
                        <a:t>DENTSPLY SIRONA</a:t>
                      </a:r>
                    </a:p>
                  </a:txBody>
                  <a:tcPr marL="0" marR="0" marT="0" marB="0" anchor="ctr">
                    <a:lnL>
                      <a:noFill/>
                    </a:lnL>
                    <a:lnR>
                      <a:noFill/>
                    </a:lnR>
                    <a:lnT>
                      <a:noFill/>
                    </a:lnT>
                    <a:lnB>
                      <a:noFill/>
                    </a:lnB>
                    <a:solidFill>
                      <a:schemeClr val="bg1">
                        <a:lumMod val="95000"/>
                      </a:schemeClr>
                    </a:solidFill>
                  </a:tcPr>
                </a:tc>
                <a:tc>
                  <a:txBody>
                    <a:bodyPr/>
                    <a:lstStyle/>
                    <a:p>
                      <a:pPr algn="ctr" rtl="0" fontAlgn="ctr">
                        <a:buNone/>
                      </a:pPr>
                      <a:r>
                        <a:rPr lang="en-US" sz="1000" b="0" i="0" u="none" strike="noStrike">
                          <a:solidFill>
                            <a:srgbClr val="000000"/>
                          </a:solidFill>
                          <a:effectLst/>
                          <a:latin typeface="+mj-lt"/>
                        </a:rPr>
                        <a:t>HCS</a:t>
                      </a:r>
                    </a:p>
                  </a:txBody>
                  <a:tcPr marL="0" marR="0" marT="0" marB="0" anchor="ctr">
                    <a:lnL>
                      <a:noFill/>
                    </a:lnL>
                    <a:lnR>
                      <a:noFill/>
                    </a:lnR>
                    <a:lnT>
                      <a:noFill/>
                    </a:lnT>
                    <a:lnB>
                      <a:noFill/>
                    </a:lnB>
                    <a:solidFill>
                      <a:schemeClr val="bg1">
                        <a:lumMod val="95000"/>
                      </a:schemeClr>
                    </a:solidFill>
                  </a:tcPr>
                </a:tc>
                <a:tc>
                  <a:txBody>
                    <a:bodyPr/>
                    <a:lstStyle/>
                    <a:p>
                      <a:pPr algn="ctr" rtl="0" fontAlgn="ctr">
                        <a:buNone/>
                      </a:pPr>
                      <a:r>
                        <a:rPr lang="en-US" sz="1000" b="0" i="0" u="none" strike="noStrike">
                          <a:solidFill>
                            <a:srgbClr val="000000"/>
                          </a:solidFill>
                          <a:effectLst/>
                          <a:latin typeface="+mj-lt"/>
                        </a:rPr>
                        <a:t>12/31</a:t>
                      </a:r>
                    </a:p>
                  </a:txBody>
                  <a:tcPr marL="0" marR="0" marT="0" marB="0" anchor="ctr">
                    <a:lnL>
                      <a:noFill/>
                    </a:lnL>
                    <a:lnR>
                      <a:noFill/>
                    </a:lnR>
                    <a:lnT>
                      <a:noFill/>
                    </a:lnT>
                    <a:lnB>
                      <a:noFill/>
                    </a:lnB>
                    <a:solidFill>
                      <a:schemeClr val="bg1">
                        <a:lumMod val="95000"/>
                      </a:schemeClr>
                    </a:solidFill>
                  </a:tcPr>
                </a:tc>
                <a:tc>
                  <a:txBody>
                    <a:bodyPr/>
                    <a:lstStyle/>
                    <a:p>
                      <a:pPr algn="ctr" rtl="0" fontAlgn="ctr">
                        <a:buNone/>
                      </a:pPr>
                      <a:r>
                        <a:rPr lang="en-US" sz="1000" b="0" i="0" u="none" strike="noStrike">
                          <a:solidFill>
                            <a:srgbClr val="000000"/>
                          </a:solidFill>
                          <a:effectLst/>
                          <a:latin typeface="+mj-lt"/>
                        </a:rPr>
                        <a:t>$3,680 </a:t>
                      </a:r>
                    </a:p>
                  </a:txBody>
                  <a:tcPr marL="0" marR="0" marT="0" marB="0" anchor="ctr">
                    <a:lnL>
                      <a:noFill/>
                    </a:lnL>
                    <a:lnR>
                      <a:noFill/>
                    </a:lnR>
                    <a:lnT>
                      <a:noFill/>
                    </a:lnT>
                    <a:lnB>
                      <a:noFill/>
                    </a:lnB>
                    <a:solidFill>
                      <a:schemeClr val="bg1">
                        <a:lumMod val="95000"/>
                      </a:schemeClr>
                    </a:solidFill>
                  </a:tcPr>
                </a:tc>
                <a:tc>
                  <a:txBody>
                    <a:bodyPr/>
                    <a:lstStyle/>
                    <a:p>
                      <a:pPr algn="ctr" rtl="0" fontAlgn="ctr">
                        <a:buNone/>
                      </a:pPr>
                      <a:r>
                        <a:rPr lang="en-US" sz="1000" b="0" i="0" u="none" strike="noStrike">
                          <a:solidFill>
                            <a:srgbClr val="000000"/>
                          </a:solidFill>
                          <a:effectLst/>
                          <a:latin typeface="+mj-lt"/>
                        </a:rPr>
                        <a:t>$2,929 </a:t>
                      </a:r>
                    </a:p>
                  </a:txBody>
                  <a:tcPr marL="0" marR="0" marT="0" marB="0" anchor="ctr">
                    <a:lnL>
                      <a:noFill/>
                    </a:lnL>
                    <a:lnR>
                      <a:noFill/>
                    </a:lnR>
                    <a:lnT>
                      <a:noFill/>
                    </a:lnT>
                    <a:lnB>
                      <a:noFill/>
                    </a:lnB>
                    <a:solidFill>
                      <a:schemeClr val="bg1">
                        <a:lumMod val="95000"/>
                      </a:schemeClr>
                    </a:solidFill>
                  </a:tcPr>
                </a:tc>
                <a:tc>
                  <a:txBody>
                    <a:bodyPr/>
                    <a:lstStyle/>
                    <a:p>
                      <a:pPr algn="ctr" rtl="0" fontAlgn="ctr">
                        <a:buNone/>
                      </a:pPr>
                      <a:r>
                        <a:rPr lang="en-US" sz="1000" b="0" i="0" u="none" strike="noStrike">
                          <a:solidFill>
                            <a:srgbClr val="000000"/>
                          </a:solidFill>
                          <a:effectLst/>
                          <a:latin typeface="+mj-lt"/>
                        </a:rPr>
                        <a:t>0.8x</a:t>
                      </a:r>
                    </a:p>
                  </a:txBody>
                  <a:tcPr marL="0" marR="0" marT="0" marB="0" anchor="ctr">
                    <a:lnL>
                      <a:noFill/>
                    </a:lnL>
                    <a:lnR>
                      <a:noFill/>
                    </a:lnR>
                    <a:lnT>
                      <a:noFill/>
                    </a:lnT>
                    <a:lnB>
                      <a:noFill/>
                    </a:lnB>
                    <a:solidFill>
                      <a:schemeClr val="accent4">
                        <a:lumMod val="20000"/>
                        <a:lumOff val="80000"/>
                      </a:schemeClr>
                    </a:solidFill>
                  </a:tcPr>
                </a:tc>
                <a:tc>
                  <a:txBody>
                    <a:bodyPr/>
                    <a:lstStyle/>
                    <a:p>
                      <a:pPr marL="171450" marR="0" lvl="0" indent="-171450" algn="l" defTabSz="914378" rtl="0" eaLnBrk="1" fontAlgn="ctr" latinLnBrk="0" hangingPunct="1">
                        <a:lnSpc>
                          <a:spcPct val="100000"/>
                        </a:lnSpc>
                        <a:spcBef>
                          <a:spcPts val="0"/>
                        </a:spcBef>
                        <a:spcAft>
                          <a:spcPts val="0"/>
                        </a:spcAft>
                        <a:buClrTx/>
                        <a:buSzTx/>
                        <a:buFont typeface="Wingdings" panose="05000000000000000000" pitchFamily="2" charset="2"/>
                        <a:buChar char="§"/>
                        <a:tabLst/>
                        <a:defRPr/>
                      </a:pPr>
                      <a:r>
                        <a:rPr lang="en-US">
                          <a:solidFill>
                            <a:schemeClr val="tx1"/>
                          </a:solidFill>
                        </a:rPr>
                        <a:t>Manufactures dental products and equipment, but also distributes third party products for end-to-end solutions, and uses authorized dealers to sell their products</a:t>
                      </a:r>
                    </a:p>
                  </a:txBody>
                  <a:tcPr marL="0" marR="0"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1837220402"/>
                  </a:ext>
                </a:extLst>
              </a:tr>
              <a:tr h="197179">
                <a:tc>
                  <a:txBody>
                    <a:bodyPr/>
                    <a:lstStyle/>
                    <a:p>
                      <a:pPr algn="l" rtl="0" fontAlgn="ctr">
                        <a:buNone/>
                      </a:pPr>
                      <a:r>
                        <a:rPr lang="en-US" sz="1000" b="0" i="0" u="none" strike="noStrike">
                          <a:solidFill>
                            <a:srgbClr val="000000"/>
                          </a:solidFill>
                          <a:effectLst/>
                          <a:latin typeface="+mj-lt"/>
                        </a:rPr>
                        <a:t>Bruker Corporation</a:t>
                      </a:r>
                    </a:p>
                  </a:txBody>
                  <a:tcPr marL="0" marR="0" marT="0" marB="0" anchor="ctr">
                    <a:lnL>
                      <a:noFill/>
                    </a:lnL>
                    <a:lnR>
                      <a:noFill/>
                    </a:lnR>
                    <a:lnT>
                      <a:noFill/>
                    </a:lnT>
                    <a:lnB>
                      <a:noFill/>
                    </a:lnB>
                    <a:noFill/>
                  </a:tcPr>
                </a:tc>
                <a:tc>
                  <a:txBody>
                    <a:bodyPr/>
                    <a:lstStyle/>
                    <a:p>
                      <a:pPr algn="ctr" rtl="0" fontAlgn="ctr">
                        <a:buNone/>
                      </a:pPr>
                      <a:r>
                        <a:rPr lang="en-US" sz="1000" b="0" i="0" u="none" strike="noStrike">
                          <a:solidFill>
                            <a:srgbClr val="000000"/>
                          </a:solidFill>
                          <a:effectLst/>
                          <a:latin typeface="+mj-lt"/>
                        </a:rPr>
                        <a:t>LS</a:t>
                      </a:r>
                    </a:p>
                  </a:txBody>
                  <a:tcPr marL="0" marR="0" marT="0" marB="0" anchor="ctr">
                    <a:lnL>
                      <a:noFill/>
                    </a:lnL>
                    <a:lnR>
                      <a:noFill/>
                    </a:lnR>
                    <a:lnT>
                      <a:noFill/>
                    </a:lnT>
                    <a:lnB>
                      <a:noFill/>
                    </a:lnB>
                    <a:noFill/>
                  </a:tcPr>
                </a:tc>
                <a:tc>
                  <a:txBody>
                    <a:bodyPr/>
                    <a:lstStyle/>
                    <a:p>
                      <a:pPr algn="ctr" rtl="0" fontAlgn="ctr">
                        <a:buNone/>
                      </a:pPr>
                      <a:r>
                        <a:rPr lang="en-US" sz="1000" b="0" i="0" u="none" strike="noStrike">
                          <a:solidFill>
                            <a:srgbClr val="000000"/>
                          </a:solidFill>
                          <a:effectLst/>
                          <a:latin typeface="+mj-lt"/>
                        </a:rPr>
                        <a:t>12/31</a:t>
                      </a:r>
                    </a:p>
                  </a:txBody>
                  <a:tcPr marL="0" marR="0" marT="0" marB="0" anchor="ctr">
                    <a:lnL>
                      <a:noFill/>
                    </a:lnL>
                    <a:lnR>
                      <a:noFill/>
                    </a:lnR>
                    <a:lnT>
                      <a:noFill/>
                    </a:lnT>
                    <a:lnB>
                      <a:noFill/>
                    </a:lnB>
                    <a:noFill/>
                  </a:tcPr>
                </a:tc>
                <a:tc>
                  <a:txBody>
                    <a:bodyPr/>
                    <a:lstStyle/>
                    <a:p>
                      <a:pPr algn="ctr" rtl="0" fontAlgn="ctr">
                        <a:buNone/>
                      </a:pPr>
                      <a:r>
                        <a:rPr lang="en-US" sz="1000" b="0" i="0" u="none" strike="noStrike">
                          <a:solidFill>
                            <a:srgbClr val="000000"/>
                          </a:solidFill>
                          <a:effectLst/>
                          <a:latin typeface="+mj-lt"/>
                        </a:rPr>
                        <a:t>$3,437 </a:t>
                      </a:r>
                    </a:p>
                  </a:txBody>
                  <a:tcPr marL="0" marR="0" marT="0" marB="0" anchor="ctr">
                    <a:lnL>
                      <a:noFill/>
                    </a:lnL>
                    <a:lnR>
                      <a:noFill/>
                    </a:lnR>
                    <a:lnT>
                      <a:noFill/>
                    </a:lnT>
                    <a:lnB>
                      <a:noFill/>
                    </a:lnB>
                    <a:noFill/>
                  </a:tcPr>
                </a:tc>
                <a:tc>
                  <a:txBody>
                    <a:bodyPr/>
                    <a:lstStyle/>
                    <a:p>
                      <a:pPr algn="ctr" rtl="0" fontAlgn="ctr">
                        <a:buNone/>
                      </a:pPr>
                      <a:r>
                        <a:rPr lang="en-US" sz="1000" b="0" i="0" u="none" strike="noStrike">
                          <a:solidFill>
                            <a:srgbClr val="000000"/>
                          </a:solidFill>
                          <a:effectLst/>
                          <a:latin typeface="+mj-lt"/>
                        </a:rPr>
                        <a:t>$6,106 </a:t>
                      </a:r>
                    </a:p>
                  </a:txBody>
                  <a:tcPr marL="0" marR="0" marT="0" marB="0" anchor="ctr">
                    <a:lnL>
                      <a:noFill/>
                    </a:lnL>
                    <a:lnR>
                      <a:noFill/>
                    </a:lnR>
                    <a:lnT>
                      <a:noFill/>
                    </a:lnT>
                    <a:lnB>
                      <a:noFill/>
                    </a:lnB>
                    <a:noFill/>
                  </a:tcPr>
                </a:tc>
                <a:tc>
                  <a:txBody>
                    <a:bodyPr/>
                    <a:lstStyle/>
                    <a:p>
                      <a:pPr algn="ctr" rtl="0" fontAlgn="ctr">
                        <a:buNone/>
                      </a:pPr>
                      <a:r>
                        <a:rPr lang="en-US" sz="1000" b="0" i="0" u="none" strike="noStrike">
                          <a:solidFill>
                            <a:srgbClr val="000000"/>
                          </a:solidFill>
                          <a:effectLst/>
                          <a:latin typeface="+mj-lt"/>
                        </a:rPr>
                        <a:t>1.8x</a:t>
                      </a:r>
                    </a:p>
                  </a:txBody>
                  <a:tcPr marL="0" marR="0" marT="0" marB="0" anchor="ctr">
                    <a:lnL>
                      <a:noFill/>
                    </a:lnL>
                    <a:lnR>
                      <a:noFill/>
                    </a:lnR>
                    <a:lnT>
                      <a:noFill/>
                    </a:lnT>
                    <a:lnB>
                      <a:noFill/>
                    </a:lnB>
                    <a:noFill/>
                  </a:tcPr>
                </a:tc>
                <a:tc>
                  <a:txBody>
                    <a:bodyPr/>
                    <a:lstStyle/>
                    <a:p>
                      <a:pPr marL="171450" indent="-171450" algn="l" rtl="0" fontAlgn="ctr">
                        <a:buFont typeface="Wingdings" panose="05000000000000000000" pitchFamily="2" charset="2"/>
                        <a:buChar char="§"/>
                      </a:pPr>
                      <a:r>
                        <a:rPr lang="en-US" sz="1000" b="0" i="0" kern="1200">
                          <a:solidFill>
                            <a:schemeClr val="dk1"/>
                          </a:solidFill>
                          <a:effectLst/>
                          <a:latin typeface="+mn-lt"/>
                          <a:ea typeface="+mn-ea"/>
                          <a:cs typeface="+mn-cs"/>
                        </a:rPr>
                        <a:t>Focuses on research and analytical tools for labs, rather than diagnostics</a:t>
                      </a:r>
                      <a:endParaRPr lang="en-US" sz="1000" b="0" i="0" u="none" strike="noStrike">
                        <a:solidFill>
                          <a:srgbClr val="000000"/>
                        </a:solidFill>
                        <a:effectLst/>
                        <a:latin typeface="+mj-lt"/>
                      </a:endParaRPr>
                    </a:p>
                  </a:txBody>
                  <a:tcPr marL="0" marR="0" marT="0" marB="0" anchor="ctr">
                    <a:lnL>
                      <a:noFill/>
                    </a:lnL>
                    <a:lnR>
                      <a:noFill/>
                    </a:lnR>
                    <a:lnT>
                      <a:noFill/>
                    </a:lnT>
                    <a:lnB>
                      <a:noFill/>
                    </a:lnB>
                    <a:noFill/>
                  </a:tcPr>
                </a:tc>
                <a:extLst>
                  <a:ext uri="{0D108BD9-81ED-4DB2-BD59-A6C34878D82A}">
                    <a16:rowId xmlns:a16="http://schemas.microsoft.com/office/drawing/2014/main" val="2766625710"/>
                  </a:ext>
                </a:extLst>
              </a:tr>
              <a:tr h="197179">
                <a:tc>
                  <a:txBody>
                    <a:bodyPr/>
                    <a:lstStyle/>
                    <a:p>
                      <a:pPr algn="l" rtl="0" fontAlgn="ctr">
                        <a:buNone/>
                      </a:pPr>
                      <a:r>
                        <a:rPr lang="en-US" sz="1000" b="0" i="0" u="none" strike="noStrike">
                          <a:solidFill>
                            <a:srgbClr val="000000"/>
                          </a:solidFill>
                          <a:effectLst/>
                          <a:latin typeface="+mj-lt"/>
                        </a:rPr>
                        <a:t>Exact Sciences</a:t>
                      </a:r>
                    </a:p>
                  </a:txBody>
                  <a:tcPr marL="0" marR="0" marT="0" marB="0" anchor="ctr">
                    <a:lnL>
                      <a:noFill/>
                    </a:lnL>
                    <a:lnR>
                      <a:noFill/>
                    </a:lnR>
                    <a:lnT>
                      <a:noFill/>
                    </a:lnT>
                    <a:lnB>
                      <a:noFill/>
                    </a:lnB>
                    <a:solidFill>
                      <a:schemeClr val="bg1">
                        <a:lumMod val="95000"/>
                      </a:schemeClr>
                    </a:solidFill>
                  </a:tcPr>
                </a:tc>
                <a:tc>
                  <a:txBody>
                    <a:bodyPr/>
                    <a:lstStyle/>
                    <a:p>
                      <a:pPr algn="ctr" rtl="0" fontAlgn="ctr">
                        <a:buNone/>
                      </a:pPr>
                      <a:r>
                        <a:rPr lang="en-US" sz="1000" b="0" i="0" u="none" strike="noStrike">
                          <a:solidFill>
                            <a:srgbClr val="000000"/>
                          </a:solidFill>
                          <a:effectLst/>
                          <a:latin typeface="+mj-lt"/>
                        </a:rPr>
                        <a:t>BT</a:t>
                      </a:r>
                    </a:p>
                  </a:txBody>
                  <a:tcPr marL="0" marR="0" marT="0" marB="0" anchor="ctr">
                    <a:lnL>
                      <a:noFill/>
                    </a:lnL>
                    <a:lnR>
                      <a:noFill/>
                    </a:lnR>
                    <a:lnT>
                      <a:noFill/>
                    </a:lnT>
                    <a:lnB>
                      <a:noFill/>
                    </a:lnB>
                    <a:solidFill>
                      <a:schemeClr val="bg1">
                        <a:lumMod val="95000"/>
                      </a:schemeClr>
                    </a:solidFill>
                  </a:tcPr>
                </a:tc>
                <a:tc>
                  <a:txBody>
                    <a:bodyPr/>
                    <a:lstStyle/>
                    <a:p>
                      <a:pPr algn="ctr" rtl="0" fontAlgn="ctr">
                        <a:buNone/>
                      </a:pPr>
                      <a:r>
                        <a:rPr lang="en-US" sz="1000" b="0" i="0" u="none" strike="noStrike">
                          <a:solidFill>
                            <a:srgbClr val="000000"/>
                          </a:solidFill>
                          <a:effectLst/>
                          <a:latin typeface="+mj-lt"/>
                        </a:rPr>
                        <a:t>12/31</a:t>
                      </a:r>
                    </a:p>
                  </a:txBody>
                  <a:tcPr marL="0" marR="0" marT="0" marB="0" anchor="ctr">
                    <a:lnL>
                      <a:noFill/>
                    </a:lnL>
                    <a:lnR>
                      <a:noFill/>
                    </a:lnR>
                    <a:lnT>
                      <a:noFill/>
                    </a:lnT>
                    <a:lnB>
                      <a:noFill/>
                    </a:lnB>
                    <a:solidFill>
                      <a:schemeClr val="bg1">
                        <a:lumMod val="95000"/>
                      </a:schemeClr>
                    </a:solidFill>
                  </a:tcPr>
                </a:tc>
                <a:tc>
                  <a:txBody>
                    <a:bodyPr/>
                    <a:lstStyle/>
                    <a:p>
                      <a:pPr algn="ctr" rtl="0" fontAlgn="ctr">
                        <a:buNone/>
                      </a:pPr>
                      <a:r>
                        <a:rPr lang="en-US" sz="1000" b="0" i="0" u="none" strike="noStrike">
                          <a:solidFill>
                            <a:srgbClr val="000000"/>
                          </a:solidFill>
                          <a:effectLst/>
                          <a:latin typeface="+mj-lt"/>
                        </a:rPr>
                        <a:t>$3,247 </a:t>
                      </a:r>
                    </a:p>
                  </a:txBody>
                  <a:tcPr marL="0" marR="0" marT="0" marB="0" anchor="ctr">
                    <a:lnL>
                      <a:noFill/>
                    </a:lnL>
                    <a:lnR>
                      <a:noFill/>
                    </a:lnR>
                    <a:lnT>
                      <a:noFill/>
                    </a:lnT>
                    <a:lnB>
                      <a:noFill/>
                    </a:lnB>
                    <a:solidFill>
                      <a:schemeClr val="bg1">
                        <a:lumMod val="95000"/>
                      </a:schemeClr>
                    </a:solidFill>
                  </a:tcPr>
                </a:tc>
                <a:tc>
                  <a:txBody>
                    <a:bodyPr/>
                    <a:lstStyle/>
                    <a:p>
                      <a:pPr algn="ctr" rtl="0" fontAlgn="ctr">
                        <a:buNone/>
                      </a:pPr>
                      <a:r>
                        <a:rPr lang="en-US" sz="1000" b="0" i="0" u="none" strike="noStrike">
                          <a:solidFill>
                            <a:srgbClr val="000000"/>
                          </a:solidFill>
                          <a:effectLst/>
                          <a:latin typeface="+mj-lt"/>
                        </a:rPr>
                        <a:t>$19,734 </a:t>
                      </a:r>
                    </a:p>
                  </a:txBody>
                  <a:tcPr marL="0" marR="0" marT="0" marB="0" anchor="ctr">
                    <a:lnL>
                      <a:noFill/>
                    </a:lnL>
                    <a:lnR>
                      <a:noFill/>
                    </a:lnR>
                    <a:lnT>
                      <a:noFill/>
                    </a:lnT>
                    <a:lnB>
                      <a:noFill/>
                    </a:lnB>
                    <a:solidFill>
                      <a:schemeClr val="bg1">
                        <a:lumMod val="95000"/>
                      </a:schemeClr>
                    </a:solidFill>
                  </a:tcPr>
                </a:tc>
                <a:tc>
                  <a:txBody>
                    <a:bodyPr/>
                    <a:lstStyle/>
                    <a:p>
                      <a:pPr algn="ctr" rtl="0" fontAlgn="ctr">
                        <a:buNone/>
                      </a:pPr>
                      <a:r>
                        <a:rPr lang="en-US" sz="1000" b="0" i="0" u="none" strike="noStrike">
                          <a:solidFill>
                            <a:srgbClr val="000000"/>
                          </a:solidFill>
                          <a:effectLst/>
                          <a:latin typeface="+mj-lt"/>
                        </a:rPr>
                        <a:t>6.1x</a:t>
                      </a:r>
                    </a:p>
                  </a:txBody>
                  <a:tcPr marL="0" marR="0" marT="0" marB="0" anchor="ctr">
                    <a:lnL>
                      <a:noFill/>
                    </a:lnL>
                    <a:lnR>
                      <a:noFill/>
                    </a:lnR>
                    <a:lnT>
                      <a:noFill/>
                    </a:lnT>
                    <a:lnB>
                      <a:noFill/>
                    </a:lnB>
                    <a:solidFill>
                      <a:schemeClr val="bg1">
                        <a:lumMod val="95000"/>
                      </a:schemeClr>
                    </a:solidFill>
                  </a:tcPr>
                </a:tc>
                <a:tc>
                  <a:txBody>
                    <a:bodyPr/>
                    <a:lstStyle/>
                    <a:p>
                      <a:pPr marL="171450" indent="-171450" algn="l" rtl="0" fontAlgn="ctr">
                        <a:buFont typeface="Wingdings" panose="05000000000000000000" pitchFamily="2" charset="2"/>
                        <a:buChar char="§"/>
                      </a:pPr>
                      <a:r>
                        <a:rPr lang="en-US" sz="1000" b="0" i="0" u="none" strike="noStrike">
                          <a:solidFill>
                            <a:srgbClr val="000000"/>
                          </a:solidFill>
                          <a:effectLst/>
                          <a:latin typeface="+mj-lt"/>
                        </a:rPr>
                        <a:t>Flagged for monitoring; is to be </a:t>
                      </a:r>
                      <a:r>
                        <a:rPr lang="en-US" sz="1000" b="0" i="0" u="none" strike="noStrike" kern="1200">
                          <a:solidFill>
                            <a:srgbClr val="000000"/>
                          </a:solidFill>
                          <a:effectLst/>
                          <a:latin typeface="+mn-lt"/>
                          <a:ea typeface="+mn-ea"/>
                          <a:cs typeface="+mn-cs"/>
                        </a:rPr>
                        <a:t>acquired by Abbott in 2026</a:t>
                      </a:r>
                      <a:endParaRPr lang="en-US" sz="1000" b="0" i="0" u="none" strike="noStrike">
                        <a:solidFill>
                          <a:srgbClr val="000000"/>
                        </a:solidFill>
                        <a:effectLst/>
                        <a:latin typeface="+mj-lt"/>
                      </a:endParaRPr>
                    </a:p>
                  </a:txBody>
                  <a:tcPr marL="0" marR="0"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1636938217"/>
                  </a:ext>
                </a:extLst>
              </a:tr>
              <a:tr h="197179">
                <a:tc>
                  <a:txBody>
                    <a:bodyPr/>
                    <a:lstStyle/>
                    <a:p>
                      <a:pPr algn="l" rtl="0" fontAlgn="ctr">
                        <a:buNone/>
                      </a:pPr>
                      <a:r>
                        <a:rPr lang="en-US" sz="1000" b="0" i="0" u="none" strike="noStrike">
                          <a:solidFill>
                            <a:srgbClr val="000000"/>
                          </a:solidFill>
                          <a:effectLst/>
                          <a:latin typeface="+mj-lt"/>
                        </a:rPr>
                        <a:t>QuidelOrtho</a:t>
                      </a:r>
                    </a:p>
                  </a:txBody>
                  <a:tcPr marL="0" marR="0" marT="0" marB="0" anchor="ctr">
                    <a:lnL>
                      <a:noFill/>
                    </a:lnL>
                    <a:lnR>
                      <a:noFill/>
                    </a:lnR>
                    <a:lnT>
                      <a:noFill/>
                    </a:lnT>
                    <a:lnB>
                      <a:noFill/>
                    </a:lnB>
                    <a:noFill/>
                  </a:tcPr>
                </a:tc>
                <a:tc>
                  <a:txBody>
                    <a:bodyPr/>
                    <a:lstStyle/>
                    <a:p>
                      <a:pPr algn="ctr" rtl="0" fontAlgn="ctr">
                        <a:buNone/>
                      </a:pPr>
                      <a:r>
                        <a:rPr lang="en-US" sz="1000" b="0" i="0" u="none" strike="noStrike">
                          <a:solidFill>
                            <a:srgbClr val="000000"/>
                          </a:solidFill>
                          <a:effectLst/>
                          <a:latin typeface="+mj-lt"/>
                        </a:rPr>
                        <a:t>HCE</a:t>
                      </a:r>
                    </a:p>
                  </a:txBody>
                  <a:tcPr marL="0" marR="0" marT="0" marB="0" anchor="ctr">
                    <a:lnL>
                      <a:noFill/>
                    </a:lnL>
                    <a:lnR>
                      <a:noFill/>
                    </a:lnR>
                    <a:lnT>
                      <a:noFill/>
                    </a:lnT>
                    <a:lnB>
                      <a:noFill/>
                    </a:lnB>
                    <a:noFill/>
                  </a:tcPr>
                </a:tc>
                <a:tc>
                  <a:txBody>
                    <a:bodyPr/>
                    <a:lstStyle/>
                    <a:p>
                      <a:pPr algn="ctr" rtl="0" fontAlgn="ctr">
                        <a:buNone/>
                      </a:pPr>
                      <a:r>
                        <a:rPr lang="en-US" sz="1000" b="0" i="0" u="none" strike="noStrike">
                          <a:solidFill>
                            <a:srgbClr val="000000"/>
                          </a:solidFill>
                          <a:effectLst/>
                          <a:latin typeface="+mj-lt"/>
                        </a:rPr>
                        <a:t>12/28</a:t>
                      </a:r>
                    </a:p>
                  </a:txBody>
                  <a:tcPr marL="0" marR="0" marT="0" marB="0" anchor="ctr">
                    <a:lnL>
                      <a:noFill/>
                    </a:lnL>
                    <a:lnR>
                      <a:noFill/>
                    </a:lnR>
                    <a:lnT>
                      <a:noFill/>
                    </a:lnT>
                    <a:lnB>
                      <a:noFill/>
                    </a:lnB>
                    <a:noFill/>
                  </a:tcPr>
                </a:tc>
                <a:tc>
                  <a:txBody>
                    <a:bodyPr/>
                    <a:lstStyle/>
                    <a:p>
                      <a:pPr algn="ctr" rtl="0" fontAlgn="ctr">
                        <a:buNone/>
                      </a:pPr>
                      <a:r>
                        <a:rPr lang="en-US" sz="1000" b="0" i="0" u="none" strike="noStrike">
                          <a:solidFill>
                            <a:srgbClr val="000000"/>
                          </a:solidFill>
                          <a:effectLst/>
                          <a:latin typeface="+mj-lt"/>
                        </a:rPr>
                        <a:t>$2,730 </a:t>
                      </a:r>
                    </a:p>
                  </a:txBody>
                  <a:tcPr marL="0" marR="0" marT="0" marB="0" anchor="ctr">
                    <a:lnL>
                      <a:noFill/>
                    </a:lnL>
                    <a:lnR>
                      <a:noFill/>
                    </a:lnR>
                    <a:lnT>
                      <a:noFill/>
                    </a:lnT>
                    <a:lnB>
                      <a:noFill/>
                    </a:lnB>
                    <a:noFill/>
                  </a:tcPr>
                </a:tc>
                <a:tc>
                  <a:txBody>
                    <a:bodyPr/>
                    <a:lstStyle/>
                    <a:p>
                      <a:pPr algn="ctr" rtl="0" fontAlgn="ctr">
                        <a:buNone/>
                      </a:pPr>
                      <a:r>
                        <a:rPr lang="en-US" sz="1000" b="0" i="0" u="none" strike="noStrike">
                          <a:solidFill>
                            <a:srgbClr val="000000"/>
                          </a:solidFill>
                          <a:effectLst/>
                          <a:latin typeface="+mj-lt"/>
                        </a:rPr>
                        <a:t>$1,548 </a:t>
                      </a:r>
                    </a:p>
                  </a:txBody>
                  <a:tcPr marL="0" marR="0" marT="0" marB="0" anchor="ctr">
                    <a:lnL>
                      <a:noFill/>
                    </a:lnL>
                    <a:lnR>
                      <a:noFill/>
                    </a:lnR>
                    <a:lnT>
                      <a:noFill/>
                    </a:lnT>
                    <a:lnB>
                      <a:noFill/>
                    </a:lnB>
                    <a:noFill/>
                  </a:tcPr>
                </a:tc>
                <a:tc>
                  <a:txBody>
                    <a:bodyPr/>
                    <a:lstStyle/>
                    <a:p>
                      <a:pPr algn="ctr" rtl="0" fontAlgn="ctr">
                        <a:buNone/>
                      </a:pPr>
                      <a:r>
                        <a:rPr lang="en-US" sz="1000" b="0" i="0" u="none" strike="noStrike">
                          <a:solidFill>
                            <a:srgbClr val="000000"/>
                          </a:solidFill>
                          <a:effectLst/>
                          <a:latin typeface="+mj-lt"/>
                        </a:rPr>
                        <a:t>0.6x</a:t>
                      </a:r>
                    </a:p>
                  </a:txBody>
                  <a:tcPr marL="0" marR="0" marT="0" marB="0" anchor="ctr">
                    <a:lnL>
                      <a:noFill/>
                    </a:lnL>
                    <a:lnR>
                      <a:noFill/>
                    </a:lnR>
                    <a:lnT>
                      <a:noFill/>
                    </a:lnT>
                    <a:lnB>
                      <a:noFill/>
                    </a:lnB>
                    <a:solidFill>
                      <a:schemeClr val="accent4">
                        <a:lumMod val="20000"/>
                        <a:lumOff val="80000"/>
                      </a:schemeClr>
                    </a:solidFill>
                  </a:tcPr>
                </a:tc>
                <a:tc>
                  <a:txBody>
                    <a:bodyPr/>
                    <a:lstStyle/>
                    <a:p>
                      <a:pPr marL="171450" marR="0" lvl="0" indent="-171450" algn="l" defTabSz="914378" rtl="0" eaLnBrk="1" fontAlgn="ctr" latinLnBrk="0" hangingPunct="1">
                        <a:lnSpc>
                          <a:spcPct val="100000"/>
                        </a:lnSpc>
                        <a:spcBef>
                          <a:spcPts val="0"/>
                        </a:spcBef>
                        <a:spcAft>
                          <a:spcPts val="0"/>
                        </a:spcAft>
                        <a:buClrTx/>
                        <a:buSzTx/>
                        <a:buFont typeface="Wingdings" panose="05000000000000000000" pitchFamily="2" charset="2"/>
                        <a:buChar char="§"/>
                        <a:tabLst/>
                        <a:defRPr/>
                      </a:pPr>
                      <a:r>
                        <a:rPr lang="en-US">
                          <a:solidFill>
                            <a:schemeClr val="tx1"/>
                          </a:solidFill>
                        </a:rPr>
                        <a:t>Manufactures and sells human health diagnostic equipment to hospitals and clinical labs, but they are not financially strong</a:t>
                      </a:r>
                    </a:p>
                  </a:txBody>
                  <a:tcPr marL="0" marR="0" marT="0" marB="0" anchor="ctr">
                    <a:lnL>
                      <a:noFill/>
                    </a:lnL>
                    <a:lnR>
                      <a:noFill/>
                    </a:lnR>
                    <a:lnT>
                      <a:noFill/>
                    </a:lnT>
                    <a:lnB>
                      <a:noFill/>
                    </a:lnB>
                    <a:noFill/>
                  </a:tcPr>
                </a:tc>
                <a:extLst>
                  <a:ext uri="{0D108BD9-81ED-4DB2-BD59-A6C34878D82A}">
                    <a16:rowId xmlns:a16="http://schemas.microsoft.com/office/drawing/2014/main" val="3703045998"/>
                  </a:ext>
                </a:extLst>
              </a:tr>
              <a:tr h="182880">
                <a:tc>
                  <a:txBody>
                    <a:bodyPr/>
                    <a:lstStyle/>
                    <a:p>
                      <a:pPr algn="l" rtl="0" fontAlgn="ctr">
                        <a:buNone/>
                      </a:pPr>
                      <a:r>
                        <a:rPr lang="en-US" sz="1000" b="0" i="0" u="none" strike="noStrike">
                          <a:solidFill>
                            <a:srgbClr val="000000"/>
                          </a:solidFill>
                          <a:effectLst/>
                          <a:latin typeface="+mj-lt"/>
                        </a:rPr>
                        <a:t>Phibro Animal Health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rtl="0" fontAlgn="ctr">
                        <a:buNone/>
                      </a:pPr>
                      <a:r>
                        <a:rPr lang="en-US" sz="1000" b="0" i="0" u="none" strike="noStrike">
                          <a:solidFill>
                            <a:srgbClr val="000000"/>
                          </a:solidFill>
                          <a:effectLst/>
                          <a:latin typeface="+mj-lt"/>
                        </a:rPr>
                        <a:t>P</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rtl="0" fontAlgn="ctr">
                        <a:buNone/>
                      </a:pPr>
                      <a:r>
                        <a:rPr lang="en-US" sz="1000" b="0" i="0" u="none" strike="noStrike">
                          <a:solidFill>
                            <a:srgbClr val="000000"/>
                          </a:solidFill>
                          <a:effectLst/>
                          <a:latin typeface="+mj-lt"/>
                        </a:rPr>
                        <a:t>6/30</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rtl="0" fontAlgn="ctr">
                        <a:buNone/>
                      </a:pPr>
                      <a:r>
                        <a:rPr lang="en-US" sz="1000" b="0" i="0" u="none" strike="noStrike">
                          <a:solidFill>
                            <a:srgbClr val="000000"/>
                          </a:solidFill>
                          <a:effectLst/>
                          <a:latin typeface="+mj-lt"/>
                        </a:rPr>
                        <a:t>$1,296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rtl="0" fontAlgn="ctr">
                        <a:buNone/>
                      </a:pPr>
                      <a:r>
                        <a:rPr lang="en-US" sz="1000" b="0" i="0" u="none" strike="noStrike">
                          <a:solidFill>
                            <a:srgbClr val="000000"/>
                          </a:solidFill>
                          <a:effectLst/>
                          <a:latin typeface="+mj-lt"/>
                        </a:rPr>
                        <a:t>$2,213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rtl="0" fontAlgn="ctr">
                        <a:buNone/>
                      </a:pPr>
                      <a:r>
                        <a:rPr lang="en-US" sz="1000" b="0" i="0" u="none" strike="noStrike">
                          <a:solidFill>
                            <a:srgbClr val="000000"/>
                          </a:solidFill>
                          <a:effectLst/>
                          <a:latin typeface="+mj-lt"/>
                        </a:rPr>
                        <a:t>1.7x</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marL="171450" marR="0" lvl="0" indent="-171450" algn="l" defTabSz="914378" rtl="0" eaLnBrk="1" fontAlgn="ctr" latinLnBrk="0" hangingPunct="1">
                        <a:lnSpc>
                          <a:spcPct val="100000"/>
                        </a:lnSpc>
                        <a:spcBef>
                          <a:spcPts val="0"/>
                        </a:spcBef>
                        <a:spcAft>
                          <a:spcPts val="0"/>
                        </a:spcAft>
                        <a:buClrTx/>
                        <a:buSzTx/>
                        <a:buFont typeface="Wingdings" panose="05000000000000000000" pitchFamily="2" charset="2"/>
                        <a:buChar char="§"/>
                        <a:tabLst/>
                        <a:defRPr/>
                      </a:pPr>
                      <a:r>
                        <a:rPr lang="en-US"/>
                        <a:t>Focused on nutrition, vaccines, and feed additives, rather than diagnostics; falls below revenue threshold</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33866943"/>
                  </a:ext>
                </a:extLst>
              </a:tr>
              <a:tr h="44475">
                <a:tc>
                  <a:txBody>
                    <a:bodyPr/>
                    <a:lstStyle/>
                    <a:p>
                      <a:pPr algn="l" fontAlgn="b">
                        <a:buNone/>
                      </a:pPr>
                      <a:r>
                        <a:rPr lang="en-US" sz="300" b="0" i="0" u="none" strike="noStrike">
                          <a:solidFill>
                            <a:srgbClr val="000000"/>
                          </a:solidFill>
                          <a:effectLst/>
                          <a:latin typeface="+mj-lt"/>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300" b="0" i="0" u="none" strike="noStrike">
                          <a:solidFill>
                            <a:srgbClr val="000000"/>
                          </a:solidFill>
                          <a:effectLst/>
                          <a:latin typeface="+mj-lt"/>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300" b="0" i="0" u="none" strike="noStrike">
                          <a:solidFill>
                            <a:srgbClr val="000000"/>
                          </a:solidFill>
                          <a:effectLst/>
                          <a:latin typeface="+mj-lt"/>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300" b="0" i="0" u="none" strike="noStrike">
                          <a:solidFill>
                            <a:srgbClr val="000000"/>
                          </a:solidFill>
                          <a:effectLst/>
                          <a:latin typeface="+mj-lt"/>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300" b="0" i="0" u="none" strike="noStrike">
                          <a:solidFill>
                            <a:srgbClr val="000000"/>
                          </a:solidFill>
                          <a:effectLst/>
                          <a:latin typeface="+mj-lt"/>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300" b="0" i="0" u="none" strike="noStrike">
                          <a:solidFill>
                            <a:srgbClr val="000000"/>
                          </a:solidFill>
                          <a:effectLst/>
                          <a:latin typeface="+mj-lt"/>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300" b="0" i="0" u="none" strike="noStrike">
                          <a:solidFill>
                            <a:srgbClr val="000000"/>
                          </a:solidFill>
                          <a:effectLst/>
                          <a:latin typeface="+mj-lt"/>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52852936"/>
                  </a:ext>
                </a:extLst>
              </a:tr>
              <a:tr h="175269">
                <a:tc>
                  <a:txBody>
                    <a:bodyPr/>
                    <a:lstStyle/>
                    <a:p>
                      <a:pPr algn="l" rtl="0" fontAlgn="b">
                        <a:buNone/>
                      </a:pPr>
                      <a:r>
                        <a:rPr lang="en-US" sz="1000" b="1" i="0" u="none" strike="noStrike" dirty="0">
                          <a:solidFill>
                            <a:srgbClr val="000000"/>
                          </a:solidFill>
                          <a:effectLst/>
                          <a:latin typeface="+mj-lt"/>
                        </a:rPr>
                        <a:t>Goofy</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rtl="0" fontAlgn="b">
                        <a:buNone/>
                      </a:pPr>
                      <a:r>
                        <a:rPr lang="en-US" sz="1000" b="1" i="0" u="none" strike="noStrike">
                          <a:solidFill>
                            <a:srgbClr val="000000"/>
                          </a:solidFill>
                          <a:effectLst/>
                          <a:latin typeface="+mj-lt"/>
                        </a:rPr>
                        <a:t>HCE</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rtl="0" fontAlgn="b">
                        <a:buNone/>
                      </a:pPr>
                      <a:r>
                        <a:rPr lang="en-US" sz="1000" b="1" i="0" u="none" strike="noStrike">
                          <a:solidFill>
                            <a:srgbClr val="000000"/>
                          </a:solidFill>
                          <a:effectLst/>
                          <a:latin typeface="+mj-lt"/>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rtl="0" fontAlgn="b">
                        <a:buNone/>
                      </a:pPr>
                      <a:r>
                        <a:rPr lang="en-US" sz="1000" b="1" i="0" u="none" strike="noStrike">
                          <a:solidFill>
                            <a:srgbClr val="000000"/>
                          </a:solidFill>
                          <a:effectLst/>
                          <a:latin typeface="+mj-lt"/>
                        </a:rPr>
                        <a:t>$4,304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rtl="0" fontAlgn="b">
                        <a:buNone/>
                      </a:pPr>
                      <a:r>
                        <a:rPr lang="en-US" sz="1000" b="1" i="0" u="none" strike="noStrike">
                          <a:solidFill>
                            <a:srgbClr val="000000"/>
                          </a:solidFill>
                          <a:effectLst/>
                          <a:latin typeface="+mj-lt"/>
                        </a:rPr>
                        <a:t>$52,291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rtl="0" fontAlgn="b">
                        <a:buNone/>
                      </a:pPr>
                      <a:r>
                        <a:rPr lang="en-US" sz="1000" b="1" i="0" u="none" strike="noStrike">
                          <a:solidFill>
                            <a:srgbClr val="000000"/>
                          </a:solidFill>
                          <a:effectLst/>
                          <a:latin typeface="+mj-lt"/>
                        </a:rPr>
                        <a:t>12.2x</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rtl="0" fontAlgn="b">
                        <a:buNone/>
                      </a:pPr>
                      <a:r>
                        <a:rPr lang="en-US" sz="1000" b="1" i="0" u="none" strike="noStrike" dirty="0">
                          <a:solidFill>
                            <a:srgbClr val="000000"/>
                          </a:solidFill>
                          <a:effectLst/>
                          <a:latin typeface="+mj-lt"/>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extLst>
                  <a:ext uri="{0D108BD9-81ED-4DB2-BD59-A6C34878D82A}">
                    <a16:rowId xmlns:a16="http://schemas.microsoft.com/office/drawing/2014/main" val="330928321"/>
                  </a:ext>
                </a:extLst>
              </a:tr>
            </a:tbl>
          </a:graphicData>
        </a:graphic>
      </p:graphicFrame>
      <p:graphicFrame>
        <p:nvGraphicFramePr>
          <p:cNvPr id="16" name="Content Placeholder 11">
            <a:extLst>
              <a:ext uri="{FF2B5EF4-FFF2-40B4-BE49-F238E27FC236}">
                <a16:creationId xmlns:a16="http://schemas.microsoft.com/office/drawing/2014/main" id="{4ADF023A-A81A-CA7F-0D6C-E08587A8A5A6}"/>
              </a:ext>
            </a:extLst>
          </p:cNvPr>
          <p:cNvGraphicFramePr>
            <a:graphicFrameLocks/>
          </p:cNvGraphicFramePr>
          <p:nvPr>
            <p:extLst>
              <p:ext uri="{D42A27DB-BD31-4B8C-83A1-F6EECF244321}">
                <p14:modId xmlns:p14="http://schemas.microsoft.com/office/powerpoint/2010/main" val="2628794295"/>
              </p:ext>
            </p:extLst>
          </p:nvPr>
        </p:nvGraphicFramePr>
        <p:xfrm>
          <a:off x="3010860" y="5578432"/>
          <a:ext cx="2011680" cy="183211"/>
        </p:xfrm>
        <a:graphic>
          <a:graphicData uri="http://schemas.openxmlformats.org/drawingml/2006/table">
            <a:tbl>
              <a:tblPr firstRow="1" bandRow="1">
                <a:tableStyleId>{5940675A-B579-460E-94D1-54222C63F5DA}</a:tableStyleId>
              </a:tblPr>
              <a:tblGrid>
                <a:gridCol w="274320">
                  <a:extLst>
                    <a:ext uri="{9D8B030D-6E8A-4147-A177-3AD203B41FA5}">
                      <a16:colId xmlns:a16="http://schemas.microsoft.com/office/drawing/2014/main" val="3438579452"/>
                    </a:ext>
                  </a:extLst>
                </a:gridCol>
                <a:gridCol w="1737360">
                  <a:extLst>
                    <a:ext uri="{9D8B030D-6E8A-4147-A177-3AD203B41FA5}">
                      <a16:colId xmlns:a16="http://schemas.microsoft.com/office/drawing/2014/main" val="2511897402"/>
                    </a:ext>
                  </a:extLst>
                </a:gridCol>
              </a:tblGrid>
              <a:tr h="127044">
                <a:tc>
                  <a:txBody>
                    <a:bodyPr/>
                    <a:lstStyle/>
                    <a:p>
                      <a:pPr algn="ctr"/>
                      <a:r>
                        <a:rPr lang="en-US" sz="900"/>
                        <a:t>HCE</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900"/>
                        <a:t>  Health Care Equipment</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30570224"/>
                  </a:ext>
                </a:extLst>
              </a:tr>
              <a:tr h="46051">
                <a:tc>
                  <a:txBody>
                    <a:bodyPr/>
                    <a:lstStyle/>
                    <a:p>
                      <a:pPr algn="ctr"/>
                      <a:endParaRPr lang="en-US" sz="100"/>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00"/>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97095924"/>
                  </a:ext>
                </a:extLst>
              </a:tr>
            </a:tbl>
          </a:graphicData>
        </a:graphic>
      </p:graphicFrame>
      <p:sp>
        <p:nvSpPr>
          <p:cNvPr id="18" name="TextBox 17">
            <a:extLst>
              <a:ext uri="{FF2B5EF4-FFF2-40B4-BE49-F238E27FC236}">
                <a16:creationId xmlns:a16="http://schemas.microsoft.com/office/drawing/2014/main" id="{6C99970A-F623-2BFE-AF1E-830509A3E6E3}"/>
              </a:ext>
            </a:extLst>
          </p:cNvPr>
          <p:cNvSpPr txBox="1"/>
          <p:nvPr/>
        </p:nvSpPr>
        <p:spPr>
          <a:xfrm>
            <a:off x="2595849" y="5531596"/>
            <a:ext cx="614702" cy="230832"/>
          </a:xfrm>
          <a:prstGeom prst="rect">
            <a:avLst/>
          </a:prstGeom>
          <a:noFill/>
          <a:ln>
            <a:noFill/>
          </a:ln>
        </p:spPr>
        <p:txBody>
          <a:bodyPr wrap="square" rtlCol="0" anchor="ctr">
            <a:spAutoFit/>
          </a:bodyPr>
          <a:lstStyle/>
          <a:p>
            <a:r>
              <a:rPr lang="en-US" sz="900" b="1" i="1"/>
              <a:t>Key:</a:t>
            </a:r>
          </a:p>
        </p:txBody>
      </p:sp>
      <p:graphicFrame>
        <p:nvGraphicFramePr>
          <p:cNvPr id="19" name="Table 14">
            <a:extLst>
              <a:ext uri="{FF2B5EF4-FFF2-40B4-BE49-F238E27FC236}">
                <a16:creationId xmlns:a16="http://schemas.microsoft.com/office/drawing/2014/main" id="{D87BDE51-5889-850B-0562-3854EEED04A1}"/>
              </a:ext>
            </a:extLst>
          </p:cNvPr>
          <p:cNvGraphicFramePr>
            <a:graphicFrameLocks noGrp="1"/>
          </p:cNvGraphicFramePr>
          <p:nvPr>
            <p:extLst>
              <p:ext uri="{D42A27DB-BD31-4B8C-83A1-F6EECF244321}">
                <p14:modId xmlns:p14="http://schemas.microsoft.com/office/powerpoint/2010/main" val="126489883"/>
              </p:ext>
            </p:extLst>
          </p:nvPr>
        </p:nvGraphicFramePr>
        <p:xfrm>
          <a:off x="4538587" y="5578432"/>
          <a:ext cx="2011680" cy="183211"/>
        </p:xfrm>
        <a:graphic>
          <a:graphicData uri="http://schemas.openxmlformats.org/drawingml/2006/table">
            <a:tbl>
              <a:tblPr firstRow="1" bandRow="1">
                <a:tableStyleId>{5940675A-B579-460E-94D1-54222C63F5DA}</a:tableStyleId>
              </a:tblPr>
              <a:tblGrid>
                <a:gridCol w="274320">
                  <a:extLst>
                    <a:ext uri="{9D8B030D-6E8A-4147-A177-3AD203B41FA5}">
                      <a16:colId xmlns:a16="http://schemas.microsoft.com/office/drawing/2014/main" val="1448559794"/>
                    </a:ext>
                  </a:extLst>
                </a:gridCol>
                <a:gridCol w="1737360">
                  <a:extLst>
                    <a:ext uri="{9D8B030D-6E8A-4147-A177-3AD203B41FA5}">
                      <a16:colId xmlns:a16="http://schemas.microsoft.com/office/drawing/2014/main" val="1242357177"/>
                    </a:ext>
                  </a:extLst>
                </a:gridCol>
              </a:tblGrid>
              <a:tr h="127044">
                <a:tc>
                  <a:txBody>
                    <a:bodyPr/>
                    <a:lstStyle/>
                    <a:p>
                      <a:pPr algn="ctr"/>
                      <a:r>
                        <a:rPr lang="en-US" sz="900"/>
                        <a:t>HCS</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900"/>
                        <a:t>  Health Care Supplies</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03461171"/>
                  </a:ext>
                </a:extLst>
              </a:tr>
              <a:tr h="46051">
                <a:tc>
                  <a:txBody>
                    <a:bodyPr/>
                    <a:lstStyle/>
                    <a:p>
                      <a:pPr algn="ctr"/>
                      <a:endParaRPr lang="en-US" sz="100"/>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00"/>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727313861"/>
                  </a:ext>
                </a:extLst>
              </a:tr>
            </a:tbl>
          </a:graphicData>
        </a:graphic>
      </p:graphicFrame>
      <p:graphicFrame>
        <p:nvGraphicFramePr>
          <p:cNvPr id="21" name="Table 20">
            <a:extLst>
              <a:ext uri="{FF2B5EF4-FFF2-40B4-BE49-F238E27FC236}">
                <a16:creationId xmlns:a16="http://schemas.microsoft.com/office/drawing/2014/main" id="{CC63BE2E-813D-6EFB-1B7C-60966493125A}"/>
              </a:ext>
            </a:extLst>
          </p:cNvPr>
          <p:cNvGraphicFramePr>
            <a:graphicFrameLocks noGrp="1"/>
          </p:cNvGraphicFramePr>
          <p:nvPr>
            <p:extLst>
              <p:ext uri="{D42A27DB-BD31-4B8C-83A1-F6EECF244321}">
                <p14:modId xmlns:p14="http://schemas.microsoft.com/office/powerpoint/2010/main" val="321505777"/>
              </p:ext>
            </p:extLst>
          </p:nvPr>
        </p:nvGraphicFramePr>
        <p:xfrm>
          <a:off x="5899559" y="5795748"/>
          <a:ext cx="2011680" cy="137160"/>
        </p:xfrm>
        <a:graphic>
          <a:graphicData uri="http://schemas.openxmlformats.org/drawingml/2006/table">
            <a:tbl>
              <a:tblPr firstRow="1" bandRow="1">
                <a:tableStyleId>{5940675A-B579-460E-94D1-54222C63F5DA}</a:tableStyleId>
              </a:tblPr>
              <a:tblGrid>
                <a:gridCol w="274320">
                  <a:extLst>
                    <a:ext uri="{9D8B030D-6E8A-4147-A177-3AD203B41FA5}">
                      <a16:colId xmlns:a16="http://schemas.microsoft.com/office/drawing/2014/main" val="267115251"/>
                    </a:ext>
                  </a:extLst>
                </a:gridCol>
                <a:gridCol w="1737360">
                  <a:extLst>
                    <a:ext uri="{9D8B030D-6E8A-4147-A177-3AD203B41FA5}">
                      <a16:colId xmlns:a16="http://schemas.microsoft.com/office/drawing/2014/main" val="269626342"/>
                    </a:ext>
                  </a:extLst>
                </a:gridCol>
              </a:tblGrid>
              <a:tr h="127044">
                <a:tc>
                  <a:txBody>
                    <a:bodyPr/>
                    <a:lstStyle/>
                    <a:p>
                      <a:pPr algn="ctr"/>
                      <a:r>
                        <a:rPr lang="en-US" sz="900"/>
                        <a:t>LS</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900"/>
                        <a:t>  Life Sciences Tools &amp; </a:t>
                      </a:r>
                      <a:r>
                        <a:rPr lang="en-US" sz="900" err="1"/>
                        <a:t>Svcs</a:t>
                      </a:r>
                      <a:endParaRPr lang="en-US" sz="900"/>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88741809"/>
                  </a:ext>
                </a:extLst>
              </a:tr>
            </a:tbl>
          </a:graphicData>
        </a:graphic>
      </p:graphicFrame>
      <p:graphicFrame>
        <p:nvGraphicFramePr>
          <p:cNvPr id="22" name="Table 21">
            <a:extLst>
              <a:ext uri="{FF2B5EF4-FFF2-40B4-BE49-F238E27FC236}">
                <a16:creationId xmlns:a16="http://schemas.microsoft.com/office/drawing/2014/main" id="{E6185C7F-D0F5-2108-8810-0BCBE484C443}"/>
              </a:ext>
            </a:extLst>
          </p:cNvPr>
          <p:cNvGraphicFramePr>
            <a:graphicFrameLocks noGrp="1"/>
          </p:cNvGraphicFramePr>
          <p:nvPr>
            <p:extLst>
              <p:ext uri="{D42A27DB-BD31-4B8C-83A1-F6EECF244321}">
                <p14:modId xmlns:p14="http://schemas.microsoft.com/office/powerpoint/2010/main" val="1252166589"/>
              </p:ext>
            </p:extLst>
          </p:nvPr>
        </p:nvGraphicFramePr>
        <p:xfrm>
          <a:off x="3010860" y="5796480"/>
          <a:ext cx="2011680" cy="183211"/>
        </p:xfrm>
        <a:graphic>
          <a:graphicData uri="http://schemas.openxmlformats.org/drawingml/2006/table">
            <a:tbl>
              <a:tblPr firstRow="1" bandRow="1">
                <a:tableStyleId>{5940675A-B579-460E-94D1-54222C63F5DA}</a:tableStyleId>
              </a:tblPr>
              <a:tblGrid>
                <a:gridCol w="274320">
                  <a:extLst>
                    <a:ext uri="{9D8B030D-6E8A-4147-A177-3AD203B41FA5}">
                      <a16:colId xmlns:a16="http://schemas.microsoft.com/office/drawing/2014/main" val="2736650706"/>
                    </a:ext>
                  </a:extLst>
                </a:gridCol>
                <a:gridCol w="1737360">
                  <a:extLst>
                    <a:ext uri="{9D8B030D-6E8A-4147-A177-3AD203B41FA5}">
                      <a16:colId xmlns:a16="http://schemas.microsoft.com/office/drawing/2014/main" val="1529697195"/>
                    </a:ext>
                  </a:extLst>
                </a:gridCol>
              </a:tblGrid>
              <a:tr h="127044">
                <a:tc>
                  <a:txBody>
                    <a:bodyPr/>
                    <a:lstStyle/>
                    <a:p>
                      <a:pPr algn="ctr"/>
                      <a:r>
                        <a:rPr lang="en-US" sz="900"/>
                        <a:t>P</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900"/>
                        <a:t>  Pharmaceuticals</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60456300"/>
                  </a:ext>
                </a:extLst>
              </a:tr>
              <a:tr h="46051">
                <a:tc>
                  <a:txBody>
                    <a:bodyPr/>
                    <a:lstStyle/>
                    <a:p>
                      <a:endParaRPr lang="en-US" sz="100"/>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a:p>
                  </a:txBody>
                  <a:tcPr marL="0" marR="0" marT="0"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22240298"/>
                  </a:ext>
                </a:extLst>
              </a:tr>
            </a:tbl>
          </a:graphicData>
        </a:graphic>
      </p:graphicFrame>
      <p:graphicFrame>
        <p:nvGraphicFramePr>
          <p:cNvPr id="10" name="Content Placeholder 11">
            <a:extLst>
              <a:ext uri="{FF2B5EF4-FFF2-40B4-BE49-F238E27FC236}">
                <a16:creationId xmlns:a16="http://schemas.microsoft.com/office/drawing/2014/main" id="{40F00DB4-B3C8-25E8-28F3-A83C93593750}"/>
              </a:ext>
            </a:extLst>
          </p:cNvPr>
          <p:cNvGraphicFramePr>
            <a:graphicFrameLocks/>
          </p:cNvGraphicFramePr>
          <p:nvPr>
            <p:extLst>
              <p:ext uri="{D42A27DB-BD31-4B8C-83A1-F6EECF244321}">
                <p14:modId xmlns:p14="http://schemas.microsoft.com/office/powerpoint/2010/main" val="220849454"/>
              </p:ext>
            </p:extLst>
          </p:nvPr>
        </p:nvGraphicFramePr>
        <p:xfrm>
          <a:off x="5899559" y="5572825"/>
          <a:ext cx="2011680" cy="183211"/>
        </p:xfrm>
        <a:graphic>
          <a:graphicData uri="http://schemas.openxmlformats.org/drawingml/2006/table">
            <a:tbl>
              <a:tblPr firstRow="1" bandRow="1">
                <a:tableStyleId>{5940675A-B579-460E-94D1-54222C63F5DA}</a:tableStyleId>
              </a:tblPr>
              <a:tblGrid>
                <a:gridCol w="274320">
                  <a:extLst>
                    <a:ext uri="{9D8B030D-6E8A-4147-A177-3AD203B41FA5}">
                      <a16:colId xmlns:a16="http://schemas.microsoft.com/office/drawing/2014/main" val="3438579452"/>
                    </a:ext>
                  </a:extLst>
                </a:gridCol>
                <a:gridCol w="1737360">
                  <a:extLst>
                    <a:ext uri="{9D8B030D-6E8A-4147-A177-3AD203B41FA5}">
                      <a16:colId xmlns:a16="http://schemas.microsoft.com/office/drawing/2014/main" val="2511897402"/>
                    </a:ext>
                  </a:extLst>
                </a:gridCol>
              </a:tblGrid>
              <a:tr h="127044">
                <a:tc>
                  <a:txBody>
                    <a:bodyPr/>
                    <a:lstStyle/>
                    <a:p>
                      <a:pPr algn="ctr"/>
                      <a:r>
                        <a:rPr lang="en-US" sz="900"/>
                        <a:t>HCD</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900"/>
                        <a:t>  Health Care Distributors</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30570224"/>
                  </a:ext>
                </a:extLst>
              </a:tr>
              <a:tr h="46051">
                <a:tc>
                  <a:txBody>
                    <a:bodyPr/>
                    <a:lstStyle/>
                    <a:p>
                      <a:pPr algn="ctr"/>
                      <a:endParaRPr lang="en-US" sz="100"/>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00"/>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97095924"/>
                  </a:ext>
                </a:extLst>
              </a:tr>
            </a:tbl>
          </a:graphicData>
        </a:graphic>
      </p:graphicFrame>
      <p:graphicFrame>
        <p:nvGraphicFramePr>
          <p:cNvPr id="12" name="Table 14">
            <a:extLst>
              <a:ext uri="{FF2B5EF4-FFF2-40B4-BE49-F238E27FC236}">
                <a16:creationId xmlns:a16="http://schemas.microsoft.com/office/drawing/2014/main" id="{FAEA8FDD-A97B-D4D2-F172-07974F15AE76}"/>
              </a:ext>
            </a:extLst>
          </p:cNvPr>
          <p:cNvGraphicFramePr>
            <a:graphicFrameLocks noGrp="1"/>
          </p:cNvGraphicFramePr>
          <p:nvPr>
            <p:extLst>
              <p:ext uri="{D42A27DB-BD31-4B8C-83A1-F6EECF244321}">
                <p14:modId xmlns:p14="http://schemas.microsoft.com/office/powerpoint/2010/main" val="3142516639"/>
              </p:ext>
            </p:extLst>
          </p:nvPr>
        </p:nvGraphicFramePr>
        <p:xfrm>
          <a:off x="7511106" y="5572825"/>
          <a:ext cx="1523003" cy="183211"/>
        </p:xfrm>
        <a:graphic>
          <a:graphicData uri="http://schemas.openxmlformats.org/drawingml/2006/table">
            <a:tbl>
              <a:tblPr firstRow="1" bandRow="1">
                <a:tableStyleId>{5940675A-B579-460E-94D1-54222C63F5DA}</a:tableStyleId>
              </a:tblPr>
              <a:tblGrid>
                <a:gridCol w="274320">
                  <a:extLst>
                    <a:ext uri="{9D8B030D-6E8A-4147-A177-3AD203B41FA5}">
                      <a16:colId xmlns:a16="http://schemas.microsoft.com/office/drawing/2014/main" val="1448559794"/>
                    </a:ext>
                  </a:extLst>
                </a:gridCol>
                <a:gridCol w="1248683">
                  <a:extLst>
                    <a:ext uri="{9D8B030D-6E8A-4147-A177-3AD203B41FA5}">
                      <a16:colId xmlns:a16="http://schemas.microsoft.com/office/drawing/2014/main" val="1242357177"/>
                    </a:ext>
                  </a:extLst>
                </a:gridCol>
              </a:tblGrid>
              <a:tr h="127044">
                <a:tc>
                  <a:txBody>
                    <a:bodyPr/>
                    <a:lstStyle/>
                    <a:p>
                      <a:pPr algn="ctr"/>
                      <a:r>
                        <a:rPr lang="en-US" sz="900"/>
                        <a:t>HCF</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900"/>
                        <a:t>  Health Care Facilities</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03461171"/>
                  </a:ext>
                </a:extLst>
              </a:tr>
              <a:tr h="46051">
                <a:tc>
                  <a:txBody>
                    <a:bodyPr/>
                    <a:lstStyle/>
                    <a:p>
                      <a:pPr algn="ctr"/>
                      <a:endParaRPr lang="en-US" sz="100"/>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00"/>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727313861"/>
                  </a:ext>
                </a:extLst>
              </a:tr>
            </a:tbl>
          </a:graphicData>
        </a:graphic>
      </p:graphicFrame>
      <p:graphicFrame>
        <p:nvGraphicFramePr>
          <p:cNvPr id="14" name="Table 13">
            <a:extLst>
              <a:ext uri="{FF2B5EF4-FFF2-40B4-BE49-F238E27FC236}">
                <a16:creationId xmlns:a16="http://schemas.microsoft.com/office/drawing/2014/main" id="{96C4EB70-A32C-F7BE-8C02-5985B89C149F}"/>
              </a:ext>
            </a:extLst>
          </p:cNvPr>
          <p:cNvGraphicFramePr>
            <a:graphicFrameLocks noGrp="1"/>
          </p:cNvGraphicFramePr>
          <p:nvPr>
            <p:extLst>
              <p:ext uri="{D42A27DB-BD31-4B8C-83A1-F6EECF244321}">
                <p14:modId xmlns:p14="http://schemas.microsoft.com/office/powerpoint/2010/main" val="3092136473"/>
              </p:ext>
            </p:extLst>
          </p:nvPr>
        </p:nvGraphicFramePr>
        <p:xfrm>
          <a:off x="4538587" y="5792042"/>
          <a:ext cx="2011680" cy="183211"/>
        </p:xfrm>
        <a:graphic>
          <a:graphicData uri="http://schemas.openxmlformats.org/drawingml/2006/table">
            <a:tbl>
              <a:tblPr firstRow="1" bandRow="1">
                <a:tableStyleId>{5940675A-B579-460E-94D1-54222C63F5DA}</a:tableStyleId>
              </a:tblPr>
              <a:tblGrid>
                <a:gridCol w="274320">
                  <a:extLst>
                    <a:ext uri="{9D8B030D-6E8A-4147-A177-3AD203B41FA5}">
                      <a16:colId xmlns:a16="http://schemas.microsoft.com/office/drawing/2014/main" val="2736650706"/>
                    </a:ext>
                  </a:extLst>
                </a:gridCol>
                <a:gridCol w="1737360">
                  <a:extLst>
                    <a:ext uri="{9D8B030D-6E8A-4147-A177-3AD203B41FA5}">
                      <a16:colId xmlns:a16="http://schemas.microsoft.com/office/drawing/2014/main" val="1529697195"/>
                    </a:ext>
                  </a:extLst>
                </a:gridCol>
              </a:tblGrid>
              <a:tr h="127044">
                <a:tc>
                  <a:txBody>
                    <a:bodyPr/>
                    <a:lstStyle/>
                    <a:p>
                      <a:pPr algn="ctr"/>
                      <a:r>
                        <a:rPr lang="en-US" sz="900"/>
                        <a:t>BT</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900"/>
                        <a:t>  Biotechnology</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60456300"/>
                  </a:ext>
                </a:extLst>
              </a:tr>
              <a:tr h="46051">
                <a:tc>
                  <a:txBody>
                    <a:bodyPr/>
                    <a:lstStyle/>
                    <a:p>
                      <a:endParaRPr lang="en-US" sz="100"/>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a:p>
                  </a:txBody>
                  <a:tcPr marL="0" marR="0" marT="0"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22240298"/>
                  </a:ext>
                </a:extLst>
              </a:tr>
            </a:tbl>
          </a:graphicData>
        </a:graphic>
      </p:graphicFrame>
      <p:sp>
        <p:nvSpPr>
          <p:cNvPr id="24" name="TextBox 23">
            <a:extLst>
              <a:ext uri="{FF2B5EF4-FFF2-40B4-BE49-F238E27FC236}">
                <a16:creationId xmlns:a16="http://schemas.microsoft.com/office/drawing/2014/main" id="{2172ADF8-E303-7D58-0C2B-8FF6979BD922}"/>
              </a:ext>
            </a:extLst>
          </p:cNvPr>
          <p:cNvSpPr txBox="1"/>
          <p:nvPr/>
        </p:nvSpPr>
        <p:spPr>
          <a:xfrm>
            <a:off x="31750" y="5516195"/>
            <a:ext cx="2405564" cy="224292"/>
          </a:xfrm>
          <a:prstGeom prst="rect">
            <a:avLst/>
          </a:prstGeom>
          <a:noFill/>
        </p:spPr>
        <p:txBody>
          <a:bodyPr vert="horz" wrap="square" lIns="45720" tIns="45720" rIns="45720" bIns="45720" rtlCol="0" anchor="ctr">
            <a:spAutoFit/>
          </a:bodyPr>
          <a:lstStyle/>
          <a:p>
            <a:pPr marL="171450" indent="-171450">
              <a:lnSpc>
                <a:spcPct val="85000"/>
              </a:lnSpc>
              <a:buAutoNum type="arabicParenBoth"/>
            </a:pPr>
            <a:r>
              <a:rPr lang="en-US" sz="1000" b="1" i="1">
                <a:solidFill>
                  <a:schemeClr val="accent2">
                    <a:lumMod val="50000"/>
                  </a:schemeClr>
                </a:solidFill>
              </a:rPr>
              <a:t>Additional companies surfaced by AI</a:t>
            </a:r>
          </a:p>
        </p:txBody>
      </p:sp>
      <p:graphicFrame>
        <p:nvGraphicFramePr>
          <p:cNvPr id="25" name="Table 14">
            <a:extLst>
              <a:ext uri="{FF2B5EF4-FFF2-40B4-BE49-F238E27FC236}">
                <a16:creationId xmlns:a16="http://schemas.microsoft.com/office/drawing/2014/main" id="{BC6F1CB6-DF7F-F99C-FB9A-D452CE8C442B}"/>
              </a:ext>
            </a:extLst>
          </p:cNvPr>
          <p:cNvGraphicFramePr>
            <a:graphicFrameLocks noGrp="1"/>
          </p:cNvGraphicFramePr>
          <p:nvPr>
            <p:extLst>
              <p:ext uri="{D42A27DB-BD31-4B8C-83A1-F6EECF244321}">
                <p14:modId xmlns:p14="http://schemas.microsoft.com/office/powerpoint/2010/main" val="3473979075"/>
              </p:ext>
            </p:extLst>
          </p:nvPr>
        </p:nvGraphicFramePr>
        <p:xfrm>
          <a:off x="7511106" y="5783233"/>
          <a:ext cx="1571303" cy="137160"/>
        </p:xfrm>
        <a:graphic>
          <a:graphicData uri="http://schemas.openxmlformats.org/drawingml/2006/table">
            <a:tbl>
              <a:tblPr firstRow="1" bandRow="1">
                <a:tableStyleId>{5940675A-B579-460E-94D1-54222C63F5DA}</a:tableStyleId>
              </a:tblPr>
              <a:tblGrid>
                <a:gridCol w="274320">
                  <a:extLst>
                    <a:ext uri="{9D8B030D-6E8A-4147-A177-3AD203B41FA5}">
                      <a16:colId xmlns:a16="http://schemas.microsoft.com/office/drawing/2014/main" val="1448559794"/>
                    </a:ext>
                  </a:extLst>
                </a:gridCol>
                <a:gridCol w="1296983">
                  <a:extLst>
                    <a:ext uri="{9D8B030D-6E8A-4147-A177-3AD203B41FA5}">
                      <a16:colId xmlns:a16="http://schemas.microsoft.com/office/drawing/2014/main" val="1242357177"/>
                    </a:ext>
                  </a:extLst>
                </a:gridCol>
              </a:tblGrid>
              <a:tr h="137160">
                <a:tc>
                  <a:txBody>
                    <a:bodyPr/>
                    <a:lstStyle/>
                    <a:p>
                      <a:endParaRPr lang="en-US" sz="900"/>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D7D7"/>
                    </a:solidFill>
                  </a:tcPr>
                </a:tc>
                <a:tc>
                  <a:txBody>
                    <a:bodyPr/>
                    <a:lstStyle/>
                    <a:p>
                      <a:r>
                        <a:rPr lang="en-US" sz="900"/>
                        <a:t>  Does not meet criterion</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19601939"/>
                  </a:ext>
                </a:extLst>
              </a:tr>
            </a:tbl>
          </a:graphicData>
        </a:graphic>
      </p:graphicFrame>
    </p:spTree>
    <p:extLst>
      <p:ext uri="{BB962C8B-B14F-4D97-AF65-F5344CB8AC3E}">
        <p14:creationId xmlns:p14="http://schemas.microsoft.com/office/powerpoint/2010/main" val="3879666858"/>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FB39197-ADD9-A4CC-F9CB-923A431F6889}"/>
              </a:ext>
            </a:extLst>
          </p:cNvPr>
          <p:cNvSpPr>
            <a:spLocks noGrp="1"/>
          </p:cNvSpPr>
          <p:nvPr>
            <p:ph type="ftr" sz="quarter" idx="16"/>
          </p:nvPr>
        </p:nvSpPr>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ED761180-928A-957A-C3FE-FEA6CCA876B0}"/>
              </a:ext>
            </a:extLst>
          </p:cNvPr>
          <p:cNvSpPr>
            <a:spLocks noGrp="1"/>
          </p:cNvSpPr>
          <p:nvPr>
            <p:ph type="title"/>
          </p:nvPr>
        </p:nvSpPr>
        <p:spPr/>
        <p:txBody>
          <a:bodyPr/>
          <a:lstStyle/>
          <a:p>
            <a:r>
              <a:rPr lang="en-US"/>
              <a:t>Appendix</a:t>
            </a:r>
          </a:p>
        </p:txBody>
      </p:sp>
    </p:spTree>
    <p:extLst>
      <p:ext uri="{BB962C8B-B14F-4D97-AF65-F5344CB8AC3E}">
        <p14:creationId xmlns:p14="http://schemas.microsoft.com/office/powerpoint/2010/main" val="153887779"/>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F74A18-6837-4C6B-0328-EA7B802347F4}"/>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3E1EB27F-0F68-FF27-BA08-FFAA2435EF4B}"/>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5" name="Title 4">
            <a:extLst>
              <a:ext uri="{FF2B5EF4-FFF2-40B4-BE49-F238E27FC236}">
                <a16:creationId xmlns:a16="http://schemas.microsoft.com/office/drawing/2014/main" id="{909C0C8C-9FB5-E086-2C50-6BCC8DA12C15}"/>
              </a:ext>
            </a:extLst>
          </p:cNvPr>
          <p:cNvSpPr>
            <a:spLocks noGrp="1"/>
          </p:cNvSpPr>
          <p:nvPr>
            <p:ph type="title"/>
          </p:nvPr>
        </p:nvSpPr>
        <p:spPr>
          <a:xfrm>
            <a:off x="882797" y="44215"/>
            <a:ext cx="8074152" cy="1292899"/>
          </a:xfrm>
        </p:spPr>
        <p:txBody>
          <a:bodyPr/>
          <a:lstStyle/>
          <a:p>
            <a:r>
              <a:rPr lang="en-US" dirty="0"/>
              <a:t>Goofy’s peer group is used for evaluating the strength of pay levels, pay practices, and performance</a:t>
            </a:r>
          </a:p>
        </p:txBody>
      </p:sp>
      <p:sp>
        <p:nvSpPr>
          <p:cNvPr id="4" name="Slide Number Placeholder 3">
            <a:extLst>
              <a:ext uri="{FF2B5EF4-FFF2-40B4-BE49-F238E27FC236}">
                <a16:creationId xmlns:a16="http://schemas.microsoft.com/office/drawing/2014/main" id="{74A0A579-02C9-9701-DC35-317AB30E2E67}"/>
              </a:ext>
            </a:extLst>
          </p:cNvPr>
          <p:cNvSpPr>
            <a:spLocks noGrp="1"/>
          </p:cNvSpPr>
          <p:nvPr>
            <p:ph type="sldNum" sz="quarter" idx="12"/>
          </p:nvPr>
        </p:nvSpPr>
        <p:spPr>
          <a:xfrm>
            <a:off x="8581802" y="6577909"/>
            <a:ext cx="352260" cy="211339"/>
          </a:xfrm>
        </p:spPr>
        <p:txBody>
          <a:bodyPr/>
          <a:lstStyle/>
          <a:p>
            <a:fld id="{91690BAF-E217-4185-92FD-0CEA06F2B7C8}" type="slidenum">
              <a:rPr lang="en-US" smtClean="0"/>
              <a:pPr/>
              <a:t>8</a:t>
            </a:fld>
            <a:endParaRPr lang="en-US"/>
          </a:p>
        </p:txBody>
      </p:sp>
      <p:graphicFrame>
        <p:nvGraphicFramePr>
          <p:cNvPr id="2" name="Table 1">
            <a:extLst>
              <a:ext uri="{FF2B5EF4-FFF2-40B4-BE49-F238E27FC236}">
                <a16:creationId xmlns:a16="http://schemas.microsoft.com/office/drawing/2014/main" id="{2B359F96-2CB3-3F51-DCDB-0131751D5B84}"/>
              </a:ext>
            </a:extLst>
          </p:cNvPr>
          <p:cNvGraphicFramePr>
            <a:graphicFrameLocks noGrp="1"/>
          </p:cNvGraphicFramePr>
          <p:nvPr>
            <p:extLst>
              <p:ext uri="{D42A27DB-BD31-4B8C-83A1-F6EECF244321}">
                <p14:modId xmlns:p14="http://schemas.microsoft.com/office/powerpoint/2010/main" val="2324897254"/>
              </p:ext>
            </p:extLst>
          </p:nvPr>
        </p:nvGraphicFramePr>
        <p:xfrm>
          <a:off x="243522" y="1903025"/>
          <a:ext cx="8424382" cy="2395728"/>
        </p:xfrm>
        <a:graphic>
          <a:graphicData uri="http://schemas.openxmlformats.org/drawingml/2006/table">
            <a:tbl>
              <a:tblPr/>
              <a:tblGrid>
                <a:gridCol w="1616506">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489202">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gridCol w="730664">
                  <a:extLst>
                    <a:ext uri="{9D8B030D-6E8A-4147-A177-3AD203B41FA5}">
                      <a16:colId xmlns:a16="http://schemas.microsoft.com/office/drawing/2014/main" val="2303153015"/>
                    </a:ext>
                  </a:extLst>
                </a:gridCol>
                <a:gridCol w="1005840">
                  <a:extLst>
                    <a:ext uri="{9D8B030D-6E8A-4147-A177-3AD203B41FA5}">
                      <a16:colId xmlns:a16="http://schemas.microsoft.com/office/drawing/2014/main" val="67374695"/>
                    </a:ext>
                  </a:extLst>
                </a:gridCol>
                <a:gridCol w="1005840">
                  <a:extLst>
                    <a:ext uri="{9D8B030D-6E8A-4147-A177-3AD203B41FA5}">
                      <a16:colId xmlns:a16="http://schemas.microsoft.com/office/drawing/2014/main" val="3000455279"/>
                    </a:ext>
                  </a:extLst>
                </a:gridCol>
                <a:gridCol w="924570">
                  <a:extLst>
                    <a:ext uri="{9D8B030D-6E8A-4147-A177-3AD203B41FA5}">
                      <a16:colId xmlns:a16="http://schemas.microsoft.com/office/drawing/2014/main" val="20005"/>
                    </a:ext>
                  </a:extLst>
                </a:gridCol>
              </a:tblGrid>
              <a:tr h="0">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algn="ctr">
                        <a:spcBef>
                          <a:spcPts val="0"/>
                        </a:spcBef>
                        <a:spcAft>
                          <a:spcPts val="0"/>
                        </a:spcAft>
                      </a:pPr>
                      <a:r>
                        <a:rPr lang="en-US" sz="1200" b="1" dirty="0">
                          <a:solidFill>
                            <a:schemeClr val="bg1"/>
                          </a:solidFill>
                          <a:latin typeface="Calibri" panose="020F0502020204030204" pitchFamily="34" charset="0"/>
                          <a:ea typeface="Times New Roman"/>
                          <a:cs typeface="Calibri" panose="020F0502020204030204" pitchFamily="34" charset="0"/>
                        </a:rPr>
                        <a:t>Peer Groups</a:t>
                      </a:r>
                    </a:p>
                  </a:txBody>
                  <a:tcPr marL="52551" marR="52551"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CBD"/>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algn="ctr">
                        <a:spcBef>
                          <a:spcPts val="0"/>
                        </a:spcBef>
                        <a:spcAft>
                          <a:spcPts val="0"/>
                        </a:spcAft>
                      </a:pPr>
                      <a:r>
                        <a:rPr lang="en-US" sz="1200" b="1">
                          <a:solidFill>
                            <a:schemeClr val="bg1"/>
                          </a:solidFill>
                          <a:latin typeface="Calibri" panose="020F0502020204030204" pitchFamily="34" charset="0"/>
                          <a:ea typeface="Times New Roman"/>
                          <a:cs typeface="Calibri" panose="020F0502020204030204" pitchFamily="34" charset="0"/>
                        </a:rPr>
                        <a:t>Description</a:t>
                      </a:r>
                    </a:p>
                  </a:txBody>
                  <a:tcPr marL="52551" marR="52551"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CBD"/>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algn="ctr">
                        <a:spcBef>
                          <a:spcPts val="0"/>
                        </a:spcBef>
                        <a:spcAft>
                          <a:spcPts val="0"/>
                        </a:spcAft>
                      </a:pPr>
                      <a:r>
                        <a:rPr lang="en-US" sz="1200" b="1">
                          <a:solidFill>
                            <a:schemeClr val="bg1"/>
                          </a:solidFill>
                          <a:latin typeface="Calibri" panose="020F0502020204030204" pitchFamily="34" charset="0"/>
                          <a:ea typeface="Times New Roman"/>
                          <a:cs typeface="Calibri" panose="020F0502020204030204" pitchFamily="34" charset="0"/>
                        </a:rPr>
                        <a:t># of Cos</a:t>
                      </a:r>
                    </a:p>
                  </a:txBody>
                  <a:tcPr marL="52551" marR="52551"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CBD"/>
                    </a:solidFill>
                  </a:tcPr>
                </a:tc>
                <a:tc gridSpan="5">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algn="ctr">
                        <a:spcBef>
                          <a:spcPts val="0"/>
                        </a:spcBef>
                        <a:spcAft>
                          <a:spcPts val="0"/>
                        </a:spcAft>
                        <a:tabLst/>
                      </a:pPr>
                      <a:r>
                        <a:rPr lang="en-US" sz="1200" b="1">
                          <a:solidFill>
                            <a:schemeClr val="bg1"/>
                          </a:solidFill>
                          <a:latin typeface="Calibri" panose="020F0502020204030204" pitchFamily="34" charset="0"/>
                          <a:ea typeface="Times New Roman"/>
                          <a:cs typeface="Calibri" panose="020F0502020204030204" pitchFamily="34" charset="0"/>
                        </a:rPr>
                        <a:t>Application</a:t>
                      </a:r>
                      <a:endParaRPr lang="en-US" sz="1200">
                        <a:solidFill>
                          <a:schemeClr val="bg1"/>
                        </a:solidFill>
                        <a:latin typeface="Calibri" panose="020F0502020204030204" pitchFamily="34" charset="0"/>
                        <a:ea typeface="Times New Roman"/>
                        <a:cs typeface="Calibri" panose="020F0502020204030204" pitchFamily="34" charset="0"/>
                      </a:endParaRPr>
                    </a:p>
                  </a:txBody>
                  <a:tcPr marL="52551" marR="52551"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6CBD"/>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0">
                <a:tc vMerge="1">
                  <a:txBody>
                    <a:bodyPr/>
                    <a:lstStyle/>
                    <a:p>
                      <a:pPr marL="0" marR="0">
                        <a:spcBef>
                          <a:spcPts val="0"/>
                        </a:spcBef>
                        <a:spcAft>
                          <a:spcPts val="0"/>
                        </a:spcAft>
                      </a:pPr>
                      <a:endParaRPr lang="en-US" sz="1000">
                        <a:latin typeface="+mj-lt"/>
                        <a:ea typeface="Times New Roman"/>
                        <a:cs typeface="Times New Roman"/>
                      </a:endParaRPr>
                    </a:p>
                  </a:txBody>
                  <a:tcPr marL="55179" marR="551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en-US"/>
                    </a:p>
                  </a:txBody>
                  <a:tcPr/>
                </a:tc>
                <a:tc vMerge="1">
                  <a:txBody>
                    <a:bodyPr/>
                    <a:lstStyle/>
                    <a:p>
                      <a:endParaRPr lang="en-US"/>
                    </a:p>
                  </a:txBody>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algn="ctr">
                        <a:spcBef>
                          <a:spcPts val="0"/>
                        </a:spcBef>
                        <a:spcAft>
                          <a:spcPts val="0"/>
                        </a:spcAft>
                      </a:pPr>
                      <a:r>
                        <a:rPr lang="en-US" sz="1200" b="1" kern="1200">
                          <a:solidFill>
                            <a:schemeClr val="bg1"/>
                          </a:solidFill>
                          <a:latin typeface="Calibri" panose="020F0502020204030204" pitchFamily="34" charset="0"/>
                          <a:ea typeface="Times New Roman"/>
                          <a:cs typeface="Calibri" panose="020F0502020204030204" pitchFamily="34" charset="0"/>
                        </a:rPr>
                        <a:t>Pay </a:t>
                      </a:r>
                    </a:p>
                  </a:txBody>
                  <a:tcPr marL="52551" marR="52551"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CBD"/>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algn="ctr">
                        <a:spcBef>
                          <a:spcPts val="0"/>
                        </a:spcBef>
                        <a:spcAft>
                          <a:spcPts val="0"/>
                        </a:spcAft>
                      </a:pPr>
                      <a:r>
                        <a:rPr lang="en-US" sz="1200" b="1">
                          <a:solidFill>
                            <a:schemeClr val="bg1"/>
                          </a:solidFill>
                          <a:latin typeface="Calibri" panose="020F0502020204030204" pitchFamily="34" charset="0"/>
                          <a:ea typeface="Times New Roman"/>
                          <a:cs typeface="Calibri" panose="020F0502020204030204" pitchFamily="34" charset="0"/>
                        </a:rPr>
                        <a:t>Pay </a:t>
                      </a:r>
                    </a:p>
                    <a:p>
                      <a:pPr marL="0" marR="0" algn="ctr">
                        <a:spcBef>
                          <a:spcPts val="0"/>
                        </a:spcBef>
                        <a:spcAft>
                          <a:spcPts val="0"/>
                        </a:spcAft>
                      </a:pPr>
                      <a:r>
                        <a:rPr lang="en-US" sz="1200" b="1">
                          <a:solidFill>
                            <a:schemeClr val="bg1"/>
                          </a:solidFill>
                          <a:latin typeface="Calibri" panose="020F0502020204030204" pitchFamily="34" charset="0"/>
                          <a:ea typeface="Times New Roman"/>
                          <a:cs typeface="Calibri" panose="020F0502020204030204" pitchFamily="34" charset="0"/>
                        </a:rPr>
                        <a:t>Practices</a:t>
                      </a:r>
                    </a:p>
                  </a:txBody>
                  <a:tcPr marL="52551" marR="52551"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CBD"/>
                    </a:solidFill>
                  </a:tcPr>
                </a:tc>
                <a:tc>
                  <a:txBody>
                    <a:bodyPr/>
                    <a:lstStyle/>
                    <a:p>
                      <a:pPr marL="0" marR="0" algn="ctr">
                        <a:spcBef>
                          <a:spcPts val="0"/>
                        </a:spcBef>
                        <a:spcAft>
                          <a:spcPts val="0"/>
                        </a:spcAft>
                      </a:pPr>
                      <a:r>
                        <a:rPr lang="en-US" sz="1200" b="1">
                          <a:solidFill>
                            <a:schemeClr val="bg1"/>
                          </a:solidFill>
                          <a:latin typeface="Calibri" panose="020F0502020204030204" pitchFamily="34" charset="0"/>
                          <a:ea typeface="Times New Roman"/>
                          <a:cs typeface="Calibri" panose="020F0502020204030204" pitchFamily="34" charset="0"/>
                        </a:rPr>
                        <a:t>Performance Comparisons</a:t>
                      </a:r>
                    </a:p>
                  </a:txBody>
                  <a:tcPr marL="52551" marR="52551"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CBD"/>
                    </a:solidFill>
                  </a:tcPr>
                </a:tc>
                <a:tc>
                  <a:txBody>
                    <a:bodyPr/>
                    <a:lstStyle/>
                    <a:p>
                      <a:pPr marL="0" marR="0" algn="ctr">
                        <a:spcBef>
                          <a:spcPts val="0"/>
                        </a:spcBef>
                        <a:spcAft>
                          <a:spcPts val="0"/>
                        </a:spcAft>
                      </a:pPr>
                      <a:r>
                        <a:rPr lang="en-US" sz="1200" b="1">
                          <a:solidFill>
                            <a:schemeClr val="bg1"/>
                          </a:solidFill>
                          <a:latin typeface="Calibri" panose="020F0502020204030204" pitchFamily="34" charset="0"/>
                          <a:ea typeface="Times New Roman"/>
                          <a:cs typeface="Calibri" panose="020F0502020204030204" pitchFamily="34" charset="0"/>
                        </a:rPr>
                        <a:t>Pay versus Performance</a:t>
                      </a:r>
                    </a:p>
                  </a:txBody>
                  <a:tcPr marL="52551" marR="52551"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CBD"/>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algn="ctr">
                        <a:spcBef>
                          <a:spcPts val="0"/>
                        </a:spcBef>
                        <a:spcAft>
                          <a:spcPts val="0"/>
                        </a:spcAft>
                      </a:pPr>
                      <a:r>
                        <a:rPr lang="en-US" sz="1200" b="1">
                          <a:solidFill>
                            <a:schemeClr val="bg1"/>
                          </a:solidFill>
                          <a:latin typeface="Calibri" panose="020F0502020204030204" pitchFamily="34" charset="0"/>
                          <a:ea typeface="Times New Roman"/>
                          <a:cs typeface="Calibri" panose="020F0502020204030204" pitchFamily="34" charset="0"/>
                        </a:rPr>
                        <a:t>10K</a:t>
                      </a:r>
                    </a:p>
                  </a:txBody>
                  <a:tcPr marL="52551" marR="52551"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CBD"/>
                    </a:solidFill>
                  </a:tcPr>
                </a:tc>
                <a:extLst>
                  <a:ext uri="{0D108BD9-81ED-4DB2-BD59-A6C34878D82A}">
                    <a16:rowId xmlns:a16="http://schemas.microsoft.com/office/drawing/2014/main" val="10001"/>
                  </a:ext>
                </a:extLst>
              </a:tr>
              <a:tr h="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a:r>
                        <a:rPr lang="en-US" sz="1200" b="1" i="0">
                          <a:latin typeface="Calibri" panose="020F0502020204030204" pitchFamily="34" charset="0"/>
                          <a:cs typeface="Calibri" panose="020F0502020204030204" pitchFamily="34" charset="0"/>
                        </a:rPr>
                        <a:t>Primary Peer Group</a:t>
                      </a:r>
                    </a:p>
                  </a:txBody>
                  <a:tcPr marL="52551" marR="52551" marT="9144" marB="914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indent="0" algn="l" defTabSz="914400" rtl="0" eaLnBrk="1" fontAlgn="auto" latinLnBrk="0" hangingPunct="1">
                        <a:lnSpc>
                          <a:spcPct val="100000"/>
                        </a:lnSpc>
                        <a:spcBef>
                          <a:spcPts val="0"/>
                        </a:spcBef>
                        <a:spcAft>
                          <a:spcPts val="0"/>
                        </a:spcAft>
                        <a:buClrTx/>
                        <a:buSzTx/>
                        <a:buFont typeface="Wingdings" pitchFamily="2" charset="2"/>
                        <a:buNone/>
                        <a:tabLst/>
                        <a:defRPr/>
                      </a:pPr>
                      <a:r>
                        <a:rPr lang="en-US" sz="1200" b="0">
                          <a:latin typeface="Calibri" panose="020F0502020204030204" pitchFamily="34" charset="0"/>
                          <a:ea typeface="Times New Roman"/>
                          <a:cs typeface="Calibri" panose="020F0502020204030204" pitchFamily="34" charset="0"/>
                        </a:rPr>
                        <a:t>Peers screened for direct relevance and business fit</a:t>
                      </a:r>
                    </a:p>
                  </a:txBody>
                  <a:tcPr marL="52551" marR="52551" marT="9144" marB="914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algn="ctr">
                        <a:spcBef>
                          <a:spcPts val="0"/>
                        </a:spcBef>
                        <a:spcAft>
                          <a:spcPts val="0"/>
                        </a:spcAft>
                      </a:pPr>
                      <a:r>
                        <a:rPr lang="en-US" sz="1200" b="0" baseline="0">
                          <a:solidFill>
                            <a:schemeClr val="tx1"/>
                          </a:solidFill>
                          <a:latin typeface="Calibri" panose="020F0502020204030204" pitchFamily="34" charset="0"/>
                          <a:ea typeface="Times New Roman"/>
                          <a:cs typeface="Calibri" panose="020F0502020204030204" pitchFamily="34" charset="0"/>
                        </a:rPr>
                        <a:t>16</a:t>
                      </a:r>
                    </a:p>
                  </a:txBody>
                  <a:tcPr marL="52551" marR="52551" marT="9144" marB="914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sz="1200" b="0">
                          <a:latin typeface="Calibri" panose="020F0502020204030204" pitchFamily="34" charset="0"/>
                          <a:cs typeface="Calibri" panose="020F0502020204030204" pitchFamily="34" charset="0"/>
                        </a:rPr>
                        <a:t>X</a:t>
                      </a:r>
                    </a:p>
                    <a:p>
                      <a:pPr algn="ctr"/>
                      <a:r>
                        <a:rPr lang="en-US" sz="1200" b="0">
                          <a:latin typeface="Calibri" panose="020F0502020204030204" pitchFamily="34" charset="0"/>
                          <a:cs typeface="Calibri" panose="020F0502020204030204" pitchFamily="34" charset="0"/>
                        </a:rPr>
                        <a:t>(CEO</a:t>
                      </a:r>
                      <a:r>
                        <a:rPr lang="en-US" sz="1200" b="0" baseline="0">
                          <a:latin typeface="Calibri" panose="020F0502020204030204" pitchFamily="34" charset="0"/>
                          <a:cs typeface="Calibri" panose="020F0502020204030204" pitchFamily="34" charset="0"/>
                        </a:rPr>
                        <a:t> &amp; CFO Only)</a:t>
                      </a:r>
                      <a:endParaRPr lang="en-US" sz="1200" b="0">
                        <a:latin typeface="Calibri" panose="020F0502020204030204" pitchFamily="34" charset="0"/>
                        <a:cs typeface="Calibri" panose="020F0502020204030204" pitchFamily="34" charset="0"/>
                      </a:endParaRPr>
                    </a:p>
                  </a:txBody>
                  <a:tcPr marL="52551" marR="52551" marT="9144" marB="914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algn="ctr">
                        <a:spcBef>
                          <a:spcPts val="0"/>
                        </a:spcBef>
                        <a:spcAft>
                          <a:spcPts val="0"/>
                        </a:spcAft>
                      </a:pPr>
                      <a:r>
                        <a:rPr lang="en-US" sz="1200" b="0">
                          <a:latin typeface="Calibri" panose="020F0502020204030204" pitchFamily="34" charset="0"/>
                          <a:ea typeface="Times New Roman"/>
                          <a:cs typeface="Calibri" panose="020F0502020204030204" pitchFamily="34" charset="0"/>
                        </a:rPr>
                        <a:t>X</a:t>
                      </a:r>
                    </a:p>
                  </a:txBody>
                  <a:tcPr marL="52551" marR="52551" marT="9144" marB="914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r>
                        <a:rPr lang="en-US" sz="1200" b="0">
                          <a:latin typeface="Calibri" panose="020F0502020204030204" pitchFamily="34" charset="0"/>
                          <a:ea typeface="Times New Roman"/>
                          <a:cs typeface="Calibri" panose="020F0502020204030204" pitchFamily="34" charset="0"/>
                        </a:rPr>
                        <a:t>X</a:t>
                      </a:r>
                    </a:p>
                  </a:txBody>
                  <a:tcPr marL="52551" marR="52551" marT="9144" marB="914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200" b="0">
                        <a:latin typeface="Calibri" panose="020F0502020204030204" pitchFamily="34" charset="0"/>
                        <a:ea typeface="Times New Roman"/>
                        <a:cs typeface="Calibri" panose="020F0502020204030204" pitchFamily="34" charset="0"/>
                      </a:endParaRPr>
                    </a:p>
                  </a:txBody>
                  <a:tcPr marL="52551" marR="52551" marT="9144" marB="914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algn="ctr">
                        <a:spcBef>
                          <a:spcPts val="0"/>
                        </a:spcBef>
                        <a:spcAft>
                          <a:spcPts val="0"/>
                        </a:spcAft>
                      </a:pPr>
                      <a:endParaRPr lang="en-US" sz="1200" b="0">
                        <a:latin typeface="Calibri" panose="020F0502020204030204" pitchFamily="34" charset="0"/>
                        <a:ea typeface="Times New Roman"/>
                        <a:cs typeface="Calibri" panose="020F0502020204030204" pitchFamily="34" charset="0"/>
                      </a:endParaRPr>
                    </a:p>
                  </a:txBody>
                  <a:tcPr marL="52551" marR="52551" marT="9144" marB="914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a:r>
                        <a:rPr lang="en-US" sz="1200" b="1" i="0">
                          <a:solidFill>
                            <a:schemeClr val="tx1"/>
                          </a:solidFill>
                          <a:latin typeface="Calibri" panose="020F0502020204030204" pitchFamily="34" charset="0"/>
                          <a:cs typeface="Calibri" panose="020F0502020204030204" pitchFamily="34" charset="0"/>
                        </a:rPr>
                        <a:t>Radford</a:t>
                      </a:r>
                    </a:p>
                  </a:txBody>
                  <a:tcPr marL="52551" marR="52551"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indent="0">
                        <a:buFontTx/>
                        <a:buNone/>
                      </a:pPr>
                      <a:r>
                        <a:rPr lang="en-US" sz="1200">
                          <a:latin typeface="Calibri" panose="020F0502020204030204" pitchFamily="34" charset="0"/>
                          <a:cs typeface="Calibri" panose="020F0502020204030204" pitchFamily="34" charset="0"/>
                        </a:rPr>
                        <a:t>Technology, life science, and custom peer survey cuts size adjusted to corporate or division revenues</a:t>
                      </a:r>
                      <a:endParaRPr lang="en-US" sz="1200" baseline="0">
                        <a:latin typeface="Calibri" panose="020F0502020204030204" pitchFamily="34" charset="0"/>
                        <a:cs typeface="Calibri" panose="020F0502020204030204" pitchFamily="34" charset="0"/>
                      </a:endParaRPr>
                    </a:p>
                  </a:txBody>
                  <a:tcPr marL="52551" marR="52551"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algn="ctr">
                        <a:spcBef>
                          <a:spcPts val="0"/>
                        </a:spcBef>
                        <a:spcAft>
                          <a:spcPts val="0"/>
                        </a:spcAft>
                      </a:pPr>
                      <a:r>
                        <a:rPr lang="en-US" sz="1200">
                          <a:solidFill>
                            <a:schemeClr val="tx1"/>
                          </a:solidFill>
                          <a:latin typeface="Calibri" panose="020F0502020204030204" pitchFamily="34" charset="0"/>
                          <a:ea typeface="Times New Roman"/>
                          <a:cs typeface="Calibri" panose="020F0502020204030204" pitchFamily="34" charset="0"/>
                        </a:rPr>
                        <a:t>Varies</a:t>
                      </a:r>
                    </a:p>
                  </a:txBody>
                  <a:tcPr marL="52551" marR="52551"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sz="1200">
                          <a:solidFill>
                            <a:schemeClr val="tx1"/>
                          </a:solidFill>
                          <a:latin typeface="Calibri" panose="020F0502020204030204" pitchFamily="34" charset="0"/>
                          <a:cs typeface="Calibri" panose="020F0502020204030204" pitchFamily="34" charset="0"/>
                        </a:rPr>
                        <a:t>X</a:t>
                      </a:r>
                    </a:p>
                    <a:p>
                      <a:pPr algn="ctr"/>
                      <a:r>
                        <a:rPr lang="en-US" sz="1200">
                          <a:solidFill>
                            <a:schemeClr val="tx1"/>
                          </a:solidFill>
                          <a:latin typeface="Calibri" panose="020F0502020204030204" pitchFamily="34" charset="0"/>
                          <a:cs typeface="Calibri" panose="020F0502020204030204" pitchFamily="34" charset="0"/>
                        </a:rPr>
                        <a:t>All Execs</a:t>
                      </a:r>
                    </a:p>
                  </a:txBody>
                  <a:tcPr marL="52551" marR="52551"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en-US" sz="1200">
                        <a:latin typeface="Calibri" panose="020F0502020204030204" pitchFamily="34" charset="0"/>
                        <a:cs typeface="Calibri" panose="020F0502020204030204" pitchFamily="34" charset="0"/>
                      </a:endParaRPr>
                    </a:p>
                  </a:txBody>
                  <a:tcPr marL="52551" marR="52551"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sz="1200">
                        <a:latin typeface="Calibri" panose="020F0502020204030204" pitchFamily="34" charset="0"/>
                        <a:cs typeface="Calibri" panose="020F0502020204030204" pitchFamily="34" charset="0"/>
                      </a:endParaRPr>
                    </a:p>
                  </a:txBody>
                  <a:tcPr marL="52551" marR="52551"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sz="1200">
                        <a:latin typeface="Calibri" panose="020F0502020204030204" pitchFamily="34" charset="0"/>
                        <a:cs typeface="Calibri" panose="020F0502020204030204" pitchFamily="34" charset="0"/>
                      </a:endParaRPr>
                    </a:p>
                  </a:txBody>
                  <a:tcPr marL="52551" marR="52551"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en-US" sz="1200">
                        <a:latin typeface="Calibri" panose="020F0502020204030204" pitchFamily="34" charset="0"/>
                        <a:cs typeface="Calibri" panose="020F0502020204030204" pitchFamily="34" charset="0"/>
                      </a:endParaRPr>
                    </a:p>
                  </a:txBody>
                  <a:tcPr marL="52551" marR="52551"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3"/>
                  </a:ext>
                </a:extLst>
              </a:tr>
              <a:tr h="0">
                <a:tc>
                  <a:txBody>
                    <a:bodyPr/>
                    <a:lstStyle/>
                    <a:p>
                      <a:pPr algn="l"/>
                      <a:r>
                        <a:rPr lang="en-US" sz="1200" b="1" i="0">
                          <a:solidFill>
                            <a:schemeClr val="tx1"/>
                          </a:solidFill>
                          <a:latin typeface="Calibri" panose="020F0502020204030204" pitchFamily="34" charset="0"/>
                          <a:cs typeface="Calibri" panose="020F0502020204030204" pitchFamily="34" charset="0"/>
                        </a:rPr>
                        <a:t>S&amp;P 500,</a:t>
                      </a:r>
                      <a:br>
                        <a:rPr lang="en-US" sz="1200" b="1" i="0">
                          <a:solidFill>
                            <a:schemeClr val="tx1"/>
                          </a:solidFill>
                          <a:latin typeface="Calibri" panose="020F0502020204030204" pitchFamily="34" charset="0"/>
                          <a:cs typeface="Calibri" panose="020F0502020204030204" pitchFamily="34" charset="0"/>
                        </a:rPr>
                      </a:br>
                      <a:r>
                        <a:rPr lang="en-US" sz="1200" b="1" i="0">
                          <a:solidFill>
                            <a:schemeClr val="tx1"/>
                          </a:solidFill>
                          <a:latin typeface="Calibri" panose="020F0502020204030204" pitchFamily="34" charset="0"/>
                          <a:cs typeface="Calibri" panose="020F0502020204030204" pitchFamily="34" charset="0"/>
                        </a:rPr>
                        <a:t>S&amp;P 500 Health Care, NASDAQ</a:t>
                      </a:r>
                    </a:p>
                  </a:txBody>
                  <a:tcPr marL="52551" marR="52551"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buFontTx/>
                        <a:buNone/>
                      </a:pPr>
                      <a:r>
                        <a:rPr lang="en-US" sz="1200" baseline="0" dirty="0">
                          <a:latin typeface="Calibri" panose="020F0502020204030204" pitchFamily="34" charset="0"/>
                          <a:cs typeface="Calibri" panose="020F0502020204030204" pitchFamily="34" charset="0"/>
                        </a:rPr>
                        <a:t>Market indices relevant to Goofy to compare TSR</a:t>
                      </a:r>
                    </a:p>
                  </a:txBody>
                  <a:tcPr marL="52551" marR="52551"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r>
                        <a:rPr lang="en-US" sz="1200">
                          <a:solidFill>
                            <a:schemeClr val="tx1"/>
                          </a:solidFill>
                          <a:latin typeface="Calibri" panose="020F0502020204030204" pitchFamily="34" charset="0"/>
                          <a:ea typeface="Times New Roman"/>
                          <a:cs typeface="Calibri" panose="020F0502020204030204" pitchFamily="34" charset="0"/>
                        </a:rPr>
                        <a:t>Varies</a:t>
                      </a:r>
                    </a:p>
                  </a:txBody>
                  <a:tcPr marL="52551" marR="52551"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a:solidFill>
                          <a:schemeClr val="tx1"/>
                        </a:solidFill>
                        <a:latin typeface="Calibri" panose="020F0502020204030204" pitchFamily="34" charset="0"/>
                        <a:cs typeface="Calibri" panose="020F0502020204030204" pitchFamily="34" charset="0"/>
                      </a:endParaRPr>
                    </a:p>
                  </a:txBody>
                  <a:tcPr marL="52551" marR="52551"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a:latin typeface="Calibri" panose="020F0502020204030204" pitchFamily="34" charset="0"/>
                        <a:cs typeface="Calibri" panose="020F0502020204030204" pitchFamily="34" charset="0"/>
                      </a:endParaRPr>
                    </a:p>
                  </a:txBody>
                  <a:tcPr marL="52551" marR="52551"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a:latin typeface="Calibri" panose="020F0502020204030204" pitchFamily="34" charset="0"/>
                        <a:cs typeface="Calibri" panose="020F0502020204030204" pitchFamily="34" charset="0"/>
                      </a:endParaRPr>
                    </a:p>
                  </a:txBody>
                  <a:tcPr marL="52551" marR="52551"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a:latin typeface="Calibri" panose="020F0502020204030204" pitchFamily="34" charset="0"/>
                          <a:cs typeface="Calibri" panose="020F0502020204030204" pitchFamily="34" charset="0"/>
                        </a:rPr>
                        <a:t>X</a:t>
                      </a:r>
                      <a:r>
                        <a:rPr lang="en-US" sz="1200" baseline="30000">
                          <a:latin typeface="Calibri" panose="020F0502020204030204" pitchFamily="34" charset="0"/>
                          <a:cs typeface="Calibri" panose="020F0502020204030204" pitchFamily="34" charset="0"/>
                        </a:rPr>
                        <a:t>(1)</a:t>
                      </a:r>
                    </a:p>
                  </a:txBody>
                  <a:tcPr marL="52551" marR="52551"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a:latin typeface="Calibri" panose="020F0502020204030204" pitchFamily="34" charset="0"/>
                          <a:cs typeface="Calibri" panose="020F0502020204030204" pitchFamily="34" charset="0"/>
                        </a:rPr>
                        <a:t>X</a:t>
                      </a:r>
                    </a:p>
                  </a:txBody>
                  <a:tcPr marL="52551" marR="52551"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22060062"/>
                  </a:ext>
                </a:extLst>
              </a:tr>
            </a:tbl>
          </a:graphicData>
        </a:graphic>
      </p:graphicFrame>
      <p:sp>
        <p:nvSpPr>
          <p:cNvPr id="6" name="TextBox 5">
            <a:extLst>
              <a:ext uri="{FF2B5EF4-FFF2-40B4-BE49-F238E27FC236}">
                <a16:creationId xmlns:a16="http://schemas.microsoft.com/office/drawing/2014/main" id="{CE1105AA-A821-8CAF-893D-E224368A8F7F}"/>
              </a:ext>
            </a:extLst>
          </p:cNvPr>
          <p:cNvSpPr txBox="1"/>
          <p:nvPr/>
        </p:nvSpPr>
        <p:spPr>
          <a:xfrm>
            <a:off x="2397583" y="1579859"/>
            <a:ext cx="4262908" cy="307777"/>
          </a:xfrm>
          <a:prstGeom prst="rect">
            <a:avLst/>
          </a:prstGeom>
          <a:noFill/>
        </p:spPr>
        <p:txBody>
          <a:bodyPr wrap="square" lIns="45720" tIns="45720" rIns="45720" bIns="45720" rtlCol="0"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err="1">
                <a:ln>
                  <a:noFill/>
                </a:ln>
                <a:solidFill>
                  <a:prstClr val="black"/>
                </a:solidFill>
                <a:effectLst/>
                <a:uLnTx/>
                <a:uFillTx/>
                <a:latin typeface="Calibri" panose="020F0502020204030204"/>
                <a:ea typeface="+mn-ea"/>
                <a:cs typeface="Arial" panose="020B0604020202020204" pitchFamily="34" charset="0"/>
              </a:rPr>
              <a:t>Goofy’s</a:t>
            </a:r>
            <a:r>
              <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Current Peer Group Framework</a:t>
            </a:r>
          </a:p>
        </p:txBody>
      </p:sp>
      <p:sp>
        <p:nvSpPr>
          <p:cNvPr id="7" name="Rectangle 6">
            <a:extLst>
              <a:ext uri="{FF2B5EF4-FFF2-40B4-BE49-F238E27FC236}">
                <a16:creationId xmlns:a16="http://schemas.microsoft.com/office/drawing/2014/main" id="{6AFC3A42-D467-A6C2-5EFF-BF9E0210FD0E}"/>
              </a:ext>
            </a:extLst>
          </p:cNvPr>
          <p:cNvSpPr/>
          <p:nvPr/>
        </p:nvSpPr>
        <p:spPr>
          <a:xfrm>
            <a:off x="243521" y="2473353"/>
            <a:ext cx="8424382" cy="549247"/>
          </a:xfrm>
          <a:prstGeom prst="rect">
            <a:avLst/>
          </a:prstGeom>
          <a:noFill/>
          <a:ln w="28575">
            <a:solidFill>
              <a:schemeClr val="accent4"/>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endParaRPr lang="en-US" sz="1800">
              <a:solidFill>
                <a:schemeClr val="tx1"/>
              </a:solidFill>
            </a:endParaRPr>
          </a:p>
        </p:txBody>
      </p:sp>
      <p:sp>
        <p:nvSpPr>
          <p:cNvPr id="8" name="TextBox 7">
            <a:extLst>
              <a:ext uri="{FF2B5EF4-FFF2-40B4-BE49-F238E27FC236}">
                <a16:creationId xmlns:a16="http://schemas.microsoft.com/office/drawing/2014/main" id="{17AD5C85-736F-B4EA-DF43-8E22CE5AB40A}"/>
              </a:ext>
            </a:extLst>
          </p:cNvPr>
          <p:cNvSpPr txBox="1"/>
          <p:nvPr/>
        </p:nvSpPr>
        <p:spPr>
          <a:xfrm>
            <a:off x="243521" y="4314142"/>
            <a:ext cx="6424684" cy="246221"/>
          </a:xfrm>
          <a:prstGeom prst="rect">
            <a:avLst/>
          </a:prstGeom>
          <a:noFill/>
        </p:spPr>
        <p:txBody>
          <a:bodyPr wrap="square" lIns="45720" tIns="45720" rIns="45720" bIns="45720" rtlCol="0" anchor="ctr">
            <a:spAutoFit/>
          </a:bodyPr>
          <a:lstStyle/>
          <a:p>
            <a:pPr marL="228600" indent="-228600">
              <a:buFontTx/>
              <a:buAutoNum type="arabicParenBoth"/>
            </a:pPr>
            <a:r>
              <a:rPr lang="en-US" sz="1000" i="1"/>
              <a:t>Pay versus performance used the S&amp;P 500 Health Care index</a:t>
            </a:r>
          </a:p>
        </p:txBody>
      </p:sp>
    </p:spTree>
    <p:extLst>
      <p:ext uri="{BB962C8B-B14F-4D97-AF65-F5344CB8AC3E}">
        <p14:creationId xmlns:p14="http://schemas.microsoft.com/office/powerpoint/2010/main" val="2455871825"/>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B7F268-FF96-1D90-FEFB-BD8C843C3559}"/>
            </a:ext>
          </a:extLst>
        </p:cNvPr>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B286B417-1AD0-B25B-0C59-38E0E7BEE008}"/>
              </a:ext>
            </a:extLst>
          </p:cNvPr>
          <p:cNvSpPr>
            <a:spLocks noGrp="1"/>
          </p:cNvSpPr>
          <p:nvPr>
            <p:ph idx="1"/>
          </p:nvPr>
        </p:nvSpPr>
        <p:spPr/>
        <p:txBody>
          <a:bodyPr/>
          <a:lstStyle/>
          <a:p>
            <a:r>
              <a:rPr lang="en-US" dirty="0"/>
              <a:t>Waters’ transaction expands its diagnostics capabilities and increases its relevance to Goofy, and its post-transaction profile remains within the appropriate revenue scope (pro-forma revenues of the combined business for FY25 are estimated to be $6.5B)</a:t>
            </a:r>
          </a:p>
          <a:p>
            <a:r>
              <a:rPr lang="en-US" dirty="0"/>
              <a:t>Hologic’s pending acquisition will result in the company going private; ACME recommends retaining Hologic this year and monitoring for potential removal following close</a:t>
            </a:r>
          </a:p>
        </p:txBody>
      </p:sp>
      <p:sp>
        <p:nvSpPr>
          <p:cNvPr id="3" name="Footer Placeholder 2">
            <a:extLst>
              <a:ext uri="{FF2B5EF4-FFF2-40B4-BE49-F238E27FC236}">
                <a16:creationId xmlns:a16="http://schemas.microsoft.com/office/drawing/2014/main" id="{D966C2A6-5C8F-EB76-F0E5-3D1C75FBF924}"/>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4" name="Slide Number Placeholder 3">
            <a:extLst>
              <a:ext uri="{FF2B5EF4-FFF2-40B4-BE49-F238E27FC236}">
                <a16:creationId xmlns:a16="http://schemas.microsoft.com/office/drawing/2014/main" id="{15B8A49A-5B65-12F7-3E7C-04563E47F1F7}"/>
              </a:ext>
            </a:extLst>
          </p:cNvPr>
          <p:cNvSpPr>
            <a:spLocks noGrp="1"/>
          </p:cNvSpPr>
          <p:nvPr>
            <p:ph type="sldNum" sz="quarter" idx="12"/>
          </p:nvPr>
        </p:nvSpPr>
        <p:spPr/>
        <p:txBody>
          <a:bodyPr/>
          <a:lstStyle/>
          <a:p>
            <a:fld id="{91690BAF-E217-4185-92FD-0CEA06F2B7C8}" type="slidenum">
              <a:rPr lang="en-US" smtClean="0"/>
              <a:pPr/>
              <a:t>9</a:t>
            </a:fld>
            <a:endParaRPr lang="en-US"/>
          </a:p>
        </p:txBody>
      </p:sp>
      <p:sp>
        <p:nvSpPr>
          <p:cNvPr id="5" name="Title 4">
            <a:extLst>
              <a:ext uri="{FF2B5EF4-FFF2-40B4-BE49-F238E27FC236}">
                <a16:creationId xmlns:a16="http://schemas.microsoft.com/office/drawing/2014/main" id="{AD96B842-D27F-5D1A-6FAF-1A1CF261C763}"/>
              </a:ext>
            </a:extLst>
          </p:cNvPr>
          <p:cNvSpPr>
            <a:spLocks noGrp="1"/>
          </p:cNvSpPr>
          <p:nvPr>
            <p:ph type="title"/>
          </p:nvPr>
        </p:nvSpPr>
        <p:spPr/>
        <p:txBody>
          <a:bodyPr/>
          <a:lstStyle/>
          <a:p>
            <a:r>
              <a:rPr lang="en-US" sz="2400" b="1">
                <a:effectLst/>
                <a:latin typeface="Calibri" panose="020F0502020204030204" pitchFamily="34" charset="0"/>
              </a:rPr>
              <a:t>Two significant M&amp;A transactions occurred or are anticipated to close in 2026. Hologic’s planned acquisition may lead to its removal from the peer group next year, although no immediate action is needed</a:t>
            </a:r>
            <a:endParaRPr lang="en-US"/>
          </a:p>
        </p:txBody>
      </p:sp>
      <p:graphicFrame>
        <p:nvGraphicFramePr>
          <p:cNvPr id="2" name="Table 1">
            <a:extLst>
              <a:ext uri="{FF2B5EF4-FFF2-40B4-BE49-F238E27FC236}">
                <a16:creationId xmlns:a16="http://schemas.microsoft.com/office/drawing/2014/main" id="{D90C1040-00B9-71BF-293F-C4AD0E533092}"/>
              </a:ext>
            </a:extLst>
          </p:cNvPr>
          <p:cNvGraphicFramePr>
            <a:graphicFrameLocks noGrp="1"/>
          </p:cNvGraphicFramePr>
          <p:nvPr>
            <p:extLst>
              <p:ext uri="{D42A27DB-BD31-4B8C-83A1-F6EECF244321}">
                <p14:modId xmlns:p14="http://schemas.microsoft.com/office/powerpoint/2010/main" val="464663034"/>
              </p:ext>
            </p:extLst>
          </p:nvPr>
        </p:nvGraphicFramePr>
        <p:xfrm>
          <a:off x="230189" y="2878571"/>
          <a:ext cx="8683621" cy="3699256"/>
        </p:xfrm>
        <a:graphic>
          <a:graphicData uri="http://schemas.openxmlformats.org/drawingml/2006/table">
            <a:tbl>
              <a:tblPr firstRow="1" bandRow="1">
                <a:tableStyleId>{A77E1047-C769-4665-AFDC-4AF39A3502B1}</a:tableStyleId>
              </a:tblPr>
              <a:tblGrid>
                <a:gridCol w="731520">
                  <a:extLst>
                    <a:ext uri="{9D8B030D-6E8A-4147-A177-3AD203B41FA5}">
                      <a16:colId xmlns:a16="http://schemas.microsoft.com/office/drawing/2014/main" val="1960252904"/>
                    </a:ext>
                  </a:extLst>
                </a:gridCol>
                <a:gridCol w="3654421">
                  <a:extLst>
                    <a:ext uri="{9D8B030D-6E8A-4147-A177-3AD203B41FA5}">
                      <a16:colId xmlns:a16="http://schemas.microsoft.com/office/drawing/2014/main" val="3387462964"/>
                    </a:ext>
                  </a:extLst>
                </a:gridCol>
                <a:gridCol w="2926080">
                  <a:extLst>
                    <a:ext uri="{9D8B030D-6E8A-4147-A177-3AD203B41FA5}">
                      <a16:colId xmlns:a16="http://schemas.microsoft.com/office/drawing/2014/main" val="784328243"/>
                    </a:ext>
                  </a:extLst>
                </a:gridCol>
                <a:gridCol w="1371600">
                  <a:extLst>
                    <a:ext uri="{9D8B030D-6E8A-4147-A177-3AD203B41FA5}">
                      <a16:colId xmlns:a16="http://schemas.microsoft.com/office/drawing/2014/main" val="2788125412"/>
                    </a:ext>
                  </a:extLst>
                </a:gridCol>
              </a:tblGrid>
              <a:tr h="0">
                <a:tc>
                  <a:txBody>
                    <a:bodyPr/>
                    <a:lstStyle/>
                    <a:p>
                      <a:pPr algn="ctr"/>
                      <a:r>
                        <a:rPr lang="en-US" sz="1000" dirty="0">
                          <a:latin typeface="+mn-lt"/>
                        </a:rPr>
                        <a:t>Company</a:t>
                      </a:r>
                    </a:p>
                  </a:txBody>
                  <a:tcPr marL="27432" marR="27432" marT="9144" marB="9144" anchor="b"/>
                </a:tc>
                <a:tc>
                  <a:txBody>
                    <a:bodyPr/>
                    <a:lstStyle/>
                    <a:p>
                      <a:pPr algn="ctr"/>
                      <a:r>
                        <a:rPr lang="en-US" sz="1000">
                          <a:latin typeface="+mn-lt"/>
                        </a:rPr>
                        <a:t>Activity</a:t>
                      </a:r>
                    </a:p>
                  </a:txBody>
                  <a:tcPr marL="27432" marR="27432" marT="9144" marB="9144" anchor="b"/>
                </a:tc>
                <a:tc>
                  <a:txBody>
                    <a:bodyPr/>
                    <a:lstStyle/>
                    <a:p>
                      <a:pPr algn="ctr"/>
                      <a:r>
                        <a:rPr lang="en-US" sz="1000">
                          <a:latin typeface="+mn-lt"/>
                        </a:rPr>
                        <a:t>Result</a:t>
                      </a:r>
                    </a:p>
                  </a:txBody>
                  <a:tcPr marL="27432" marR="27432" marT="9144" marB="9144" anchor="b"/>
                </a:tc>
                <a:tc>
                  <a:txBody>
                    <a:bodyPr/>
                    <a:lstStyle/>
                    <a:p>
                      <a:pPr algn="ctr"/>
                      <a:r>
                        <a:rPr lang="en-US" sz="1000">
                          <a:latin typeface="+mn-lt"/>
                        </a:rPr>
                        <a:t>Recommendation</a:t>
                      </a:r>
                    </a:p>
                  </a:txBody>
                  <a:tcPr marL="27432" marR="27432" marT="9144" marB="9144" anchor="b"/>
                </a:tc>
                <a:extLst>
                  <a:ext uri="{0D108BD9-81ED-4DB2-BD59-A6C34878D82A}">
                    <a16:rowId xmlns:a16="http://schemas.microsoft.com/office/drawing/2014/main" val="2023966533"/>
                  </a:ext>
                </a:extLst>
              </a:tr>
              <a:tr h="370840">
                <a:tc>
                  <a:txBody>
                    <a:bodyPr/>
                    <a:lstStyle/>
                    <a:p>
                      <a:pPr algn="l" fontAlgn="ctr">
                        <a:buNone/>
                      </a:pPr>
                      <a:r>
                        <a:rPr lang="en-US" sz="1000" b="1" i="0" u="none" strike="noStrike">
                          <a:solidFill>
                            <a:srgbClr val="000000"/>
                          </a:solidFill>
                          <a:effectLst/>
                          <a:latin typeface="Calibri" panose="020F0502020204030204" pitchFamily="34" charset="0"/>
                        </a:rPr>
                        <a:t>Agilent</a:t>
                      </a:r>
                    </a:p>
                  </a:txBody>
                  <a:tcPr marL="27432" marR="27432" marT="9144" marB="9144" anchor="ctr">
                    <a:lnB w="6350" cap="flat" cmpd="sng" algn="ctr">
                      <a:solidFill>
                        <a:schemeClr val="bg1"/>
                      </a:solidFill>
                      <a:prstDash val="sysDot"/>
                      <a:round/>
                      <a:headEnd type="none" w="med" len="med"/>
                      <a:tailEnd type="none" w="med" len="med"/>
                    </a:lnB>
                  </a:tcPr>
                </a:tc>
                <a:tc>
                  <a:txBody>
                    <a:bodyPr/>
                    <a:lstStyle/>
                    <a:p>
                      <a:pPr marL="171450" indent="-171450" algn="l" fontAlgn="ctr">
                        <a:buFont typeface="Wingdings" panose="05000000000000000000" pitchFamily="2" charset="2"/>
                        <a:buChar char="§"/>
                      </a:pPr>
                      <a:r>
                        <a:rPr lang="en-US" sz="1000" b="0" i="0" u="none" strike="noStrike">
                          <a:solidFill>
                            <a:srgbClr val="000000"/>
                          </a:solidFill>
                          <a:effectLst/>
                          <a:latin typeface="Calibri" panose="020F0502020204030204" pitchFamily="34" charset="0"/>
                        </a:rPr>
                        <a:t>On </a:t>
                      </a:r>
                      <a:r>
                        <a:rPr lang="en-US" sz="1000" b="1" i="0" u="none" strike="noStrike">
                          <a:solidFill>
                            <a:srgbClr val="000000"/>
                          </a:solidFill>
                          <a:effectLst/>
                          <a:latin typeface="Calibri" panose="020F0502020204030204" pitchFamily="34" charset="0"/>
                        </a:rPr>
                        <a:t>March 9, 2026</a:t>
                      </a:r>
                      <a:r>
                        <a:rPr lang="en-US" sz="1000" b="0" i="0" u="none" strike="noStrike">
                          <a:solidFill>
                            <a:srgbClr val="000000"/>
                          </a:solidFill>
                          <a:effectLst/>
                          <a:latin typeface="Calibri" panose="020F0502020204030204" pitchFamily="34" charset="0"/>
                        </a:rPr>
                        <a:t>, announced intent to acquire Biocare Medical, a global leader in clinical pathology, for $950MM (expected close in Q4, 2026)</a:t>
                      </a:r>
                    </a:p>
                  </a:txBody>
                  <a:tcPr marL="27432" marR="27432" marT="9144" marB="9144" anchor="ctr">
                    <a:lnB w="6350" cap="flat" cmpd="sng" algn="ctr">
                      <a:solidFill>
                        <a:schemeClr val="bg1"/>
                      </a:solidFill>
                      <a:prstDash val="sysDot"/>
                      <a:round/>
                      <a:headEnd type="none" w="med" len="med"/>
                      <a:tailEnd type="none" w="med" len="med"/>
                    </a:lnB>
                  </a:tcPr>
                </a:tc>
                <a:tc>
                  <a:txBody>
                    <a:bodyPr/>
                    <a:lstStyle/>
                    <a:p>
                      <a:pPr marL="171450" indent="-171450" algn="l" fontAlgn="ctr">
                        <a:buFont typeface="Wingdings" panose="05000000000000000000" pitchFamily="2" charset="2"/>
                        <a:buChar char="§"/>
                      </a:pPr>
                      <a:r>
                        <a:rPr lang="en-US" sz="1000" b="0" i="0" u="none" strike="noStrike">
                          <a:solidFill>
                            <a:srgbClr val="000000"/>
                          </a:solidFill>
                          <a:effectLst/>
                          <a:latin typeface="Calibri" panose="020F0502020204030204" pitchFamily="34" charset="0"/>
                        </a:rPr>
                        <a:t>Expands Agilent's pathology portfolio</a:t>
                      </a:r>
                    </a:p>
                  </a:txBody>
                  <a:tcPr marL="27432" marR="27432" marT="9144" marB="9144" anchor="ctr">
                    <a:lnB w="6350" cap="flat" cmpd="sng" algn="ctr">
                      <a:solidFill>
                        <a:schemeClr val="bg1"/>
                      </a:solidFill>
                      <a:prstDash val="sysDot"/>
                      <a:round/>
                      <a:headEnd type="none" w="med" len="med"/>
                      <a:tailEnd type="none" w="med" len="med"/>
                    </a:lnB>
                  </a:tcPr>
                </a:tc>
                <a:tc>
                  <a:txBody>
                    <a:bodyPr/>
                    <a:lstStyle/>
                    <a:p>
                      <a:pPr marL="0" indent="0">
                        <a:buFont typeface="Wingdings" panose="05000000000000000000" pitchFamily="2" charset="2"/>
                        <a:buNone/>
                      </a:pPr>
                      <a:r>
                        <a:rPr lang="en-US" sz="1000" b="1">
                          <a:latin typeface="+mn-lt"/>
                        </a:rPr>
                        <a:t>Maintain</a:t>
                      </a:r>
                    </a:p>
                  </a:txBody>
                  <a:tcPr marL="27432" marR="27432" marT="9144" marB="9144" anchor="ctr">
                    <a:lnB w="6350" cap="flat" cmpd="sng" algn="ctr">
                      <a:solidFill>
                        <a:schemeClr val="bg1"/>
                      </a:solidFill>
                      <a:prstDash val="sysDot"/>
                      <a:round/>
                      <a:headEnd type="none" w="med" len="med"/>
                      <a:tailEnd type="none" w="med" len="med"/>
                    </a:lnB>
                  </a:tcPr>
                </a:tc>
                <a:extLst>
                  <a:ext uri="{0D108BD9-81ED-4DB2-BD59-A6C34878D82A}">
                    <a16:rowId xmlns:a16="http://schemas.microsoft.com/office/drawing/2014/main" val="3293259415"/>
                  </a:ext>
                </a:extLst>
              </a:tr>
              <a:tr h="370840">
                <a:tc>
                  <a:txBody>
                    <a:bodyPr/>
                    <a:lstStyle/>
                    <a:p>
                      <a:pPr algn="l" fontAlgn="ctr">
                        <a:buNone/>
                      </a:pPr>
                      <a:r>
                        <a:rPr lang="en-US" sz="1000" b="1" i="0" u="none" strike="noStrike" dirty="0">
                          <a:solidFill>
                            <a:srgbClr val="000000"/>
                          </a:solidFill>
                          <a:effectLst/>
                          <a:latin typeface="Calibri" panose="020F0502020204030204" pitchFamily="34" charset="0"/>
                        </a:rPr>
                        <a:t>Bio-Rad</a:t>
                      </a:r>
                    </a:p>
                  </a:txBody>
                  <a:tcPr marL="27432" marR="27432" marT="9144" marB="9144" anchor="ctr">
                    <a:lnT w="6350" cap="flat" cmpd="sng" algn="ctr">
                      <a:solidFill>
                        <a:schemeClr val="bg1"/>
                      </a:solidFill>
                      <a:prstDash val="sysDot"/>
                      <a:round/>
                      <a:headEnd type="none" w="med" len="med"/>
                      <a:tailEnd type="none" w="med" len="med"/>
                    </a:lnT>
                    <a:lnB w="6350" cap="flat" cmpd="sng" algn="ctr">
                      <a:solidFill>
                        <a:schemeClr val="bg1"/>
                      </a:solidFill>
                      <a:prstDash val="sysDot"/>
                      <a:round/>
                      <a:headEnd type="none" w="med" len="med"/>
                      <a:tailEnd type="none" w="med" len="med"/>
                    </a:lnB>
                  </a:tcPr>
                </a:tc>
                <a:tc>
                  <a:txBody>
                    <a:bodyPr/>
                    <a:lstStyle/>
                    <a:p>
                      <a:pPr marL="171450" indent="-171450" algn="l" fontAlgn="ctr">
                        <a:buFont typeface="Wingdings" panose="05000000000000000000" pitchFamily="2" charset="2"/>
                        <a:buChar char="§"/>
                      </a:pPr>
                      <a:r>
                        <a:rPr lang="en-US" sz="1000" b="0" i="0" u="none" strike="noStrike">
                          <a:solidFill>
                            <a:srgbClr val="000000"/>
                          </a:solidFill>
                          <a:effectLst/>
                          <a:latin typeface="Calibri" panose="020F0502020204030204" pitchFamily="34" charset="0"/>
                        </a:rPr>
                        <a:t>On </a:t>
                      </a:r>
                      <a:r>
                        <a:rPr lang="en-US" sz="1000" b="1" i="0" u="none" strike="noStrike">
                          <a:solidFill>
                            <a:srgbClr val="000000"/>
                          </a:solidFill>
                          <a:effectLst/>
                          <a:latin typeface="Calibri" panose="020F0502020204030204" pitchFamily="34" charset="0"/>
                        </a:rPr>
                        <a:t>June 30, 2025</a:t>
                      </a:r>
                      <a:r>
                        <a:rPr lang="en-US" sz="1000" b="0" i="0" u="none" strike="noStrike">
                          <a:solidFill>
                            <a:srgbClr val="000000"/>
                          </a:solidFill>
                          <a:effectLst/>
                          <a:latin typeface="Calibri" panose="020F0502020204030204" pitchFamily="34" charset="0"/>
                        </a:rPr>
                        <a:t>, completed acquisition of Stilla Technologies, a digital PCR developer, for $280MM</a:t>
                      </a:r>
                    </a:p>
                  </a:txBody>
                  <a:tcPr marL="27432" marR="27432" marT="9144" marB="9144" anchor="ctr">
                    <a:lnT w="6350" cap="flat" cmpd="sng" algn="ctr">
                      <a:solidFill>
                        <a:schemeClr val="bg1"/>
                      </a:solidFill>
                      <a:prstDash val="sysDot"/>
                      <a:round/>
                      <a:headEnd type="none" w="med" len="med"/>
                      <a:tailEnd type="none" w="med" len="med"/>
                    </a:lnT>
                    <a:lnB w="6350" cap="flat" cmpd="sng" algn="ctr">
                      <a:solidFill>
                        <a:schemeClr val="bg1"/>
                      </a:solidFill>
                      <a:prstDash val="sysDot"/>
                      <a:round/>
                      <a:headEnd type="none" w="med" len="med"/>
                      <a:tailEnd type="none" w="med" len="med"/>
                    </a:lnB>
                  </a:tcPr>
                </a:tc>
                <a:tc>
                  <a:txBody>
                    <a:bodyPr/>
                    <a:lstStyle/>
                    <a:p>
                      <a:pPr marL="171450" indent="-171450" algn="l" fontAlgn="ctr">
                        <a:buFont typeface="Wingdings" panose="05000000000000000000" pitchFamily="2" charset="2"/>
                        <a:buChar char="§"/>
                      </a:pPr>
                      <a:r>
                        <a:rPr lang="en-US" sz="1000" b="0" i="0" u="none" strike="noStrike">
                          <a:solidFill>
                            <a:srgbClr val="000000"/>
                          </a:solidFill>
                          <a:effectLst/>
                          <a:latin typeface="Calibri" panose="020F0502020204030204" pitchFamily="34" charset="0"/>
                        </a:rPr>
                        <a:t>Expands Bio-Rad's digital PCR product portfolio</a:t>
                      </a:r>
                    </a:p>
                  </a:txBody>
                  <a:tcPr marL="27432" marR="27432" marT="9144" marB="9144" anchor="ctr">
                    <a:lnT w="6350" cap="flat" cmpd="sng" algn="ctr">
                      <a:solidFill>
                        <a:schemeClr val="bg1"/>
                      </a:solidFill>
                      <a:prstDash val="sysDot"/>
                      <a:round/>
                      <a:headEnd type="none" w="med" len="med"/>
                      <a:tailEnd type="none" w="med" len="med"/>
                    </a:lnT>
                    <a:lnB w="6350" cap="flat" cmpd="sng" algn="ctr">
                      <a:solidFill>
                        <a:schemeClr val="bg1"/>
                      </a:solidFill>
                      <a:prstDash val="sysDot"/>
                      <a:round/>
                      <a:headEnd type="none" w="med" len="med"/>
                      <a:tailEnd type="none" w="med" len="med"/>
                    </a:lnB>
                  </a:tcPr>
                </a:tc>
                <a:tc>
                  <a:txBody>
                    <a:bodyPr/>
                    <a:lstStyle/>
                    <a:p>
                      <a:pPr marL="0" indent="0">
                        <a:buFont typeface="Wingdings" panose="05000000000000000000" pitchFamily="2" charset="2"/>
                        <a:buNone/>
                      </a:pPr>
                      <a:r>
                        <a:rPr lang="en-US" sz="1000" b="1">
                          <a:latin typeface="+mn-lt"/>
                        </a:rPr>
                        <a:t>Maintain</a:t>
                      </a:r>
                    </a:p>
                  </a:txBody>
                  <a:tcPr marL="27432" marR="27432" marT="9144" marB="9144" anchor="ctr">
                    <a:lnT w="6350" cap="flat" cmpd="sng" algn="ctr">
                      <a:solidFill>
                        <a:schemeClr val="bg1"/>
                      </a:solidFill>
                      <a:prstDash val="sysDot"/>
                      <a:round/>
                      <a:headEnd type="none" w="med" len="med"/>
                      <a:tailEnd type="none" w="med" len="med"/>
                    </a:lnT>
                    <a:lnB w="6350" cap="flat" cmpd="sng" algn="ctr">
                      <a:solidFill>
                        <a:schemeClr val="bg1"/>
                      </a:solidFill>
                      <a:prstDash val="sysDot"/>
                      <a:round/>
                      <a:headEnd type="none" w="med" len="med"/>
                      <a:tailEnd type="none" w="med" len="med"/>
                    </a:lnB>
                  </a:tcPr>
                </a:tc>
                <a:extLst>
                  <a:ext uri="{0D108BD9-81ED-4DB2-BD59-A6C34878D82A}">
                    <a16:rowId xmlns:a16="http://schemas.microsoft.com/office/drawing/2014/main" val="649232826"/>
                  </a:ext>
                </a:extLst>
              </a:tr>
              <a:tr h="370840">
                <a:tc>
                  <a:txBody>
                    <a:bodyPr/>
                    <a:lstStyle/>
                    <a:p>
                      <a:pPr algn="l" fontAlgn="ctr">
                        <a:buNone/>
                      </a:pPr>
                      <a:r>
                        <a:rPr lang="en-US" sz="1000" b="1" i="0" u="none" strike="noStrike" dirty="0">
                          <a:solidFill>
                            <a:srgbClr val="000000"/>
                          </a:solidFill>
                          <a:effectLst/>
                          <a:latin typeface="Calibri" panose="020F0502020204030204" pitchFamily="34" charset="0"/>
                        </a:rPr>
                        <a:t>Edwards Lifesciences</a:t>
                      </a:r>
                    </a:p>
                  </a:txBody>
                  <a:tcPr marL="27432" marR="27432" marT="9144" marB="9144" anchor="ctr">
                    <a:lnT w="6350" cap="flat" cmpd="sng" algn="ctr">
                      <a:solidFill>
                        <a:schemeClr val="bg1"/>
                      </a:solidFill>
                      <a:prstDash val="sysDot"/>
                      <a:round/>
                      <a:headEnd type="none" w="med" len="med"/>
                      <a:tailEnd type="none" w="med" len="med"/>
                    </a:lnT>
                    <a:lnB w="6350" cap="flat" cmpd="sng" algn="ctr">
                      <a:solidFill>
                        <a:schemeClr val="bg1"/>
                      </a:solidFill>
                      <a:prstDash val="sysDot"/>
                      <a:round/>
                      <a:headEnd type="none" w="med" len="med"/>
                      <a:tailEnd type="none" w="med" len="med"/>
                    </a:lnB>
                  </a:tcPr>
                </a:tc>
                <a:tc>
                  <a:txBody>
                    <a:bodyPr/>
                    <a:lstStyle/>
                    <a:p>
                      <a:pPr marL="171450" indent="-171450" algn="l" fontAlgn="ctr">
                        <a:buFont typeface="Wingdings" panose="05000000000000000000" pitchFamily="2" charset="2"/>
                        <a:buChar char="§"/>
                      </a:pPr>
                      <a:r>
                        <a:rPr lang="en-US" sz="1000" b="0" i="0" u="none" strike="noStrike">
                          <a:solidFill>
                            <a:srgbClr val="000000"/>
                          </a:solidFill>
                          <a:effectLst/>
                          <a:latin typeface="Calibri" panose="020F0502020204030204" pitchFamily="34" charset="0"/>
                        </a:rPr>
                        <a:t>On </a:t>
                      </a:r>
                      <a:r>
                        <a:rPr lang="en-US" sz="1000" b="1" i="0" u="none" strike="noStrike">
                          <a:solidFill>
                            <a:srgbClr val="000000"/>
                          </a:solidFill>
                          <a:effectLst/>
                          <a:latin typeface="Calibri" panose="020F0502020204030204" pitchFamily="34" charset="0"/>
                        </a:rPr>
                        <a:t>September 4, 2025, </a:t>
                      </a:r>
                      <a:r>
                        <a:rPr lang="en-US" sz="1000" b="0" i="0" u="none" strike="noStrike">
                          <a:solidFill>
                            <a:srgbClr val="000000"/>
                          </a:solidFill>
                          <a:effectLst/>
                          <a:latin typeface="Calibri" panose="020F0502020204030204" pitchFamily="34" charset="0"/>
                        </a:rPr>
                        <a:t>completed acquisition of the remaining 48% stake in Vectorious Medical Technologies, an Israeli developer of heart disease technologies, for $497MM</a:t>
                      </a:r>
                    </a:p>
                  </a:txBody>
                  <a:tcPr marL="27432" marR="27432" marT="9144" marB="9144" anchor="ctr">
                    <a:lnT w="6350" cap="flat" cmpd="sng" algn="ctr">
                      <a:solidFill>
                        <a:schemeClr val="bg1"/>
                      </a:solidFill>
                      <a:prstDash val="sysDot"/>
                      <a:round/>
                      <a:headEnd type="none" w="med" len="med"/>
                      <a:tailEnd type="none" w="med" len="med"/>
                    </a:lnT>
                    <a:lnB w="6350" cap="flat" cmpd="sng" algn="ctr">
                      <a:solidFill>
                        <a:schemeClr val="bg1"/>
                      </a:solidFill>
                      <a:prstDash val="sysDot"/>
                      <a:round/>
                      <a:headEnd type="none" w="med" len="med"/>
                      <a:tailEnd type="none" w="med" len="med"/>
                    </a:lnB>
                  </a:tcPr>
                </a:tc>
                <a:tc>
                  <a:txBody>
                    <a:bodyPr/>
                    <a:lstStyle/>
                    <a:p>
                      <a:pPr marL="171450" indent="-171450" algn="l" fontAlgn="ctr">
                        <a:buFont typeface="Wingdings" panose="05000000000000000000" pitchFamily="2" charset="2"/>
                        <a:buChar char="§"/>
                      </a:pPr>
                      <a:r>
                        <a:rPr lang="en-US" sz="1000" b="0" i="0" u="none" strike="noStrike">
                          <a:solidFill>
                            <a:srgbClr val="000000"/>
                          </a:solidFill>
                          <a:effectLst/>
                          <a:latin typeface="Calibri" panose="020F0502020204030204" pitchFamily="34" charset="0"/>
                        </a:rPr>
                        <a:t>Expands Edwards' heart device portfolio and capabilities in chronic disease management</a:t>
                      </a:r>
                    </a:p>
                  </a:txBody>
                  <a:tcPr marL="27432" marR="27432" marT="9144" marB="9144" anchor="ctr">
                    <a:lnT w="6350" cap="flat" cmpd="sng" algn="ctr">
                      <a:solidFill>
                        <a:schemeClr val="bg1"/>
                      </a:solidFill>
                      <a:prstDash val="sysDot"/>
                      <a:round/>
                      <a:headEnd type="none" w="med" len="med"/>
                      <a:tailEnd type="none" w="med" len="med"/>
                    </a:lnT>
                    <a:lnB w="6350" cap="flat" cmpd="sng" algn="ctr">
                      <a:solidFill>
                        <a:schemeClr val="bg1"/>
                      </a:solidFill>
                      <a:prstDash val="sysDot"/>
                      <a:round/>
                      <a:headEnd type="none" w="med" len="med"/>
                      <a:tailEnd type="none" w="med" len="med"/>
                    </a:lnB>
                  </a:tcPr>
                </a:tc>
                <a:tc>
                  <a:txBody>
                    <a:bodyPr/>
                    <a:lstStyle/>
                    <a:p>
                      <a:pPr marL="0" indent="0">
                        <a:buFont typeface="Wingdings" panose="05000000000000000000" pitchFamily="2" charset="2"/>
                        <a:buNone/>
                      </a:pPr>
                      <a:r>
                        <a:rPr lang="en-US" sz="1000" b="1">
                          <a:latin typeface="+mn-lt"/>
                        </a:rPr>
                        <a:t>Maintain</a:t>
                      </a:r>
                    </a:p>
                  </a:txBody>
                  <a:tcPr marL="27432" marR="27432" marT="9144" marB="9144" anchor="ctr">
                    <a:lnT w="6350" cap="flat" cmpd="sng" algn="ctr">
                      <a:solidFill>
                        <a:schemeClr val="bg1"/>
                      </a:solidFill>
                      <a:prstDash val="sysDot"/>
                      <a:round/>
                      <a:headEnd type="none" w="med" len="med"/>
                      <a:tailEnd type="none" w="med" len="med"/>
                    </a:lnT>
                    <a:lnB w="6350" cap="flat" cmpd="sng" algn="ctr">
                      <a:solidFill>
                        <a:schemeClr val="bg1"/>
                      </a:solidFill>
                      <a:prstDash val="sysDot"/>
                      <a:round/>
                      <a:headEnd type="none" w="med" len="med"/>
                      <a:tailEnd type="none" w="med" len="med"/>
                    </a:lnB>
                  </a:tcPr>
                </a:tc>
                <a:extLst>
                  <a:ext uri="{0D108BD9-81ED-4DB2-BD59-A6C34878D82A}">
                    <a16:rowId xmlns:a16="http://schemas.microsoft.com/office/drawing/2014/main" val="3829538888"/>
                  </a:ext>
                </a:extLst>
              </a:tr>
              <a:tr h="370840">
                <a:tc>
                  <a:txBody>
                    <a:bodyPr/>
                    <a:lstStyle/>
                    <a:p>
                      <a:pPr algn="l" fontAlgn="ctr">
                        <a:buNone/>
                      </a:pPr>
                      <a:r>
                        <a:rPr lang="en-US" sz="1000" b="1" i="0" u="none" strike="noStrike" dirty="0">
                          <a:solidFill>
                            <a:srgbClr val="000000"/>
                          </a:solidFill>
                          <a:effectLst/>
                          <a:latin typeface="Calibri" panose="020F0502020204030204" pitchFamily="34" charset="0"/>
                        </a:rPr>
                        <a:t>Hologic</a:t>
                      </a:r>
                    </a:p>
                  </a:txBody>
                  <a:tcPr marL="27432" marR="27432" marT="9144" marB="9144" anchor="ctr">
                    <a:lnT w="6350" cap="flat" cmpd="sng" algn="ctr">
                      <a:solidFill>
                        <a:schemeClr val="bg1"/>
                      </a:solidFill>
                      <a:prstDash val="sysDot"/>
                      <a:round/>
                      <a:headEnd type="none" w="med" len="med"/>
                      <a:tailEnd type="none" w="med" len="med"/>
                    </a:lnT>
                    <a:lnB w="6350" cap="flat" cmpd="sng" algn="ctr">
                      <a:solidFill>
                        <a:schemeClr val="bg1"/>
                      </a:solidFill>
                      <a:prstDash val="sysDot"/>
                      <a:round/>
                      <a:headEnd type="none" w="med" len="med"/>
                      <a:tailEnd type="none" w="med" len="med"/>
                    </a:lnB>
                    <a:solidFill>
                      <a:schemeClr val="accent3">
                        <a:lumMod val="40000"/>
                        <a:lumOff val="60000"/>
                      </a:schemeClr>
                    </a:solidFill>
                  </a:tcPr>
                </a:tc>
                <a:tc>
                  <a:txBody>
                    <a:bodyPr/>
                    <a:lstStyle/>
                    <a:p>
                      <a:pPr marL="171450" indent="-171450" algn="l" fontAlgn="ctr">
                        <a:buFont typeface="Wingdings" panose="05000000000000000000" pitchFamily="2" charset="2"/>
                        <a:buChar char="§"/>
                      </a:pPr>
                      <a:r>
                        <a:rPr lang="en-US" sz="1000" b="0" i="0" u="none" strike="noStrike" dirty="0">
                          <a:solidFill>
                            <a:srgbClr val="000000"/>
                          </a:solidFill>
                          <a:effectLst/>
                          <a:latin typeface="Calibri" panose="020F0502020204030204" pitchFamily="34" charset="0"/>
                        </a:rPr>
                        <a:t>On </a:t>
                      </a:r>
                      <a:r>
                        <a:rPr lang="en-US" sz="1000" b="1" i="0" u="none" strike="noStrike" dirty="0">
                          <a:solidFill>
                            <a:srgbClr val="000000"/>
                          </a:solidFill>
                          <a:effectLst/>
                          <a:latin typeface="Calibri" panose="020F0502020204030204" pitchFamily="34" charset="0"/>
                        </a:rPr>
                        <a:t>October 21, 2025</a:t>
                      </a:r>
                      <a:r>
                        <a:rPr lang="en-US" sz="1000" b="0" i="0" u="none" strike="noStrike" dirty="0">
                          <a:solidFill>
                            <a:srgbClr val="000000"/>
                          </a:solidFill>
                          <a:effectLst/>
                          <a:latin typeface="Calibri" panose="020F0502020204030204" pitchFamily="34" charset="0"/>
                        </a:rPr>
                        <a:t>, entered into agreement to be acquired by Blackstone and TPG Global for $18.4B (expected close in first half of 2026)</a:t>
                      </a:r>
                    </a:p>
                  </a:txBody>
                  <a:tcPr marL="27432" marR="27432" marT="9144" marB="9144" anchor="ctr">
                    <a:lnT w="6350" cap="flat" cmpd="sng" algn="ctr">
                      <a:solidFill>
                        <a:schemeClr val="bg1"/>
                      </a:solidFill>
                      <a:prstDash val="sysDot"/>
                      <a:round/>
                      <a:headEnd type="none" w="med" len="med"/>
                      <a:tailEnd type="none" w="med" len="med"/>
                    </a:lnT>
                    <a:lnB w="6350" cap="flat" cmpd="sng" algn="ctr">
                      <a:solidFill>
                        <a:schemeClr val="bg1"/>
                      </a:solidFill>
                      <a:prstDash val="sysDot"/>
                      <a:round/>
                      <a:headEnd type="none" w="med" len="med"/>
                      <a:tailEnd type="none" w="med" len="med"/>
                    </a:lnB>
                    <a:solidFill>
                      <a:schemeClr val="accent3">
                        <a:lumMod val="40000"/>
                        <a:lumOff val="60000"/>
                      </a:schemeClr>
                    </a:solidFill>
                  </a:tcPr>
                </a:tc>
                <a:tc>
                  <a:txBody>
                    <a:bodyPr/>
                    <a:lstStyle/>
                    <a:p>
                      <a:pPr marL="171450" indent="-171450" algn="l" fontAlgn="ctr">
                        <a:buFont typeface="Wingdings" panose="05000000000000000000" pitchFamily="2" charset="2"/>
                        <a:buChar char="§"/>
                      </a:pPr>
                      <a:r>
                        <a:rPr lang="en-US" sz="1000" b="0" i="0" u="none" strike="noStrike">
                          <a:solidFill>
                            <a:srgbClr val="000000"/>
                          </a:solidFill>
                          <a:effectLst/>
                          <a:latin typeface="Calibri" panose="020F0502020204030204" pitchFamily="34" charset="0"/>
                        </a:rPr>
                        <a:t>Upon completion of the transaction, Hologic will be delisted from the Nasdaq stock market</a:t>
                      </a:r>
                    </a:p>
                  </a:txBody>
                  <a:tcPr marL="27432" marR="27432" marT="9144" marB="9144" anchor="ctr">
                    <a:lnT w="6350" cap="flat" cmpd="sng" algn="ctr">
                      <a:solidFill>
                        <a:schemeClr val="bg1"/>
                      </a:solidFill>
                      <a:prstDash val="sysDot"/>
                      <a:round/>
                      <a:headEnd type="none" w="med" len="med"/>
                      <a:tailEnd type="none" w="med" len="med"/>
                    </a:lnT>
                    <a:lnB w="6350" cap="flat" cmpd="sng" algn="ctr">
                      <a:solidFill>
                        <a:schemeClr val="bg1"/>
                      </a:solidFill>
                      <a:prstDash val="sysDot"/>
                      <a:round/>
                      <a:headEnd type="none" w="med" len="med"/>
                      <a:tailEnd type="none" w="med" len="med"/>
                    </a:lnB>
                    <a:solidFill>
                      <a:schemeClr val="accent3">
                        <a:lumMod val="40000"/>
                        <a:lumOff val="60000"/>
                      </a:schemeClr>
                    </a:solidFill>
                  </a:tcPr>
                </a:tc>
                <a:tc>
                  <a:txBody>
                    <a:bodyPr/>
                    <a:lstStyle/>
                    <a:p>
                      <a:pPr marL="0" indent="0">
                        <a:buFont typeface="Wingdings" panose="05000000000000000000" pitchFamily="2" charset="2"/>
                        <a:buNone/>
                      </a:pPr>
                      <a:r>
                        <a:rPr lang="en-US" sz="1000" b="1">
                          <a:solidFill>
                            <a:sysClr val="windowText" lastClr="000000"/>
                          </a:solidFill>
                          <a:latin typeface="+mn-lt"/>
                        </a:rPr>
                        <a:t>Maintain this Year</a:t>
                      </a:r>
                    </a:p>
                    <a:p>
                      <a:pPr marL="0" indent="0">
                        <a:buFont typeface="Wingdings" panose="05000000000000000000" pitchFamily="2" charset="2"/>
                        <a:buNone/>
                      </a:pPr>
                      <a:r>
                        <a:rPr lang="en-US" sz="1000" b="1">
                          <a:solidFill>
                            <a:sysClr val="windowText" lastClr="000000"/>
                          </a:solidFill>
                          <a:latin typeface="+mn-lt"/>
                        </a:rPr>
                        <a:t>Remove Next Year as no Longer Publicly Traded</a:t>
                      </a:r>
                    </a:p>
                  </a:txBody>
                  <a:tcPr marL="27432" marR="27432" marT="9144" marB="9144" anchor="ctr">
                    <a:lnT w="6350" cap="flat" cmpd="sng" algn="ctr">
                      <a:solidFill>
                        <a:schemeClr val="bg1"/>
                      </a:solidFill>
                      <a:prstDash val="sysDot"/>
                      <a:round/>
                      <a:headEnd type="none" w="med" len="med"/>
                      <a:tailEnd type="none" w="med" len="med"/>
                    </a:lnT>
                    <a:lnB w="6350" cap="flat" cmpd="sng" algn="ctr">
                      <a:solidFill>
                        <a:schemeClr val="bg1"/>
                      </a:solidFill>
                      <a:prstDash val="sysDot"/>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3494282232"/>
                  </a:ext>
                </a:extLst>
              </a:tr>
              <a:tr h="370840">
                <a:tc>
                  <a:txBody>
                    <a:bodyPr/>
                    <a:lstStyle/>
                    <a:p>
                      <a:pPr algn="l" fontAlgn="ctr">
                        <a:buNone/>
                      </a:pPr>
                      <a:r>
                        <a:rPr lang="en-US" sz="1000" b="1" i="0" u="none" strike="noStrike" dirty="0">
                          <a:solidFill>
                            <a:srgbClr val="000000"/>
                          </a:solidFill>
                          <a:effectLst/>
                          <a:latin typeface="Calibri" panose="020F0502020204030204" pitchFamily="34" charset="0"/>
                        </a:rPr>
                        <a:t>Illumina</a:t>
                      </a:r>
                    </a:p>
                  </a:txBody>
                  <a:tcPr marL="27432" marR="27432" marT="9144" marB="9144" anchor="ctr">
                    <a:lnT w="6350" cap="flat" cmpd="sng" algn="ctr">
                      <a:solidFill>
                        <a:schemeClr val="bg1"/>
                      </a:solidFill>
                      <a:prstDash val="sysDot"/>
                      <a:round/>
                      <a:headEnd type="none" w="med" len="med"/>
                      <a:tailEnd type="none" w="med" len="med"/>
                    </a:lnT>
                    <a:lnB w="6350" cap="flat" cmpd="sng" algn="ctr">
                      <a:solidFill>
                        <a:schemeClr val="bg1"/>
                      </a:solidFill>
                      <a:prstDash val="sysDot"/>
                      <a:round/>
                      <a:headEnd type="none" w="med" len="med"/>
                      <a:tailEnd type="none" w="med" len="med"/>
                    </a:lnB>
                  </a:tcPr>
                </a:tc>
                <a:tc>
                  <a:txBody>
                    <a:bodyPr/>
                    <a:lstStyle/>
                    <a:p>
                      <a:pPr marL="171450" indent="-171450" algn="l" fontAlgn="ctr">
                        <a:buFont typeface="Wingdings" panose="05000000000000000000" pitchFamily="2" charset="2"/>
                        <a:buChar char="§"/>
                      </a:pPr>
                      <a:r>
                        <a:rPr lang="en-US" sz="1000" b="0" i="0" u="none" strike="noStrike">
                          <a:solidFill>
                            <a:srgbClr val="000000"/>
                          </a:solidFill>
                          <a:effectLst/>
                          <a:latin typeface="Calibri" panose="020F0502020204030204" pitchFamily="34" charset="0"/>
                        </a:rPr>
                        <a:t>On </a:t>
                      </a:r>
                      <a:r>
                        <a:rPr lang="en-US" sz="1000" b="1" i="0" u="none" strike="noStrike">
                          <a:solidFill>
                            <a:srgbClr val="000000"/>
                          </a:solidFill>
                          <a:effectLst/>
                          <a:latin typeface="Calibri" panose="020F0502020204030204" pitchFamily="34" charset="0"/>
                        </a:rPr>
                        <a:t>January 30, 2026, </a:t>
                      </a:r>
                      <a:r>
                        <a:rPr lang="en-US" sz="1000" b="0" i="0" u="none" strike="noStrike">
                          <a:solidFill>
                            <a:srgbClr val="000000"/>
                          </a:solidFill>
                          <a:effectLst/>
                          <a:latin typeface="Calibri" panose="020F0502020204030204" pitchFamily="34" charset="0"/>
                        </a:rPr>
                        <a:t>completed acquisition of SomaLogic, Inc., Sengenics Corporation LLC, and Sengenics Corporation Pte Ltd, specialists in protein-reading technologies, for $425MM</a:t>
                      </a:r>
                    </a:p>
                  </a:txBody>
                  <a:tcPr marL="27432" marR="27432" marT="9144" marB="9144" anchor="ctr">
                    <a:lnT w="6350" cap="flat" cmpd="sng" algn="ctr">
                      <a:solidFill>
                        <a:schemeClr val="bg1"/>
                      </a:solidFill>
                      <a:prstDash val="sysDot"/>
                      <a:round/>
                      <a:headEnd type="none" w="med" len="med"/>
                      <a:tailEnd type="none" w="med" len="med"/>
                    </a:lnT>
                    <a:lnB w="6350" cap="flat" cmpd="sng" algn="ctr">
                      <a:solidFill>
                        <a:schemeClr val="bg1"/>
                      </a:solidFill>
                      <a:prstDash val="sysDot"/>
                      <a:round/>
                      <a:headEnd type="none" w="med" len="med"/>
                      <a:tailEnd type="none" w="med" len="med"/>
                    </a:lnB>
                  </a:tcPr>
                </a:tc>
                <a:tc>
                  <a:txBody>
                    <a:bodyPr/>
                    <a:lstStyle/>
                    <a:p>
                      <a:pPr marL="171450" indent="-171450" algn="l" fontAlgn="ctr">
                        <a:buFont typeface="Wingdings" panose="05000000000000000000" pitchFamily="2" charset="2"/>
                        <a:buChar char="§"/>
                      </a:pPr>
                      <a:r>
                        <a:rPr lang="en-US" sz="1000" b="0" i="0" u="none" strike="noStrike">
                          <a:solidFill>
                            <a:srgbClr val="000000"/>
                          </a:solidFill>
                          <a:effectLst/>
                          <a:latin typeface="Calibri" panose="020F0502020204030204" pitchFamily="34" charset="0"/>
                        </a:rPr>
                        <a:t>Expands Illumina’s portfolio to include protein-reading capabilities</a:t>
                      </a:r>
                    </a:p>
                  </a:txBody>
                  <a:tcPr marL="27432" marR="27432" marT="9144" marB="9144" anchor="ctr">
                    <a:lnT w="6350" cap="flat" cmpd="sng" algn="ctr">
                      <a:solidFill>
                        <a:schemeClr val="bg1"/>
                      </a:solidFill>
                      <a:prstDash val="sysDot"/>
                      <a:round/>
                      <a:headEnd type="none" w="med" len="med"/>
                      <a:tailEnd type="none" w="med" len="med"/>
                    </a:lnT>
                    <a:lnB w="6350" cap="flat" cmpd="sng" algn="ctr">
                      <a:solidFill>
                        <a:schemeClr val="bg1"/>
                      </a:solidFill>
                      <a:prstDash val="sysDot"/>
                      <a:round/>
                      <a:headEnd type="none" w="med" len="med"/>
                      <a:tailEnd type="none" w="med" len="med"/>
                    </a:lnB>
                  </a:tcPr>
                </a:tc>
                <a:tc>
                  <a:txBody>
                    <a:bodyPr/>
                    <a:lstStyle/>
                    <a:p>
                      <a:pPr marL="0" indent="0">
                        <a:buFont typeface="Wingdings" panose="05000000000000000000" pitchFamily="2" charset="2"/>
                        <a:buNone/>
                      </a:pPr>
                      <a:r>
                        <a:rPr lang="en-US" sz="1000" b="1">
                          <a:latin typeface="+mn-lt"/>
                        </a:rPr>
                        <a:t>Maintain</a:t>
                      </a:r>
                    </a:p>
                  </a:txBody>
                  <a:tcPr marL="27432" marR="27432" marT="9144" marB="9144" anchor="ctr">
                    <a:lnT w="6350" cap="flat" cmpd="sng" algn="ctr">
                      <a:solidFill>
                        <a:schemeClr val="bg1"/>
                      </a:solidFill>
                      <a:prstDash val="sysDot"/>
                      <a:round/>
                      <a:headEnd type="none" w="med" len="med"/>
                      <a:tailEnd type="none" w="med" len="med"/>
                    </a:lnT>
                    <a:lnB w="6350" cap="flat" cmpd="sng" algn="ctr">
                      <a:solidFill>
                        <a:schemeClr val="bg1"/>
                      </a:solidFill>
                      <a:prstDash val="sysDot"/>
                      <a:round/>
                      <a:headEnd type="none" w="med" len="med"/>
                      <a:tailEnd type="none" w="med" len="med"/>
                    </a:lnB>
                  </a:tcPr>
                </a:tc>
                <a:extLst>
                  <a:ext uri="{0D108BD9-81ED-4DB2-BD59-A6C34878D82A}">
                    <a16:rowId xmlns:a16="http://schemas.microsoft.com/office/drawing/2014/main" val="2920260139"/>
                  </a:ext>
                </a:extLst>
              </a:tr>
              <a:tr h="370840">
                <a:tc>
                  <a:txBody>
                    <a:bodyPr/>
                    <a:lstStyle/>
                    <a:p>
                      <a:pPr algn="l" fontAlgn="ctr">
                        <a:buNone/>
                      </a:pPr>
                      <a:r>
                        <a:rPr lang="en-US" sz="1000" b="1" i="0" u="none" strike="noStrike">
                          <a:solidFill>
                            <a:srgbClr val="000000"/>
                          </a:solidFill>
                          <a:effectLst/>
                          <a:latin typeface="Calibri" panose="020F0502020204030204" pitchFamily="34" charset="0"/>
                        </a:rPr>
                        <a:t>Waters</a:t>
                      </a:r>
                    </a:p>
                  </a:txBody>
                  <a:tcPr marL="27432" marR="27432" marT="9144" marB="9144" anchor="ctr">
                    <a:lnT w="6350" cap="flat" cmpd="sng" algn="ctr">
                      <a:solidFill>
                        <a:schemeClr val="bg1"/>
                      </a:solidFill>
                      <a:prstDash val="sysDot"/>
                      <a:round/>
                      <a:headEnd type="none" w="med" len="med"/>
                      <a:tailEnd type="none" w="med" len="med"/>
                    </a:lnT>
                    <a:lnB w="6350" cap="flat" cmpd="sng" algn="ctr">
                      <a:solidFill>
                        <a:schemeClr val="bg1"/>
                      </a:solidFill>
                      <a:prstDash val="sysDot"/>
                      <a:round/>
                      <a:headEnd type="none" w="med" len="med"/>
                      <a:tailEnd type="none" w="med" len="med"/>
                    </a:lnB>
                    <a:solidFill>
                      <a:schemeClr val="accent3">
                        <a:lumMod val="40000"/>
                        <a:lumOff val="60000"/>
                      </a:schemeClr>
                    </a:solidFill>
                  </a:tcPr>
                </a:tc>
                <a:tc>
                  <a:txBody>
                    <a:bodyPr/>
                    <a:lstStyle/>
                    <a:p>
                      <a:pPr marL="171450" indent="-171450" algn="l" fontAlgn="ctr">
                        <a:buFont typeface="Wingdings" panose="05000000000000000000" pitchFamily="2" charset="2"/>
                        <a:buChar char="§"/>
                      </a:pPr>
                      <a:r>
                        <a:rPr lang="en-US" sz="1000" b="0" i="0" u="none" strike="noStrike">
                          <a:solidFill>
                            <a:srgbClr val="000000"/>
                          </a:solidFill>
                          <a:effectLst/>
                          <a:latin typeface="Calibri" panose="020F0502020204030204" pitchFamily="34" charset="0"/>
                        </a:rPr>
                        <a:t>On </a:t>
                      </a:r>
                      <a:r>
                        <a:rPr lang="en-US" sz="1000" b="1" i="0" u="none" strike="noStrike">
                          <a:solidFill>
                            <a:srgbClr val="000000"/>
                          </a:solidFill>
                          <a:effectLst/>
                          <a:latin typeface="Calibri" panose="020F0502020204030204" pitchFamily="34" charset="0"/>
                        </a:rPr>
                        <a:t>February 9,  2026, </a:t>
                      </a:r>
                      <a:r>
                        <a:rPr lang="en-US" sz="1000" b="0" i="0" u="none" strike="noStrike">
                          <a:solidFill>
                            <a:srgbClr val="000000"/>
                          </a:solidFill>
                          <a:effectLst/>
                          <a:latin typeface="Calibri" panose="020F0502020204030204" pitchFamily="34" charset="0"/>
                        </a:rPr>
                        <a:t>completed its combination with the Biosciences and Diagnostics Solutions Business (~$3.3B FY25 revenue) of Becton Dickinson and Company in an $18.8B transaction </a:t>
                      </a:r>
                    </a:p>
                  </a:txBody>
                  <a:tcPr marL="27432" marR="27432" marT="9144" marB="9144" anchor="ctr">
                    <a:lnT w="6350" cap="flat" cmpd="sng" algn="ctr">
                      <a:solidFill>
                        <a:schemeClr val="bg1"/>
                      </a:solidFill>
                      <a:prstDash val="sysDot"/>
                      <a:round/>
                      <a:headEnd type="none" w="med" len="med"/>
                      <a:tailEnd type="none" w="med" len="med"/>
                    </a:lnT>
                    <a:lnB w="6350" cap="flat" cmpd="sng" algn="ctr">
                      <a:solidFill>
                        <a:schemeClr val="bg1"/>
                      </a:solidFill>
                      <a:prstDash val="sysDot"/>
                      <a:round/>
                      <a:headEnd type="none" w="med" len="med"/>
                      <a:tailEnd type="none" w="med" len="med"/>
                    </a:lnB>
                    <a:solidFill>
                      <a:schemeClr val="accent3">
                        <a:lumMod val="40000"/>
                        <a:lumOff val="60000"/>
                      </a:schemeClr>
                    </a:solidFill>
                  </a:tcPr>
                </a:tc>
                <a:tc>
                  <a:txBody>
                    <a:bodyPr/>
                    <a:lstStyle/>
                    <a:p>
                      <a:pPr marL="171450" indent="-171450" algn="l" fontAlgn="ctr">
                        <a:buFont typeface="Wingdings" panose="05000000000000000000" pitchFamily="2" charset="2"/>
                        <a:buChar char="§"/>
                      </a:pPr>
                      <a:r>
                        <a:rPr lang="en-US" sz="1000" b="0" i="0" u="none" strike="noStrike">
                          <a:solidFill>
                            <a:srgbClr val="000000"/>
                          </a:solidFill>
                          <a:effectLst/>
                          <a:latin typeface="Calibri" panose="020F0502020204030204" pitchFamily="34" charset="0"/>
                        </a:rPr>
                        <a:t>Expands Waters' portfolio to include bioscience and diagnostics capabilities, forming a larger, more diversified life sciences and diagnostics company </a:t>
                      </a:r>
                      <a:r>
                        <a:rPr lang="en-US" sz="1000" b="0" i="0" u="none" strike="noStrike">
                          <a:solidFill>
                            <a:schemeClr val="tx1"/>
                          </a:solidFill>
                          <a:effectLst/>
                          <a:latin typeface="Calibri" panose="020F0502020204030204" pitchFamily="34" charset="0"/>
                        </a:rPr>
                        <a:t>(est. pro-forma FY25 revenue ~$6.5B)</a:t>
                      </a:r>
                    </a:p>
                  </a:txBody>
                  <a:tcPr marL="27432" marR="27432" marT="9144" marB="9144" anchor="ctr">
                    <a:lnT w="6350" cap="flat" cmpd="sng" algn="ctr">
                      <a:solidFill>
                        <a:schemeClr val="bg1"/>
                      </a:solidFill>
                      <a:prstDash val="sysDot"/>
                      <a:round/>
                      <a:headEnd type="none" w="med" len="med"/>
                      <a:tailEnd type="none" w="med" len="med"/>
                    </a:lnT>
                    <a:lnB w="6350" cap="flat" cmpd="sng" algn="ctr">
                      <a:solidFill>
                        <a:schemeClr val="bg1"/>
                      </a:solidFill>
                      <a:prstDash val="sysDot"/>
                      <a:round/>
                      <a:headEnd type="none" w="med" len="med"/>
                      <a:tailEnd type="none" w="med" len="med"/>
                    </a:lnB>
                    <a:solidFill>
                      <a:schemeClr val="accent3">
                        <a:lumMod val="40000"/>
                        <a:lumOff val="60000"/>
                      </a:schemeClr>
                    </a:solidFill>
                  </a:tcPr>
                </a:tc>
                <a:tc>
                  <a:txBody>
                    <a:bodyPr/>
                    <a:lstStyle/>
                    <a:p>
                      <a:pPr marL="0" indent="0">
                        <a:buFont typeface="Wingdings" panose="05000000000000000000" pitchFamily="2" charset="2"/>
                        <a:buNone/>
                      </a:pPr>
                      <a:r>
                        <a:rPr lang="en-US" sz="1000" b="1">
                          <a:latin typeface="+mn-lt"/>
                        </a:rPr>
                        <a:t>Maintain</a:t>
                      </a:r>
                    </a:p>
                  </a:txBody>
                  <a:tcPr marL="27432" marR="27432" marT="9144" marB="9144" anchor="ctr">
                    <a:lnT w="6350" cap="flat" cmpd="sng" algn="ctr">
                      <a:solidFill>
                        <a:schemeClr val="bg1"/>
                      </a:solidFill>
                      <a:prstDash val="sysDot"/>
                      <a:round/>
                      <a:headEnd type="none" w="med" len="med"/>
                      <a:tailEnd type="none" w="med" len="med"/>
                    </a:lnT>
                    <a:lnB w="6350" cap="flat" cmpd="sng" algn="ctr">
                      <a:solidFill>
                        <a:schemeClr val="bg1"/>
                      </a:solidFill>
                      <a:prstDash val="sysDot"/>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2040512039"/>
                  </a:ext>
                </a:extLst>
              </a:tr>
              <a:tr h="370840">
                <a:tc>
                  <a:txBody>
                    <a:bodyPr/>
                    <a:lstStyle/>
                    <a:p>
                      <a:pPr algn="l" fontAlgn="ctr">
                        <a:buNone/>
                      </a:pPr>
                      <a:r>
                        <a:rPr lang="en-US" sz="1000" b="1" i="0" u="none" strike="noStrike">
                          <a:solidFill>
                            <a:srgbClr val="000000"/>
                          </a:solidFill>
                          <a:effectLst/>
                          <a:latin typeface="Calibri" panose="020F0502020204030204" pitchFamily="34" charset="0"/>
                        </a:rPr>
                        <a:t>Zoetis</a:t>
                      </a:r>
                    </a:p>
                  </a:txBody>
                  <a:tcPr marL="27432" marR="27432" marT="9144" marB="9144" anchor="ctr">
                    <a:lnT w="6350" cap="flat" cmpd="sng" algn="ctr">
                      <a:solidFill>
                        <a:schemeClr val="bg1"/>
                      </a:solidFill>
                      <a:prstDash val="sysDot"/>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171450" indent="-171450" algn="l" fontAlgn="ctr">
                        <a:buFont typeface="Wingdings" panose="05000000000000000000" pitchFamily="2" charset="2"/>
                        <a:buChar char="§"/>
                      </a:pPr>
                      <a:r>
                        <a:rPr lang="en-US" sz="1000" b="0" i="0" u="none" strike="noStrike">
                          <a:solidFill>
                            <a:srgbClr val="000000"/>
                          </a:solidFill>
                          <a:effectLst/>
                          <a:latin typeface="Calibri" panose="020F0502020204030204" pitchFamily="34" charset="0"/>
                        </a:rPr>
                        <a:t>On </a:t>
                      </a:r>
                      <a:r>
                        <a:rPr lang="en-US" sz="1000" b="1" i="0" u="none" strike="noStrike">
                          <a:solidFill>
                            <a:srgbClr val="000000"/>
                          </a:solidFill>
                          <a:effectLst/>
                          <a:latin typeface="Calibri" panose="020F0502020204030204" pitchFamily="34" charset="0"/>
                        </a:rPr>
                        <a:t>March 2, 2026</a:t>
                      </a:r>
                      <a:r>
                        <a:rPr lang="en-US" sz="1000" b="0" i="0" u="none" strike="noStrike">
                          <a:solidFill>
                            <a:srgbClr val="000000"/>
                          </a:solidFill>
                          <a:effectLst/>
                          <a:latin typeface="Calibri" panose="020F0502020204030204" pitchFamily="34" charset="0"/>
                        </a:rPr>
                        <a:t>, entered into agreement to acquire Neogen's Genomics Business, a pioneer in advanced DNA testing for livestock and companion animal industries, for $160MM (expected close in second half of 2026)</a:t>
                      </a:r>
                    </a:p>
                  </a:txBody>
                  <a:tcPr marL="27432" marR="27432" marT="9144" marB="9144" anchor="ctr">
                    <a:lnT w="6350" cap="flat" cmpd="sng" algn="ctr">
                      <a:solidFill>
                        <a:schemeClr val="bg1"/>
                      </a:solidFill>
                      <a:prstDash val="sysDot"/>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171450" indent="-171450" algn="l" fontAlgn="ctr">
                        <a:buFont typeface="Wingdings" panose="05000000000000000000" pitchFamily="2" charset="2"/>
                        <a:buChar char="§"/>
                      </a:pPr>
                      <a:r>
                        <a:rPr lang="en-US" sz="1000" b="0" i="0" u="none" strike="noStrike">
                          <a:solidFill>
                            <a:srgbClr val="000000"/>
                          </a:solidFill>
                          <a:effectLst/>
                          <a:latin typeface="Calibri" panose="020F0502020204030204" pitchFamily="34" charset="0"/>
                        </a:rPr>
                        <a:t>Expands Zoetis' Precision Animal Health portfolio, expanding its capabilities in advanced DNA testing for livestock and companion animal industries</a:t>
                      </a:r>
                    </a:p>
                  </a:txBody>
                  <a:tcPr marL="27432" marR="27432" marT="9144" marB="9144" anchor="ctr">
                    <a:lnT w="6350" cap="flat" cmpd="sng" algn="ctr">
                      <a:solidFill>
                        <a:schemeClr val="bg1"/>
                      </a:solidFill>
                      <a:prstDash val="sysDot"/>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indent="0">
                        <a:buFont typeface="Wingdings" panose="05000000000000000000" pitchFamily="2" charset="2"/>
                        <a:buNone/>
                      </a:pPr>
                      <a:r>
                        <a:rPr lang="en-US" sz="1000" b="1" dirty="0">
                          <a:latin typeface="+mn-lt"/>
                        </a:rPr>
                        <a:t>Maintain</a:t>
                      </a:r>
                    </a:p>
                  </a:txBody>
                  <a:tcPr marL="27432" marR="27432" marT="9144" marB="9144" anchor="ctr">
                    <a:lnT w="6350" cap="flat" cmpd="sng" algn="ctr">
                      <a:solidFill>
                        <a:schemeClr val="bg1"/>
                      </a:solidFill>
                      <a:prstDash val="sysDot"/>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91475329"/>
                  </a:ext>
                </a:extLst>
              </a:tr>
            </a:tbl>
          </a:graphicData>
        </a:graphic>
      </p:graphicFrame>
      <p:sp>
        <p:nvSpPr>
          <p:cNvPr id="6" name="TextBox 5">
            <a:extLst>
              <a:ext uri="{FF2B5EF4-FFF2-40B4-BE49-F238E27FC236}">
                <a16:creationId xmlns:a16="http://schemas.microsoft.com/office/drawing/2014/main" id="{AED4A122-6543-231C-B590-C39DACE424AC}"/>
              </a:ext>
            </a:extLst>
          </p:cNvPr>
          <p:cNvSpPr txBox="1"/>
          <p:nvPr/>
        </p:nvSpPr>
        <p:spPr>
          <a:xfrm>
            <a:off x="1718931" y="2575849"/>
            <a:ext cx="5706139" cy="369397"/>
          </a:xfrm>
          <a:prstGeom prst="rect">
            <a:avLst/>
          </a:prstGeom>
          <a:noFill/>
        </p:spPr>
        <p:txBody>
          <a:bodyPr wrap="square" lIns="91440" tIns="91440" rIns="91440" bIns="91440" rtlCol="0" anchor="ctr">
            <a:spAutoFit/>
          </a:bodyPr>
          <a:lstStyle/>
          <a:p>
            <a:pPr algn="ctr">
              <a:lnSpc>
                <a:spcPct val="85000"/>
              </a:lnSpc>
            </a:pPr>
            <a:r>
              <a:rPr lang="en-US" sz="1400" b="1"/>
              <a:t>Major M&amp;A Activity Among Current Peers</a:t>
            </a:r>
          </a:p>
        </p:txBody>
      </p:sp>
      <p:graphicFrame>
        <p:nvGraphicFramePr>
          <p:cNvPr id="12" name="Table 14">
            <a:extLst>
              <a:ext uri="{FF2B5EF4-FFF2-40B4-BE49-F238E27FC236}">
                <a16:creationId xmlns:a16="http://schemas.microsoft.com/office/drawing/2014/main" id="{1F93B79B-991D-2BB7-ED32-4834E3ED3729}"/>
              </a:ext>
            </a:extLst>
          </p:cNvPr>
          <p:cNvGraphicFramePr>
            <a:graphicFrameLocks noGrp="1"/>
          </p:cNvGraphicFramePr>
          <p:nvPr>
            <p:extLst>
              <p:ext uri="{D42A27DB-BD31-4B8C-83A1-F6EECF244321}">
                <p14:modId xmlns:p14="http://schemas.microsoft.com/office/powerpoint/2010/main" val="1676858137"/>
              </p:ext>
            </p:extLst>
          </p:nvPr>
        </p:nvGraphicFramePr>
        <p:xfrm>
          <a:off x="7415141" y="2644546"/>
          <a:ext cx="1571303" cy="137160"/>
        </p:xfrm>
        <a:graphic>
          <a:graphicData uri="http://schemas.openxmlformats.org/drawingml/2006/table">
            <a:tbl>
              <a:tblPr firstRow="1" bandRow="1">
                <a:tableStyleId>{5940675A-B579-460E-94D1-54222C63F5DA}</a:tableStyleId>
              </a:tblPr>
              <a:tblGrid>
                <a:gridCol w="274320">
                  <a:extLst>
                    <a:ext uri="{9D8B030D-6E8A-4147-A177-3AD203B41FA5}">
                      <a16:colId xmlns:a16="http://schemas.microsoft.com/office/drawing/2014/main" val="1448559794"/>
                    </a:ext>
                  </a:extLst>
                </a:gridCol>
                <a:gridCol w="1296983">
                  <a:extLst>
                    <a:ext uri="{9D8B030D-6E8A-4147-A177-3AD203B41FA5}">
                      <a16:colId xmlns:a16="http://schemas.microsoft.com/office/drawing/2014/main" val="1242357177"/>
                    </a:ext>
                  </a:extLst>
                </a:gridCol>
              </a:tblGrid>
              <a:tr h="137160">
                <a:tc>
                  <a:txBody>
                    <a:bodyPr/>
                    <a:lstStyle/>
                    <a:p>
                      <a:endParaRPr lang="en-US" sz="900"/>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tc>
                  <a:txBody>
                    <a:bodyPr/>
                    <a:lstStyle/>
                    <a:p>
                      <a:r>
                        <a:rPr lang="en-US" sz="900" dirty="0"/>
                        <a:t>  Transaction Value &gt; $1B</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19601939"/>
                  </a:ext>
                </a:extLst>
              </a:tr>
            </a:tbl>
          </a:graphicData>
        </a:graphic>
      </p:graphicFrame>
    </p:spTree>
    <p:extLst>
      <p:ext uri="{BB962C8B-B14F-4D97-AF65-F5344CB8AC3E}">
        <p14:creationId xmlns:p14="http://schemas.microsoft.com/office/powerpoint/2010/main" val="1796783188"/>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2DCD7-A13E-858F-283A-C7BE92B283A0}"/>
            </a:ext>
          </a:extLst>
        </p:cNvPr>
        <p:cNvGrpSpPr/>
        <p:nvPr/>
      </p:nvGrpSpPr>
      <p:grpSpPr>
        <a:xfrm>
          <a:off x="0" y="0"/>
          <a:ext cx="0" cy="0"/>
          <a:chOff x="0" y="0"/>
          <a:chExt cx="0" cy="0"/>
        </a:xfrm>
      </p:grpSpPr>
      <p:cxnSp>
        <p:nvCxnSpPr>
          <p:cNvPr id="106" name="Straight Connector 105">
            <a:extLst>
              <a:ext uri="{FF2B5EF4-FFF2-40B4-BE49-F238E27FC236}">
                <a16:creationId xmlns:a16="http://schemas.microsoft.com/office/drawing/2014/main" id="{AA4CB4C1-38CE-EF2A-6921-35864A140E21}"/>
              </a:ext>
            </a:extLst>
          </p:cNvPr>
          <p:cNvCxnSpPr>
            <a:cxnSpLocks/>
          </p:cNvCxnSpPr>
          <p:nvPr/>
        </p:nvCxnSpPr>
        <p:spPr>
          <a:xfrm flipH="1">
            <a:off x="6891740" y="3393742"/>
            <a:ext cx="400" cy="59436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108" name="Straight Connector 107">
            <a:extLst>
              <a:ext uri="{FF2B5EF4-FFF2-40B4-BE49-F238E27FC236}">
                <a16:creationId xmlns:a16="http://schemas.microsoft.com/office/drawing/2014/main" id="{61E15C00-30D0-196F-599B-E060BD297F7A}"/>
              </a:ext>
            </a:extLst>
          </p:cNvPr>
          <p:cNvCxnSpPr>
            <a:cxnSpLocks/>
          </p:cNvCxnSpPr>
          <p:nvPr/>
        </p:nvCxnSpPr>
        <p:spPr>
          <a:xfrm flipH="1">
            <a:off x="8382820" y="3413007"/>
            <a:ext cx="400" cy="59436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102" name="Straight Connector 101">
            <a:extLst>
              <a:ext uri="{FF2B5EF4-FFF2-40B4-BE49-F238E27FC236}">
                <a16:creationId xmlns:a16="http://schemas.microsoft.com/office/drawing/2014/main" id="{D32B6837-701F-F735-0391-5554508EE1C4}"/>
              </a:ext>
            </a:extLst>
          </p:cNvPr>
          <p:cNvCxnSpPr>
            <a:cxnSpLocks/>
          </p:cNvCxnSpPr>
          <p:nvPr/>
        </p:nvCxnSpPr>
        <p:spPr>
          <a:xfrm flipH="1">
            <a:off x="5372240" y="3444445"/>
            <a:ext cx="400" cy="59436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104" name="Straight Connector 103">
            <a:extLst>
              <a:ext uri="{FF2B5EF4-FFF2-40B4-BE49-F238E27FC236}">
                <a16:creationId xmlns:a16="http://schemas.microsoft.com/office/drawing/2014/main" id="{22231F4D-8F0F-9071-4DC6-365D9E687063}"/>
              </a:ext>
            </a:extLst>
          </p:cNvPr>
          <p:cNvCxnSpPr>
            <a:cxnSpLocks/>
          </p:cNvCxnSpPr>
          <p:nvPr/>
        </p:nvCxnSpPr>
        <p:spPr>
          <a:xfrm flipH="1">
            <a:off x="3878087" y="3444445"/>
            <a:ext cx="400" cy="59436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91" name="Straight Connector 90">
            <a:extLst>
              <a:ext uri="{FF2B5EF4-FFF2-40B4-BE49-F238E27FC236}">
                <a16:creationId xmlns:a16="http://schemas.microsoft.com/office/drawing/2014/main" id="{E8A60915-AEAC-A59D-6B5E-D7429E1BFFD7}"/>
              </a:ext>
            </a:extLst>
          </p:cNvPr>
          <p:cNvCxnSpPr>
            <a:cxnSpLocks/>
          </p:cNvCxnSpPr>
          <p:nvPr/>
        </p:nvCxnSpPr>
        <p:spPr>
          <a:xfrm flipH="1">
            <a:off x="2322273" y="5414493"/>
            <a:ext cx="400" cy="59436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55" name="Straight Connector 54">
            <a:extLst>
              <a:ext uri="{FF2B5EF4-FFF2-40B4-BE49-F238E27FC236}">
                <a16:creationId xmlns:a16="http://schemas.microsoft.com/office/drawing/2014/main" id="{7A7B5C36-E7AA-5D81-CD89-181A662BBFEE}"/>
              </a:ext>
            </a:extLst>
          </p:cNvPr>
          <p:cNvCxnSpPr>
            <a:cxnSpLocks/>
          </p:cNvCxnSpPr>
          <p:nvPr/>
        </p:nvCxnSpPr>
        <p:spPr>
          <a:xfrm flipH="1">
            <a:off x="2322273" y="4740075"/>
            <a:ext cx="400" cy="59436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51" name="Straight Connector 50">
            <a:extLst>
              <a:ext uri="{FF2B5EF4-FFF2-40B4-BE49-F238E27FC236}">
                <a16:creationId xmlns:a16="http://schemas.microsoft.com/office/drawing/2014/main" id="{026A866E-421E-357F-4CB2-281A64D14113}"/>
              </a:ext>
            </a:extLst>
          </p:cNvPr>
          <p:cNvCxnSpPr>
            <a:cxnSpLocks/>
          </p:cNvCxnSpPr>
          <p:nvPr/>
        </p:nvCxnSpPr>
        <p:spPr>
          <a:xfrm flipH="1">
            <a:off x="2322673" y="4252288"/>
            <a:ext cx="400" cy="59436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52" name="Straight Connector 51">
            <a:extLst>
              <a:ext uri="{FF2B5EF4-FFF2-40B4-BE49-F238E27FC236}">
                <a16:creationId xmlns:a16="http://schemas.microsoft.com/office/drawing/2014/main" id="{AFBB705D-077C-65C9-9161-45B6B8160ABA}"/>
              </a:ext>
            </a:extLst>
          </p:cNvPr>
          <p:cNvCxnSpPr>
            <a:cxnSpLocks/>
          </p:cNvCxnSpPr>
          <p:nvPr/>
        </p:nvCxnSpPr>
        <p:spPr>
          <a:xfrm flipH="1">
            <a:off x="2325132" y="3377770"/>
            <a:ext cx="400" cy="59436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53" name="Rectangle 52">
            <a:extLst>
              <a:ext uri="{FF2B5EF4-FFF2-40B4-BE49-F238E27FC236}">
                <a16:creationId xmlns:a16="http://schemas.microsoft.com/office/drawing/2014/main" id="{04E963BD-ECC4-532D-0DCC-A6687991ED96}"/>
              </a:ext>
            </a:extLst>
          </p:cNvPr>
          <p:cNvSpPr/>
          <p:nvPr/>
        </p:nvSpPr>
        <p:spPr>
          <a:xfrm>
            <a:off x="1711834" y="3707663"/>
            <a:ext cx="1280161" cy="548640"/>
          </a:xfrm>
          <a:prstGeom prst="rect">
            <a:avLst/>
          </a:prstGeom>
          <a:solidFill>
            <a:schemeClr val="accent3">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Health Care</a:t>
            </a:r>
          </a:p>
          <a:p>
            <a:pPr algn="ctr"/>
            <a:r>
              <a:rPr lang="en-US" sz="1200" b="1">
                <a:solidFill>
                  <a:schemeClr val="tx1"/>
                </a:solidFill>
              </a:rPr>
              <a:t>Distributors</a:t>
            </a:r>
          </a:p>
        </p:txBody>
      </p:sp>
      <p:sp>
        <p:nvSpPr>
          <p:cNvPr id="54" name="Rectangle 53">
            <a:extLst>
              <a:ext uri="{FF2B5EF4-FFF2-40B4-BE49-F238E27FC236}">
                <a16:creationId xmlns:a16="http://schemas.microsoft.com/office/drawing/2014/main" id="{61BDF9B6-B67E-66B7-8B32-C0801513BA99}"/>
              </a:ext>
            </a:extLst>
          </p:cNvPr>
          <p:cNvSpPr/>
          <p:nvPr/>
        </p:nvSpPr>
        <p:spPr>
          <a:xfrm>
            <a:off x="1711834" y="4401906"/>
            <a:ext cx="1280161" cy="548640"/>
          </a:xfrm>
          <a:prstGeom prst="rect">
            <a:avLst/>
          </a:prstGeom>
          <a:solidFill>
            <a:schemeClr val="accent3">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Health Care Services</a:t>
            </a:r>
          </a:p>
        </p:txBody>
      </p:sp>
      <p:cxnSp>
        <p:nvCxnSpPr>
          <p:cNvPr id="49" name="Straight Connector 48">
            <a:extLst>
              <a:ext uri="{FF2B5EF4-FFF2-40B4-BE49-F238E27FC236}">
                <a16:creationId xmlns:a16="http://schemas.microsoft.com/office/drawing/2014/main" id="{C4ACBDEF-5913-EC9B-84A0-DDEF5235D493}"/>
              </a:ext>
            </a:extLst>
          </p:cNvPr>
          <p:cNvCxnSpPr>
            <a:cxnSpLocks/>
          </p:cNvCxnSpPr>
          <p:nvPr/>
        </p:nvCxnSpPr>
        <p:spPr>
          <a:xfrm flipH="1">
            <a:off x="848380" y="4252288"/>
            <a:ext cx="400" cy="59436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50" name="Straight Connector 49">
            <a:extLst>
              <a:ext uri="{FF2B5EF4-FFF2-40B4-BE49-F238E27FC236}">
                <a16:creationId xmlns:a16="http://schemas.microsoft.com/office/drawing/2014/main" id="{F75A29ED-6705-932C-53ED-B9DF50FBCC00}"/>
              </a:ext>
            </a:extLst>
          </p:cNvPr>
          <p:cNvCxnSpPr>
            <a:cxnSpLocks/>
          </p:cNvCxnSpPr>
          <p:nvPr/>
        </p:nvCxnSpPr>
        <p:spPr>
          <a:xfrm flipH="1">
            <a:off x="848780" y="3387466"/>
            <a:ext cx="400" cy="59436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5" name="Title 4">
            <a:extLst>
              <a:ext uri="{FF2B5EF4-FFF2-40B4-BE49-F238E27FC236}">
                <a16:creationId xmlns:a16="http://schemas.microsoft.com/office/drawing/2014/main" id="{DF4D8508-6065-2117-45FB-1E46B8236D70}"/>
              </a:ext>
            </a:extLst>
          </p:cNvPr>
          <p:cNvSpPr>
            <a:spLocks noGrp="1"/>
          </p:cNvSpPr>
          <p:nvPr>
            <p:ph type="title"/>
          </p:nvPr>
        </p:nvSpPr>
        <p:spPr>
          <a:xfrm>
            <a:off x="882797" y="44215"/>
            <a:ext cx="8074152" cy="1292899"/>
          </a:xfrm>
        </p:spPr>
        <p:txBody>
          <a:bodyPr/>
          <a:lstStyle/>
          <a:p>
            <a:r>
              <a:rPr lang="en-US" sz="2400" b="1" dirty="0">
                <a:solidFill>
                  <a:srgbClr val="000000"/>
                </a:solidFill>
                <a:effectLst/>
                <a:latin typeface="Calibri" panose="020F0502020204030204" pitchFamily="34" charset="0"/>
              </a:rPr>
              <a:t>ACME screens for potential peer companies for Goofy within the Health Care Sector</a:t>
            </a:r>
            <a:endParaRPr lang="en-US" dirty="0"/>
          </a:p>
        </p:txBody>
      </p:sp>
      <p:sp>
        <p:nvSpPr>
          <p:cNvPr id="4" name="Slide Number Placeholder 3">
            <a:extLst>
              <a:ext uri="{FF2B5EF4-FFF2-40B4-BE49-F238E27FC236}">
                <a16:creationId xmlns:a16="http://schemas.microsoft.com/office/drawing/2014/main" id="{A9D7F4E8-C24B-0864-1108-2B4B11A82A0D}"/>
              </a:ext>
            </a:extLst>
          </p:cNvPr>
          <p:cNvSpPr>
            <a:spLocks noGrp="1"/>
          </p:cNvSpPr>
          <p:nvPr>
            <p:ph type="sldNum" sz="quarter" idx="12"/>
          </p:nvPr>
        </p:nvSpPr>
        <p:spPr>
          <a:xfrm>
            <a:off x="8581802" y="6577909"/>
            <a:ext cx="352260" cy="211339"/>
          </a:xfrm>
        </p:spPr>
        <p:txBody>
          <a:bodyPr/>
          <a:lstStyle/>
          <a:p>
            <a:fld id="{91690BAF-E217-4185-92FD-0CEA06F2B7C8}" type="slidenum">
              <a:rPr lang="en-US" smtClean="0"/>
              <a:pPr/>
              <a:t>10</a:t>
            </a:fld>
            <a:endParaRPr lang="en-US"/>
          </a:p>
        </p:txBody>
      </p:sp>
      <p:sp>
        <p:nvSpPr>
          <p:cNvPr id="21" name="TextBox 20">
            <a:extLst>
              <a:ext uri="{FF2B5EF4-FFF2-40B4-BE49-F238E27FC236}">
                <a16:creationId xmlns:a16="http://schemas.microsoft.com/office/drawing/2014/main" id="{FA069257-F0EE-0A64-C44D-C1222131B842}"/>
              </a:ext>
            </a:extLst>
          </p:cNvPr>
          <p:cNvSpPr txBox="1"/>
          <p:nvPr/>
        </p:nvSpPr>
        <p:spPr>
          <a:xfrm>
            <a:off x="2188794" y="1078222"/>
            <a:ext cx="4766411" cy="338554"/>
          </a:xfrm>
          <a:prstGeom prst="rect">
            <a:avLst/>
          </a:prstGeom>
          <a:noFill/>
        </p:spPr>
        <p:txBody>
          <a:bodyPr wrap="square" lIns="45720" tIns="45720" rIns="45720" bIns="45720" rtlCol="0"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noProof="0" dirty="0">
                <a:ln>
                  <a:noFill/>
                </a:ln>
                <a:effectLst/>
                <a:uLnTx/>
                <a:uFillTx/>
                <a:latin typeface="Calibri" panose="020F0502020204030204"/>
                <a:ea typeface="+mn-ea"/>
                <a:cs typeface="+mn-cs"/>
              </a:rPr>
              <a:t>Select Global Industry Classifications</a:t>
            </a:r>
          </a:p>
        </p:txBody>
      </p:sp>
      <p:sp>
        <p:nvSpPr>
          <p:cNvPr id="46" name="Rectangle 45">
            <a:extLst>
              <a:ext uri="{FF2B5EF4-FFF2-40B4-BE49-F238E27FC236}">
                <a16:creationId xmlns:a16="http://schemas.microsoft.com/office/drawing/2014/main" id="{FB4DA863-3FDC-CC14-9305-CAD18D2A204A}"/>
              </a:ext>
            </a:extLst>
          </p:cNvPr>
          <p:cNvSpPr/>
          <p:nvPr/>
        </p:nvSpPr>
        <p:spPr>
          <a:xfrm>
            <a:off x="209102" y="3707506"/>
            <a:ext cx="1280160" cy="548640"/>
          </a:xfrm>
          <a:prstGeom prst="rect">
            <a:avLst/>
          </a:prstGeom>
          <a:solidFill>
            <a:schemeClr val="accent3">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Health Care</a:t>
            </a:r>
          </a:p>
          <a:p>
            <a:pPr algn="ctr"/>
            <a:r>
              <a:rPr lang="en-US" sz="1200" b="1">
                <a:solidFill>
                  <a:schemeClr val="tx1"/>
                </a:solidFill>
              </a:rPr>
              <a:t>Equipment</a:t>
            </a:r>
          </a:p>
        </p:txBody>
      </p:sp>
      <p:sp>
        <p:nvSpPr>
          <p:cNvPr id="48" name="Rectangle 47">
            <a:extLst>
              <a:ext uri="{FF2B5EF4-FFF2-40B4-BE49-F238E27FC236}">
                <a16:creationId xmlns:a16="http://schemas.microsoft.com/office/drawing/2014/main" id="{3EE223A2-0049-80DF-436C-A7258E29F06B}"/>
              </a:ext>
            </a:extLst>
          </p:cNvPr>
          <p:cNvSpPr/>
          <p:nvPr/>
        </p:nvSpPr>
        <p:spPr>
          <a:xfrm>
            <a:off x="208700" y="4398849"/>
            <a:ext cx="1280161" cy="548640"/>
          </a:xfrm>
          <a:prstGeom prst="rect">
            <a:avLst/>
          </a:prstGeom>
          <a:solidFill>
            <a:schemeClr val="accent3">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Health Care Supplies</a:t>
            </a:r>
          </a:p>
        </p:txBody>
      </p:sp>
      <p:sp>
        <p:nvSpPr>
          <p:cNvPr id="56" name="Rectangle 55">
            <a:extLst>
              <a:ext uri="{FF2B5EF4-FFF2-40B4-BE49-F238E27FC236}">
                <a16:creationId xmlns:a16="http://schemas.microsoft.com/office/drawing/2014/main" id="{BE5F75B9-3531-F724-7231-C93F76BC2986}"/>
              </a:ext>
            </a:extLst>
          </p:cNvPr>
          <p:cNvSpPr/>
          <p:nvPr/>
        </p:nvSpPr>
        <p:spPr>
          <a:xfrm>
            <a:off x="1711834" y="5096149"/>
            <a:ext cx="1280161" cy="548640"/>
          </a:xfrm>
          <a:prstGeom prst="rect">
            <a:avLst/>
          </a:prstGeom>
          <a:solidFill>
            <a:schemeClr val="accent3">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Health Care Facilities</a:t>
            </a:r>
          </a:p>
        </p:txBody>
      </p:sp>
      <p:cxnSp>
        <p:nvCxnSpPr>
          <p:cNvPr id="74" name="Straight Connector 73">
            <a:extLst>
              <a:ext uri="{FF2B5EF4-FFF2-40B4-BE49-F238E27FC236}">
                <a16:creationId xmlns:a16="http://schemas.microsoft.com/office/drawing/2014/main" id="{B4C24334-FD36-32DB-6004-1E4E9DC7F17D}"/>
              </a:ext>
            </a:extLst>
          </p:cNvPr>
          <p:cNvCxnSpPr>
            <a:cxnSpLocks/>
            <a:endCxn id="90" idx="1"/>
          </p:cNvCxnSpPr>
          <p:nvPr/>
        </p:nvCxnSpPr>
        <p:spPr>
          <a:xfrm flipV="1">
            <a:off x="7352924" y="3273494"/>
            <a:ext cx="390216" cy="138"/>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75" name="Straight Connector 74">
            <a:extLst>
              <a:ext uri="{FF2B5EF4-FFF2-40B4-BE49-F238E27FC236}">
                <a16:creationId xmlns:a16="http://schemas.microsoft.com/office/drawing/2014/main" id="{DD2A6331-EEE5-0FFD-F473-C0D3B807DE15}"/>
              </a:ext>
            </a:extLst>
          </p:cNvPr>
          <p:cNvCxnSpPr>
            <a:cxnSpLocks/>
          </p:cNvCxnSpPr>
          <p:nvPr/>
        </p:nvCxnSpPr>
        <p:spPr>
          <a:xfrm flipH="1">
            <a:off x="2323073" y="2571504"/>
            <a:ext cx="400" cy="59436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76" name="Straight Connector 75">
            <a:extLst>
              <a:ext uri="{FF2B5EF4-FFF2-40B4-BE49-F238E27FC236}">
                <a16:creationId xmlns:a16="http://schemas.microsoft.com/office/drawing/2014/main" id="{B21536CA-F40B-C6C0-2A52-36B241F8EB9C}"/>
              </a:ext>
            </a:extLst>
          </p:cNvPr>
          <p:cNvCxnSpPr>
            <a:cxnSpLocks/>
          </p:cNvCxnSpPr>
          <p:nvPr/>
        </p:nvCxnSpPr>
        <p:spPr>
          <a:xfrm>
            <a:off x="4583413" y="1991454"/>
            <a:ext cx="0" cy="45720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77" name="Straight Connector 76">
            <a:extLst>
              <a:ext uri="{FF2B5EF4-FFF2-40B4-BE49-F238E27FC236}">
                <a16:creationId xmlns:a16="http://schemas.microsoft.com/office/drawing/2014/main" id="{3C645D17-B014-875D-2050-48A69B957D62}"/>
              </a:ext>
            </a:extLst>
          </p:cNvPr>
          <p:cNvCxnSpPr>
            <a:cxnSpLocks/>
            <a:stCxn id="83" idx="3"/>
            <a:endCxn id="84" idx="1"/>
          </p:cNvCxnSpPr>
          <p:nvPr/>
        </p:nvCxnSpPr>
        <p:spPr>
          <a:xfrm>
            <a:off x="3015876" y="2457998"/>
            <a:ext cx="3220973" cy="4069"/>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78" name="Straight Connector 77">
            <a:extLst>
              <a:ext uri="{FF2B5EF4-FFF2-40B4-BE49-F238E27FC236}">
                <a16:creationId xmlns:a16="http://schemas.microsoft.com/office/drawing/2014/main" id="{A74663DD-FEE8-643C-11CD-10F7FD21526E}"/>
              </a:ext>
            </a:extLst>
          </p:cNvPr>
          <p:cNvCxnSpPr>
            <a:cxnSpLocks/>
          </p:cNvCxnSpPr>
          <p:nvPr/>
        </p:nvCxnSpPr>
        <p:spPr>
          <a:xfrm flipH="1">
            <a:off x="6876929" y="2701994"/>
            <a:ext cx="400" cy="59436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79" name="Straight Connector 78">
            <a:extLst>
              <a:ext uri="{FF2B5EF4-FFF2-40B4-BE49-F238E27FC236}">
                <a16:creationId xmlns:a16="http://schemas.microsoft.com/office/drawing/2014/main" id="{CFB2C140-0534-7D2D-4E1F-D062AA490B85}"/>
              </a:ext>
            </a:extLst>
          </p:cNvPr>
          <p:cNvCxnSpPr>
            <a:cxnSpLocks/>
            <a:stCxn id="87" idx="3"/>
          </p:cNvCxnSpPr>
          <p:nvPr/>
        </p:nvCxnSpPr>
        <p:spPr>
          <a:xfrm>
            <a:off x="6012720" y="3286705"/>
            <a:ext cx="273389"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80" name="Straight Connector 79">
            <a:extLst>
              <a:ext uri="{FF2B5EF4-FFF2-40B4-BE49-F238E27FC236}">
                <a16:creationId xmlns:a16="http://schemas.microsoft.com/office/drawing/2014/main" id="{C636F73B-139D-798B-51A6-DD39BBA9AF1C}"/>
              </a:ext>
            </a:extLst>
          </p:cNvPr>
          <p:cNvCxnSpPr>
            <a:cxnSpLocks/>
          </p:cNvCxnSpPr>
          <p:nvPr/>
        </p:nvCxnSpPr>
        <p:spPr>
          <a:xfrm flipV="1">
            <a:off x="2995497" y="3306996"/>
            <a:ext cx="368710" cy="2688"/>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81" name="Straight Connector 80">
            <a:extLst>
              <a:ext uri="{FF2B5EF4-FFF2-40B4-BE49-F238E27FC236}">
                <a16:creationId xmlns:a16="http://schemas.microsoft.com/office/drawing/2014/main" id="{B5B35E7C-9BC3-625D-248D-E00195BAD8ED}"/>
              </a:ext>
            </a:extLst>
          </p:cNvPr>
          <p:cNvCxnSpPr>
            <a:cxnSpLocks/>
            <a:endCxn id="86" idx="1"/>
          </p:cNvCxnSpPr>
          <p:nvPr/>
        </p:nvCxnSpPr>
        <p:spPr>
          <a:xfrm>
            <a:off x="1338168" y="3285027"/>
            <a:ext cx="374467"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82" name="Rectangle 81">
            <a:extLst>
              <a:ext uri="{FF2B5EF4-FFF2-40B4-BE49-F238E27FC236}">
                <a16:creationId xmlns:a16="http://schemas.microsoft.com/office/drawing/2014/main" id="{4C557A1E-FEC5-3C82-D42C-85E1BFCD6C07}"/>
              </a:ext>
            </a:extLst>
          </p:cNvPr>
          <p:cNvSpPr/>
          <p:nvPr/>
        </p:nvSpPr>
        <p:spPr>
          <a:xfrm>
            <a:off x="4004250" y="1442814"/>
            <a:ext cx="1143000" cy="548640"/>
          </a:xfrm>
          <a:prstGeom prst="rect">
            <a:avLst/>
          </a:prstGeom>
          <a:solidFill>
            <a:srgbClr val="003F77"/>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bg1"/>
                </a:solidFill>
              </a:rPr>
              <a:t>Health Care</a:t>
            </a:r>
          </a:p>
        </p:txBody>
      </p:sp>
      <p:sp>
        <p:nvSpPr>
          <p:cNvPr id="83" name="Rectangle 82">
            <a:extLst>
              <a:ext uri="{FF2B5EF4-FFF2-40B4-BE49-F238E27FC236}">
                <a16:creationId xmlns:a16="http://schemas.microsoft.com/office/drawing/2014/main" id="{0793A18E-B781-A153-6F89-BAE7F288C5A9}"/>
              </a:ext>
            </a:extLst>
          </p:cNvPr>
          <p:cNvSpPr/>
          <p:nvPr/>
        </p:nvSpPr>
        <p:spPr>
          <a:xfrm>
            <a:off x="1735716" y="2183678"/>
            <a:ext cx="1280160" cy="548640"/>
          </a:xfrm>
          <a:prstGeom prst="rect">
            <a:avLst/>
          </a:prstGeom>
          <a:solidFill>
            <a:schemeClr val="tx2">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Health Care Equipment &amp; Services</a:t>
            </a:r>
          </a:p>
        </p:txBody>
      </p:sp>
      <p:sp>
        <p:nvSpPr>
          <p:cNvPr id="84" name="Rectangle 83">
            <a:extLst>
              <a:ext uri="{FF2B5EF4-FFF2-40B4-BE49-F238E27FC236}">
                <a16:creationId xmlns:a16="http://schemas.microsoft.com/office/drawing/2014/main" id="{59A45C56-F015-95AE-BC6E-D249ED158075}"/>
              </a:ext>
            </a:extLst>
          </p:cNvPr>
          <p:cNvSpPr/>
          <p:nvPr/>
        </p:nvSpPr>
        <p:spPr>
          <a:xfrm>
            <a:off x="6236849" y="2187747"/>
            <a:ext cx="1280160" cy="548640"/>
          </a:xfrm>
          <a:prstGeom prst="rect">
            <a:avLst/>
          </a:prstGeom>
          <a:solidFill>
            <a:schemeClr val="tx2">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Pharmaceuticals, Biotechnology &amp; Life Sciences</a:t>
            </a:r>
          </a:p>
        </p:txBody>
      </p:sp>
      <p:sp>
        <p:nvSpPr>
          <p:cNvPr id="85" name="Rectangle 84">
            <a:extLst>
              <a:ext uri="{FF2B5EF4-FFF2-40B4-BE49-F238E27FC236}">
                <a16:creationId xmlns:a16="http://schemas.microsoft.com/office/drawing/2014/main" id="{2C0BE86F-6BA6-48B3-7558-5902CE70779A}"/>
              </a:ext>
            </a:extLst>
          </p:cNvPr>
          <p:cNvSpPr/>
          <p:nvPr/>
        </p:nvSpPr>
        <p:spPr>
          <a:xfrm>
            <a:off x="3238407" y="3020890"/>
            <a:ext cx="1280160" cy="548640"/>
          </a:xfrm>
          <a:prstGeom prst="rect">
            <a:avLst/>
          </a:prstGeom>
          <a:solidFill>
            <a:schemeClr val="accent1">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Health Care Technology</a:t>
            </a:r>
          </a:p>
        </p:txBody>
      </p:sp>
      <p:sp>
        <p:nvSpPr>
          <p:cNvPr id="86" name="Rectangle 85">
            <a:extLst>
              <a:ext uri="{FF2B5EF4-FFF2-40B4-BE49-F238E27FC236}">
                <a16:creationId xmlns:a16="http://schemas.microsoft.com/office/drawing/2014/main" id="{28A8A0F5-3789-6700-6D32-517090AED8BF}"/>
              </a:ext>
            </a:extLst>
          </p:cNvPr>
          <p:cNvSpPr/>
          <p:nvPr/>
        </p:nvSpPr>
        <p:spPr>
          <a:xfrm>
            <a:off x="1712635" y="3010707"/>
            <a:ext cx="1280160" cy="548640"/>
          </a:xfrm>
          <a:prstGeom prst="rect">
            <a:avLst/>
          </a:prstGeom>
          <a:solidFill>
            <a:schemeClr val="accent1">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Health Care Providers &amp; Services</a:t>
            </a:r>
          </a:p>
        </p:txBody>
      </p:sp>
      <p:sp>
        <p:nvSpPr>
          <p:cNvPr id="87" name="Rectangle 86">
            <a:extLst>
              <a:ext uri="{FF2B5EF4-FFF2-40B4-BE49-F238E27FC236}">
                <a16:creationId xmlns:a16="http://schemas.microsoft.com/office/drawing/2014/main" id="{E57D4B87-441A-5C58-C0A5-1682F2EBCBF7}"/>
              </a:ext>
            </a:extLst>
          </p:cNvPr>
          <p:cNvSpPr/>
          <p:nvPr/>
        </p:nvSpPr>
        <p:spPr>
          <a:xfrm>
            <a:off x="4732560" y="3012385"/>
            <a:ext cx="1280160" cy="548640"/>
          </a:xfrm>
          <a:prstGeom prst="rect">
            <a:avLst/>
          </a:prstGeom>
          <a:solidFill>
            <a:schemeClr val="accent1">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Biotechnology</a:t>
            </a:r>
          </a:p>
        </p:txBody>
      </p:sp>
      <p:sp>
        <p:nvSpPr>
          <p:cNvPr id="88" name="Rectangle 87">
            <a:extLst>
              <a:ext uri="{FF2B5EF4-FFF2-40B4-BE49-F238E27FC236}">
                <a16:creationId xmlns:a16="http://schemas.microsoft.com/office/drawing/2014/main" id="{EAA7AB9B-A774-FE03-5DBC-677B7008D9FC}"/>
              </a:ext>
            </a:extLst>
          </p:cNvPr>
          <p:cNvSpPr/>
          <p:nvPr/>
        </p:nvSpPr>
        <p:spPr>
          <a:xfrm>
            <a:off x="6237850" y="3006638"/>
            <a:ext cx="1280160" cy="548640"/>
          </a:xfrm>
          <a:prstGeom prst="rect">
            <a:avLst/>
          </a:prstGeom>
          <a:solidFill>
            <a:schemeClr val="accent1">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Pharmaceuticals</a:t>
            </a:r>
          </a:p>
        </p:txBody>
      </p:sp>
      <p:sp>
        <p:nvSpPr>
          <p:cNvPr id="89" name="Rectangle 88">
            <a:extLst>
              <a:ext uri="{FF2B5EF4-FFF2-40B4-BE49-F238E27FC236}">
                <a16:creationId xmlns:a16="http://schemas.microsoft.com/office/drawing/2014/main" id="{086B080F-6C5C-7176-E2A3-3FD1F4D68666}"/>
              </a:ext>
            </a:extLst>
          </p:cNvPr>
          <p:cNvSpPr/>
          <p:nvPr/>
        </p:nvSpPr>
        <p:spPr>
          <a:xfrm>
            <a:off x="209102" y="3007644"/>
            <a:ext cx="1280160" cy="548640"/>
          </a:xfrm>
          <a:prstGeom prst="rect">
            <a:avLst/>
          </a:prstGeom>
          <a:solidFill>
            <a:schemeClr val="accent1">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Health Care Equipment &amp; Supplies</a:t>
            </a:r>
          </a:p>
        </p:txBody>
      </p:sp>
      <p:sp>
        <p:nvSpPr>
          <p:cNvPr id="90" name="Rectangle 89">
            <a:extLst>
              <a:ext uri="{FF2B5EF4-FFF2-40B4-BE49-F238E27FC236}">
                <a16:creationId xmlns:a16="http://schemas.microsoft.com/office/drawing/2014/main" id="{F0B369AD-56DA-F937-B967-4DB4282F2900}"/>
              </a:ext>
            </a:extLst>
          </p:cNvPr>
          <p:cNvSpPr/>
          <p:nvPr/>
        </p:nvSpPr>
        <p:spPr>
          <a:xfrm>
            <a:off x="7743140" y="2999174"/>
            <a:ext cx="1280160" cy="548640"/>
          </a:xfrm>
          <a:prstGeom prst="rect">
            <a:avLst/>
          </a:prstGeom>
          <a:solidFill>
            <a:schemeClr val="accent1">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Life Sciences Tools &amp; Services</a:t>
            </a:r>
          </a:p>
        </p:txBody>
      </p:sp>
      <p:sp>
        <p:nvSpPr>
          <p:cNvPr id="92" name="Rectangle 91">
            <a:extLst>
              <a:ext uri="{FF2B5EF4-FFF2-40B4-BE49-F238E27FC236}">
                <a16:creationId xmlns:a16="http://schemas.microsoft.com/office/drawing/2014/main" id="{B4048C08-D4C3-FBE5-8A33-39D7835E2DCA}"/>
              </a:ext>
            </a:extLst>
          </p:cNvPr>
          <p:cNvSpPr/>
          <p:nvPr/>
        </p:nvSpPr>
        <p:spPr>
          <a:xfrm>
            <a:off x="1711834" y="5790392"/>
            <a:ext cx="1280161" cy="548640"/>
          </a:xfrm>
          <a:prstGeom prst="rect">
            <a:avLst/>
          </a:prstGeom>
          <a:solidFill>
            <a:schemeClr val="accent3">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Managed</a:t>
            </a:r>
          </a:p>
          <a:p>
            <a:pPr algn="ctr"/>
            <a:r>
              <a:rPr lang="en-US" sz="1200" b="1">
                <a:solidFill>
                  <a:schemeClr val="tx1"/>
                </a:solidFill>
              </a:rPr>
              <a:t>Health Care</a:t>
            </a:r>
          </a:p>
        </p:txBody>
      </p:sp>
      <p:sp>
        <p:nvSpPr>
          <p:cNvPr id="93" name="Rectangle 92">
            <a:extLst>
              <a:ext uri="{FF2B5EF4-FFF2-40B4-BE49-F238E27FC236}">
                <a16:creationId xmlns:a16="http://schemas.microsoft.com/office/drawing/2014/main" id="{32443004-C72D-1779-EF30-FC3140E9FFAA}"/>
              </a:ext>
            </a:extLst>
          </p:cNvPr>
          <p:cNvSpPr/>
          <p:nvPr/>
        </p:nvSpPr>
        <p:spPr>
          <a:xfrm>
            <a:off x="7083155" y="5523397"/>
            <a:ext cx="197235" cy="123961"/>
          </a:xfrm>
          <a:prstGeom prst="rect">
            <a:avLst/>
          </a:prstGeom>
          <a:solidFill>
            <a:schemeClr val="accent1">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endParaRPr lang="en-US" sz="1600" b="1">
              <a:solidFill>
                <a:schemeClr val="tx1"/>
              </a:solidFill>
            </a:endParaRPr>
          </a:p>
        </p:txBody>
      </p:sp>
      <p:sp>
        <p:nvSpPr>
          <p:cNvPr id="94" name="TextBox 93">
            <a:extLst>
              <a:ext uri="{FF2B5EF4-FFF2-40B4-BE49-F238E27FC236}">
                <a16:creationId xmlns:a16="http://schemas.microsoft.com/office/drawing/2014/main" id="{A3A269B7-E2B5-9B81-77A5-869F44467B56}"/>
              </a:ext>
            </a:extLst>
          </p:cNvPr>
          <p:cNvSpPr txBox="1"/>
          <p:nvPr/>
        </p:nvSpPr>
        <p:spPr>
          <a:xfrm>
            <a:off x="7289455" y="5472333"/>
            <a:ext cx="1854545" cy="246221"/>
          </a:xfrm>
          <a:prstGeom prst="rect">
            <a:avLst/>
          </a:prstGeom>
          <a:noFill/>
        </p:spPr>
        <p:txBody>
          <a:bodyPr wrap="square" rtlCol="0" anchor="ctr">
            <a:spAutoFit/>
          </a:bodyPr>
          <a:lstStyle/>
          <a:p>
            <a:r>
              <a:rPr lang="en-US" sz="1000" i="1"/>
              <a:t>Industry</a:t>
            </a:r>
          </a:p>
        </p:txBody>
      </p:sp>
      <p:sp>
        <p:nvSpPr>
          <p:cNvPr id="95" name="Rectangle 94">
            <a:extLst>
              <a:ext uri="{FF2B5EF4-FFF2-40B4-BE49-F238E27FC236}">
                <a16:creationId xmlns:a16="http://schemas.microsoft.com/office/drawing/2014/main" id="{B3A5EF98-0CA8-50F9-B8B4-790B4510CC74}"/>
              </a:ext>
            </a:extLst>
          </p:cNvPr>
          <p:cNvSpPr/>
          <p:nvPr/>
        </p:nvSpPr>
        <p:spPr>
          <a:xfrm>
            <a:off x="7083155" y="5341148"/>
            <a:ext cx="197235" cy="123961"/>
          </a:xfrm>
          <a:prstGeom prst="rect">
            <a:avLst/>
          </a:prstGeom>
          <a:solidFill>
            <a:schemeClr val="tx2">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endParaRPr lang="en-US" sz="1600" b="1">
              <a:solidFill>
                <a:schemeClr val="tx1"/>
              </a:solidFill>
            </a:endParaRPr>
          </a:p>
        </p:txBody>
      </p:sp>
      <p:sp>
        <p:nvSpPr>
          <p:cNvPr id="96" name="TextBox 95">
            <a:extLst>
              <a:ext uri="{FF2B5EF4-FFF2-40B4-BE49-F238E27FC236}">
                <a16:creationId xmlns:a16="http://schemas.microsoft.com/office/drawing/2014/main" id="{C09B6294-3FFE-50CB-A17D-E44FDA6273AD}"/>
              </a:ext>
            </a:extLst>
          </p:cNvPr>
          <p:cNvSpPr txBox="1"/>
          <p:nvPr/>
        </p:nvSpPr>
        <p:spPr>
          <a:xfrm>
            <a:off x="7294355" y="5287988"/>
            <a:ext cx="1361837" cy="246221"/>
          </a:xfrm>
          <a:prstGeom prst="rect">
            <a:avLst/>
          </a:prstGeom>
          <a:noFill/>
        </p:spPr>
        <p:txBody>
          <a:bodyPr wrap="square" rtlCol="0" anchor="ctr">
            <a:spAutoFit/>
          </a:bodyPr>
          <a:lstStyle/>
          <a:p>
            <a:r>
              <a:rPr lang="en-US" sz="1000" i="1"/>
              <a:t>Industry Group</a:t>
            </a:r>
          </a:p>
        </p:txBody>
      </p:sp>
      <p:sp>
        <p:nvSpPr>
          <p:cNvPr id="97" name="Rectangle 96">
            <a:extLst>
              <a:ext uri="{FF2B5EF4-FFF2-40B4-BE49-F238E27FC236}">
                <a16:creationId xmlns:a16="http://schemas.microsoft.com/office/drawing/2014/main" id="{9963BBCA-3A09-8D92-506B-39055AA64E89}"/>
              </a:ext>
            </a:extLst>
          </p:cNvPr>
          <p:cNvSpPr/>
          <p:nvPr/>
        </p:nvSpPr>
        <p:spPr>
          <a:xfrm>
            <a:off x="7083155" y="5180337"/>
            <a:ext cx="197235" cy="123961"/>
          </a:xfrm>
          <a:prstGeom prst="rect">
            <a:avLst/>
          </a:prstGeom>
          <a:solidFill>
            <a:schemeClr val="tx2">
              <a:lumMod val="75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endParaRPr lang="en-US" sz="1600" b="1">
              <a:solidFill>
                <a:schemeClr val="tx1"/>
              </a:solidFill>
            </a:endParaRPr>
          </a:p>
        </p:txBody>
      </p:sp>
      <p:sp>
        <p:nvSpPr>
          <p:cNvPr id="98" name="TextBox 97">
            <a:extLst>
              <a:ext uri="{FF2B5EF4-FFF2-40B4-BE49-F238E27FC236}">
                <a16:creationId xmlns:a16="http://schemas.microsoft.com/office/drawing/2014/main" id="{038F92B9-11F3-2541-4DBB-210AA04DD1B3}"/>
              </a:ext>
            </a:extLst>
          </p:cNvPr>
          <p:cNvSpPr txBox="1"/>
          <p:nvPr/>
        </p:nvSpPr>
        <p:spPr>
          <a:xfrm>
            <a:off x="7289456" y="5168936"/>
            <a:ext cx="1361837" cy="166895"/>
          </a:xfrm>
          <a:prstGeom prst="rect">
            <a:avLst/>
          </a:prstGeom>
          <a:noFill/>
        </p:spPr>
        <p:txBody>
          <a:bodyPr wrap="square" rtlCol="0" anchor="ctr">
            <a:spAutoFit/>
          </a:bodyPr>
          <a:lstStyle/>
          <a:p>
            <a:r>
              <a:rPr lang="en-US" sz="1000" i="1"/>
              <a:t>Sector</a:t>
            </a:r>
          </a:p>
        </p:txBody>
      </p:sp>
      <p:sp>
        <p:nvSpPr>
          <p:cNvPr id="99" name="TextBox 98">
            <a:extLst>
              <a:ext uri="{FF2B5EF4-FFF2-40B4-BE49-F238E27FC236}">
                <a16:creationId xmlns:a16="http://schemas.microsoft.com/office/drawing/2014/main" id="{EBB6F3C3-898C-684D-2C30-8D053422EFFC}"/>
              </a:ext>
            </a:extLst>
          </p:cNvPr>
          <p:cNvSpPr txBox="1"/>
          <p:nvPr/>
        </p:nvSpPr>
        <p:spPr>
          <a:xfrm>
            <a:off x="6913218" y="4902330"/>
            <a:ext cx="1361837" cy="246221"/>
          </a:xfrm>
          <a:prstGeom prst="rect">
            <a:avLst/>
          </a:prstGeom>
          <a:noFill/>
        </p:spPr>
        <p:txBody>
          <a:bodyPr wrap="square" rtlCol="0" anchor="ctr">
            <a:spAutoFit/>
          </a:bodyPr>
          <a:lstStyle/>
          <a:p>
            <a:r>
              <a:rPr lang="en-US" sz="1000" b="1" i="1"/>
              <a:t>Legend:</a:t>
            </a:r>
          </a:p>
        </p:txBody>
      </p:sp>
      <p:sp>
        <p:nvSpPr>
          <p:cNvPr id="100" name="Rectangle 99">
            <a:extLst>
              <a:ext uri="{FF2B5EF4-FFF2-40B4-BE49-F238E27FC236}">
                <a16:creationId xmlns:a16="http://schemas.microsoft.com/office/drawing/2014/main" id="{6D2FA1C7-9A40-DA17-46EF-389F9F830FBC}"/>
              </a:ext>
            </a:extLst>
          </p:cNvPr>
          <p:cNvSpPr/>
          <p:nvPr/>
        </p:nvSpPr>
        <p:spPr>
          <a:xfrm>
            <a:off x="7083155" y="5686936"/>
            <a:ext cx="197235" cy="123961"/>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endParaRPr lang="en-US" sz="1600" b="1">
              <a:solidFill>
                <a:schemeClr val="tx1"/>
              </a:solidFill>
            </a:endParaRPr>
          </a:p>
        </p:txBody>
      </p:sp>
      <p:sp>
        <p:nvSpPr>
          <p:cNvPr id="101" name="TextBox 100">
            <a:extLst>
              <a:ext uri="{FF2B5EF4-FFF2-40B4-BE49-F238E27FC236}">
                <a16:creationId xmlns:a16="http://schemas.microsoft.com/office/drawing/2014/main" id="{D916407D-9AF0-CB94-566C-794A4E968BBA}"/>
              </a:ext>
            </a:extLst>
          </p:cNvPr>
          <p:cNvSpPr txBox="1"/>
          <p:nvPr/>
        </p:nvSpPr>
        <p:spPr>
          <a:xfrm>
            <a:off x="7289455" y="5635872"/>
            <a:ext cx="1854545" cy="246221"/>
          </a:xfrm>
          <a:prstGeom prst="rect">
            <a:avLst/>
          </a:prstGeom>
          <a:noFill/>
        </p:spPr>
        <p:txBody>
          <a:bodyPr wrap="square" rtlCol="0" anchor="ctr">
            <a:spAutoFit/>
          </a:bodyPr>
          <a:lstStyle/>
          <a:p>
            <a:r>
              <a:rPr lang="en-US" sz="1000" i="1"/>
              <a:t>Sub-industry/Primary Industry</a:t>
            </a:r>
          </a:p>
        </p:txBody>
      </p:sp>
      <p:sp>
        <p:nvSpPr>
          <p:cNvPr id="103" name="Rectangle 102">
            <a:extLst>
              <a:ext uri="{FF2B5EF4-FFF2-40B4-BE49-F238E27FC236}">
                <a16:creationId xmlns:a16="http://schemas.microsoft.com/office/drawing/2014/main" id="{15F24ABB-CA77-DB35-B1BF-0A5B899C0D31}"/>
              </a:ext>
            </a:extLst>
          </p:cNvPr>
          <p:cNvSpPr/>
          <p:nvPr/>
        </p:nvSpPr>
        <p:spPr>
          <a:xfrm>
            <a:off x="4732559" y="3707507"/>
            <a:ext cx="1280161" cy="544572"/>
          </a:xfrm>
          <a:prstGeom prst="rect">
            <a:avLst/>
          </a:prstGeom>
          <a:solidFill>
            <a:schemeClr val="accent3">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Biotechnology</a:t>
            </a:r>
          </a:p>
        </p:txBody>
      </p:sp>
      <p:sp>
        <p:nvSpPr>
          <p:cNvPr id="105" name="Rectangle 104">
            <a:extLst>
              <a:ext uri="{FF2B5EF4-FFF2-40B4-BE49-F238E27FC236}">
                <a16:creationId xmlns:a16="http://schemas.microsoft.com/office/drawing/2014/main" id="{C8A742A9-BB4E-DC83-3070-92CFF0D7BCC2}"/>
              </a:ext>
            </a:extLst>
          </p:cNvPr>
          <p:cNvSpPr/>
          <p:nvPr/>
        </p:nvSpPr>
        <p:spPr>
          <a:xfrm>
            <a:off x="3236804" y="3707506"/>
            <a:ext cx="1280162" cy="548640"/>
          </a:xfrm>
          <a:prstGeom prst="rect">
            <a:avLst/>
          </a:prstGeom>
          <a:solidFill>
            <a:schemeClr val="accent3">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Health Care</a:t>
            </a:r>
          </a:p>
          <a:p>
            <a:pPr algn="ctr"/>
            <a:r>
              <a:rPr lang="en-US" sz="1200" b="1">
                <a:solidFill>
                  <a:schemeClr val="tx1"/>
                </a:solidFill>
              </a:rPr>
              <a:t>Technology</a:t>
            </a:r>
          </a:p>
        </p:txBody>
      </p:sp>
      <p:sp>
        <p:nvSpPr>
          <p:cNvPr id="107" name="Rectangle 106">
            <a:extLst>
              <a:ext uri="{FF2B5EF4-FFF2-40B4-BE49-F238E27FC236}">
                <a16:creationId xmlns:a16="http://schemas.microsoft.com/office/drawing/2014/main" id="{AD8B974A-F0A6-0803-033E-62F9108655F1}"/>
              </a:ext>
            </a:extLst>
          </p:cNvPr>
          <p:cNvSpPr/>
          <p:nvPr/>
        </p:nvSpPr>
        <p:spPr>
          <a:xfrm>
            <a:off x="6226313" y="3706456"/>
            <a:ext cx="1301233" cy="544435"/>
          </a:xfrm>
          <a:prstGeom prst="rect">
            <a:avLst/>
          </a:prstGeom>
          <a:solidFill>
            <a:schemeClr val="accent3">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Pharmaceuticals</a:t>
            </a:r>
          </a:p>
        </p:txBody>
      </p:sp>
      <p:sp>
        <p:nvSpPr>
          <p:cNvPr id="109" name="Rectangle 108">
            <a:extLst>
              <a:ext uri="{FF2B5EF4-FFF2-40B4-BE49-F238E27FC236}">
                <a16:creationId xmlns:a16="http://schemas.microsoft.com/office/drawing/2014/main" id="{C1F64FCF-0187-A1D3-3B5F-F7E6A03467F4}"/>
              </a:ext>
            </a:extLst>
          </p:cNvPr>
          <p:cNvSpPr/>
          <p:nvPr/>
        </p:nvSpPr>
        <p:spPr>
          <a:xfrm>
            <a:off x="7743140" y="3706456"/>
            <a:ext cx="1280160" cy="544572"/>
          </a:xfrm>
          <a:prstGeom prst="rect">
            <a:avLst/>
          </a:prstGeom>
          <a:solidFill>
            <a:schemeClr val="accent3">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Biotechnology</a:t>
            </a:r>
          </a:p>
        </p:txBody>
      </p:sp>
      <p:sp>
        <p:nvSpPr>
          <p:cNvPr id="6" name="TextBox 5">
            <a:extLst>
              <a:ext uri="{FF2B5EF4-FFF2-40B4-BE49-F238E27FC236}">
                <a16:creationId xmlns:a16="http://schemas.microsoft.com/office/drawing/2014/main" id="{92FCEF6D-85B7-E889-E862-10772C31AF7A}"/>
              </a:ext>
            </a:extLst>
          </p:cNvPr>
          <p:cNvSpPr txBox="1"/>
          <p:nvPr/>
        </p:nvSpPr>
        <p:spPr>
          <a:xfrm>
            <a:off x="7289455" y="5820217"/>
            <a:ext cx="1854545" cy="246221"/>
          </a:xfrm>
          <a:prstGeom prst="rect">
            <a:avLst/>
          </a:prstGeom>
          <a:noFill/>
        </p:spPr>
        <p:txBody>
          <a:bodyPr wrap="square" rtlCol="0" anchor="ctr">
            <a:spAutoFit/>
          </a:bodyPr>
          <a:lstStyle/>
          <a:p>
            <a:r>
              <a:rPr lang="en-US" sz="1000" i="1" dirty="0" err="1"/>
              <a:t>Goofy’s</a:t>
            </a:r>
            <a:r>
              <a:rPr lang="en-US" sz="1000" i="1" dirty="0"/>
              <a:t> Primary Industry</a:t>
            </a:r>
          </a:p>
        </p:txBody>
      </p:sp>
      <p:sp>
        <p:nvSpPr>
          <p:cNvPr id="7" name="Rectangle 6">
            <a:extLst>
              <a:ext uri="{FF2B5EF4-FFF2-40B4-BE49-F238E27FC236}">
                <a16:creationId xmlns:a16="http://schemas.microsoft.com/office/drawing/2014/main" id="{5371F509-7CB0-6C2C-74FF-3F0C71B1513A}"/>
              </a:ext>
            </a:extLst>
          </p:cNvPr>
          <p:cNvSpPr/>
          <p:nvPr/>
        </p:nvSpPr>
        <p:spPr>
          <a:xfrm>
            <a:off x="7092680" y="5884892"/>
            <a:ext cx="197235" cy="123961"/>
          </a:xfrm>
          <a:prstGeom prst="rect">
            <a:avLst/>
          </a:prstGeom>
          <a:noFill/>
          <a:ln w="28575">
            <a:solidFill>
              <a:schemeClr val="accent4"/>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endParaRPr lang="en-US" sz="1600" b="1">
              <a:solidFill>
                <a:schemeClr val="tx1"/>
              </a:solidFill>
            </a:endParaRPr>
          </a:p>
        </p:txBody>
      </p:sp>
      <p:sp>
        <p:nvSpPr>
          <p:cNvPr id="8" name="Rectangle 7">
            <a:extLst>
              <a:ext uri="{FF2B5EF4-FFF2-40B4-BE49-F238E27FC236}">
                <a16:creationId xmlns:a16="http://schemas.microsoft.com/office/drawing/2014/main" id="{64F582D1-0DE2-4A6E-0967-49C6A4BB31E1}"/>
              </a:ext>
            </a:extLst>
          </p:cNvPr>
          <p:cNvSpPr/>
          <p:nvPr/>
        </p:nvSpPr>
        <p:spPr>
          <a:xfrm>
            <a:off x="206544" y="3694294"/>
            <a:ext cx="1280160" cy="556597"/>
          </a:xfrm>
          <a:prstGeom prst="rect">
            <a:avLst/>
          </a:prstGeom>
          <a:noFill/>
          <a:ln w="28575">
            <a:solidFill>
              <a:schemeClr val="accent4"/>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endParaRPr lang="en-US" sz="1600" b="1">
              <a:solidFill>
                <a:schemeClr val="tx1"/>
              </a:solidFill>
            </a:endParaRPr>
          </a:p>
        </p:txBody>
      </p:sp>
      <p:sp>
        <p:nvSpPr>
          <p:cNvPr id="110" name="Footer Placeholder 110"/>
          <p:cNvSpPr>
            <a:spLocks noGrp="1"/>
          </p:cNvSpPr>
          <p:nvPr>
            <p:ph type="ftr" sz="quarter" idx="16"/>
          </p:nvPr>
        </p:nvSpPr>
        <p:spPr>
          <a:xfrm>
            <a:off x="863745" y="6591503"/>
            <a:ext cx="7416510" cy="184151"/>
          </a:xfrm>
        </p:spPr>
        <p:txBody>
          <a:bodyPr/>
          <a:lstStyle/>
          <a:p>
            <a:r>
              <a:rPr lang="en-US" sz="800"/>
              <a:t>These materials are confidential and to be used only by the client to whom they are addressed</a:t>
            </a:r>
          </a:p>
        </p:txBody>
      </p:sp>
    </p:spTree>
    <p:extLst>
      <p:ext uri="{BB962C8B-B14F-4D97-AF65-F5344CB8AC3E}">
        <p14:creationId xmlns:p14="http://schemas.microsoft.com/office/powerpoint/2010/main" val="3512352130"/>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C665CB-8949-5094-4E82-474CD0124D48}"/>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FE07CF65-3B36-213F-A35F-C886FB0BFE43}"/>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5" name="Title 4">
            <a:extLst>
              <a:ext uri="{FF2B5EF4-FFF2-40B4-BE49-F238E27FC236}">
                <a16:creationId xmlns:a16="http://schemas.microsoft.com/office/drawing/2014/main" id="{F3BB454E-8BB6-2324-9C9F-B2ADDA440FC6}"/>
              </a:ext>
            </a:extLst>
          </p:cNvPr>
          <p:cNvSpPr>
            <a:spLocks noGrp="1"/>
          </p:cNvSpPr>
          <p:nvPr>
            <p:ph type="title"/>
          </p:nvPr>
        </p:nvSpPr>
        <p:spPr>
          <a:xfrm>
            <a:off x="882797" y="44215"/>
            <a:ext cx="8074152" cy="1292899"/>
          </a:xfrm>
        </p:spPr>
        <p:txBody>
          <a:bodyPr/>
          <a:lstStyle/>
          <a:p>
            <a:r>
              <a:rPr lang="en-US" dirty="0"/>
              <a:t>Goofy’s peer group has been stable for the past three years</a:t>
            </a:r>
          </a:p>
        </p:txBody>
      </p:sp>
      <p:sp>
        <p:nvSpPr>
          <p:cNvPr id="4" name="Slide Number Placeholder 3">
            <a:extLst>
              <a:ext uri="{FF2B5EF4-FFF2-40B4-BE49-F238E27FC236}">
                <a16:creationId xmlns:a16="http://schemas.microsoft.com/office/drawing/2014/main" id="{4A23B4BD-1F76-1468-F66C-804DBF72F318}"/>
              </a:ext>
            </a:extLst>
          </p:cNvPr>
          <p:cNvSpPr>
            <a:spLocks noGrp="1"/>
          </p:cNvSpPr>
          <p:nvPr>
            <p:ph type="sldNum" sz="quarter" idx="12"/>
          </p:nvPr>
        </p:nvSpPr>
        <p:spPr>
          <a:xfrm>
            <a:off x="8581802" y="6577909"/>
            <a:ext cx="352260" cy="211339"/>
          </a:xfrm>
        </p:spPr>
        <p:txBody>
          <a:bodyPr/>
          <a:lstStyle/>
          <a:p>
            <a:fld id="{91690BAF-E217-4185-92FD-0CEA06F2B7C8}" type="slidenum">
              <a:rPr lang="en-US" smtClean="0"/>
              <a:pPr/>
              <a:t>11</a:t>
            </a:fld>
            <a:endParaRPr lang="en-US"/>
          </a:p>
        </p:txBody>
      </p:sp>
      <p:graphicFrame>
        <p:nvGraphicFramePr>
          <p:cNvPr id="2" name="Table 1">
            <a:extLst>
              <a:ext uri="{FF2B5EF4-FFF2-40B4-BE49-F238E27FC236}">
                <a16:creationId xmlns:a16="http://schemas.microsoft.com/office/drawing/2014/main" id="{20E0F83C-CDA7-ACE6-74A4-E26DC6223693}"/>
              </a:ext>
            </a:extLst>
          </p:cNvPr>
          <p:cNvGraphicFramePr>
            <a:graphicFrameLocks noGrp="1"/>
          </p:cNvGraphicFramePr>
          <p:nvPr>
            <p:extLst>
              <p:ext uri="{D42A27DB-BD31-4B8C-83A1-F6EECF244321}">
                <p14:modId xmlns:p14="http://schemas.microsoft.com/office/powerpoint/2010/main" val="1532104495"/>
              </p:ext>
            </p:extLst>
          </p:nvPr>
        </p:nvGraphicFramePr>
        <p:xfrm>
          <a:off x="322755" y="1380767"/>
          <a:ext cx="6508684" cy="4777800"/>
        </p:xfrm>
        <a:graphic>
          <a:graphicData uri="http://schemas.openxmlformats.org/drawingml/2006/table">
            <a:tbl>
              <a:tblPr/>
              <a:tblGrid>
                <a:gridCol w="1463040">
                  <a:extLst>
                    <a:ext uri="{9D8B030D-6E8A-4147-A177-3AD203B41FA5}">
                      <a16:colId xmlns:a16="http://schemas.microsoft.com/office/drawing/2014/main" val="230380644"/>
                    </a:ext>
                  </a:extLst>
                </a:gridCol>
                <a:gridCol w="565084">
                  <a:extLst>
                    <a:ext uri="{9D8B030D-6E8A-4147-A177-3AD203B41FA5}">
                      <a16:colId xmlns:a16="http://schemas.microsoft.com/office/drawing/2014/main" val="3934463665"/>
                    </a:ext>
                  </a:extLst>
                </a:gridCol>
                <a:gridCol w="822960">
                  <a:extLst>
                    <a:ext uri="{9D8B030D-6E8A-4147-A177-3AD203B41FA5}">
                      <a16:colId xmlns:a16="http://schemas.microsoft.com/office/drawing/2014/main" val="1956551167"/>
                    </a:ext>
                  </a:extLst>
                </a:gridCol>
                <a:gridCol w="365760">
                  <a:extLst>
                    <a:ext uri="{9D8B030D-6E8A-4147-A177-3AD203B41FA5}">
                      <a16:colId xmlns:a16="http://schemas.microsoft.com/office/drawing/2014/main" val="101277548"/>
                    </a:ext>
                  </a:extLst>
                </a:gridCol>
                <a:gridCol w="365760">
                  <a:extLst>
                    <a:ext uri="{9D8B030D-6E8A-4147-A177-3AD203B41FA5}">
                      <a16:colId xmlns:a16="http://schemas.microsoft.com/office/drawing/2014/main" val="731183002"/>
                    </a:ext>
                  </a:extLst>
                </a:gridCol>
                <a:gridCol w="365760">
                  <a:extLst>
                    <a:ext uri="{9D8B030D-6E8A-4147-A177-3AD203B41FA5}">
                      <a16:colId xmlns:a16="http://schemas.microsoft.com/office/drawing/2014/main" val="554622406"/>
                    </a:ext>
                  </a:extLst>
                </a:gridCol>
                <a:gridCol w="365760">
                  <a:extLst>
                    <a:ext uri="{9D8B030D-6E8A-4147-A177-3AD203B41FA5}">
                      <a16:colId xmlns:a16="http://schemas.microsoft.com/office/drawing/2014/main" val="3111695633"/>
                    </a:ext>
                  </a:extLst>
                </a:gridCol>
                <a:gridCol w="365760">
                  <a:extLst>
                    <a:ext uri="{9D8B030D-6E8A-4147-A177-3AD203B41FA5}">
                      <a16:colId xmlns:a16="http://schemas.microsoft.com/office/drawing/2014/main" val="4245160970"/>
                    </a:ext>
                  </a:extLst>
                </a:gridCol>
                <a:gridCol w="365760">
                  <a:extLst>
                    <a:ext uri="{9D8B030D-6E8A-4147-A177-3AD203B41FA5}">
                      <a16:colId xmlns:a16="http://schemas.microsoft.com/office/drawing/2014/main" val="896441405"/>
                    </a:ext>
                  </a:extLst>
                </a:gridCol>
                <a:gridCol w="365760">
                  <a:extLst>
                    <a:ext uri="{9D8B030D-6E8A-4147-A177-3AD203B41FA5}">
                      <a16:colId xmlns:a16="http://schemas.microsoft.com/office/drawing/2014/main" val="1466140795"/>
                    </a:ext>
                  </a:extLst>
                </a:gridCol>
                <a:gridCol w="365760">
                  <a:extLst>
                    <a:ext uri="{9D8B030D-6E8A-4147-A177-3AD203B41FA5}">
                      <a16:colId xmlns:a16="http://schemas.microsoft.com/office/drawing/2014/main" val="2836979919"/>
                    </a:ext>
                  </a:extLst>
                </a:gridCol>
                <a:gridCol w="365760">
                  <a:extLst>
                    <a:ext uri="{9D8B030D-6E8A-4147-A177-3AD203B41FA5}">
                      <a16:colId xmlns:a16="http://schemas.microsoft.com/office/drawing/2014/main" val="3238501657"/>
                    </a:ext>
                  </a:extLst>
                </a:gridCol>
                <a:gridCol w="365760">
                  <a:extLst>
                    <a:ext uri="{9D8B030D-6E8A-4147-A177-3AD203B41FA5}">
                      <a16:colId xmlns:a16="http://schemas.microsoft.com/office/drawing/2014/main" val="3406367229"/>
                    </a:ext>
                  </a:extLst>
                </a:gridCol>
              </a:tblGrid>
              <a:tr h="135772">
                <a:tc>
                  <a:txBody>
                    <a:bodyPr/>
                    <a:lstStyle/>
                    <a:p>
                      <a:pPr algn="ctr" rtl="0" fontAlgn="b"/>
                      <a:r>
                        <a:rPr lang="en-US" sz="1000" b="1" i="0" u="none" strike="noStrike" dirty="0">
                          <a:solidFill>
                            <a:srgbClr val="FFFFFF"/>
                          </a:solidFill>
                          <a:effectLst/>
                          <a:latin typeface="+mj-lt"/>
                        </a:rPr>
                        <a:t>Peer Company List</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rtl="0" fontAlgn="b"/>
                      <a:r>
                        <a:rPr lang="en-US" sz="1000" b="1" i="0" u="none" strike="noStrike">
                          <a:solidFill>
                            <a:srgbClr val="FFFFFF"/>
                          </a:solidFill>
                          <a:effectLst/>
                          <a:latin typeface="+mj-lt"/>
                        </a:rPr>
                        <a:t>Industry</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rtl="0" fontAlgn="b"/>
                      <a:r>
                        <a:rPr lang="en-US" sz="1000" b="1" i="0" u="none" strike="noStrike">
                          <a:solidFill>
                            <a:srgbClr val="FFFFFF"/>
                          </a:solidFill>
                          <a:effectLst/>
                          <a:latin typeface="+mj-lt"/>
                        </a:rPr>
                        <a:t>FYE Revenue </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rtl="0" fontAlgn="b"/>
                      <a:r>
                        <a:rPr lang="en-US" sz="1000" b="1" i="0" u="none" strike="noStrike">
                          <a:solidFill>
                            <a:srgbClr val="FFFFFF"/>
                          </a:solidFill>
                          <a:effectLst/>
                          <a:latin typeface="+mj-lt"/>
                        </a:rPr>
                        <a:t>2016</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rtl="0" fontAlgn="b"/>
                      <a:r>
                        <a:rPr lang="en-US" sz="1000" b="1" i="0" u="none" strike="noStrike">
                          <a:solidFill>
                            <a:srgbClr val="FFFFFF"/>
                          </a:solidFill>
                          <a:effectLst/>
                          <a:latin typeface="+mj-lt"/>
                        </a:rPr>
                        <a:t>2017</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rtl="0" fontAlgn="b"/>
                      <a:r>
                        <a:rPr lang="en-US" sz="1000" b="1" i="0" u="none" strike="noStrike">
                          <a:solidFill>
                            <a:srgbClr val="FFFFFF"/>
                          </a:solidFill>
                          <a:effectLst/>
                          <a:latin typeface="+mj-lt"/>
                        </a:rPr>
                        <a:t>2018</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rtl="0" fontAlgn="b"/>
                      <a:r>
                        <a:rPr lang="en-US" sz="1000" b="1" i="0" u="none" strike="noStrike">
                          <a:solidFill>
                            <a:srgbClr val="FFFFFF"/>
                          </a:solidFill>
                          <a:effectLst/>
                          <a:latin typeface="+mj-lt"/>
                        </a:rPr>
                        <a:t>2019</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rtl="0" fontAlgn="b"/>
                      <a:r>
                        <a:rPr lang="en-US" sz="1000" b="1" i="0" u="none" strike="noStrike">
                          <a:solidFill>
                            <a:srgbClr val="FFFFFF"/>
                          </a:solidFill>
                          <a:effectLst/>
                          <a:latin typeface="+mj-lt"/>
                        </a:rPr>
                        <a:t>2020</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rtl="0" fontAlgn="b"/>
                      <a:r>
                        <a:rPr lang="en-US" sz="1000" b="1" i="0" u="none" strike="noStrike">
                          <a:solidFill>
                            <a:srgbClr val="FFFFFF"/>
                          </a:solidFill>
                          <a:effectLst/>
                          <a:latin typeface="+mj-lt"/>
                        </a:rPr>
                        <a:t>2021</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rtl="0" fontAlgn="b"/>
                      <a:r>
                        <a:rPr lang="en-US" sz="1000" b="1" i="0" u="none" strike="noStrike">
                          <a:solidFill>
                            <a:srgbClr val="FFFFFF"/>
                          </a:solidFill>
                          <a:effectLst/>
                          <a:latin typeface="+mj-lt"/>
                        </a:rPr>
                        <a:t>2022</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rtl="0" fontAlgn="b"/>
                      <a:r>
                        <a:rPr lang="en-US" sz="1000" b="1" i="0" u="none" strike="noStrike">
                          <a:solidFill>
                            <a:srgbClr val="FFFFFF"/>
                          </a:solidFill>
                          <a:effectLst/>
                          <a:latin typeface="+mj-lt"/>
                        </a:rPr>
                        <a:t>2023</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rtl="0" fontAlgn="b"/>
                      <a:r>
                        <a:rPr lang="en-US" sz="1000" b="1" i="0" u="none" strike="noStrike">
                          <a:solidFill>
                            <a:srgbClr val="FFFFFF"/>
                          </a:solidFill>
                          <a:effectLst/>
                          <a:latin typeface="+mj-lt"/>
                        </a:rPr>
                        <a:t>2024</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rtl="0" fontAlgn="b"/>
                      <a:r>
                        <a:rPr lang="en-US" sz="1000" b="1" i="0" u="none" strike="noStrike">
                          <a:solidFill>
                            <a:srgbClr val="FFFFFF"/>
                          </a:solidFill>
                          <a:effectLst/>
                          <a:latin typeface="+mj-lt"/>
                        </a:rPr>
                        <a:t>2025</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2404429242"/>
                  </a:ext>
                </a:extLst>
              </a:tr>
              <a:tr h="135772">
                <a:tc>
                  <a:txBody>
                    <a:bodyPr/>
                    <a:lstStyle/>
                    <a:p>
                      <a:pPr algn="l" rtl="0" fontAlgn="b">
                        <a:buNone/>
                      </a:pPr>
                      <a:r>
                        <a:rPr lang="en-US" sz="1000" b="0" i="0" u="none" strike="noStrike">
                          <a:solidFill>
                            <a:srgbClr val="000000"/>
                          </a:solidFill>
                          <a:effectLst/>
                          <a:latin typeface="+mj-lt"/>
                        </a:rPr>
                        <a:t>Intuitive</a:t>
                      </a:r>
                    </a:p>
                  </a:txBody>
                  <a:tcPr marL="27432" marR="27432"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rtl="0" fontAlgn="b">
                        <a:buNone/>
                      </a:pPr>
                      <a:r>
                        <a:rPr lang="en-US" sz="1000" b="0" i="0" u="none" strike="noStrike">
                          <a:solidFill>
                            <a:srgbClr val="000000"/>
                          </a:solidFill>
                          <a:effectLst/>
                          <a:latin typeface="+mj-lt"/>
                        </a:rPr>
                        <a:t>HCE</a:t>
                      </a:r>
                    </a:p>
                  </a:txBody>
                  <a:tcPr marL="27432" marR="27432"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rtl="0" fontAlgn="b">
                        <a:buNone/>
                      </a:pPr>
                      <a:r>
                        <a:rPr lang="en-US" sz="1000" b="0" i="0" u="none" strike="noStrike">
                          <a:solidFill>
                            <a:srgbClr val="000000"/>
                          </a:solidFill>
                          <a:effectLst/>
                          <a:latin typeface="+mj-lt"/>
                        </a:rPr>
                        <a:t>$10,065 </a:t>
                      </a:r>
                    </a:p>
                  </a:txBody>
                  <a:tcPr marL="27432" marR="27432"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w="6350" cap="flat" cmpd="sng" algn="ctr">
                      <a:solidFill>
                        <a:srgbClr val="000000"/>
                      </a:solidFill>
                      <a:prstDash val="solid"/>
                      <a:round/>
                      <a:headEnd type="none" w="med" len="med"/>
                      <a:tailEnd type="none" w="med" len="med"/>
                    </a:lnT>
                    <a:lnB>
                      <a:noFill/>
                    </a:lnB>
                    <a:solidFill>
                      <a:schemeClr val="accent2">
                        <a:lumMod val="20000"/>
                        <a:lumOff val="80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465145453"/>
                  </a:ext>
                </a:extLst>
              </a:tr>
              <a:tr h="135772">
                <a:tc>
                  <a:txBody>
                    <a:bodyPr/>
                    <a:lstStyle/>
                    <a:p>
                      <a:pPr algn="l" rtl="0" fontAlgn="b">
                        <a:buNone/>
                      </a:pPr>
                      <a:r>
                        <a:rPr lang="en-US" sz="1000" b="0" i="0" u="none" strike="noStrike">
                          <a:solidFill>
                            <a:srgbClr val="000000"/>
                          </a:solidFill>
                          <a:effectLst/>
                          <a:latin typeface="+mj-lt"/>
                        </a:rPr>
                        <a:t>Zoetis</a:t>
                      </a:r>
                    </a:p>
                  </a:txBody>
                  <a:tcPr marL="27432" marR="27432" marT="0" marB="0" anchor="b">
                    <a:lnL>
                      <a:noFill/>
                    </a:lnL>
                    <a:lnR>
                      <a:noFill/>
                    </a:lnR>
                    <a:lnT>
                      <a:noFill/>
                    </a:lnT>
                    <a:lnB>
                      <a:noFill/>
                    </a:lnB>
                    <a:solidFill>
                      <a:srgbClr val="F2F2F2"/>
                    </a:solidFill>
                  </a:tcPr>
                </a:tc>
                <a:tc>
                  <a:txBody>
                    <a:bodyPr/>
                    <a:lstStyle/>
                    <a:p>
                      <a:pPr algn="ctr" rtl="0" fontAlgn="b">
                        <a:buNone/>
                      </a:pPr>
                      <a:r>
                        <a:rPr lang="en-US" sz="1000" b="0" i="0" u="none" strike="noStrike">
                          <a:solidFill>
                            <a:srgbClr val="000000"/>
                          </a:solidFill>
                          <a:effectLst/>
                          <a:latin typeface="+mj-lt"/>
                        </a:rPr>
                        <a:t>P</a:t>
                      </a:r>
                    </a:p>
                  </a:txBody>
                  <a:tcPr marL="27432" marR="27432" marT="0" marB="0" anchor="b">
                    <a:lnL>
                      <a:noFill/>
                    </a:lnL>
                    <a:lnR>
                      <a:noFill/>
                    </a:lnR>
                    <a:lnT>
                      <a:noFill/>
                    </a:lnT>
                    <a:lnB>
                      <a:noFill/>
                    </a:lnB>
                    <a:solidFill>
                      <a:srgbClr val="F2F2F2"/>
                    </a:solidFill>
                  </a:tcPr>
                </a:tc>
                <a:tc>
                  <a:txBody>
                    <a:bodyPr/>
                    <a:lstStyle/>
                    <a:p>
                      <a:pPr algn="ctr" rtl="0" fontAlgn="b">
                        <a:buNone/>
                      </a:pPr>
                      <a:r>
                        <a:rPr lang="en-US" sz="1000" b="0" i="0" u="none" strike="noStrike">
                          <a:solidFill>
                            <a:srgbClr val="000000"/>
                          </a:solidFill>
                          <a:effectLst/>
                          <a:latin typeface="+mj-lt"/>
                        </a:rPr>
                        <a:t>$9,467 </a:t>
                      </a:r>
                    </a:p>
                  </a:txBody>
                  <a:tcPr marL="27432" marR="27432" marT="0" marB="0" anchor="b">
                    <a:lnL>
                      <a:noFill/>
                    </a:lnL>
                    <a:lnR>
                      <a:noFill/>
                    </a:lnR>
                    <a:lnT>
                      <a:noFill/>
                    </a:lnT>
                    <a:lnB>
                      <a:noFill/>
                    </a:lnB>
                    <a:solidFill>
                      <a:srgbClr val="F2F2F2"/>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accent2">
                        <a:lumMod val="20000"/>
                        <a:lumOff val="80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1290757755"/>
                  </a:ext>
                </a:extLst>
              </a:tr>
              <a:tr h="135772">
                <a:tc>
                  <a:txBody>
                    <a:bodyPr/>
                    <a:lstStyle/>
                    <a:p>
                      <a:pPr algn="l" rtl="0" fontAlgn="b">
                        <a:buNone/>
                      </a:pPr>
                      <a:r>
                        <a:rPr lang="en-US" sz="1000" b="0" i="0" u="none" strike="noStrike">
                          <a:solidFill>
                            <a:srgbClr val="000000"/>
                          </a:solidFill>
                          <a:effectLst/>
                          <a:latin typeface="+mj-lt"/>
                        </a:rPr>
                        <a:t>Agilent</a:t>
                      </a:r>
                    </a:p>
                  </a:txBody>
                  <a:tcPr marL="27432" marR="27432" marT="0" marB="0" anchor="b">
                    <a:lnL>
                      <a:noFill/>
                    </a:lnL>
                    <a:lnR>
                      <a:noFill/>
                    </a:lnR>
                    <a:lnT>
                      <a:noFill/>
                    </a:lnT>
                    <a:lnB>
                      <a:noFill/>
                    </a:lnB>
                    <a:noFill/>
                  </a:tcPr>
                </a:tc>
                <a:tc>
                  <a:txBody>
                    <a:bodyPr/>
                    <a:lstStyle/>
                    <a:p>
                      <a:pPr algn="ctr" rtl="0" fontAlgn="b">
                        <a:buNone/>
                      </a:pPr>
                      <a:r>
                        <a:rPr lang="en-US" sz="1000" b="0" i="0" u="none" strike="noStrike">
                          <a:solidFill>
                            <a:srgbClr val="000000"/>
                          </a:solidFill>
                          <a:effectLst/>
                          <a:latin typeface="+mj-lt"/>
                        </a:rPr>
                        <a:t>LS</a:t>
                      </a:r>
                    </a:p>
                  </a:txBody>
                  <a:tcPr marL="27432" marR="27432" marT="0" marB="0" anchor="b">
                    <a:lnL>
                      <a:noFill/>
                    </a:lnL>
                    <a:lnR>
                      <a:noFill/>
                    </a:lnR>
                    <a:lnT>
                      <a:noFill/>
                    </a:lnT>
                    <a:lnB>
                      <a:noFill/>
                    </a:lnB>
                    <a:noFill/>
                  </a:tcPr>
                </a:tc>
                <a:tc>
                  <a:txBody>
                    <a:bodyPr/>
                    <a:lstStyle/>
                    <a:p>
                      <a:pPr algn="ctr" rtl="0" fontAlgn="b">
                        <a:buNone/>
                      </a:pPr>
                      <a:r>
                        <a:rPr lang="en-US" sz="1000" b="0" i="0" u="none" strike="noStrike">
                          <a:solidFill>
                            <a:srgbClr val="000000"/>
                          </a:solidFill>
                          <a:effectLst/>
                          <a:latin typeface="+mj-lt"/>
                        </a:rPr>
                        <a:t>$6,948 </a:t>
                      </a:r>
                    </a:p>
                  </a:txBody>
                  <a:tcPr marL="27432" marR="27432" marT="0" marB="0" anchor="b">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accent2">
                        <a:lumMod val="20000"/>
                        <a:lumOff val="80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extLst>
                  <a:ext uri="{0D108BD9-81ED-4DB2-BD59-A6C34878D82A}">
                    <a16:rowId xmlns:a16="http://schemas.microsoft.com/office/drawing/2014/main" val="1547752452"/>
                  </a:ext>
                </a:extLst>
              </a:tr>
              <a:tr h="135772">
                <a:tc>
                  <a:txBody>
                    <a:bodyPr/>
                    <a:lstStyle/>
                    <a:p>
                      <a:pPr algn="l" rtl="0" fontAlgn="b">
                        <a:buNone/>
                      </a:pPr>
                      <a:r>
                        <a:rPr lang="en-US" sz="1000" b="0" i="0" u="none" strike="noStrike">
                          <a:solidFill>
                            <a:srgbClr val="000000"/>
                          </a:solidFill>
                          <a:effectLst/>
                          <a:latin typeface="+mj-lt"/>
                        </a:rPr>
                        <a:t>Edwards Lifesciences</a:t>
                      </a:r>
                    </a:p>
                  </a:txBody>
                  <a:tcPr marL="27432" marR="27432" marT="0" marB="0" anchor="b">
                    <a:lnL>
                      <a:noFill/>
                    </a:lnL>
                    <a:lnR>
                      <a:noFill/>
                    </a:lnR>
                    <a:lnT>
                      <a:noFill/>
                    </a:lnT>
                    <a:lnB>
                      <a:noFill/>
                    </a:lnB>
                    <a:solidFill>
                      <a:srgbClr val="F2F2F2"/>
                    </a:solidFill>
                  </a:tcPr>
                </a:tc>
                <a:tc>
                  <a:txBody>
                    <a:bodyPr/>
                    <a:lstStyle/>
                    <a:p>
                      <a:pPr algn="ctr" rtl="0" fontAlgn="b">
                        <a:buNone/>
                      </a:pPr>
                      <a:r>
                        <a:rPr lang="en-US" sz="1000" b="0" i="0" u="none" strike="noStrike">
                          <a:solidFill>
                            <a:srgbClr val="000000"/>
                          </a:solidFill>
                          <a:effectLst/>
                          <a:latin typeface="+mj-lt"/>
                        </a:rPr>
                        <a:t>HCE</a:t>
                      </a:r>
                    </a:p>
                  </a:txBody>
                  <a:tcPr marL="27432" marR="27432" marT="0" marB="0" anchor="b">
                    <a:lnL>
                      <a:noFill/>
                    </a:lnL>
                    <a:lnR>
                      <a:noFill/>
                    </a:lnR>
                    <a:lnT>
                      <a:noFill/>
                    </a:lnT>
                    <a:lnB>
                      <a:noFill/>
                    </a:lnB>
                    <a:solidFill>
                      <a:srgbClr val="F2F2F2"/>
                    </a:solidFill>
                  </a:tcPr>
                </a:tc>
                <a:tc>
                  <a:txBody>
                    <a:bodyPr/>
                    <a:lstStyle/>
                    <a:p>
                      <a:pPr algn="ctr" rtl="0" fontAlgn="b">
                        <a:buNone/>
                      </a:pPr>
                      <a:r>
                        <a:rPr lang="en-US" sz="1000" b="0" i="0" u="none" strike="noStrike">
                          <a:solidFill>
                            <a:srgbClr val="000000"/>
                          </a:solidFill>
                          <a:effectLst/>
                          <a:latin typeface="+mj-lt"/>
                        </a:rPr>
                        <a:t>$6,068 </a:t>
                      </a:r>
                    </a:p>
                  </a:txBody>
                  <a:tcPr marL="27432" marR="27432" marT="0" marB="0" anchor="b">
                    <a:lnL>
                      <a:noFill/>
                    </a:lnL>
                    <a:lnR>
                      <a:noFill/>
                    </a:lnR>
                    <a:lnT>
                      <a:noFill/>
                    </a:lnT>
                    <a:lnB>
                      <a:noFill/>
                    </a:lnB>
                    <a:solidFill>
                      <a:srgbClr val="F2F2F2"/>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3346756682"/>
                  </a:ext>
                </a:extLst>
              </a:tr>
              <a:tr h="135772">
                <a:tc>
                  <a:txBody>
                    <a:bodyPr/>
                    <a:lstStyle/>
                    <a:p>
                      <a:pPr algn="l" rtl="0" fontAlgn="b">
                        <a:buNone/>
                      </a:pPr>
                      <a:r>
                        <a:rPr lang="en-US" sz="1000" b="0" i="0" u="none" strike="noStrike">
                          <a:solidFill>
                            <a:srgbClr val="000000"/>
                          </a:solidFill>
                          <a:effectLst/>
                          <a:latin typeface="+mj-lt"/>
                        </a:rPr>
                        <a:t>STERIS</a:t>
                      </a:r>
                    </a:p>
                  </a:txBody>
                  <a:tcPr marL="27432" marR="27432" marT="0" marB="0" anchor="b">
                    <a:lnL>
                      <a:noFill/>
                    </a:lnL>
                    <a:lnR>
                      <a:noFill/>
                    </a:lnR>
                    <a:lnT>
                      <a:noFill/>
                    </a:lnT>
                    <a:lnB>
                      <a:noFill/>
                    </a:lnB>
                    <a:noFill/>
                  </a:tcPr>
                </a:tc>
                <a:tc>
                  <a:txBody>
                    <a:bodyPr/>
                    <a:lstStyle/>
                    <a:p>
                      <a:pPr algn="ctr" rtl="0" fontAlgn="b">
                        <a:buNone/>
                      </a:pPr>
                      <a:r>
                        <a:rPr lang="en-US" sz="1000" b="0" i="0" u="none" strike="noStrike">
                          <a:solidFill>
                            <a:srgbClr val="000000"/>
                          </a:solidFill>
                          <a:effectLst/>
                          <a:latin typeface="+mj-lt"/>
                        </a:rPr>
                        <a:t>HCE</a:t>
                      </a:r>
                    </a:p>
                  </a:txBody>
                  <a:tcPr marL="27432" marR="27432" marT="0" marB="0" anchor="b">
                    <a:lnL>
                      <a:noFill/>
                    </a:lnL>
                    <a:lnR>
                      <a:noFill/>
                    </a:lnR>
                    <a:lnT>
                      <a:noFill/>
                    </a:lnT>
                    <a:lnB>
                      <a:noFill/>
                    </a:lnB>
                    <a:noFill/>
                  </a:tcPr>
                </a:tc>
                <a:tc>
                  <a:txBody>
                    <a:bodyPr/>
                    <a:lstStyle/>
                    <a:p>
                      <a:pPr algn="ctr" rtl="0" fontAlgn="b">
                        <a:buNone/>
                      </a:pPr>
                      <a:r>
                        <a:rPr lang="en-US" sz="1000" b="0" i="0" u="none" strike="noStrike">
                          <a:solidFill>
                            <a:srgbClr val="000000"/>
                          </a:solidFill>
                          <a:effectLst/>
                          <a:latin typeface="+mj-lt"/>
                        </a:rPr>
                        <a:t>$5,460 </a:t>
                      </a:r>
                    </a:p>
                  </a:txBody>
                  <a:tcPr marL="27432" marR="27432" marT="0" marB="0" anchor="b">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extLst>
                  <a:ext uri="{0D108BD9-81ED-4DB2-BD59-A6C34878D82A}">
                    <a16:rowId xmlns:a16="http://schemas.microsoft.com/office/drawing/2014/main" val="1490830900"/>
                  </a:ext>
                </a:extLst>
              </a:tr>
              <a:tr h="135772">
                <a:tc>
                  <a:txBody>
                    <a:bodyPr/>
                    <a:lstStyle/>
                    <a:p>
                      <a:pPr algn="l" rtl="0" fontAlgn="b">
                        <a:buNone/>
                      </a:pPr>
                      <a:r>
                        <a:rPr lang="en-US" sz="1000" b="0" i="0" u="none" strike="noStrike">
                          <a:solidFill>
                            <a:srgbClr val="000000"/>
                          </a:solidFill>
                          <a:effectLst/>
                          <a:latin typeface="+mj-lt"/>
                        </a:rPr>
                        <a:t>ResMed</a:t>
                      </a:r>
                    </a:p>
                  </a:txBody>
                  <a:tcPr marL="27432" marR="27432" marT="0" marB="0" anchor="b">
                    <a:lnL>
                      <a:noFill/>
                    </a:lnL>
                    <a:lnR>
                      <a:noFill/>
                    </a:lnR>
                    <a:lnT>
                      <a:noFill/>
                    </a:lnT>
                    <a:lnB>
                      <a:noFill/>
                    </a:lnB>
                    <a:solidFill>
                      <a:srgbClr val="F2F2F2"/>
                    </a:solidFill>
                  </a:tcPr>
                </a:tc>
                <a:tc>
                  <a:txBody>
                    <a:bodyPr/>
                    <a:lstStyle/>
                    <a:p>
                      <a:pPr algn="ctr" rtl="0" fontAlgn="b">
                        <a:buNone/>
                      </a:pPr>
                      <a:r>
                        <a:rPr lang="en-US" sz="1000" b="0" i="0" u="none" strike="noStrike">
                          <a:solidFill>
                            <a:srgbClr val="000000"/>
                          </a:solidFill>
                          <a:effectLst/>
                          <a:latin typeface="+mj-lt"/>
                        </a:rPr>
                        <a:t>HCE</a:t>
                      </a:r>
                    </a:p>
                  </a:txBody>
                  <a:tcPr marL="27432" marR="27432" marT="0" marB="0" anchor="b">
                    <a:lnL>
                      <a:noFill/>
                    </a:lnL>
                    <a:lnR>
                      <a:noFill/>
                    </a:lnR>
                    <a:lnT>
                      <a:noFill/>
                    </a:lnT>
                    <a:lnB>
                      <a:noFill/>
                    </a:lnB>
                    <a:solidFill>
                      <a:srgbClr val="F2F2F2"/>
                    </a:solidFill>
                  </a:tcPr>
                </a:tc>
                <a:tc>
                  <a:txBody>
                    <a:bodyPr/>
                    <a:lstStyle/>
                    <a:p>
                      <a:pPr algn="ctr" rtl="0" fontAlgn="b">
                        <a:buNone/>
                      </a:pPr>
                      <a:r>
                        <a:rPr lang="en-US" sz="1000" b="0" i="0" u="none" strike="noStrike">
                          <a:solidFill>
                            <a:srgbClr val="000000"/>
                          </a:solidFill>
                          <a:effectLst/>
                          <a:latin typeface="+mj-lt"/>
                        </a:rPr>
                        <a:t>$5,146 </a:t>
                      </a:r>
                    </a:p>
                  </a:txBody>
                  <a:tcPr marL="27432" marR="27432" marT="0" marB="0" anchor="b">
                    <a:lnL>
                      <a:noFill/>
                    </a:lnL>
                    <a:lnR>
                      <a:noFill/>
                    </a:lnR>
                    <a:lnT>
                      <a:noFill/>
                    </a:lnT>
                    <a:lnB>
                      <a:noFill/>
                    </a:lnB>
                    <a:solidFill>
                      <a:srgbClr val="F2F2F2"/>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1682310176"/>
                  </a:ext>
                </a:extLst>
              </a:tr>
              <a:tr h="135772">
                <a:tc>
                  <a:txBody>
                    <a:bodyPr/>
                    <a:lstStyle/>
                    <a:p>
                      <a:pPr algn="l" rtl="0" fontAlgn="b">
                        <a:buNone/>
                      </a:pPr>
                      <a:r>
                        <a:rPr lang="en-US" sz="1000" b="0" i="0" u="none" strike="noStrike" dirty="0">
                          <a:solidFill>
                            <a:srgbClr val="000000"/>
                          </a:solidFill>
                          <a:effectLst/>
                          <a:latin typeface="+mj-lt"/>
                        </a:rPr>
                        <a:t>Elanco</a:t>
                      </a:r>
                    </a:p>
                  </a:txBody>
                  <a:tcPr marL="27432" marR="27432" marT="0" marB="0" anchor="b">
                    <a:lnL>
                      <a:noFill/>
                    </a:lnL>
                    <a:lnR>
                      <a:noFill/>
                    </a:lnR>
                    <a:lnT>
                      <a:noFill/>
                    </a:lnT>
                    <a:lnB>
                      <a:noFill/>
                    </a:lnB>
                    <a:noFill/>
                  </a:tcPr>
                </a:tc>
                <a:tc>
                  <a:txBody>
                    <a:bodyPr/>
                    <a:lstStyle/>
                    <a:p>
                      <a:pPr algn="ctr" rtl="0" fontAlgn="b">
                        <a:buNone/>
                      </a:pPr>
                      <a:r>
                        <a:rPr lang="en-US" sz="1000" b="0" i="0" u="none" strike="noStrike">
                          <a:solidFill>
                            <a:srgbClr val="000000"/>
                          </a:solidFill>
                          <a:effectLst/>
                          <a:latin typeface="+mj-lt"/>
                        </a:rPr>
                        <a:t>P</a:t>
                      </a:r>
                    </a:p>
                  </a:txBody>
                  <a:tcPr marL="27432" marR="27432" marT="0" marB="0" anchor="b">
                    <a:lnL>
                      <a:noFill/>
                    </a:lnL>
                    <a:lnR>
                      <a:noFill/>
                    </a:lnR>
                    <a:lnT>
                      <a:noFill/>
                    </a:lnT>
                    <a:lnB>
                      <a:noFill/>
                    </a:lnB>
                    <a:noFill/>
                  </a:tcPr>
                </a:tc>
                <a:tc>
                  <a:txBody>
                    <a:bodyPr/>
                    <a:lstStyle/>
                    <a:p>
                      <a:pPr algn="ctr" rtl="0" fontAlgn="b">
                        <a:buNone/>
                      </a:pPr>
                      <a:r>
                        <a:rPr lang="en-US" sz="1000" b="0" i="0" u="none" strike="noStrike">
                          <a:solidFill>
                            <a:srgbClr val="000000"/>
                          </a:solidFill>
                          <a:effectLst/>
                          <a:latin typeface="+mj-lt"/>
                        </a:rPr>
                        <a:t>$4,715 </a:t>
                      </a:r>
                    </a:p>
                  </a:txBody>
                  <a:tcPr marL="27432" marR="27432" marT="0" marB="0" anchor="b">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accent2">
                        <a:lumMod val="20000"/>
                        <a:lumOff val="80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extLst>
                  <a:ext uri="{0D108BD9-81ED-4DB2-BD59-A6C34878D82A}">
                    <a16:rowId xmlns:a16="http://schemas.microsoft.com/office/drawing/2014/main" val="781790509"/>
                  </a:ext>
                </a:extLst>
              </a:tr>
              <a:tr h="135772">
                <a:tc>
                  <a:txBody>
                    <a:bodyPr/>
                    <a:lstStyle/>
                    <a:p>
                      <a:pPr algn="l" rtl="0" fontAlgn="b">
                        <a:buNone/>
                      </a:pPr>
                      <a:r>
                        <a:rPr lang="en-US" sz="1000" b="0" i="0" u="none" strike="noStrike" dirty="0" err="1">
                          <a:solidFill>
                            <a:srgbClr val="000000"/>
                          </a:solidFill>
                          <a:effectLst/>
                          <a:latin typeface="+mj-lt"/>
                        </a:rPr>
                        <a:t>DexCom</a:t>
                      </a:r>
                      <a:endParaRPr lang="en-US" sz="1000" b="0" i="0" u="none" strike="noStrike" dirty="0">
                        <a:solidFill>
                          <a:srgbClr val="000000"/>
                        </a:solidFill>
                        <a:effectLst/>
                        <a:latin typeface="+mj-lt"/>
                      </a:endParaRPr>
                    </a:p>
                  </a:txBody>
                  <a:tcPr marL="27432" marR="27432" marT="0" marB="0" anchor="b">
                    <a:lnL>
                      <a:noFill/>
                    </a:lnL>
                    <a:lnR>
                      <a:noFill/>
                    </a:lnR>
                    <a:lnT>
                      <a:noFill/>
                    </a:lnT>
                    <a:lnB>
                      <a:noFill/>
                    </a:lnB>
                    <a:solidFill>
                      <a:srgbClr val="F2F2F2"/>
                    </a:solidFill>
                  </a:tcPr>
                </a:tc>
                <a:tc>
                  <a:txBody>
                    <a:bodyPr/>
                    <a:lstStyle/>
                    <a:p>
                      <a:pPr algn="ctr" rtl="0" fontAlgn="b">
                        <a:buNone/>
                      </a:pPr>
                      <a:r>
                        <a:rPr lang="en-US" sz="1000" b="0" i="0" u="none" strike="noStrike">
                          <a:solidFill>
                            <a:srgbClr val="000000"/>
                          </a:solidFill>
                          <a:effectLst/>
                          <a:latin typeface="+mj-lt"/>
                        </a:rPr>
                        <a:t>HCE</a:t>
                      </a:r>
                    </a:p>
                  </a:txBody>
                  <a:tcPr marL="27432" marR="27432" marT="0" marB="0" anchor="b">
                    <a:lnL>
                      <a:noFill/>
                    </a:lnL>
                    <a:lnR>
                      <a:noFill/>
                    </a:lnR>
                    <a:lnT>
                      <a:noFill/>
                    </a:lnT>
                    <a:lnB>
                      <a:noFill/>
                    </a:lnB>
                    <a:solidFill>
                      <a:srgbClr val="F2F2F2"/>
                    </a:solidFill>
                  </a:tcPr>
                </a:tc>
                <a:tc>
                  <a:txBody>
                    <a:bodyPr/>
                    <a:lstStyle/>
                    <a:p>
                      <a:pPr algn="ctr" rtl="0" fontAlgn="b">
                        <a:buNone/>
                      </a:pPr>
                      <a:r>
                        <a:rPr lang="en-US" sz="1000" b="0" i="0" u="none" strike="noStrike">
                          <a:solidFill>
                            <a:srgbClr val="000000"/>
                          </a:solidFill>
                          <a:effectLst/>
                          <a:latin typeface="+mj-lt"/>
                        </a:rPr>
                        <a:t>$4,662 </a:t>
                      </a:r>
                    </a:p>
                  </a:txBody>
                  <a:tcPr marL="27432" marR="27432" marT="0" marB="0" anchor="b">
                    <a:lnL>
                      <a:noFill/>
                    </a:lnL>
                    <a:lnR>
                      <a:noFill/>
                    </a:lnR>
                    <a:lnT>
                      <a:noFill/>
                    </a:lnT>
                    <a:lnB>
                      <a:noFill/>
                    </a:lnB>
                    <a:solidFill>
                      <a:srgbClr val="F2F2F2"/>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accent2">
                        <a:lumMod val="20000"/>
                        <a:lumOff val="80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397533595"/>
                  </a:ext>
                </a:extLst>
              </a:tr>
              <a:tr h="135772">
                <a:tc>
                  <a:txBody>
                    <a:bodyPr/>
                    <a:lstStyle/>
                    <a:p>
                      <a:pPr algn="l" rtl="0" fontAlgn="b">
                        <a:buNone/>
                      </a:pPr>
                      <a:r>
                        <a:rPr lang="en-US" sz="1000" b="0" i="0" u="none" strike="noStrike" dirty="0">
                          <a:solidFill>
                            <a:srgbClr val="000000"/>
                          </a:solidFill>
                          <a:effectLst/>
                          <a:latin typeface="+mj-lt"/>
                        </a:rPr>
                        <a:t>Illumina</a:t>
                      </a:r>
                    </a:p>
                  </a:txBody>
                  <a:tcPr marL="27432" marR="27432" marT="0" marB="0" anchor="b">
                    <a:lnL>
                      <a:noFill/>
                    </a:lnL>
                    <a:lnR>
                      <a:noFill/>
                    </a:lnR>
                    <a:lnT>
                      <a:noFill/>
                    </a:lnT>
                    <a:lnB>
                      <a:noFill/>
                    </a:lnB>
                    <a:noFill/>
                  </a:tcPr>
                </a:tc>
                <a:tc>
                  <a:txBody>
                    <a:bodyPr/>
                    <a:lstStyle/>
                    <a:p>
                      <a:pPr algn="ctr" rtl="0" fontAlgn="b">
                        <a:buNone/>
                      </a:pPr>
                      <a:r>
                        <a:rPr lang="en-US" sz="1000" b="0" i="0" u="none" strike="noStrike">
                          <a:solidFill>
                            <a:srgbClr val="000000"/>
                          </a:solidFill>
                          <a:effectLst/>
                          <a:latin typeface="+mj-lt"/>
                        </a:rPr>
                        <a:t>LS</a:t>
                      </a:r>
                    </a:p>
                  </a:txBody>
                  <a:tcPr marL="27432" marR="27432" marT="0" marB="0" anchor="b">
                    <a:lnL>
                      <a:noFill/>
                    </a:lnL>
                    <a:lnR>
                      <a:noFill/>
                    </a:lnR>
                    <a:lnT>
                      <a:noFill/>
                    </a:lnT>
                    <a:lnB>
                      <a:noFill/>
                    </a:lnB>
                    <a:noFill/>
                  </a:tcPr>
                </a:tc>
                <a:tc>
                  <a:txBody>
                    <a:bodyPr/>
                    <a:lstStyle/>
                    <a:p>
                      <a:pPr algn="ctr" rtl="0" fontAlgn="b">
                        <a:buNone/>
                      </a:pPr>
                      <a:r>
                        <a:rPr lang="en-US" sz="1000" b="0" i="0" u="none" strike="noStrike">
                          <a:solidFill>
                            <a:srgbClr val="000000"/>
                          </a:solidFill>
                          <a:effectLst/>
                          <a:latin typeface="+mj-lt"/>
                        </a:rPr>
                        <a:t>$4,343 </a:t>
                      </a:r>
                    </a:p>
                  </a:txBody>
                  <a:tcPr marL="27432" marR="27432" marT="0" marB="0" anchor="b">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accent2">
                        <a:lumMod val="20000"/>
                        <a:lumOff val="80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extLst>
                  <a:ext uri="{0D108BD9-81ED-4DB2-BD59-A6C34878D82A}">
                    <a16:rowId xmlns:a16="http://schemas.microsoft.com/office/drawing/2014/main" val="2676944765"/>
                  </a:ext>
                </a:extLst>
              </a:tr>
              <a:tr h="135772">
                <a:tc>
                  <a:txBody>
                    <a:bodyPr/>
                    <a:lstStyle/>
                    <a:p>
                      <a:pPr algn="l" rtl="0" fontAlgn="b">
                        <a:buNone/>
                      </a:pPr>
                      <a:r>
                        <a:rPr lang="en-US" sz="1000" b="0" i="0" u="none" strike="noStrike" dirty="0">
                          <a:solidFill>
                            <a:srgbClr val="000000"/>
                          </a:solidFill>
                          <a:effectLst/>
                          <a:latin typeface="+mj-lt"/>
                        </a:rPr>
                        <a:t>Hologic</a:t>
                      </a:r>
                    </a:p>
                  </a:txBody>
                  <a:tcPr marL="27432" marR="27432" marT="0" marB="0" anchor="b">
                    <a:lnL>
                      <a:noFill/>
                    </a:lnL>
                    <a:lnR>
                      <a:noFill/>
                    </a:lnR>
                    <a:lnT>
                      <a:noFill/>
                    </a:lnT>
                    <a:lnB>
                      <a:noFill/>
                    </a:lnB>
                    <a:solidFill>
                      <a:srgbClr val="F2F2F2"/>
                    </a:solidFill>
                  </a:tcPr>
                </a:tc>
                <a:tc>
                  <a:txBody>
                    <a:bodyPr/>
                    <a:lstStyle/>
                    <a:p>
                      <a:pPr algn="ctr" rtl="0" fontAlgn="b">
                        <a:buNone/>
                      </a:pPr>
                      <a:r>
                        <a:rPr lang="en-US" sz="1000" b="0" i="0" u="none" strike="noStrike" dirty="0">
                          <a:solidFill>
                            <a:srgbClr val="000000"/>
                          </a:solidFill>
                          <a:effectLst/>
                          <a:latin typeface="+mj-lt"/>
                        </a:rPr>
                        <a:t>HCE</a:t>
                      </a:r>
                    </a:p>
                  </a:txBody>
                  <a:tcPr marL="27432" marR="27432" marT="0" marB="0" anchor="b">
                    <a:lnL>
                      <a:noFill/>
                    </a:lnL>
                    <a:lnR>
                      <a:noFill/>
                    </a:lnR>
                    <a:lnT>
                      <a:noFill/>
                    </a:lnT>
                    <a:lnB>
                      <a:noFill/>
                    </a:lnB>
                    <a:solidFill>
                      <a:srgbClr val="F2F2F2"/>
                    </a:solidFill>
                  </a:tcPr>
                </a:tc>
                <a:tc>
                  <a:txBody>
                    <a:bodyPr/>
                    <a:lstStyle/>
                    <a:p>
                      <a:pPr algn="ctr" rtl="0" fontAlgn="b">
                        <a:buNone/>
                      </a:pPr>
                      <a:r>
                        <a:rPr lang="en-US" sz="1000" b="0" i="0" u="none" strike="noStrike">
                          <a:solidFill>
                            <a:srgbClr val="000000"/>
                          </a:solidFill>
                          <a:effectLst/>
                          <a:latin typeface="+mj-lt"/>
                        </a:rPr>
                        <a:t>$4,101 </a:t>
                      </a:r>
                    </a:p>
                  </a:txBody>
                  <a:tcPr marL="27432" marR="27432" marT="0" marB="0" anchor="b">
                    <a:lnL>
                      <a:noFill/>
                    </a:lnL>
                    <a:lnR>
                      <a:noFill/>
                    </a:lnR>
                    <a:lnT>
                      <a:noFill/>
                    </a:lnT>
                    <a:lnB>
                      <a:noFill/>
                    </a:lnB>
                    <a:solidFill>
                      <a:srgbClr val="F2F2F2"/>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dirty="0">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3028131921"/>
                  </a:ext>
                </a:extLst>
              </a:tr>
              <a:tr h="135772">
                <a:tc>
                  <a:txBody>
                    <a:bodyPr/>
                    <a:lstStyle/>
                    <a:p>
                      <a:pPr algn="l" rtl="0" fontAlgn="b">
                        <a:buNone/>
                      </a:pPr>
                      <a:r>
                        <a:rPr lang="en-US" sz="1000" b="0" i="0" u="none" strike="noStrike">
                          <a:solidFill>
                            <a:srgbClr val="000000"/>
                          </a:solidFill>
                          <a:effectLst/>
                          <a:latin typeface="+mj-lt"/>
                        </a:rPr>
                        <a:t>Cooper</a:t>
                      </a:r>
                    </a:p>
                  </a:txBody>
                  <a:tcPr marL="27432" marR="27432" marT="0" marB="0" anchor="b">
                    <a:lnL>
                      <a:noFill/>
                    </a:lnL>
                    <a:lnR>
                      <a:noFill/>
                    </a:lnR>
                    <a:lnT>
                      <a:noFill/>
                    </a:lnT>
                    <a:lnB>
                      <a:noFill/>
                    </a:lnB>
                    <a:noFill/>
                  </a:tcPr>
                </a:tc>
                <a:tc>
                  <a:txBody>
                    <a:bodyPr/>
                    <a:lstStyle/>
                    <a:p>
                      <a:pPr algn="ctr" rtl="0" fontAlgn="b">
                        <a:buNone/>
                      </a:pPr>
                      <a:r>
                        <a:rPr lang="en-US" sz="1000" b="0" i="0" u="none" strike="noStrike" dirty="0">
                          <a:solidFill>
                            <a:srgbClr val="000000"/>
                          </a:solidFill>
                          <a:effectLst/>
                          <a:latin typeface="+mj-lt"/>
                        </a:rPr>
                        <a:t>HCS</a:t>
                      </a:r>
                    </a:p>
                  </a:txBody>
                  <a:tcPr marL="27432" marR="27432" marT="0" marB="0" anchor="b">
                    <a:lnL>
                      <a:noFill/>
                    </a:lnL>
                    <a:lnR>
                      <a:noFill/>
                    </a:lnR>
                    <a:lnT>
                      <a:noFill/>
                    </a:lnT>
                    <a:lnB>
                      <a:noFill/>
                    </a:lnB>
                    <a:noFill/>
                  </a:tcPr>
                </a:tc>
                <a:tc>
                  <a:txBody>
                    <a:bodyPr/>
                    <a:lstStyle/>
                    <a:p>
                      <a:pPr algn="ctr" rtl="0" fontAlgn="b">
                        <a:buNone/>
                      </a:pPr>
                      <a:r>
                        <a:rPr lang="en-US" sz="1000" b="0" i="0" u="none" strike="noStrike">
                          <a:solidFill>
                            <a:srgbClr val="000000"/>
                          </a:solidFill>
                          <a:effectLst/>
                          <a:latin typeface="+mj-lt"/>
                        </a:rPr>
                        <a:t>$4,092 </a:t>
                      </a:r>
                    </a:p>
                  </a:txBody>
                  <a:tcPr marL="27432" marR="27432" marT="0" marB="0" anchor="b">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extLst>
                  <a:ext uri="{0D108BD9-81ED-4DB2-BD59-A6C34878D82A}">
                    <a16:rowId xmlns:a16="http://schemas.microsoft.com/office/drawing/2014/main" val="249196550"/>
                  </a:ext>
                </a:extLst>
              </a:tr>
              <a:tr h="135772">
                <a:tc>
                  <a:txBody>
                    <a:bodyPr/>
                    <a:lstStyle/>
                    <a:p>
                      <a:pPr algn="l" rtl="0" fontAlgn="b">
                        <a:buNone/>
                      </a:pPr>
                      <a:r>
                        <a:rPr lang="en-US" sz="1000" b="0" i="0" u="none" strike="noStrike">
                          <a:solidFill>
                            <a:srgbClr val="000000"/>
                          </a:solidFill>
                          <a:effectLst/>
                          <a:latin typeface="+mj-lt"/>
                        </a:rPr>
                        <a:t>Align</a:t>
                      </a:r>
                    </a:p>
                  </a:txBody>
                  <a:tcPr marL="27432" marR="27432" marT="0" marB="0" anchor="b">
                    <a:lnL>
                      <a:noFill/>
                    </a:lnL>
                    <a:lnR>
                      <a:noFill/>
                    </a:lnR>
                    <a:lnT>
                      <a:noFill/>
                    </a:lnT>
                    <a:lnB>
                      <a:noFill/>
                    </a:lnB>
                    <a:solidFill>
                      <a:srgbClr val="F2F2F2"/>
                    </a:solidFill>
                  </a:tcPr>
                </a:tc>
                <a:tc>
                  <a:txBody>
                    <a:bodyPr/>
                    <a:lstStyle/>
                    <a:p>
                      <a:pPr algn="ctr" rtl="0" fontAlgn="b">
                        <a:buNone/>
                      </a:pPr>
                      <a:r>
                        <a:rPr lang="en-US" sz="1000" b="0" i="0" u="none" strike="noStrike">
                          <a:solidFill>
                            <a:srgbClr val="000000"/>
                          </a:solidFill>
                          <a:effectLst/>
                          <a:latin typeface="+mj-lt"/>
                        </a:rPr>
                        <a:t>HCS</a:t>
                      </a:r>
                    </a:p>
                  </a:txBody>
                  <a:tcPr marL="27432" marR="27432" marT="0" marB="0" anchor="b">
                    <a:lnL>
                      <a:noFill/>
                    </a:lnL>
                    <a:lnR>
                      <a:noFill/>
                    </a:lnR>
                    <a:lnT>
                      <a:noFill/>
                    </a:lnT>
                    <a:lnB>
                      <a:noFill/>
                    </a:lnB>
                    <a:solidFill>
                      <a:srgbClr val="F2F2F2"/>
                    </a:solidFill>
                  </a:tcPr>
                </a:tc>
                <a:tc>
                  <a:txBody>
                    <a:bodyPr/>
                    <a:lstStyle/>
                    <a:p>
                      <a:pPr algn="ctr" rtl="0" fontAlgn="b">
                        <a:buNone/>
                      </a:pPr>
                      <a:r>
                        <a:rPr lang="en-US" sz="1000" b="0" i="0" u="none" strike="noStrike" dirty="0">
                          <a:solidFill>
                            <a:srgbClr val="000000"/>
                          </a:solidFill>
                          <a:effectLst/>
                          <a:latin typeface="+mj-lt"/>
                        </a:rPr>
                        <a:t>$4,035 </a:t>
                      </a:r>
                    </a:p>
                  </a:txBody>
                  <a:tcPr marL="27432" marR="27432" marT="0" marB="0" anchor="b">
                    <a:lnL>
                      <a:noFill/>
                    </a:lnL>
                    <a:lnR>
                      <a:noFill/>
                    </a:lnR>
                    <a:lnT>
                      <a:noFill/>
                    </a:lnT>
                    <a:lnB>
                      <a:noFill/>
                    </a:lnB>
                    <a:solidFill>
                      <a:srgbClr val="F2F2F2"/>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1661604508"/>
                  </a:ext>
                </a:extLst>
              </a:tr>
              <a:tr h="135772">
                <a:tc>
                  <a:txBody>
                    <a:bodyPr/>
                    <a:lstStyle/>
                    <a:p>
                      <a:pPr algn="l" rtl="0" fontAlgn="b">
                        <a:buNone/>
                      </a:pPr>
                      <a:r>
                        <a:rPr lang="en-US" sz="1000" b="0" i="0" u="none" strike="noStrike">
                          <a:solidFill>
                            <a:srgbClr val="000000"/>
                          </a:solidFill>
                          <a:effectLst/>
                          <a:latin typeface="+mj-lt"/>
                        </a:rPr>
                        <a:t>Mettler-Toldeo</a:t>
                      </a:r>
                    </a:p>
                  </a:txBody>
                  <a:tcPr marL="27432" marR="27432" marT="0" marB="0" anchor="b">
                    <a:lnL>
                      <a:noFill/>
                    </a:lnL>
                    <a:lnR>
                      <a:noFill/>
                    </a:lnR>
                    <a:lnT>
                      <a:noFill/>
                    </a:lnT>
                    <a:lnB>
                      <a:noFill/>
                    </a:lnB>
                    <a:noFill/>
                  </a:tcPr>
                </a:tc>
                <a:tc>
                  <a:txBody>
                    <a:bodyPr/>
                    <a:lstStyle/>
                    <a:p>
                      <a:pPr algn="ctr" rtl="0" fontAlgn="b">
                        <a:buNone/>
                      </a:pPr>
                      <a:r>
                        <a:rPr lang="en-US" sz="1000" b="0" i="0" u="none" strike="noStrike">
                          <a:solidFill>
                            <a:srgbClr val="000000"/>
                          </a:solidFill>
                          <a:effectLst/>
                          <a:latin typeface="+mj-lt"/>
                        </a:rPr>
                        <a:t>LS</a:t>
                      </a:r>
                    </a:p>
                  </a:txBody>
                  <a:tcPr marL="27432" marR="27432" marT="0" marB="0" anchor="b">
                    <a:lnL>
                      <a:noFill/>
                    </a:lnL>
                    <a:lnR>
                      <a:noFill/>
                    </a:lnR>
                    <a:lnT>
                      <a:noFill/>
                    </a:lnT>
                    <a:lnB>
                      <a:noFill/>
                    </a:lnB>
                    <a:noFill/>
                  </a:tcPr>
                </a:tc>
                <a:tc>
                  <a:txBody>
                    <a:bodyPr/>
                    <a:lstStyle/>
                    <a:p>
                      <a:pPr algn="ctr" rtl="0" fontAlgn="b">
                        <a:buNone/>
                      </a:pPr>
                      <a:r>
                        <a:rPr lang="en-US" sz="1000" b="0" i="0" u="none" strike="noStrike">
                          <a:solidFill>
                            <a:srgbClr val="000000"/>
                          </a:solidFill>
                          <a:effectLst/>
                          <a:latin typeface="+mj-lt"/>
                        </a:rPr>
                        <a:t>$4,026 </a:t>
                      </a:r>
                    </a:p>
                  </a:txBody>
                  <a:tcPr marL="27432" marR="27432" marT="0" marB="0" anchor="b">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accent2">
                        <a:lumMod val="20000"/>
                        <a:lumOff val="80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extLst>
                  <a:ext uri="{0D108BD9-81ED-4DB2-BD59-A6C34878D82A}">
                    <a16:rowId xmlns:a16="http://schemas.microsoft.com/office/drawing/2014/main" val="2612538408"/>
                  </a:ext>
                </a:extLst>
              </a:tr>
              <a:tr h="137160">
                <a:tc>
                  <a:txBody>
                    <a:bodyPr/>
                    <a:lstStyle/>
                    <a:p>
                      <a:pPr algn="l" fontAlgn="b">
                        <a:buNone/>
                      </a:pPr>
                      <a:r>
                        <a:rPr lang="en-US" sz="1000" b="0" i="0" u="none" strike="noStrike">
                          <a:solidFill>
                            <a:srgbClr val="000000"/>
                          </a:solidFill>
                          <a:effectLst/>
                          <a:latin typeface="+mj-lt"/>
                        </a:rPr>
                        <a:t>Charles River Laboratories</a:t>
                      </a:r>
                    </a:p>
                  </a:txBody>
                  <a:tcPr marL="27432" marR="27432"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mj-lt"/>
                        </a:rPr>
                        <a:t>LS</a:t>
                      </a:r>
                    </a:p>
                  </a:txBody>
                  <a:tcPr marL="27432" marR="27432"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mj-lt"/>
                        </a:rPr>
                        <a:t>$4,015</a:t>
                      </a:r>
                    </a:p>
                  </a:txBody>
                  <a:tcPr marL="27432" marR="27432" marT="0" marB="0" anchor="b">
                    <a:lnL>
                      <a:noFill/>
                    </a:lnL>
                    <a:lnR>
                      <a:noFill/>
                    </a:lnR>
                    <a:lnT>
                      <a:noFill/>
                    </a:lnT>
                    <a:lnB>
                      <a:noFill/>
                    </a:lnB>
                    <a:solidFill>
                      <a:srgbClr val="F2F2F2"/>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accent2">
                        <a:lumMod val="20000"/>
                        <a:lumOff val="80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accent4">
                        <a:lumMod val="20000"/>
                        <a:lumOff val="80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2771615866"/>
                  </a:ext>
                </a:extLst>
              </a:tr>
              <a:tr h="135772">
                <a:tc>
                  <a:txBody>
                    <a:bodyPr/>
                    <a:lstStyle/>
                    <a:p>
                      <a:pPr algn="l" fontAlgn="b">
                        <a:buNone/>
                      </a:pPr>
                      <a:r>
                        <a:rPr lang="en-US" sz="1000" b="0" i="0" u="none" strike="noStrike">
                          <a:solidFill>
                            <a:srgbClr val="000000"/>
                          </a:solidFill>
                          <a:effectLst/>
                          <a:latin typeface="+mj-lt"/>
                        </a:rPr>
                        <a:t>DENTSPLY SIRONA</a:t>
                      </a:r>
                    </a:p>
                  </a:txBody>
                  <a:tcPr marL="27432" marR="27432"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mj-lt"/>
                        </a:rPr>
                        <a:t>HCS</a:t>
                      </a:r>
                    </a:p>
                  </a:txBody>
                  <a:tcPr marL="27432" marR="27432"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mj-lt"/>
                        </a:rPr>
                        <a:t>$3,680</a:t>
                      </a:r>
                    </a:p>
                  </a:txBody>
                  <a:tcPr marL="27432" marR="27432" marT="0" marB="0" anchor="b">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accent2">
                        <a:lumMod val="20000"/>
                        <a:lumOff val="80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accent4">
                        <a:lumMod val="20000"/>
                        <a:lumOff val="80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extLst>
                  <a:ext uri="{0D108BD9-81ED-4DB2-BD59-A6C34878D82A}">
                    <a16:rowId xmlns:a16="http://schemas.microsoft.com/office/drawing/2014/main" val="4049799687"/>
                  </a:ext>
                </a:extLst>
              </a:tr>
              <a:tr h="135772">
                <a:tc>
                  <a:txBody>
                    <a:bodyPr/>
                    <a:lstStyle/>
                    <a:p>
                      <a:pPr algn="l" rtl="0" fontAlgn="b">
                        <a:buNone/>
                      </a:pPr>
                      <a:r>
                        <a:rPr lang="en-US" sz="1000" b="0" i="0" u="none" strike="noStrike">
                          <a:solidFill>
                            <a:srgbClr val="000000"/>
                          </a:solidFill>
                          <a:effectLst/>
                          <a:latin typeface="+mj-lt"/>
                        </a:rPr>
                        <a:t>Waters</a:t>
                      </a:r>
                    </a:p>
                  </a:txBody>
                  <a:tcPr marL="27432" marR="27432" marT="0" marB="0" anchor="b">
                    <a:lnL>
                      <a:noFill/>
                    </a:lnL>
                    <a:lnR>
                      <a:noFill/>
                    </a:lnR>
                    <a:lnT>
                      <a:noFill/>
                    </a:lnT>
                    <a:lnB>
                      <a:noFill/>
                    </a:lnB>
                    <a:solidFill>
                      <a:srgbClr val="F2F2F2"/>
                    </a:solidFill>
                  </a:tcPr>
                </a:tc>
                <a:tc>
                  <a:txBody>
                    <a:bodyPr/>
                    <a:lstStyle/>
                    <a:p>
                      <a:pPr algn="ctr" rtl="0" fontAlgn="b">
                        <a:buNone/>
                      </a:pPr>
                      <a:r>
                        <a:rPr lang="en-US" sz="1000" b="0" i="0" u="none" strike="noStrike">
                          <a:solidFill>
                            <a:srgbClr val="000000"/>
                          </a:solidFill>
                          <a:effectLst/>
                          <a:latin typeface="+mj-lt"/>
                        </a:rPr>
                        <a:t>LS</a:t>
                      </a:r>
                    </a:p>
                  </a:txBody>
                  <a:tcPr marL="27432" marR="27432" marT="0" marB="0" anchor="b">
                    <a:lnL>
                      <a:noFill/>
                    </a:lnL>
                    <a:lnR>
                      <a:noFill/>
                    </a:lnR>
                    <a:lnT>
                      <a:noFill/>
                    </a:lnT>
                    <a:lnB>
                      <a:noFill/>
                    </a:lnB>
                    <a:solidFill>
                      <a:srgbClr val="F2F2F2"/>
                    </a:solidFill>
                  </a:tcPr>
                </a:tc>
                <a:tc>
                  <a:txBody>
                    <a:bodyPr/>
                    <a:lstStyle/>
                    <a:p>
                      <a:pPr algn="ctr" rtl="0" fontAlgn="b">
                        <a:buNone/>
                      </a:pPr>
                      <a:r>
                        <a:rPr lang="en-US" sz="1000" b="0" i="0" u="none" strike="noStrike">
                          <a:solidFill>
                            <a:srgbClr val="000000"/>
                          </a:solidFill>
                          <a:effectLst/>
                          <a:latin typeface="+mj-lt"/>
                        </a:rPr>
                        <a:t>$3,165 </a:t>
                      </a:r>
                    </a:p>
                  </a:txBody>
                  <a:tcPr marL="27432" marR="27432" marT="0" marB="0" anchor="b">
                    <a:lnL>
                      <a:noFill/>
                    </a:lnL>
                    <a:lnR>
                      <a:noFill/>
                    </a:lnR>
                    <a:lnT>
                      <a:noFill/>
                    </a:lnT>
                    <a:lnB>
                      <a:noFill/>
                    </a:lnB>
                    <a:solidFill>
                      <a:srgbClr val="F2F2F2"/>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464518566"/>
                  </a:ext>
                </a:extLst>
              </a:tr>
              <a:tr h="135772">
                <a:tc>
                  <a:txBody>
                    <a:bodyPr/>
                    <a:lstStyle/>
                    <a:p>
                      <a:pPr algn="l" fontAlgn="b">
                        <a:buNone/>
                      </a:pPr>
                      <a:r>
                        <a:rPr lang="en-US" sz="1000" b="0" i="0" u="none" strike="noStrike">
                          <a:solidFill>
                            <a:srgbClr val="000000"/>
                          </a:solidFill>
                          <a:effectLst/>
                          <a:latin typeface="+mj-lt"/>
                        </a:rPr>
                        <a:t>West Pharmaceutical</a:t>
                      </a:r>
                    </a:p>
                  </a:txBody>
                  <a:tcPr marL="27432" marR="27432"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mj-lt"/>
                        </a:rPr>
                        <a:t>LS</a:t>
                      </a:r>
                    </a:p>
                  </a:txBody>
                  <a:tcPr marL="27432" marR="27432"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mj-lt"/>
                        </a:rPr>
                        <a:t>$3,074</a:t>
                      </a:r>
                    </a:p>
                  </a:txBody>
                  <a:tcPr marL="27432" marR="27432" marT="0" marB="0" anchor="b">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accent4">
                        <a:lumMod val="20000"/>
                        <a:lumOff val="80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extLst>
                  <a:ext uri="{0D108BD9-81ED-4DB2-BD59-A6C34878D82A}">
                    <a16:rowId xmlns:a16="http://schemas.microsoft.com/office/drawing/2014/main" val="880036067"/>
                  </a:ext>
                </a:extLst>
              </a:tr>
              <a:tr h="135772">
                <a:tc>
                  <a:txBody>
                    <a:bodyPr/>
                    <a:lstStyle/>
                    <a:p>
                      <a:pPr algn="l" rtl="0" fontAlgn="b">
                        <a:buNone/>
                      </a:pPr>
                      <a:r>
                        <a:rPr lang="en-US" sz="1000" b="0" i="0" u="none" strike="noStrike">
                          <a:solidFill>
                            <a:srgbClr val="000000"/>
                          </a:solidFill>
                          <a:effectLst/>
                          <a:latin typeface="+mj-lt"/>
                        </a:rPr>
                        <a:t>Revvity</a:t>
                      </a:r>
                    </a:p>
                  </a:txBody>
                  <a:tcPr marL="27432" marR="27432" marT="0" marB="0" anchor="b">
                    <a:lnL>
                      <a:noFill/>
                    </a:lnL>
                    <a:lnR>
                      <a:noFill/>
                    </a:lnR>
                    <a:lnT>
                      <a:noFill/>
                    </a:lnT>
                    <a:lnB>
                      <a:noFill/>
                    </a:lnB>
                    <a:solidFill>
                      <a:srgbClr val="F2F2F2"/>
                    </a:solidFill>
                  </a:tcPr>
                </a:tc>
                <a:tc>
                  <a:txBody>
                    <a:bodyPr/>
                    <a:lstStyle/>
                    <a:p>
                      <a:pPr algn="ctr" rtl="0" fontAlgn="b">
                        <a:buNone/>
                      </a:pPr>
                      <a:r>
                        <a:rPr lang="en-US" sz="1000" b="0" i="0" u="none" strike="noStrike">
                          <a:solidFill>
                            <a:srgbClr val="000000"/>
                          </a:solidFill>
                          <a:effectLst/>
                          <a:latin typeface="+mj-lt"/>
                        </a:rPr>
                        <a:t>LS</a:t>
                      </a:r>
                    </a:p>
                  </a:txBody>
                  <a:tcPr marL="27432" marR="27432" marT="0" marB="0" anchor="b">
                    <a:lnL>
                      <a:noFill/>
                    </a:lnL>
                    <a:lnR>
                      <a:noFill/>
                    </a:lnR>
                    <a:lnT>
                      <a:noFill/>
                    </a:lnT>
                    <a:lnB>
                      <a:noFill/>
                    </a:lnB>
                    <a:solidFill>
                      <a:srgbClr val="F2F2F2"/>
                    </a:solidFill>
                  </a:tcPr>
                </a:tc>
                <a:tc>
                  <a:txBody>
                    <a:bodyPr/>
                    <a:lstStyle/>
                    <a:p>
                      <a:pPr algn="ctr" rtl="0" fontAlgn="b">
                        <a:buNone/>
                      </a:pPr>
                      <a:r>
                        <a:rPr lang="en-US" sz="1000" b="0" i="0" u="none" strike="noStrike">
                          <a:solidFill>
                            <a:srgbClr val="000000"/>
                          </a:solidFill>
                          <a:effectLst/>
                          <a:latin typeface="+mj-lt"/>
                        </a:rPr>
                        <a:t>$2,856 </a:t>
                      </a:r>
                    </a:p>
                  </a:txBody>
                  <a:tcPr marL="27432" marR="27432" marT="0" marB="0" anchor="b">
                    <a:lnL>
                      <a:noFill/>
                    </a:lnL>
                    <a:lnR>
                      <a:noFill/>
                    </a:lnR>
                    <a:lnT>
                      <a:noFill/>
                    </a:lnT>
                    <a:lnB>
                      <a:noFill/>
                    </a:lnB>
                    <a:solidFill>
                      <a:srgbClr val="F2F2F2"/>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accent2">
                        <a:lumMod val="20000"/>
                        <a:lumOff val="80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1113639566"/>
                  </a:ext>
                </a:extLst>
              </a:tr>
              <a:tr h="135772">
                <a:tc>
                  <a:txBody>
                    <a:bodyPr/>
                    <a:lstStyle/>
                    <a:p>
                      <a:pPr algn="l" rtl="0" fontAlgn="b">
                        <a:buNone/>
                      </a:pPr>
                      <a:r>
                        <a:rPr lang="en-US" sz="1000" b="0" i="0" u="none" strike="noStrike">
                          <a:solidFill>
                            <a:srgbClr val="000000"/>
                          </a:solidFill>
                          <a:effectLst/>
                          <a:latin typeface="+mj-lt"/>
                        </a:rPr>
                        <a:t>Bio-Rad</a:t>
                      </a:r>
                    </a:p>
                  </a:txBody>
                  <a:tcPr marL="27432" marR="27432" marT="0" marB="0" anchor="b">
                    <a:lnL>
                      <a:noFill/>
                    </a:lnL>
                    <a:lnR>
                      <a:noFill/>
                    </a:lnR>
                    <a:lnT>
                      <a:noFill/>
                    </a:lnT>
                    <a:lnB>
                      <a:noFill/>
                    </a:lnB>
                    <a:noFill/>
                  </a:tcPr>
                </a:tc>
                <a:tc>
                  <a:txBody>
                    <a:bodyPr/>
                    <a:lstStyle/>
                    <a:p>
                      <a:pPr algn="ctr" rtl="0" fontAlgn="b">
                        <a:buNone/>
                      </a:pPr>
                      <a:r>
                        <a:rPr lang="en-US" sz="1000" b="0" i="0" u="none" strike="noStrike">
                          <a:solidFill>
                            <a:srgbClr val="000000"/>
                          </a:solidFill>
                          <a:effectLst/>
                          <a:latin typeface="+mj-lt"/>
                        </a:rPr>
                        <a:t>LS</a:t>
                      </a:r>
                    </a:p>
                  </a:txBody>
                  <a:tcPr marL="27432" marR="27432" marT="0" marB="0" anchor="b">
                    <a:lnL>
                      <a:noFill/>
                    </a:lnL>
                    <a:lnR>
                      <a:noFill/>
                    </a:lnR>
                    <a:lnT>
                      <a:noFill/>
                    </a:lnT>
                    <a:lnB>
                      <a:noFill/>
                    </a:lnB>
                    <a:noFill/>
                  </a:tcPr>
                </a:tc>
                <a:tc>
                  <a:txBody>
                    <a:bodyPr/>
                    <a:lstStyle/>
                    <a:p>
                      <a:pPr algn="ctr" rtl="0" fontAlgn="b">
                        <a:buNone/>
                      </a:pPr>
                      <a:r>
                        <a:rPr lang="en-US" sz="1000" b="0" i="0" u="none" strike="noStrike">
                          <a:solidFill>
                            <a:srgbClr val="000000"/>
                          </a:solidFill>
                          <a:effectLst/>
                          <a:latin typeface="+mj-lt"/>
                        </a:rPr>
                        <a:t>$2,583 </a:t>
                      </a:r>
                    </a:p>
                  </a:txBody>
                  <a:tcPr marL="27432" marR="27432" marT="0" marB="0" anchor="b">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extLst>
                  <a:ext uri="{0D108BD9-81ED-4DB2-BD59-A6C34878D82A}">
                    <a16:rowId xmlns:a16="http://schemas.microsoft.com/office/drawing/2014/main" val="287535301"/>
                  </a:ext>
                </a:extLst>
              </a:tr>
              <a:tr h="135772">
                <a:tc>
                  <a:txBody>
                    <a:bodyPr/>
                    <a:lstStyle/>
                    <a:p>
                      <a:pPr algn="l" fontAlgn="b">
                        <a:buNone/>
                      </a:pPr>
                      <a:r>
                        <a:rPr lang="en-US" sz="1000" b="0" i="0" u="none" strike="noStrike">
                          <a:solidFill>
                            <a:srgbClr val="000000"/>
                          </a:solidFill>
                          <a:effectLst/>
                          <a:latin typeface="+mj-lt"/>
                        </a:rPr>
                        <a:t>Teleflex</a:t>
                      </a:r>
                    </a:p>
                  </a:txBody>
                  <a:tcPr marL="27432" marR="27432"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mj-lt"/>
                        </a:rPr>
                        <a:t>HCE</a:t>
                      </a:r>
                    </a:p>
                  </a:txBody>
                  <a:tcPr marL="27432" marR="27432"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mj-lt"/>
                        </a:rPr>
                        <a:t>$1,993</a:t>
                      </a:r>
                    </a:p>
                  </a:txBody>
                  <a:tcPr marL="27432" marR="27432" marT="0" marB="0" anchor="b">
                    <a:lnL>
                      <a:noFill/>
                    </a:lnL>
                    <a:lnR>
                      <a:noFill/>
                    </a:lnR>
                    <a:lnT>
                      <a:noFill/>
                    </a:lnT>
                    <a:lnB>
                      <a:noFill/>
                    </a:lnB>
                    <a:solidFill>
                      <a:srgbClr val="F2F2F2"/>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accent4">
                        <a:lumMod val="20000"/>
                        <a:lumOff val="80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4287034014"/>
                  </a:ext>
                </a:extLst>
              </a:tr>
              <a:tr h="135772">
                <a:tc>
                  <a:txBody>
                    <a:bodyPr/>
                    <a:lstStyle/>
                    <a:p>
                      <a:pPr algn="l" fontAlgn="b">
                        <a:buNone/>
                      </a:pPr>
                      <a:r>
                        <a:rPr lang="en-US" sz="1000" b="0" i="0" u="none" strike="noStrike">
                          <a:solidFill>
                            <a:srgbClr val="000000"/>
                          </a:solidFill>
                          <a:effectLst/>
                          <a:latin typeface="+mj-lt"/>
                        </a:rPr>
                        <a:t>Integra LifeSciences</a:t>
                      </a:r>
                    </a:p>
                  </a:txBody>
                  <a:tcPr marL="27432" marR="27432"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mj-lt"/>
                        </a:rPr>
                        <a:t>HCE</a:t>
                      </a:r>
                    </a:p>
                  </a:txBody>
                  <a:tcPr marL="27432" marR="27432"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mj-lt"/>
                        </a:rPr>
                        <a:t>$1,635</a:t>
                      </a:r>
                    </a:p>
                  </a:txBody>
                  <a:tcPr marL="27432" marR="27432" marT="0" marB="0" anchor="b">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accent2">
                        <a:lumMod val="20000"/>
                        <a:lumOff val="80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accent4">
                        <a:lumMod val="20000"/>
                        <a:lumOff val="80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extLst>
                  <a:ext uri="{0D108BD9-81ED-4DB2-BD59-A6C34878D82A}">
                    <a16:rowId xmlns:a16="http://schemas.microsoft.com/office/drawing/2014/main" val="540555298"/>
                  </a:ext>
                </a:extLst>
              </a:tr>
              <a:tr h="135772">
                <a:tc>
                  <a:txBody>
                    <a:bodyPr/>
                    <a:lstStyle/>
                    <a:p>
                      <a:pPr algn="l" fontAlgn="b">
                        <a:buNone/>
                      </a:pPr>
                      <a:r>
                        <a:rPr lang="en-US" sz="1000" b="0" i="0" u="none" strike="noStrike">
                          <a:solidFill>
                            <a:srgbClr val="000000"/>
                          </a:solidFill>
                          <a:effectLst/>
                          <a:latin typeface="+mj-lt"/>
                        </a:rPr>
                        <a:t>Haemonetics</a:t>
                      </a:r>
                    </a:p>
                  </a:txBody>
                  <a:tcPr marL="27432" marR="27432"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mj-lt"/>
                        </a:rPr>
                        <a:t>HCS</a:t>
                      </a:r>
                    </a:p>
                  </a:txBody>
                  <a:tcPr marL="27432" marR="27432"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mj-lt"/>
                        </a:rPr>
                        <a:t>$1,361</a:t>
                      </a:r>
                    </a:p>
                  </a:txBody>
                  <a:tcPr marL="27432" marR="27432" marT="0" marB="0" anchor="b">
                    <a:lnL>
                      <a:noFill/>
                    </a:lnL>
                    <a:lnR>
                      <a:noFill/>
                    </a:lnR>
                    <a:lnT>
                      <a:noFill/>
                    </a:lnT>
                    <a:lnB>
                      <a:noFill/>
                    </a:lnB>
                    <a:solidFill>
                      <a:srgbClr val="F2F2F2"/>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accent4">
                        <a:lumMod val="20000"/>
                        <a:lumOff val="80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2121438247"/>
                  </a:ext>
                </a:extLst>
              </a:tr>
              <a:tr h="135772">
                <a:tc>
                  <a:txBody>
                    <a:bodyPr/>
                    <a:lstStyle/>
                    <a:p>
                      <a:pPr marL="0" marR="0" lvl="0" indent="0" algn="l" defTabSz="914378" rtl="0" eaLnBrk="1" fontAlgn="ctr" latinLnBrk="0" hangingPunct="1">
                        <a:lnSpc>
                          <a:spcPct val="100000"/>
                        </a:lnSpc>
                        <a:spcBef>
                          <a:spcPts val="0"/>
                        </a:spcBef>
                        <a:spcAft>
                          <a:spcPts val="0"/>
                        </a:spcAft>
                        <a:buClrTx/>
                        <a:buSzTx/>
                        <a:buFontTx/>
                        <a:buNone/>
                        <a:tabLst/>
                        <a:defRPr/>
                      </a:pPr>
                      <a:r>
                        <a:rPr lang="en-US" sz="1000" b="0" i="0" u="none" strike="noStrike">
                          <a:solidFill>
                            <a:srgbClr val="000000"/>
                          </a:solidFill>
                          <a:effectLst/>
                          <a:latin typeface="+mj-lt"/>
                        </a:rPr>
                        <a:t>Stericycle</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mj-lt"/>
                        </a:rPr>
                        <a:t>Other</a:t>
                      </a:r>
                      <a:r>
                        <a:rPr lang="en-US" sz="1000" b="0" i="0" u="none" strike="noStrike" baseline="30000">
                          <a:solidFill>
                            <a:srgbClr val="000000"/>
                          </a:solidFill>
                          <a:effectLst/>
                          <a:latin typeface="+mj-lt"/>
                        </a:rPr>
                        <a:t>(1)</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chemeClr val="tx1"/>
                          </a:solidFill>
                          <a:effectLst/>
                          <a:latin typeface="+mj-lt"/>
                        </a:rPr>
                        <a:t>n/a</a:t>
                      </a:r>
                      <a:r>
                        <a:rPr lang="en-US" sz="1000" b="0" i="0" u="none" strike="noStrike" baseline="30000">
                          <a:solidFill>
                            <a:schemeClr val="tx1"/>
                          </a:solidFill>
                          <a:effectLst/>
                          <a:latin typeface="+mj-lt"/>
                        </a:rPr>
                        <a:t>(1)</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accent4">
                        <a:lumMod val="20000"/>
                        <a:lumOff val="80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extLst>
                  <a:ext uri="{0D108BD9-81ED-4DB2-BD59-A6C34878D82A}">
                    <a16:rowId xmlns:a16="http://schemas.microsoft.com/office/drawing/2014/main" val="1474548697"/>
                  </a:ext>
                </a:extLst>
              </a:tr>
              <a:tr h="135772">
                <a:tc>
                  <a:txBody>
                    <a:bodyPr/>
                    <a:lstStyle/>
                    <a:p>
                      <a:pPr algn="l" rtl="0" fontAlgn="ctr"/>
                      <a:r>
                        <a:rPr lang="en-US" sz="1000" b="0" i="0" u="none" strike="noStrike">
                          <a:solidFill>
                            <a:srgbClr val="000000"/>
                          </a:solidFill>
                          <a:effectLst/>
                          <a:latin typeface="+mj-lt"/>
                        </a:rPr>
                        <a:t>NuVasive</a:t>
                      </a:r>
                    </a:p>
                  </a:txBody>
                  <a:tcPr marL="27432" marR="27432" marT="0" marB="0" anchor="ctr">
                    <a:lnL>
                      <a:noFill/>
                    </a:lnL>
                    <a:lnR>
                      <a:noFill/>
                    </a:lnR>
                    <a:lnT>
                      <a:noFill/>
                    </a:lnT>
                    <a:lnB>
                      <a:noFill/>
                    </a:lnB>
                    <a:solidFill>
                      <a:srgbClr val="F2F2F2"/>
                    </a:solidFill>
                  </a:tcPr>
                </a:tc>
                <a:tc>
                  <a:txBody>
                    <a:bodyPr/>
                    <a:lstStyle/>
                    <a:p>
                      <a:pPr algn="ctr" rtl="0" fontAlgn="ctr"/>
                      <a:r>
                        <a:rPr lang="en-US" sz="1000" b="0" i="0" u="none" strike="noStrike">
                          <a:solidFill>
                            <a:srgbClr val="000000"/>
                          </a:solidFill>
                          <a:effectLst/>
                          <a:latin typeface="+mj-lt"/>
                        </a:rPr>
                        <a:t>HCE</a:t>
                      </a:r>
                    </a:p>
                  </a:txBody>
                  <a:tcPr marL="27432" marR="27432" marT="0" marB="0" anchor="ctr">
                    <a:lnL>
                      <a:noFill/>
                    </a:lnL>
                    <a:lnR>
                      <a:noFill/>
                    </a:lnR>
                    <a:lnT>
                      <a:noFill/>
                    </a:lnT>
                    <a:lnB>
                      <a:noFill/>
                    </a:lnB>
                    <a:solidFill>
                      <a:srgbClr val="F2F2F2"/>
                    </a:solidFill>
                  </a:tcPr>
                </a:tc>
                <a:tc>
                  <a:txBody>
                    <a:bodyPr/>
                    <a:lstStyle/>
                    <a:p>
                      <a:pPr algn="ctr" rtl="0" fontAlgn="ctr"/>
                      <a:r>
                        <a:rPr lang="en-US" sz="1000" b="0" i="0" u="none" strike="noStrike">
                          <a:solidFill>
                            <a:schemeClr val="tx1"/>
                          </a:solidFill>
                          <a:effectLst/>
                          <a:latin typeface="+mj-lt"/>
                        </a:rPr>
                        <a:t>n/a</a:t>
                      </a:r>
                      <a:r>
                        <a:rPr lang="en-US" sz="1000" b="0" i="0" u="none" strike="noStrike" baseline="30000">
                          <a:solidFill>
                            <a:schemeClr val="tx1"/>
                          </a:solidFill>
                          <a:effectLst/>
                          <a:latin typeface="+mj-lt"/>
                        </a:rPr>
                        <a:t>(2)</a:t>
                      </a:r>
                    </a:p>
                  </a:txBody>
                  <a:tcPr marL="27432" marR="27432" marT="0" marB="0" anchor="ctr">
                    <a:lnL>
                      <a:noFill/>
                    </a:lnL>
                    <a:lnR>
                      <a:noFill/>
                    </a:lnR>
                    <a:lnT>
                      <a:noFill/>
                    </a:lnT>
                    <a:lnB>
                      <a:noFill/>
                    </a:lnB>
                    <a:solidFill>
                      <a:srgbClr val="F2F2F2"/>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accent2">
                        <a:lumMod val="20000"/>
                        <a:lumOff val="80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accent4">
                        <a:lumMod val="20000"/>
                        <a:lumOff val="80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1878144790"/>
                  </a:ext>
                </a:extLst>
              </a:tr>
              <a:tr h="135772">
                <a:tc>
                  <a:txBody>
                    <a:bodyPr/>
                    <a:lstStyle/>
                    <a:p>
                      <a:pPr algn="l" rtl="0" fontAlgn="ctr"/>
                      <a:r>
                        <a:rPr lang="en-US" sz="1000" b="0" i="0" u="none" strike="noStrike">
                          <a:solidFill>
                            <a:srgbClr val="000000"/>
                          </a:solidFill>
                          <a:effectLst/>
                          <a:latin typeface="+mj-lt"/>
                        </a:rPr>
                        <a:t>C.R Bard</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mj-lt"/>
                        </a:rPr>
                        <a:t>HCE</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chemeClr val="tx1"/>
                          </a:solidFill>
                          <a:effectLst/>
                          <a:latin typeface="+mj-lt"/>
                        </a:rPr>
                        <a:t>n/a</a:t>
                      </a:r>
                      <a:r>
                        <a:rPr lang="en-US" sz="1000" b="0" i="0" u="none" strike="noStrike" baseline="30000">
                          <a:solidFill>
                            <a:schemeClr val="tx1"/>
                          </a:solidFill>
                          <a:effectLst/>
                          <a:latin typeface="+mj-lt"/>
                        </a:rPr>
                        <a:t>(2)</a:t>
                      </a: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accent2">
                        <a:lumMod val="20000"/>
                        <a:lumOff val="80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accent4">
                        <a:lumMod val="20000"/>
                        <a:lumOff val="80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extLst>
                  <a:ext uri="{0D108BD9-81ED-4DB2-BD59-A6C34878D82A}">
                    <a16:rowId xmlns:a16="http://schemas.microsoft.com/office/drawing/2014/main" val="3883574971"/>
                  </a:ext>
                </a:extLst>
              </a:tr>
              <a:tr h="135772">
                <a:tc>
                  <a:txBody>
                    <a:bodyPr/>
                    <a:lstStyle/>
                    <a:p>
                      <a:pPr algn="l" rtl="0" fontAlgn="ctr"/>
                      <a:r>
                        <a:rPr lang="en-US" sz="1000" b="0" i="0" u="none" strike="noStrike">
                          <a:solidFill>
                            <a:srgbClr val="000000"/>
                          </a:solidFill>
                          <a:effectLst/>
                          <a:latin typeface="+mj-lt"/>
                        </a:rPr>
                        <a:t>Alere</a:t>
                      </a:r>
                    </a:p>
                  </a:txBody>
                  <a:tcPr marL="27432" marR="27432" marT="0" marB="0" anchor="ctr">
                    <a:lnL>
                      <a:noFill/>
                    </a:lnL>
                    <a:lnR>
                      <a:noFill/>
                    </a:lnR>
                    <a:lnT>
                      <a:noFill/>
                    </a:lnT>
                    <a:lnB>
                      <a:noFill/>
                    </a:lnB>
                    <a:solidFill>
                      <a:srgbClr val="F2F2F2"/>
                    </a:solidFill>
                  </a:tcPr>
                </a:tc>
                <a:tc>
                  <a:txBody>
                    <a:bodyPr/>
                    <a:lstStyle/>
                    <a:p>
                      <a:pPr algn="ctr" rtl="0" fontAlgn="ctr"/>
                      <a:r>
                        <a:rPr lang="en-US" sz="1000" b="0" i="0" u="none" strike="noStrike">
                          <a:solidFill>
                            <a:srgbClr val="000000"/>
                          </a:solidFill>
                          <a:effectLst/>
                          <a:latin typeface="+mj-lt"/>
                        </a:rPr>
                        <a:t>HCE</a:t>
                      </a:r>
                    </a:p>
                  </a:txBody>
                  <a:tcPr marL="27432" marR="27432" marT="0" marB="0" anchor="ctr">
                    <a:lnL>
                      <a:noFill/>
                    </a:lnL>
                    <a:lnR>
                      <a:noFill/>
                    </a:lnR>
                    <a:lnT>
                      <a:noFill/>
                    </a:lnT>
                    <a:lnB>
                      <a:noFill/>
                    </a:lnB>
                    <a:solidFill>
                      <a:srgbClr val="F2F2F2"/>
                    </a:solidFill>
                  </a:tcPr>
                </a:tc>
                <a:tc>
                  <a:txBody>
                    <a:bodyPr/>
                    <a:lstStyle/>
                    <a:p>
                      <a:pPr algn="ctr" rtl="0" fontAlgn="ctr"/>
                      <a:r>
                        <a:rPr lang="en-US" sz="1000" b="0" i="0" u="none" strike="noStrike">
                          <a:solidFill>
                            <a:schemeClr val="tx1"/>
                          </a:solidFill>
                          <a:effectLst/>
                          <a:latin typeface="+mj-lt"/>
                        </a:rPr>
                        <a:t>n/a</a:t>
                      </a:r>
                      <a:r>
                        <a:rPr lang="en-US" sz="1000" b="0" i="0" u="none" strike="noStrike" baseline="30000">
                          <a:solidFill>
                            <a:schemeClr val="tx1"/>
                          </a:solidFill>
                          <a:effectLst/>
                          <a:latin typeface="+mj-lt"/>
                        </a:rPr>
                        <a:t>(3)</a:t>
                      </a:r>
                    </a:p>
                  </a:txBody>
                  <a:tcPr marL="27432" marR="27432" marT="0" marB="0" anchor="ctr">
                    <a:lnL>
                      <a:noFill/>
                    </a:lnL>
                    <a:lnR>
                      <a:noFill/>
                    </a:lnR>
                    <a:lnT>
                      <a:noFill/>
                    </a:lnT>
                    <a:lnB>
                      <a:noFill/>
                    </a:lnB>
                    <a:solidFill>
                      <a:srgbClr val="F2F2F2"/>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accent4">
                        <a:lumMod val="20000"/>
                        <a:lumOff val="80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445387036"/>
                  </a:ext>
                </a:extLst>
              </a:tr>
              <a:tr h="135772">
                <a:tc>
                  <a:txBody>
                    <a:bodyPr/>
                    <a:lstStyle/>
                    <a:p>
                      <a:pPr algn="l" rtl="0" fontAlgn="ctr"/>
                      <a:r>
                        <a:rPr lang="en-US" sz="1000" b="0" i="0" u="none" strike="noStrike">
                          <a:solidFill>
                            <a:srgbClr val="000000"/>
                          </a:solidFill>
                          <a:effectLst/>
                          <a:latin typeface="+mj-lt"/>
                        </a:rPr>
                        <a:t>Hill-Rom </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mj-lt"/>
                        </a:rPr>
                        <a:t>HCE</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chemeClr val="tx1"/>
                          </a:solidFill>
                          <a:effectLst/>
                          <a:latin typeface="+mj-lt"/>
                        </a:rPr>
                        <a:t>n/a</a:t>
                      </a:r>
                      <a:r>
                        <a:rPr lang="en-US" sz="1000" b="0" i="0" u="none" strike="noStrike" baseline="30000">
                          <a:solidFill>
                            <a:schemeClr val="tx1"/>
                          </a:solidFill>
                          <a:effectLst/>
                          <a:latin typeface="+mj-lt"/>
                        </a:rPr>
                        <a:t>(3)</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accent4">
                        <a:lumMod val="20000"/>
                        <a:lumOff val="80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extLst>
                  <a:ext uri="{0D108BD9-81ED-4DB2-BD59-A6C34878D82A}">
                    <a16:rowId xmlns:a16="http://schemas.microsoft.com/office/drawing/2014/main" val="232536378"/>
                  </a:ext>
                </a:extLst>
              </a:tr>
              <a:tr h="135772">
                <a:tc>
                  <a:txBody>
                    <a:bodyPr/>
                    <a:lstStyle/>
                    <a:p>
                      <a:pPr algn="l" rtl="0" fontAlgn="ctr"/>
                      <a:r>
                        <a:rPr lang="en-US" sz="1000" b="0" i="0" u="none" strike="noStrike">
                          <a:solidFill>
                            <a:srgbClr val="000000"/>
                          </a:solidFill>
                          <a:effectLst/>
                          <a:latin typeface="+mj-lt"/>
                        </a:rPr>
                        <a:t>Varian Medical Systems </a:t>
                      </a:r>
                    </a:p>
                  </a:txBody>
                  <a:tcPr marL="27432" marR="27432" marT="0" marB="0" anchor="ctr">
                    <a:lnL>
                      <a:noFill/>
                    </a:lnL>
                    <a:lnR>
                      <a:noFill/>
                    </a:lnR>
                    <a:lnT>
                      <a:noFill/>
                    </a:lnT>
                    <a:lnB>
                      <a:noFill/>
                    </a:lnB>
                    <a:solidFill>
                      <a:srgbClr val="F2F2F2"/>
                    </a:solidFill>
                  </a:tcPr>
                </a:tc>
                <a:tc>
                  <a:txBody>
                    <a:bodyPr/>
                    <a:lstStyle/>
                    <a:p>
                      <a:pPr algn="ctr" rtl="0" fontAlgn="ctr"/>
                      <a:r>
                        <a:rPr lang="en-US" sz="1000" b="0" i="0" u="none" strike="noStrike">
                          <a:solidFill>
                            <a:srgbClr val="000000"/>
                          </a:solidFill>
                          <a:effectLst/>
                          <a:latin typeface="+mj-lt"/>
                        </a:rPr>
                        <a:t>HCE</a:t>
                      </a:r>
                    </a:p>
                  </a:txBody>
                  <a:tcPr marL="27432" marR="27432" marT="0" marB="0" anchor="ctr">
                    <a:lnL>
                      <a:noFill/>
                    </a:lnL>
                    <a:lnR>
                      <a:noFill/>
                    </a:lnR>
                    <a:lnT>
                      <a:noFill/>
                    </a:lnT>
                    <a:lnB>
                      <a:noFill/>
                    </a:lnB>
                    <a:solidFill>
                      <a:srgbClr val="F2F2F2"/>
                    </a:solidFill>
                  </a:tcPr>
                </a:tc>
                <a:tc>
                  <a:txBody>
                    <a:bodyPr/>
                    <a:lstStyle/>
                    <a:p>
                      <a:pPr algn="ctr" rtl="0" fontAlgn="ctr"/>
                      <a:r>
                        <a:rPr lang="en-US" sz="1000" b="0" i="0" u="none" strike="noStrike">
                          <a:solidFill>
                            <a:schemeClr val="tx1"/>
                          </a:solidFill>
                          <a:effectLst/>
                          <a:latin typeface="+mj-lt"/>
                        </a:rPr>
                        <a:t>n/a</a:t>
                      </a:r>
                      <a:r>
                        <a:rPr lang="en-US" sz="1000" b="0" i="0" u="none" strike="noStrike" baseline="30000">
                          <a:solidFill>
                            <a:schemeClr val="tx1"/>
                          </a:solidFill>
                          <a:effectLst/>
                          <a:latin typeface="+mj-lt"/>
                        </a:rPr>
                        <a:t>(3)</a:t>
                      </a:r>
                    </a:p>
                  </a:txBody>
                  <a:tcPr marL="27432" marR="27432" marT="0" marB="0" anchor="ctr">
                    <a:lnL>
                      <a:noFill/>
                    </a:lnL>
                    <a:lnR>
                      <a:noFill/>
                    </a:lnR>
                    <a:lnT>
                      <a:noFill/>
                    </a:lnT>
                    <a:lnB>
                      <a:noFill/>
                    </a:lnB>
                    <a:solidFill>
                      <a:srgbClr val="F2F2F2"/>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accent4">
                        <a:lumMod val="20000"/>
                        <a:lumOff val="80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651950239"/>
                  </a:ext>
                </a:extLst>
              </a:tr>
              <a:tr h="135772">
                <a:tc>
                  <a:txBody>
                    <a:bodyPr/>
                    <a:lstStyle/>
                    <a:p>
                      <a:pPr algn="l" rtl="0" fontAlgn="ctr"/>
                      <a:r>
                        <a:rPr lang="en-US" sz="1000" b="0" i="0" u="none" strike="noStrike">
                          <a:solidFill>
                            <a:srgbClr val="000000"/>
                          </a:solidFill>
                          <a:effectLst/>
                          <a:latin typeface="+mj-lt"/>
                        </a:rPr>
                        <a:t>VCA </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mj-lt"/>
                        </a:rPr>
                        <a:t>HCP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chemeClr val="tx1"/>
                          </a:solidFill>
                          <a:effectLst/>
                          <a:latin typeface="+mj-lt"/>
                        </a:rPr>
                        <a:t>n/a</a:t>
                      </a:r>
                      <a:r>
                        <a:rPr lang="en-US" sz="1000" b="0" i="0" u="none" strike="noStrike" baseline="30000">
                          <a:solidFill>
                            <a:schemeClr val="tx1"/>
                          </a:solidFill>
                          <a:effectLst/>
                          <a:latin typeface="+mj-lt"/>
                        </a:rPr>
                        <a:t>(3)</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accent4">
                        <a:lumMod val="20000"/>
                        <a:lumOff val="80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extLst>
                  <a:ext uri="{0D108BD9-81ED-4DB2-BD59-A6C34878D82A}">
                    <a16:rowId xmlns:a16="http://schemas.microsoft.com/office/drawing/2014/main" val="2121799545"/>
                  </a:ext>
                </a:extLst>
              </a:tr>
              <a:tr h="53400">
                <a:tc>
                  <a:txBody>
                    <a:bodyPr/>
                    <a:lstStyle/>
                    <a:p>
                      <a:pPr algn="l" rtl="0" fontAlgn="b"/>
                      <a:endParaRPr lang="en-US" sz="300" b="0" i="0" u="none" strike="noStrike">
                        <a:solidFill>
                          <a:srgbClr val="000000"/>
                        </a:solidFill>
                        <a:effectLst/>
                        <a:latin typeface="+mj-lt"/>
                      </a:endParaRP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b"/>
                      <a:endParaRPr lang="en-US" sz="300" b="0" i="0" u="none" strike="noStrike">
                        <a:solidFill>
                          <a:srgbClr val="000000"/>
                        </a:solidFill>
                        <a:effectLst/>
                        <a:latin typeface="+mj-lt"/>
                      </a:endParaRP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b"/>
                      <a:endParaRPr lang="en-US" sz="300" b="0" i="0" u="none" strike="noStrike">
                        <a:solidFill>
                          <a:schemeClr val="tx1"/>
                        </a:solidFill>
                        <a:effectLst/>
                        <a:latin typeface="+mj-lt"/>
                      </a:endParaRP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b"/>
                      <a:endParaRPr lang="en-US" sz="300" b="0" i="0" u="none" strike="noStrike">
                        <a:solidFill>
                          <a:srgbClr val="000000"/>
                        </a:solidFill>
                        <a:effectLst/>
                        <a:latin typeface="+mj-lt"/>
                      </a:endParaRP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b"/>
                      <a:endParaRPr lang="en-US" sz="300" b="0" i="0" u="none" strike="noStrike">
                        <a:solidFill>
                          <a:srgbClr val="000000"/>
                        </a:solidFill>
                        <a:effectLst/>
                        <a:latin typeface="+mj-lt"/>
                      </a:endParaRP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endParaRPr lang="en-US" sz="300" b="0" i="0" u="none" strike="noStrike">
                        <a:effectLst/>
                        <a:latin typeface="+mj-lt"/>
                      </a:endParaRP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endParaRPr lang="en-US" sz="300" b="0" i="0" u="none" strike="noStrike">
                        <a:effectLst/>
                        <a:latin typeface="+mj-lt"/>
                      </a:endParaRP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endParaRPr lang="en-US" sz="300" b="0" i="0" u="none" strike="noStrike">
                        <a:effectLst/>
                        <a:latin typeface="+mj-lt"/>
                      </a:endParaRP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endParaRPr lang="en-US" sz="300" b="0" i="0" u="none" strike="noStrike">
                        <a:effectLst/>
                        <a:latin typeface="+mj-lt"/>
                      </a:endParaRP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endParaRPr lang="en-US" sz="300" b="0" i="0" u="none" strike="noStrike">
                        <a:effectLst/>
                        <a:latin typeface="+mj-lt"/>
                      </a:endParaRP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endParaRPr lang="en-US" sz="300" b="0" i="0" u="none" strike="noStrike">
                        <a:effectLst/>
                        <a:latin typeface="+mj-lt"/>
                      </a:endParaRP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endParaRPr lang="en-US" sz="300" b="0" i="0" u="none" strike="noStrike">
                        <a:effectLst/>
                        <a:latin typeface="+mj-lt"/>
                      </a:endParaRP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endParaRPr lang="en-US" sz="300" b="0" i="0" u="none" strike="noStrike">
                        <a:effectLst/>
                        <a:latin typeface="+mj-lt"/>
                      </a:endParaRP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92492725"/>
                  </a:ext>
                </a:extLst>
              </a:tr>
              <a:tr h="135772">
                <a:tc>
                  <a:txBody>
                    <a:bodyPr/>
                    <a:lstStyle/>
                    <a:p>
                      <a:pPr algn="l" rtl="0" fontAlgn="b"/>
                      <a:r>
                        <a:rPr lang="en-US" sz="1000" b="1" i="0" u="none" strike="noStrike">
                          <a:solidFill>
                            <a:srgbClr val="000000"/>
                          </a:solidFill>
                          <a:effectLst/>
                          <a:latin typeface="+mj-lt"/>
                        </a:rPr>
                        <a:t>Total</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rtl="0" fontAlgn="b"/>
                      <a:r>
                        <a:rPr lang="en-US" sz="1000" b="1" i="0" u="none" strike="noStrike">
                          <a:solidFill>
                            <a:srgbClr val="000000"/>
                          </a:solidFill>
                          <a:effectLst/>
                          <a:latin typeface="+mj-lt"/>
                        </a:rPr>
                        <a:t> </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rtl="0" fontAlgn="b"/>
                      <a:r>
                        <a:rPr lang="en-US" sz="1000" b="1" i="0" u="none" strike="noStrike">
                          <a:solidFill>
                            <a:srgbClr val="000000"/>
                          </a:solidFill>
                          <a:effectLst/>
                          <a:latin typeface="+mj-lt"/>
                        </a:rPr>
                        <a:t> </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rtl="0" fontAlgn="b"/>
                      <a:r>
                        <a:rPr lang="en-US" sz="1000" b="1" i="0" u="none" strike="noStrike">
                          <a:solidFill>
                            <a:srgbClr val="000000"/>
                          </a:solidFill>
                          <a:effectLst/>
                          <a:latin typeface="+mj-lt"/>
                        </a:rPr>
                        <a:t>18</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rtl="0" fontAlgn="b"/>
                      <a:r>
                        <a:rPr lang="en-US" sz="1000" b="1" i="0" u="none" strike="noStrike">
                          <a:solidFill>
                            <a:srgbClr val="000000"/>
                          </a:solidFill>
                          <a:effectLst/>
                          <a:latin typeface="+mj-lt"/>
                        </a:rPr>
                        <a:t>20</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rtl="0" fontAlgn="b"/>
                      <a:r>
                        <a:rPr lang="en-US" sz="1000" b="1" i="0" u="none" strike="noStrike">
                          <a:solidFill>
                            <a:srgbClr val="000000"/>
                          </a:solidFill>
                          <a:effectLst/>
                          <a:latin typeface="+mj-lt"/>
                        </a:rPr>
                        <a:t>15</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rtl="0" fontAlgn="b"/>
                      <a:r>
                        <a:rPr lang="en-US" sz="1000" b="1" i="0" u="none" strike="noStrike">
                          <a:solidFill>
                            <a:srgbClr val="000000"/>
                          </a:solidFill>
                          <a:effectLst/>
                          <a:latin typeface="+mj-lt"/>
                        </a:rPr>
                        <a:t>16</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rtl="0" fontAlgn="b"/>
                      <a:r>
                        <a:rPr lang="en-US" sz="1000" b="1" i="0" u="none" strike="noStrike">
                          <a:solidFill>
                            <a:srgbClr val="000000"/>
                          </a:solidFill>
                          <a:effectLst/>
                          <a:latin typeface="+mj-lt"/>
                        </a:rPr>
                        <a:t>16</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rtl="0" fontAlgn="b"/>
                      <a:r>
                        <a:rPr lang="en-US" sz="1000" b="1" i="0" u="none" strike="noStrike">
                          <a:solidFill>
                            <a:srgbClr val="000000"/>
                          </a:solidFill>
                          <a:effectLst/>
                          <a:latin typeface="+mj-lt"/>
                        </a:rPr>
                        <a:t>16</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rtl="0" fontAlgn="b"/>
                      <a:r>
                        <a:rPr lang="en-US" sz="1000" b="1" i="0" u="none" strike="noStrike">
                          <a:solidFill>
                            <a:srgbClr val="000000"/>
                          </a:solidFill>
                          <a:effectLst/>
                          <a:latin typeface="+mj-lt"/>
                        </a:rPr>
                        <a:t>16</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rtl="0" fontAlgn="b"/>
                      <a:r>
                        <a:rPr lang="en-US" sz="1000" b="1" i="0" u="none" strike="noStrike">
                          <a:solidFill>
                            <a:srgbClr val="000000"/>
                          </a:solidFill>
                          <a:effectLst/>
                          <a:latin typeface="+mj-lt"/>
                        </a:rPr>
                        <a:t>16</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rtl="0" fontAlgn="b"/>
                      <a:r>
                        <a:rPr lang="en-US" sz="1000" b="1" i="0" u="none" strike="noStrike">
                          <a:solidFill>
                            <a:srgbClr val="000000"/>
                          </a:solidFill>
                          <a:effectLst/>
                          <a:latin typeface="+mj-lt"/>
                        </a:rPr>
                        <a:t>16</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rtl="0" fontAlgn="b"/>
                      <a:r>
                        <a:rPr lang="en-US" sz="1000" b="1" i="0" u="none" strike="noStrike" dirty="0">
                          <a:solidFill>
                            <a:srgbClr val="000000"/>
                          </a:solidFill>
                          <a:effectLst/>
                          <a:latin typeface="+mj-lt"/>
                        </a:rPr>
                        <a:t>16</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extLst>
                  <a:ext uri="{0D108BD9-81ED-4DB2-BD59-A6C34878D82A}">
                    <a16:rowId xmlns:a16="http://schemas.microsoft.com/office/drawing/2014/main" val="2508410387"/>
                  </a:ext>
                </a:extLst>
              </a:tr>
            </a:tbl>
          </a:graphicData>
        </a:graphic>
      </p:graphicFrame>
      <p:sp>
        <p:nvSpPr>
          <p:cNvPr id="6" name="TextBox 5">
            <a:extLst>
              <a:ext uri="{FF2B5EF4-FFF2-40B4-BE49-F238E27FC236}">
                <a16:creationId xmlns:a16="http://schemas.microsoft.com/office/drawing/2014/main" id="{BF355C1C-2091-358D-B1B2-D668B21EDBF8}"/>
              </a:ext>
            </a:extLst>
          </p:cNvPr>
          <p:cNvSpPr txBox="1"/>
          <p:nvPr/>
        </p:nvSpPr>
        <p:spPr>
          <a:xfrm>
            <a:off x="1536968" y="900636"/>
            <a:ext cx="6070064" cy="480131"/>
          </a:xfrm>
          <a:prstGeom prst="rect">
            <a:avLst/>
          </a:prstGeom>
          <a:noFill/>
        </p:spPr>
        <p:txBody>
          <a:bodyPr wrap="square" lIns="45720" tIns="45720" rIns="45720" bIns="45720" rtlCol="0" anchor="ctr">
            <a:spAutoFit/>
          </a:bodyPr>
          <a:lstStyle/>
          <a:p>
            <a:pPr algn="ctr">
              <a:lnSpc>
                <a:spcPct val="90000"/>
              </a:lnSpc>
            </a:pPr>
            <a:r>
              <a:rPr lang="en-US" sz="1400" b="1" dirty="0"/>
              <a:t>Changes in </a:t>
            </a:r>
            <a:r>
              <a:rPr lang="en-US" sz="1400" b="1" dirty="0" err="1"/>
              <a:t>Goofy’s</a:t>
            </a:r>
            <a:r>
              <a:rPr lang="en-US" sz="1400" b="1" dirty="0"/>
              <a:t> Peer Group</a:t>
            </a:r>
          </a:p>
          <a:p>
            <a:pPr algn="ctr">
              <a:lnSpc>
                <a:spcPct val="90000"/>
              </a:lnSpc>
            </a:pPr>
            <a:r>
              <a:rPr lang="en-US" sz="1400" b="1" dirty="0"/>
              <a:t>2016 - 2025</a:t>
            </a:r>
          </a:p>
        </p:txBody>
      </p:sp>
      <p:sp>
        <p:nvSpPr>
          <p:cNvPr id="7" name="TextBox 6">
            <a:extLst>
              <a:ext uri="{FF2B5EF4-FFF2-40B4-BE49-F238E27FC236}">
                <a16:creationId xmlns:a16="http://schemas.microsoft.com/office/drawing/2014/main" id="{EDA5E459-2414-388A-7771-1BCA0AFD33CB}"/>
              </a:ext>
            </a:extLst>
          </p:cNvPr>
          <p:cNvSpPr txBox="1"/>
          <p:nvPr/>
        </p:nvSpPr>
        <p:spPr>
          <a:xfrm>
            <a:off x="7001712" y="1337114"/>
            <a:ext cx="614702" cy="230832"/>
          </a:xfrm>
          <a:prstGeom prst="rect">
            <a:avLst/>
          </a:prstGeom>
          <a:noFill/>
          <a:ln>
            <a:noFill/>
          </a:ln>
        </p:spPr>
        <p:txBody>
          <a:bodyPr wrap="square" rtlCol="0" anchor="ctr">
            <a:spAutoFit/>
          </a:bodyPr>
          <a:lstStyle/>
          <a:p>
            <a:r>
              <a:rPr lang="en-US" sz="900" b="1" i="1"/>
              <a:t>Key:</a:t>
            </a:r>
          </a:p>
        </p:txBody>
      </p:sp>
      <p:graphicFrame>
        <p:nvGraphicFramePr>
          <p:cNvPr id="8" name="Table 14">
            <a:extLst>
              <a:ext uri="{FF2B5EF4-FFF2-40B4-BE49-F238E27FC236}">
                <a16:creationId xmlns:a16="http://schemas.microsoft.com/office/drawing/2014/main" id="{24712C17-9BF0-3D10-A438-50EE29DC8923}"/>
              </a:ext>
            </a:extLst>
          </p:cNvPr>
          <p:cNvGraphicFramePr>
            <a:graphicFrameLocks noGrp="1"/>
          </p:cNvGraphicFramePr>
          <p:nvPr>
            <p:extLst>
              <p:ext uri="{D42A27DB-BD31-4B8C-83A1-F6EECF244321}">
                <p14:modId xmlns:p14="http://schemas.microsoft.com/office/powerpoint/2010/main" val="743921746"/>
              </p:ext>
            </p:extLst>
          </p:nvPr>
        </p:nvGraphicFramePr>
        <p:xfrm>
          <a:off x="7039812" y="1577144"/>
          <a:ext cx="2011680" cy="686793"/>
        </p:xfrm>
        <a:graphic>
          <a:graphicData uri="http://schemas.openxmlformats.org/drawingml/2006/table">
            <a:tbl>
              <a:tblPr firstRow="1" bandRow="1">
                <a:tableStyleId>{5940675A-B579-460E-94D1-54222C63F5DA}</a:tableStyleId>
              </a:tblPr>
              <a:tblGrid>
                <a:gridCol w="274320">
                  <a:extLst>
                    <a:ext uri="{9D8B030D-6E8A-4147-A177-3AD203B41FA5}">
                      <a16:colId xmlns:a16="http://schemas.microsoft.com/office/drawing/2014/main" val="1448559794"/>
                    </a:ext>
                  </a:extLst>
                </a:gridCol>
                <a:gridCol w="1737360">
                  <a:extLst>
                    <a:ext uri="{9D8B030D-6E8A-4147-A177-3AD203B41FA5}">
                      <a16:colId xmlns:a16="http://schemas.microsoft.com/office/drawing/2014/main" val="1242357177"/>
                    </a:ext>
                  </a:extLst>
                </a:gridCol>
              </a:tblGrid>
              <a:tr h="127044">
                <a:tc>
                  <a:txBody>
                    <a:bodyPr/>
                    <a:lstStyle/>
                    <a:p>
                      <a:pPr algn="ctr"/>
                      <a:r>
                        <a:rPr lang="en-US" sz="900"/>
                        <a:t>HCE</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900"/>
                        <a:t>  Health Care Equipment</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456415924"/>
                  </a:ext>
                </a:extLst>
              </a:tr>
              <a:tr h="46051">
                <a:tc>
                  <a:txBody>
                    <a:bodyPr/>
                    <a:lstStyle/>
                    <a:p>
                      <a:pPr algn="ctr"/>
                      <a:endParaRPr lang="en-US" sz="100"/>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00"/>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45465110"/>
                  </a:ext>
                </a:extLst>
              </a:tr>
              <a:tr h="127044">
                <a:tc>
                  <a:txBody>
                    <a:bodyPr/>
                    <a:lstStyle/>
                    <a:p>
                      <a:pPr algn="ctr"/>
                      <a:r>
                        <a:rPr lang="en-US" sz="900"/>
                        <a:t>HCS</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900"/>
                        <a:t>  Health Care Supplies</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03461171"/>
                  </a:ext>
                </a:extLst>
              </a:tr>
              <a:tr h="46051">
                <a:tc>
                  <a:txBody>
                    <a:bodyPr/>
                    <a:lstStyle/>
                    <a:p>
                      <a:pPr algn="ctr"/>
                      <a:endParaRPr lang="en-US" sz="100"/>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00"/>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727313861"/>
                  </a:ext>
                </a:extLst>
              </a:tr>
              <a:tr h="127044">
                <a:tc>
                  <a:txBody>
                    <a:bodyPr/>
                    <a:lstStyle/>
                    <a:p>
                      <a:pPr algn="ctr"/>
                      <a:r>
                        <a:rPr lang="en-US" sz="900"/>
                        <a:t>P</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900" dirty="0"/>
                        <a:t>  Pharmaceuticals</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63960339"/>
                  </a:ext>
                </a:extLst>
              </a:tr>
              <a:tr h="46051">
                <a:tc>
                  <a:txBody>
                    <a:bodyPr/>
                    <a:lstStyle/>
                    <a:p>
                      <a:endParaRPr lang="en-US" sz="100"/>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65780605"/>
                  </a:ext>
                </a:extLst>
              </a:tr>
              <a:tr h="127044">
                <a:tc>
                  <a:txBody>
                    <a:bodyPr/>
                    <a:lstStyle/>
                    <a:p>
                      <a:pPr algn="ctr"/>
                      <a:r>
                        <a:rPr lang="en-US" sz="900"/>
                        <a:t>LS</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900" dirty="0"/>
                        <a:t>  Life Sciences Tools &amp; </a:t>
                      </a:r>
                      <a:r>
                        <a:rPr lang="en-US" sz="900" dirty="0" err="1"/>
                        <a:t>Svcs</a:t>
                      </a:r>
                      <a:endParaRPr lang="en-US" sz="900" dirty="0"/>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9601939"/>
                  </a:ext>
                </a:extLst>
              </a:tr>
            </a:tbl>
          </a:graphicData>
        </a:graphic>
      </p:graphicFrame>
      <p:graphicFrame>
        <p:nvGraphicFramePr>
          <p:cNvPr id="9" name="Table 14">
            <a:extLst>
              <a:ext uri="{FF2B5EF4-FFF2-40B4-BE49-F238E27FC236}">
                <a16:creationId xmlns:a16="http://schemas.microsoft.com/office/drawing/2014/main" id="{6DF323B5-36AF-9DD5-1ECD-DADF6B3342A5}"/>
              </a:ext>
            </a:extLst>
          </p:cNvPr>
          <p:cNvGraphicFramePr>
            <a:graphicFrameLocks noGrp="1"/>
          </p:cNvGraphicFramePr>
          <p:nvPr>
            <p:extLst>
              <p:ext uri="{D42A27DB-BD31-4B8C-83A1-F6EECF244321}">
                <p14:modId xmlns:p14="http://schemas.microsoft.com/office/powerpoint/2010/main" val="952789729"/>
              </p:ext>
            </p:extLst>
          </p:nvPr>
        </p:nvGraphicFramePr>
        <p:xfrm>
          <a:off x="7039812" y="2301026"/>
          <a:ext cx="1571303" cy="137160"/>
        </p:xfrm>
        <a:graphic>
          <a:graphicData uri="http://schemas.openxmlformats.org/drawingml/2006/table">
            <a:tbl>
              <a:tblPr firstRow="1" bandRow="1">
                <a:tableStyleId>{5940675A-B579-460E-94D1-54222C63F5DA}</a:tableStyleId>
              </a:tblPr>
              <a:tblGrid>
                <a:gridCol w="274320">
                  <a:extLst>
                    <a:ext uri="{9D8B030D-6E8A-4147-A177-3AD203B41FA5}">
                      <a16:colId xmlns:a16="http://schemas.microsoft.com/office/drawing/2014/main" val="1448559794"/>
                    </a:ext>
                  </a:extLst>
                </a:gridCol>
                <a:gridCol w="1296983">
                  <a:extLst>
                    <a:ext uri="{9D8B030D-6E8A-4147-A177-3AD203B41FA5}">
                      <a16:colId xmlns:a16="http://schemas.microsoft.com/office/drawing/2014/main" val="1242357177"/>
                    </a:ext>
                  </a:extLst>
                </a:gridCol>
              </a:tblGrid>
              <a:tr h="137160">
                <a:tc>
                  <a:txBody>
                    <a:bodyPr/>
                    <a:lstStyle/>
                    <a:p>
                      <a:pPr algn="ctr"/>
                      <a:r>
                        <a:rPr lang="en-US" sz="900"/>
                        <a:t>HCP</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900"/>
                        <a:t>  Health Care Providers</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9601939"/>
                  </a:ext>
                </a:extLst>
              </a:tr>
            </a:tbl>
          </a:graphicData>
        </a:graphic>
      </p:graphicFrame>
      <p:graphicFrame>
        <p:nvGraphicFramePr>
          <p:cNvPr id="10" name="Table 14">
            <a:extLst>
              <a:ext uri="{FF2B5EF4-FFF2-40B4-BE49-F238E27FC236}">
                <a16:creationId xmlns:a16="http://schemas.microsoft.com/office/drawing/2014/main" id="{E5D40135-5A88-93C0-1F7A-6A8E450B696D}"/>
              </a:ext>
            </a:extLst>
          </p:cNvPr>
          <p:cNvGraphicFramePr>
            <a:graphicFrameLocks noGrp="1"/>
          </p:cNvGraphicFramePr>
          <p:nvPr>
            <p:extLst>
              <p:ext uri="{D42A27DB-BD31-4B8C-83A1-F6EECF244321}">
                <p14:modId xmlns:p14="http://schemas.microsoft.com/office/powerpoint/2010/main" val="3329995354"/>
              </p:ext>
            </p:extLst>
          </p:nvPr>
        </p:nvGraphicFramePr>
        <p:xfrm>
          <a:off x="7039811" y="2475275"/>
          <a:ext cx="2093963" cy="137160"/>
        </p:xfrm>
        <a:graphic>
          <a:graphicData uri="http://schemas.openxmlformats.org/drawingml/2006/table">
            <a:tbl>
              <a:tblPr firstRow="1" bandRow="1">
                <a:tableStyleId>{5940675A-B579-460E-94D1-54222C63F5DA}</a:tableStyleId>
              </a:tblPr>
              <a:tblGrid>
                <a:gridCol w="274320">
                  <a:extLst>
                    <a:ext uri="{9D8B030D-6E8A-4147-A177-3AD203B41FA5}">
                      <a16:colId xmlns:a16="http://schemas.microsoft.com/office/drawing/2014/main" val="1448559794"/>
                    </a:ext>
                  </a:extLst>
                </a:gridCol>
                <a:gridCol w="1819643">
                  <a:extLst>
                    <a:ext uri="{9D8B030D-6E8A-4147-A177-3AD203B41FA5}">
                      <a16:colId xmlns:a16="http://schemas.microsoft.com/office/drawing/2014/main" val="1242357177"/>
                    </a:ext>
                  </a:extLst>
                </a:gridCol>
              </a:tblGrid>
              <a:tr h="137160">
                <a:tc>
                  <a:txBody>
                    <a:bodyPr/>
                    <a:lstStyle/>
                    <a:p>
                      <a:endParaRPr lang="en-US" sz="900"/>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D7D7"/>
                    </a:solidFill>
                  </a:tcPr>
                </a:tc>
                <a:tc>
                  <a:txBody>
                    <a:bodyPr/>
                    <a:lstStyle/>
                    <a:p>
                      <a:r>
                        <a:rPr lang="en-US" sz="900" dirty="0"/>
                        <a:t>  Company removed from peer group</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9601939"/>
                  </a:ext>
                </a:extLst>
              </a:tr>
            </a:tbl>
          </a:graphicData>
        </a:graphic>
      </p:graphicFrame>
      <p:graphicFrame>
        <p:nvGraphicFramePr>
          <p:cNvPr id="11" name="Table 14">
            <a:extLst>
              <a:ext uri="{FF2B5EF4-FFF2-40B4-BE49-F238E27FC236}">
                <a16:creationId xmlns:a16="http://schemas.microsoft.com/office/drawing/2014/main" id="{38F17A2B-129E-B4FB-87D4-7508BB205373}"/>
              </a:ext>
            </a:extLst>
          </p:cNvPr>
          <p:cNvGraphicFramePr>
            <a:graphicFrameLocks noGrp="1"/>
          </p:cNvGraphicFramePr>
          <p:nvPr>
            <p:extLst>
              <p:ext uri="{D42A27DB-BD31-4B8C-83A1-F6EECF244321}">
                <p14:modId xmlns:p14="http://schemas.microsoft.com/office/powerpoint/2010/main" val="3360777900"/>
              </p:ext>
            </p:extLst>
          </p:nvPr>
        </p:nvGraphicFramePr>
        <p:xfrm>
          <a:off x="7039811" y="2647243"/>
          <a:ext cx="1934798" cy="137160"/>
        </p:xfrm>
        <a:graphic>
          <a:graphicData uri="http://schemas.openxmlformats.org/drawingml/2006/table">
            <a:tbl>
              <a:tblPr firstRow="1" bandRow="1">
                <a:tableStyleId>{5940675A-B579-460E-94D1-54222C63F5DA}</a:tableStyleId>
              </a:tblPr>
              <a:tblGrid>
                <a:gridCol w="274320">
                  <a:extLst>
                    <a:ext uri="{9D8B030D-6E8A-4147-A177-3AD203B41FA5}">
                      <a16:colId xmlns:a16="http://schemas.microsoft.com/office/drawing/2014/main" val="1448559794"/>
                    </a:ext>
                  </a:extLst>
                </a:gridCol>
                <a:gridCol w="1660478">
                  <a:extLst>
                    <a:ext uri="{9D8B030D-6E8A-4147-A177-3AD203B41FA5}">
                      <a16:colId xmlns:a16="http://schemas.microsoft.com/office/drawing/2014/main" val="1242357177"/>
                    </a:ext>
                  </a:extLst>
                </a:gridCol>
              </a:tblGrid>
              <a:tr h="137160">
                <a:tc>
                  <a:txBody>
                    <a:bodyPr/>
                    <a:lstStyle/>
                    <a:p>
                      <a:endParaRPr lang="en-US" sz="900"/>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r>
                        <a:rPr lang="en-US" sz="900" dirty="0"/>
                        <a:t>  Company added to peer group</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9601939"/>
                  </a:ext>
                </a:extLst>
              </a:tr>
            </a:tbl>
          </a:graphicData>
        </a:graphic>
      </p:graphicFrame>
      <p:sp>
        <p:nvSpPr>
          <p:cNvPr id="12" name="TextBox 11">
            <a:extLst>
              <a:ext uri="{FF2B5EF4-FFF2-40B4-BE49-F238E27FC236}">
                <a16:creationId xmlns:a16="http://schemas.microsoft.com/office/drawing/2014/main" id="{B048E503-A335-43F6-9D98-3CA7BF1F7E48}"/>
              </a:ext>
            </a:extLst>
          </p:cNvPr>
          <p:cNvSpPr txBox="1"/>
          <p:nvPr/>
        </p:nvSpPr>
        <p:spPr>
          <a:xfrm>
            <a:off x="272313" y="6152025"/>
            <a:ext cx="8338802" cy="507831"/>
          </a:xfrm>
          <a:prstGeom prst="rect">
            <a:avLst/>
          </a:prstGeom>
          <a:noFill/>
        </p:spPr>
        <p:txBody>
          <a:bodyPr wrap="square" lIns="45720" tIns="45720" rIns="45720" bIns="45720" rtlCol="0" anchor="ctr">
            <a:spAutoFit/>
          </a:bodyPr>
          <a:lstStyle/>
          <a:p>
            <a:pPr marL="228600" indent="-228600">
              <a:buAutoNum type="arabicParenBoth"/>
            </a:pPr>
            <a:r>
              <a:rPr lang="en-US" sz="900" i="1" dirty="0"/>
              <a:t>Stericycle was acquired by WM on November 4, 2024. Prior to its acquisition, Stericycle was categorized as Environmental and Facilities Services</a:t>
            </a:r>
          </a:p>
          <a:p>
            <a:pPr marL="228600" indent="-228600">
              <a:buAutoNum type="arabicParenBoth"/>
            </a:pPr>
            <a:r>
              <a:rPr lang="en-US" sz="900" i="1" dirty="0" err="1"/>
              <a:t>NuVasive</a:t>
            </a:r>
            <a:r>
              <a:rPr lang="en-US" sz="900" i="1" dirty="0"/>
              <a:t> was acquired by Globus Medical on September 1, 2023. C.R Bard was acquired by Becton, Dickinson and Company on December 29, 2017</a:t>
            </a:r>
          </a:p>
          <a:p>
            <a:pPr marL="228600" indent="-228600">
              <a:buAutoNum type="arabicParenBoth"/>
            </a:pPr>
            <a:r>
              <a:rPr lang="en-US" sz="900" i="1" dirty="0"/>
              <a:t>Not a public company</a:t>
            </a:r>
          </a:p>
        </p:txBody>
      </p:sp>
    </p:spTree>
    <p:extLst>
      <p:ext uri="{BB962C8B-B14F-4D97-AF65-F5344CB8AC3E}">
        <p14:creationId xmlns:p14="http://schemas.microsoft.com/office/powerpoint/2010/main" val="1992113678"/>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DB288F-73D3-7A1E-C99B-FA23ACE9137A}"/>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25D9A426-B4A8-97C0-E100-59499AD83550}"/>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5" name="Title 4">
            <a:extLst>
              <a:ext uri="{FF2B5EF4-FFF2-40B4-BE49-F238E27FC236}">
                <a16:creationId xmlns:a16="http://schemas.microsoft.com/office/drawing/2014/main" id="{D0CE0BB8-1EF9-0D13-FF19-E4D046479470}"/>
              </a:ext>
            </a:extLst>
          </p:cNvPr>
          <p:cNvSpPr>
            <a:spLocks noGrp="1"/>
          </p:cNvSpPr>
          <p:nvPr>
            <p:ph type="title"/>
          </p:nvPr>
        </p:nvSpPr>
        <p:spPr>
          <a:xfrm>
            <a:off x="882797" y="44215"/>
            <a:ext cx="8074152" cy="1292899"/>
          </a:xfrm>
        </p:spPr>
        <p:txBody>
          <a:bodyPr/>
          <a:lstStyle/>
          <a:p>
            <a:r>
              <a:rPr lang="en-US" dirty="0"/>
              <a:t>ISS’ 2025 peer group for Goofy comprises 24 companies and heavily overlaps with Goofy’s current compensation peers</a:t>
            </a:r>
          </a:p>
        </p:txBody>
      </p:sp>
      <p:sp>
        <p:nvSpPr>
          <p:cNvPr id="4" name="Slide Number Placeholder 3">
            <a:extLst>
              <a:ext uri="{FF2B5EF4-FFF2-40B4-BE49-F238E27FC236}">
                <a16:creationId xmlns:a16="http://schemas.microsoft.com/office/drawing/2014/main" id="{38BFF827-FDF2-C840-7568-39DD92B6D709}"/>
              </a:ext>
            </a:extLst>
          </p:cNvPr>
          <p:cNvSpPr>
            <a:spLocks noGrp="1"/>
          </p:cNvSpPr>
          <p:nvPr>
            <p:ph type="sldNum" sz="quarter" idx="12"/>
          </p:nvPr>
        </p:nvSpPr>
        <p:spPr>
          <a:xfrm>
            <a:off x="8581802" y="6577909"/>
            <a:ext cx="352260" cy="211339"/>
          </a:xfrm>
        </p:spPr>
        <p:txBody>
          <a:bodyPr/>
          <a:lstStyle/>
          <a:p>
            <a:fld id="{91690BAF-E217-4185-92FD-0CEA06F2B7C8}" type="slidenum">
              <a:rPr lang="en-US" smtClean="0"/>
              <a:pPr/>
              <a:t>12</a:t>
            </a:fld>
            <a:endParaRPr lang="en-US"/>
          </a:p>
        </p:txBody>
      </p:sp>
      <p:sp>
        <p:nvSpPr>
          <p:cNvPr id="2" name="TextBox 1">
            <a:extLst>
              <a:ext uri="{FF2B5EF4-FFF2-40B4-BE49-F238E27FC236}">
                <a16:creationId xmlns:a16="http://schemas.microsoft.com/office/drawing/2014/main" id="{684447AB-DDFB-3213-5943-2210A877CD69}"/>
              </a:ext>
            </a:extLst>
          </p:cNvPr>
          <p:cNvSpPr txBox="1"/>
          <p:nvPr/>
        </p:nvSpPr>
        <p:spPr>
          <a:xfrm>
            <a:off x="2149761" y="1025270"/>
            <a:ext cx="4844479" cy="286232"/>
          </a:xfrm>
          <a:prstGeom prst="rect">
            <a:avLst/>
          </a:prstGeom>
          <a:noFill/>
        </p:spPr>
        <p:txBody>
          <a:bodyPr wrap="square" rtlCol="0">
            <a:spAutoFit/>
          </a:bodyPr>
          <a:lstStyle/>
          <a:p>
            <a:pPr algn="ctr">
              <a:lnSpc>
                <a:spcPct val="90000"/>
              </a:lnSpc>
            </a:pPr>
            <a:r>
              <a:rPr lang="en-US" sz="1400" b="1"/>
              <a:t>2025 ISS Peer Overlap to Current Peer Group</a:t>
            </a:r>
            <a:r>
              <a:rPr lang="en-US" sz="1400" b="1" baseline="30000"/>
              <a:t>(1)(2)</a:t>
            </a:r>
          </a:p>
        </p:txBody>
      </p:sp>
      <p:sp>
        <p:nvSpPr>
          <p:cNvPr id="6" name="TextBox 5">
            <a:extLst>
              <a:ext uri="{FF2B5EF4-FFF2-40B4-BE49-F238E27FC236}">
                <a16:creationId xmlns:a16="http://schemas.microsoft.com/office/drawing/2014/main" id="{D3E51B98-9B50-4D61-4D89-73FEFFB71451}"/>
              </a:ext>
            </a:extLst>
          </p:cNvPr>
          <p:cNvSpPr txBox="1"/>
          <p:nvPr/>
        </p:nvSpPr>
        <p:spPr>
          <a:xfrm>
            <a:off x="2590883" y="6393942"/>
            <a:ext cx="3931920" cy="400110"/>
          </a:xfrm>
          <a:prstGeom prst="rect">
            <a:avLst/>
          </a:prstGeom>
          <a:noFill/>
        </p:spPr>
        <p:txBody>
          <a:bodyPr wrap="square" lIns="45720" tIns="45720" rIns="45720" bIns="45720" rtlCol="0" anchor="ctr">
            <a:spAutoFit/>
          </a:bodyPr>
          <a:lstStyle/>
          <a:p>
            <a:pPr marL="228600" indent="-228600">
              <a:buAutoNum type="arabicParenBoth"/>
            </a:pPr>
            <a:r>
              <a:rPr lang="en-US" sz="1000" i="1" dirty="0">
                <a:latin typeface="Calibri" panose="020F0502020204030204" pitchFamily="34" charset="0"/>
                <a:ea typeface="Calibri" panose="020F0502020204030204" pitchFamily="34" charset="0"/>
              </a:rPr>
              <a:t>See following page for detailed depiction of additions and removals</a:t>
            </a:r>
          </a:p>
          <a:p>
            <a:pPr marL="228600" indent="-228600">
              <a:buAutoNum type="arabicParenBoth"/>
            </a:pPr>
            <a:r>
              <a:rPr lang="en-US" sz="1000" i="1" dirty="0">
                <a:latin typeface="Calibri" panose="020F0502020204030204" pitchFamily="34" charset="0"/>
                <a:ea typeface="Calibri" panose="020F0502020204030204" pitchFamily="34" charset="0"/>
              </a:rPr>
              <a:t>ISS’ peer group does not have one Goofy peer, Mettler-Toledo</a:t>
            </a:r>
          </a:p>
        </p:txBody>
      </p:sp>
      <p:sp>
        <p:nvSpPr>
          <p:cNvPr id="7" name="TextBox 6">
            <a:extLst>
              <a:ext uri="{FF2B5EF4-FFF2-40B4-BE49-F238E27FC236}">
                <a16:creationId xmlns:a16="http://schemas.microsoft.com/office/drawing/2014/main" id="{E532D7B8-A110-7CC9-7DA9-3DEDC74BD04D}"/>
              </a:ext>
            </a:extLst>
          </p:cNvPr>
          <p:cNvSpPr txBox="1"/>
          <p:nvPr/>
        </p:nvSpPr>
        <p:spPr>
          <a:xfrm>
            <a:off x="7007678" y="1221432"/>
            <a:ext cx="1361837" cy="246221"/>
          </a:xfrm>
          <a:prstGeom prst="rect">
            <a:avLst/>
          </a:prstGeom>
          <a:noFill/>
        </p:spPr>
        <p:txBody>
          <a:bodyPr wrap="square" rtlCol="0" anchor="ctr">
            <a:spAutoFit/>
          </a:bodyPr>
          <a:lstStyle/>
          <a:p>
            <a:r>
              <a:rPr lang="en-US" sz="1000" b="1" i="1"/>
              <a:t>Key:</a:t>
            </a:r>
          </a:p>
        </p:txBody>
      </p:sp>
      <p:graphicFrame>
        <p:nvGraphicFramePr>
          <p:cNvPr id="8" name="Table 7">
            <a:extLst>
              <a:ext uri="{FF2B5EF4-FFF2-40B4-BE49-F238E27FC236}">
                <a16:creationId xmlns:a16="http://schemas.microsoft.com/office/drawing/2014/main" id="{9C725872-48D8-26ED-F14D-88F8707EF1A7}"/>
              </a:ext>
            </a:extLst>
          </p:cNvPr>
          <p:cNvGraphicFramePr>
            <a:graphicFrameLocks noGrp="1"/>
          </p:cNvGraphicFramePr>
          <p:nvPr>
            <p:extLst>
              <p:ext uri="{D42A27DB-BD31-4B8C-83A1-F6EECF244321}">
                <p14:modId xmlns:p14="http://schemas.microsoft.com/office/powerpoint/2010/main" val="3041936690"/>
              </p:ext>
            </p:extLst>
          </p:nvPr>
        </p:nvGraphicFramePr>
        <p:xfrm>
          <a:off x="2590883" y="1264158"/>
          <a:ext cx="4063564" cy="5139944"/>
        </p:xfrm>
        <a:graphic>
          <a:graphicData uri="http://schemas.openxmlformats.org/drawingml/2006/table">
            <a:tbl>
              <a:tblPr/>
              <a:tblGrid>
                <a:gridCol w="1647391">
                  <a:extLst>
                    <a:ext uri="{9D8B030D-6E8A-4147-A177-3AD203B41FA5}">
                      <a16:colId xmlns:a16="http://schemas.microsoft.com/office/drawing/2014/main" val="1288122401"/>
                    </a:ext>
                  </a:extLst>
                </a:gridCol>
                <a:gridCol w="658956">
                  <a:extLst>
                    <a:ext uri="{9D8B030D-6E8A-4147-A177-3AD203B41FA5}">
                      <a16:colId xmlns:a16="http://schemas.microsoft.com/office/drawing/2014/main" val="2946814763"/>
                    </a:ext>
                  </a:extLst>
                </a:gridCol>
                <a:gridCol w="658956">
                  <a:extLst>
                    <a:ext uri="{9D8B030D-6E8A-4147-A177-3AD203B41FA5}">
                      <a16:colId xmlns:a16="http://schemas.microsoft.com/office/drawing/2014/main" val="2065712697"/>
                    </a:ext>
                  </a:extLst>
                </a:gridCol>
                <a:gridCol w="1098261">
                  <a:extLst>
                    <a:ext uri="{9D8B030D-6E8A-4147-A177-3AD203B41FA5}">
                      <a16:colId xmlns:a16="http://schemas.microsoft.com/office/drawing/2014/main" val="3428892975"/>
                    </a:ext>
                  </a:extLst>
                </a:gridCol>
              </a:tblGrid>
              <a:tr h="0">
                <a:tc>
                  <a:txBody>
                    <a:bodyPr/>
                    <a:lstStyle/>
                    <a:p>
                      <a:pPr algn="l" fontAlgn="b"/>
                      <a:r>
                        <a:rPr lang="en-US" sz="1000" b="1" i="0" u="none" strike="noStrike" dirty="0">
                          <a:solidFill>
                            <a:srgbClr val="FFFFFF"/>
                          </a:solidFill>
                          <a:effectLst/>
                          <a:latin typeface="Calibri" panose="020F0502020204030204" pitchFamily="34" charset="0"/>
                        </a:rPr>
                        <a:t>($MM)</a:t>
                      </a:r>
                    </a:p>
                  </a:txBody>
                  <a:tcPr marL="27432" marR="27432" marT="9144" marB="9144" anchor="b">
                    <a:lnL>
                      <a:noFill/>
                    </a:lnL>
                    <a:lnR>
                      <a:noFill/>
                    </a:lnR>
                    <a:lnT w="6350" cap="flat" cmpd="sng" algn="ctr">
                      <a:solidFill>
                        <a:srgbClr val="000000"/>
                      </a:solidFill>
                      <a:prstDash val="solid"/>
                      <a:round/>
                      <a:headEnd type="none" w="med" len="med"/>
                      <a:tailEnd type="none" w="med" len="med"/>
                    </a:lnT>
                    <a:lnB>
                      <a:noFill/>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 </a:t>
                      </a:r>
                    </a:p>
                  </a:txBody>
                  <a:tcPr marL="27432" marR="27432" marT="9144" marB="9144" anchor="b">
                    <a:lnL>
                      <a:noFill/>
                    </a:lnL>
                    <a:lnR>
                      <a:noFill/>
                    </a:lnR>
                    <a:lnT w="6350" cap="flat" cmpd="sng" algn="ctr">
                      <a:solidFill>
                        <a:srgbClr val="000000"/>
                      </a:solidFill>
                      <a:prstDash val="solid"/>
                      <a:round/>
                      <a:headEnd type="none" w="med" len="med"/>
                      <a:tailEnd type="none" w="med" len="med"/>
                    </a:lnT>
                    <a:lnB>
                      <a:noFill/>
                    </a:lnB>
                    <a:solidFill>
                      <a:srgbClr val="006EBE"/>
                    </a:solidFill>
                  </a:tcPr>
                </a:tc>
                <a:tc>
                  <a:txBody>
                    <a:bodyPr/>
                    <a:lstStyle/>
                    <a:p>
                      <a:pPr algn="ctr" fontAlgn="b"/>
                      <a:r>
                        <a:rPr lang="en-US" sz="1000" b="1" i="0" u="none" strike="noStrike" dirty="0">
                          <a:solidFill>
                            <a:srgbClr val="FFFFFF"/>
                          </a:solidFill>
                          <a:effectLst/>
                          <a:latin typeface="Calibri" panose="020F0502020204030204" pitchFamily="34" charset="0"/>
                        </a:rPr>
                        <a:t>FYE</a:t>
                      </a:r>
                    </a:p>
                  </a:txBody>
                  <a:tcPr marL="27432" marR="27432" marT="9144" marB="9144" anchor="b">
                    <a:lnL>
                      <a:noFill/>
                    </a:lnL>
                    <a:lnR>
                      <a:noFill/>
                    </a:lnR>
                    <a:lnT w="6350" cap="flat" cmpd="sng" algn="ctr">
                      <a:solidFill>
                        <a:srgbClr val="000000"/>
                      </a:solidFill>
                      <a:prstDash val="solid"/>
                      <a:round/>
                      <a:headEnd type="none" w="med" len="med"/>
                      <a:tailEnd type="none" w="med" len="med"/>
                    </a:lnT>
                    <a:lnB>
                      <a:noFill/>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Market Cap</a:t>
                      </a:r>
                    </a:p>
                  </a:txBody>
                  <a:tcPr marL="27432" marR="27432" marT="9144" marB="9144" anchor="b">
                    <a:lnL>
                      <a:noFill/>
                    </a:lnL>
                    <a:lnR>
                      <a:noFill/>
                    </a:lnR>
                    <a:lnT w="6350" cap="flat" cmpd="sng" algn="ctr">
                      <a:solidFill>
                        <a:srgbClr val="000000"/>
                      </a:solidFill>
                      <a:prstDash val="solid"/>
                      <a:round/>
                      <a:headEnd type="none" w="med" len="med"/>
                      <a:tailEnd type="none" w="med" len="med"/>
                    </a:lnT>
                    <a:lnB>
                      <a:noFill/>
                    </a:lnB>
                    <a:solidFill>
                      <a:srgbClr val="006EBE"/>
                    </a:solidFill>
                  </a:tcPr>
                </a:tc>
                <a:extLst>
                  <a:ext uri="{0D108BD9-81ED-4DB2-BD59-A6C34878D82A}">
                    <a16:rowId xmlns:a16="http://schemas.microsoft.com/office/drawing/2014/main" val="2596345066"/>
                  </a:ext>
                </a:extLst>
              </a:tr>
              <a:tr h="0">
                <a:tc>
                  <a:txBody>
                    <a:bodyPr/>
                    <a:lstStyle/>
                    <a:p>
                      <a:pPr algn="ctr" fontAlgn="b"/>
                      <a:r>
                        <a:rPr lang="en-US" sz="1000" b="1" i="0" u="none" strike="noStrike">
                          <a:solidFill>
                            <a:srgbClr val="FFFFFF"/>
                          </a:solidFill>
                          <a:effectLst/>
                          <a:latin typeface="Calibri" panose="020F0502020204030204" pitchFamily="34" charset="0"/>
                        </a:rPr>
                        <a:t>Company Name</a:t>
                      </a:r>
                    </a:p>
                  </a:txBody>
                  <a:tcPr marL="27432" marR="27432" marT="9144" marB="9144" anchor="b">
                    <a:lnL>
                      <a:noFill/>
                    </a:lnL>
                    <a:lnR>
                      <a:noFill/>
                    </a:lnR>
                    <a:lnT>
                      <a:noFill/>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Industry</a:t>
                      </a:r>
                    </a:p>
                  </a:txBody>
                  <a:tcPr marL="27432" marR="27432" marT="9144" marB="9144" anchor="b">
                    <a:lnL>
                      <a:noFill/>
                    </a:lnL>
                    <a:lnR>
                      <a:noFill/>
                    </a:lnR>
                    <a:lnT>
                      <a:noFill/>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1000" b="1" i="0" u="none" strike="noStrike" dirty="0">
                          <a:solidFill>
                            <a:srgbClr val="FFFFFF"/>
                          </a:solidFill>
                          <a:effectLst/>
                          <a:latin typeface="Calibri" panose="020F0502020204030204" pitchFamily="34" charset="0"/>
                        </a:rPr>
                        <a:t>Revenue</a:t>
                      </a:r>
                    </a:p>
                  </a:txBody>
                  <a:tcPr marL="27432" marR="27432" marT="9144" marB="9144" anchor="b">
                    <a:lnL>
                      <a:noFill/>
                    </a:lnL>
                    <a:lnR>
                      <a:noFill/>
                    </a:lnR>
                    <a:lnT>
                      <a:noFill/>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1000" b="1" i="0" u="none" strike="noStrike" dirty="0">
                          <a:solidFill>
                            <a:srgbClr val="FFFFFF"/>
                          </a:solidFill>
                          <a:effectLst/>
                          <a:latin typeface="Calibri" panose="020F0502020204030204" pitchFamily="34" charset="0"/>
                        </a:rPr>
                        <a:t>as of 4/10/2025</a:t>
                      </a:r>
                    </a:p>
                  </a:txBody>
                  <a:tcPr marL="27432" marR="27432" marT="9144" marB="9144" anchor="b">
                    <a:lnL>
                      <a:noFill/>
                    </a:lnL>
                    <a:lnR>
                      <a:noFill/>
                    </a:lnR>
                    <a:lnT>
                      <a:noFill/>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3807702467"/>
                  </a:ext>
                </a:extLst>
              </a:tr>
              <a:tr h="0">
                <a:tc gridSpan="4">
                  <a:txBody>
                    <a:bodyPr/>
                    <a:lstStyle/>
                    <a:p>
                      <a:pPr algn="l" fontAlgn="ctr"/>
                      <a:r>
                        <a:rPr lang="en-US" sz="1000" b="1" i="0" u="none" strike="noStrike" dirty="0">
                          <a:effectLst/>
                          <a:latin typeface="Calibri" panose="020F0502020204030204" pitchFamily="34" charset="0"/>
                        </a:rPr>
                        <a:t>ISS and Goofy Current Peer</a:t>
                      </a:r>
                    </a:p>
                  </a:txBody>
                  <a:tcPr marL="27432" marR="27432"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hMerge="1">
                  <a:txBody>
                    <a:bodyPr/>
                    <a:lstStyle/>
                    <a:p>
                      <a:pPr algn="ctr" fontAlgn="ctr"/>
                      <a:endParaRPr lang="en-US" sz="1000" b="1" i="0" u="none" strike="noStrike">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hMerge="1">
                  <a:txBody>
                    <a:bodyPr/>
                    <a:lstStyle/>
                    <a:p>
                      <a:pPr algn="ctr" fontAlgn="ctr"/>
                      <a:endParaRPr lang="en-US" sz="1000" b="1" i="0" u="none" strike="noStrike">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hMerge="1">
                  <a:txBody>
                    <a:bodyPr/>
                    <a:lstStyle/>
                    <a:p>
                      <a:pPr algn="ctr" fontAlgn="ctr"/>
                      <a:endParaRPr lang="en-US" sz="1000" b="1" i="0" u="none" strike="noStrike">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144813097"/>
                  </a:ext>
                </a:extLst>
              </a:tr>
              <a:tr h="0">
                <a:tc>
                  <a:txBody>
                    <a:bodyPr/>
                    <a:lstStyle/>
                    <a:p>
                      <a:pPr algn="l" fontAlgn="ctr"/>
                      <a:r>
                        <a:rPr lang="en-US" sz="1000" b="0" i="0" u="none" strike="noStrike">
                          <a:effectLst/>
                          <a:latin typeface="Calibri" panose="020F0502020204030204" pitchFamily="34" charset="0"/>
                        </a:rPr>
                        <a:t>Zoetis</a:t>
                      </a:r>
                    </a:p>
                  </a:txBody>
                  <a:tcPr marL="27432" marR="27432"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ctr"/>
                      <a:r>
                        <a:rPr lang="en-US" sz="1000" b="0" i="0" u="none" strike="noStrike">
                          <a:effectLst/>
                          <a:latin typeface="Calibri" panose="020F0502020204030204" pitchFamily="34" charset="0"/>
                        </a:rPr>
                        <a:t>P</a:t>
                      </a:r>
                    </a:p>
                  </a:txBody>
                  <a:tcPr marL="27432" marR="27432"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ctr"/>
                      <a:r>
                        <a:rPr lang="en-US" sz="1000" b="0" i="0" u="none" strike="noStrike">
                          <a:effectLst/>
                          <a:latin typeface="Calibri" panose="020F0502020204030204" pitchFamily="34" charset="0"/>
                        </a:rPr>
                        <a:t>$9,256</a:t>
                      </a:r>
                    </a:p>
                  </a:txBody>
                  <a:tcPr marL="27432" marR="27432"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ctr"/>
                      <a:r>
                        <a:rPr lang="en-US" sz="1000" b="0" i="0" u="none" strike="noStrike">
                          <a:effectLst/>
                          <a:latin typeface="Calibri" panose="020F0502020204030204" pitchFamily="34" charset="0"/>
                        </a:rPr>
                        <a:t>$65,571</a:t>
                      </a:r>
                    </a:p>
                  </a:txBody>
                  <a:tcPr marL="27432" marR="27432" marT="0" marB="0" anchor="ctr">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52543115"/>
                  </a:ext>
                </a:extLst>
              </a:tr>
              <a:tr h="0">
                <a:tc>
                  <a:txBody>
                    <a:bodyPr/>
                    <a:lstStyle/>
                    <a:p>
                      <a:pPr algn="l" fontAlgn="ctr"/>
                      <a:r>
                        <a:rPr lang="en-US" sz="1000" b="0" i="0" u="none" strike="noStrike">
                          <a:effectLst/>
                          <a:latin typeface="Calibri" panose="020F0502020204030204" pitchFamily="34" charset="0"/>
                        </a:rPr>
                        <a:t>Intuitive Surgical</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HCE</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$8,352</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$175,383</a:t>
                      </a: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857601166"/>
                  </a:ext>
                </a:extLst>
              </a:tr>
              <a:tr h="0">
                <a:tc>
                  <a:txBody>
                    <a:bodyPr/>
                    <a:lstStyle/>
                    <a:p>
                      <a:pPr algn="l" fontAlgn="ctr"/>
                      <a:r>
                        <a:rPr lang="en-US" sz="1000" b="0" i="0" u="none" strike="noStrike">
                          <a:effectLst/>
                          <a:latin typeface="Calibri" panose="020F0502020204030204" pitchFamily="34" charset="0"/>
                        </a:rPr>
                        <a:t>Agilent Technologies</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LS</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$6,510</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$28,496</a:t>
                      </a:r>
                    </a:p>
                  </a:txBody>
                  <a:tcPr marL="27432" marR="27432" marT="0" marB="0" anchor="ctr">
                    <a:lnL>
                      <a:noFill/>
                    </a:lnL>
                    <a:lnR>
                      <a:noFill/>
                    </a:lnR>
                    <a:lnT>
                      <a:noFill/>
                    </a:lnT>
                    <a:lnB>
                      <a:noFill/>
                    </a:lnB>
                    <a:noFill/>
                  </a:tcPr>
                </a:tc>
                <a:extLst>
                  <a:ext uri="{0D108BD9-81ED-4DB2-BD59-A6C34878D82A}">
                    <a16:rowId xmlns:a16="http://schemas.microsoft.com/office/drawing/2014/main" val="1491443984"/>
                  </a:ext>
                </a:extLst>
              </a:tr>
              <a:tr h="0">
                <a:tc>
                  <a:txBody>
                    <a:bodyPr/>
                    <a:lstStyle/>
                    <a:p>
                      <a:pPr algn="l" fontAlgn="ctr"/>
                      <a:r>
                        <a:rPr lang="en-US" sz="1000" b="0" i="0" u="none" strike="noStrike" dirty="0">
                          <a:effectLst/>
                          <a:latin typeface="Calibri" panose="020F0502020204030204" pitchFamily="34" charset="0"/>
                        </a:rPr>
                        <a:t>Edwards Lifesciences</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HCE</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$5,440</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$39,984</a:t>
                      </a: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2815250486"/>
                  </a:ext>
                </a:extLst>
              </a:tr>
              <a:tr h="0">
                <a:tc>
                  <a:txBody>
                    <a:bodyPr/>
                    <a:lstStyle/>
                    <a:p>
                      <a:pPr algn="l" fontAlgn="ctr"/>
                      <a:r>
                        <a:rPr lang="en-US" sz="1000" b="0" i="0" u="none" strike="noStrike" dirty="0">
                          <a:effectLst/>
                          <a:latin typeface="Calibri" panose="020F0502020204030204" pitchFamily="34" charset="0"/>
                        </a:rPr>
                        <a:t>STERIS plc</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HCE</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$5,139</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$21,332</a:t>
                      </a:r>
                    </a:p>
                  </a:txBody>
                  <a:tcPr marL="27432" marR="27432" marT="0" marB="0" anchor="ctr">
                    <a:lnL>
                      <a:noFill/>
                    </a:lnL>
                    <a:lnR>
                      <a:noFill/>
                    </a:lnR>
                    <a:lnT>
                      <a:noFill/>
                    </a:lnT>
                    <a:lnB>
                      <a:noFill/>
                    </a:lnB>
                    <a:noFill/>
                  </a:tcPr>
                </a:tc>
                <a:extLst>
                  <a:ext uri="{0D108BD9-81ED-4DB2-BD59-A6C34878D82A}">
                    <a16:rowId xmlns:a16="http://schemas.microsoft.com/office/drawing/2014/main" val="785564215"/>
                  </a:ext>
                </a:extLst>
              </a:tr>
              <a:tr h="0">
                <a:tc>
                  <a:txBody>
                    <a:bodyPr/>
                    <a:lstStyle/>
                    <a:p>
                      <a:pPr algn="l" fontAlgn="ctr"/>
                      <a:r>
                        <a:rPr lang="en-US" sz="1000" b="0" i="0" u="none" strike="noStrike">
                          <a:effectLst/>
                          <a:latin typeface="Calibri" panose="020F0502020204030204" pitchFamily="34" charset="0"/>
                        </a:rPr>
                        <a:t>ResMed</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HCE</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$4,685</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$30,862</a:t>
                      </a: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362688481"/>
                  </a:ext>
                </a:extLst>
              </a:tr>
              <a:tr h="0">
                <a:tc>
                  <a:txBody>
                    <a:bodyPr/>
                    <a:lstStyle/>
                    <a:p>
                      <a:pPr algn="l" fontAlgn="ctr"/>
                      <a:r>
                        <a:rPr lang="en-US" sz="1000" b="0" i="0" u="none" strike="noStrike" dirty="0">
                          <a:effectLst/>
                          <a:latin typeface="Calibri" panose="020F0502020204030204" pitchFamily="34" charset="0"/>
                        </a:rPr>
                        <a:t>Elanco Animal Health</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P</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$4,439</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$4,324</a:t>
                      </a:r>
                    </a:p>
                  </a:txBody>
                  <a:tcPr marL="27432" marR="27432" marT="0" marB="0" anchor="ctr">
                    <a:lnL>
                      <a:noFill/>
                    </a:lnL>
                    <a:lnR>
                      <a:noFill/>
                    </a:lnR>
                    <a:lnT>
                      <a:noFill/>
                    </a:lnT>
                    <a:lnB>
                      <a:noFill/>
                    </a:lnB>
                    <a:noFill/>
                  </a:tcPr>
                </a:tc>
                <a:extLst>
                  <a:ext uri="{0D108BD9-81ED-4DB2-BD59-A6C34878D82A}">
                    <a16:rowId xmlns:a16="http://schemas.microsoft.com/office/drawing/2014/main" val="2157018344"/>
                  </a:ext>
                </a:extLst>
              </a:tr>
              <a:tr h="0">
                <a:tc>
                  <a:txBody>
                    <a:bodyPr/>
                    <a:lstStyle/>
                    <a:p>
                      <a:pPr algn="l" fontAlgn="ctr"/>
                      <a:r>
                        <a:rPr lang="en-US" sz="1000" b="0" i="0" u="none" strike="noStrike" dirty="0">
                          <a:effectLst/>
                          <a:latin typeface="Calibri" panose="020F0502020204030204" pitchFamily="34" charset="0"/>
                        </a:rPr>
                        <a:t>Illumina</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LS</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$4,372</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$11,278</a:t>
                      </a: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891682922"/>
                  </a:ext>
                </a:extLst>
              </a:tr>
              <a:tr h="0">
                <a:tc>
                  <a:txBody>
                    <a:bodyPr/>
                    <a:lstStyle/>
                    <a:p>
                      <a:pPr algn="l" fontAlgn="ctr"/>
                      <a:r>
                        <a:rPr lang="en-US" sz="1000" b="0" i="0" u="none" strike="noStrike" dirty="0" err="1">
                          <a:effectLst/>
                          <a:latin typeface="Calibri" panose="020F0502020204030204" pitchFamily="34" charset="0"/>
                        </a:rPr>
                        <a:t>DexCom</a:t>
                      </a:r>
                      <a:endParaRPr lang="en-US" sz="1000" b="0" i="0" u="none" strike="noStrike" dirty="0">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HCE</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$4,033</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$26,389</a:t>
                      </a:r>
                    </a:p>
                  </a:txBody>
                  <a:tcPr marL="27432" marR="27432" marT="0" marB="0" anchor="ctr">
                    <a:lnL>
                      <a:noFill/>
                    </a:lnL>
                    <a:lnR>
                      <a:noFill/>
                    </a:lnR>
                    <a:lnT>
                      <a:noFill/>
                    </a:lnT>
                    <a:lnB>
                      <a:noFill/>
                    </a:lnB>
                    <a:noFill/>
                  </a:tcPr>
                </a:tc>
                <a:extLst>
                  <a:ext uri="{0D108BD9-81ED-4DB2-BD59-A6C34878D82A}">
                    <a16:rowId xmlns:a16="http://schemas.microsoft.com/office/drawing/2014/main" val="3506533192"/>
                  </a:ext>
                </a:extLst>
              </a:tr>
              <a:tr h="0">
                <a:tc>
                  <a:txBody>
                    <a:bodyPr/>
                    <a:lstStyle/>
                    <a:p>
                      <a:pPr algn="l" fontAlgn="ctr"/>
                      <a:r>
                        <a:rPr lang="en-US" sz="1000" b="0" i="0" u="none" strike="noStrike">
                          <a:effectLst/>
                          <a:latin typeface="Calibri" panose="020F0502020204030204" pitchFamily="34" charset="0"/>
                        </a:rPr>
                        <a:t>Hologic</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HCE</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$4,030</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$12,826</a:t>
                      </a: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2326912945"/>
                  </a:ext>
                </a:extLst>
              </a:tr>
              <a:tr h="0">
                <a:tc>
                  <a:txBody>
                    <a:bodyPr/>
                    <a:lstStyle/>
                    <a:p>
                      <a:pPr algn="l" fontAlgn="ctr"/>
                      <a:r>
                        <a:rPr lang="en-US" sz="1000" b="0" i="0" u="none" strike="noStrike">
                          <a:effectLst/>
                          <a:latin typeface="Calibri" panose="020F0502020204030204" pitchFamily="34" charset="0"/>
                        </a:rPr>
                        <a:t>Align Technology</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HCS</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$3,999</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$11,724</a:t>
                      </a:r>
                    </a:p>
                  </a:txBody>
                  <a:tcPr marL="27432" marR="27432" marT="0" marB="0" anchor="ctr">
                    <a:lnL>
                      <a:noFill/>
                    </a:lnL>
                    <a:lnR>
                      <a:noFill/>
                    </a:lnR>
                    <a:lnT>
                      <a:noFill/>
                    </a:lnT>
                    <a:lnB>
                      <a:noFill/>
                    </a:lnB>
                    <a:noFill/>
                  </a:tcPr>
                </a:tc>
                <a:extLst>
                  <a:ext uri="{0D108BD9-81ED-4DB2-BD59-A6C34878D82A}">
                    <a16:rowId xmlns:a16="http://schemas.microsoft.com/office/drawing/2014/main" val="4034061636"/>
                  </a:ext>
                </a:extLst>
              </a:tr>
              <a:tr h="0">
                <a:tc>
                  <a:txBody>
                    <a:bodyPr/>
                    <a:lstStyle/>
                    <a:p>
                      <a:pPr algn="l" fontAlgn="ctr"/>
                      <a:r>
                        <a:rPr lang="en-US" sz="1000" b="0" i="0" u="none" strike="noStrike">
                          <a:effectLst/>
                          <a:latin typeface="Calibri" panose="020F0502020204030204" pitchFamily="34" charset="0"/>
                        </a:rPr>
                        <a:t>Cooper Companies</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HCS</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$3,895</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$15,073</a:t>
                      </a: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1832028463"/>
                  </a:ext>
                </a:extLst>
              </a:tr>
              <a:tr h="0">
                <a:tc>
                  <a:txBody>
                    <a:bodyPr/>
                    <a:lstStyle/>
                    <a:p>
                      <a:pPr algn="l" fontAlgn="ctr"/>
                      <a:r>
                        <a:rPr lang="en-US" sz="1000" b="0" i="0" u="none" strike="noStrike">
                          <a:effectLst/>
                          <a:latin typeface="Calibri" panose="020F0502020204030204" pitchFamily="34" charset="0"/>
                        </a:rPr>
                        <a:t>Waters</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LS</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$2,958</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$18,694</a:t>
                      </a:r>
                    </a:p>
                  </a:txBody>
                  <a:tcPr marL="27432" marR="27432" marT="0" marB="0" anchor="ctr">
                    <a:lnL>
                      <a:noFill/>
                    </a:lnL>
                    <a:lnR>
                      <a:noFill/>
                    </a:lnR>
                    <a:lnT>
                      <a:noFill/>
                    </a:lnT>
                    <a:lnB>
                      <a:noFill/>
                    </a:lnB>
                    <a:noFill/>
                  </a:tcPr>
                </a:tc>
                <a:extLst>
                  <a:ext uri="{0D108BD9-81ED-4DB2-BD59-A6C34878D82A}">
                    <a16:rowId xmlns:a16="http://schemas.microsoft.com/office/drawing/2014/main" val="4227045682"/>
                  </a:ext>
                </a:extLst>
              </a:tr>
              <a:tr h="0">
                <a:tc>
                  <a:txBody>
                    <a:bodyPr/>
                    <a:lstStyle/>
                    <a:p>
                      <a:pPr algn="l" fontAlgn="ctr"/>
                      <a:r>
                        <a:rPr lang="en-US" sz="1000" b="0" i="0" u="none" strike="noStrike">
                          <a:effectLst/>
                          <a:latin typeface="Calibri" panose="020F0502020204030204" pitchFamily="34" charset="0"/>
                        </a:rPr>
                        <a:t>Revvity</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LS</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$2,755</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$11,176</a:t>
                      </a: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341272637"/>
                  </a:ext>
                </a:extLst>
              </a:tr>
              <a:tr h="0">
                <a:tc>
                  <a:txBody>
                    <a:bodyPr/>
                    <a:lstStyle/>
                    <a:p>
                      <a:pPr algn="l" fontAlgn="ctr"/>
                      <a:r>
                        <a:rPr lang="en-US" sz="1000" b="0" i="0" u="none" strike="noStrike">
                          <a:effectLst/>
                          <a:latin typeface="Calibri" panose="020F0502020204030204" pitchFamily="34" charset="0"/>
                        </a:rPr>
                        <a:t>Bio-Rad Laboratories</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LS</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$2,567</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$6,471</a:t>
                      </a:r>
                    </a:p>
                  </a:txBody>
                  <a:tcPr marL="27432" marR="27432" marT="0" marB="0" anchor="ctr">
                    <a:lnL>
                      <a:noFill/>
                    </a:lnL>
                    <a:lnR>
                      <a:noFill/>
                    </a:lnR>
                    <a:lnT>
                      <a:noFill/>
                    </a:lnT>
                    <a:lnB>
                      <a:noFill/>
                    </a:lnB>
                    <a:noFill/>
                  </a:tcPr>
                </a:tc>
                <a:extLst>
                  <a:ext uri="{0D108BD9-81ED-4DB2-BD59-A6C34878D82A}">
                    <a16:rowId xmlns:a16="http://schemas.microsoft.com/office/drawing/2014/main" val="3325096601"/>
                  </a:ext>
                </a:extLst>
              </a:tr>
              <a:tr h="0">
                <a:tc>
                  <a:txBody>
                    <a:bodyPr/>
                    <a:lstStyle/>
                    <a:p>
                      <a:pPr algn="l" fontAlgn="ctr"/>
                      <a:endParaRPr lang="en-US" sz="100" b="0" i="0" u="none" strike="noStrike">
                        <a:effectLst/>
                        <a:latin typeface="Calibri" panose="020F0502020204030204" pitchFamily="34" charset="0"/>
                      </a:endParaRPr>
                    </a:p>
                  </a:txBody>
                  <a:tcPr marL="27432" marR="27432" marT="0" marB="0" anchor="ctr">
                    <a:lnL>
                      <a:noFill/>
                    </a:lnL>
                    <a:lnR>
                      <a:noFill/>
                    </a:lnR>
                    <a:lnT>
                      <a:noFill/>
                    </a:lnT>
                    <a:lnB w="6350" cap="flat" cmpd="sng" algn="ctr">
                      <a:solidFill>
                        <a:schemeClr val="tx1"/>
                      </a:solidFill>
                      <a:prstDash val="solid"/>
                      <a:round/>
                      <a:headEnd type="none" w="med" len="med"/>
                      <a:tailEnd type="none" w="med" len="med"/>
                    </a:lnB>
                    <a:noFill/>
                  </a:tcPr>
                </a:tc>
                <a:tc>
                  <a:txBody>
                    <a:bodyPr/>
                    <a:lstStyle/>
                    <a:p>
                      <a:pPr algn="ctr" fontAlgn="ctr"/>
                      <a:endParaRPr lang="en-US" sz="100" b="0" i="0" u="none" strike="noStrike">
                        <a:effectLst/>
                        <a:latin typeface="Calibri" panose="020F0502020204030204" pitchFamily="34" charset="0"/>
                      </a:endParaRPr>
                    </a:p>
                  </a:txBody>
                  <a:tcPr marL="27432" marR="27432" marT="0" marB="0" anchor="ctr">
                    <a:lnL>
                      <a:noFill/>
                    </a:lnL>
                    <a:lnR>
                      <a:noFill/>
                    </a:lnR>
                    <a:lnT>
                      <a:noFill/>
                    </a:lnT>
                    <a:lnB w="6350" cap="flat" cmpd="sng" algn="ctr">
                      <a:solidFill>
                        <a:schemeClr val="tx1"/>
                      </a:solidFill>
                      <a:prstDash val="solid"/>
                      <a:round/>
                      <a:headEnd type="none" w="med" len="med"/>
                      <a:tailEnd type="none" w="med" len="med"/>
                    </a:lnB>
                    <a:noFill/>
                  </a:tcPr>
                </a:tc>
                <a:tc>
                  <a:txBody>
                    <a:bodyPr/>
                    <a:lstStyle/>
                    <a:p>
                      <a:pPr algn="ctr" fontAlgn="ctr"/>
                      <a:endParaRPr lang="en-US" sz="100" b="0" i="0" u="none" strike="noStrike">
                        <a:effectLst/>
                        <a:latin typeface="Calibri" panose="020F0502020204030204" pitchFamily="34" charset="0"/>
                      </a:endParaRPr>
                    </a:p>
                  </a:txBody>
                  <a:tcPr marL="27432" marR="27432" marT="0" marB="0" anchor="ctr">
                    <a:lnL>
                      <a:noFill/>
                    </a:lnL>
                    <a:lnR>
                      <a:noFill/>
                    </a:lnR>
                    <a:lnT>
                      <a:noFill/>
                    </a:lnT>
                    <a:lnB w="6350" cap="flat" cmpd="sng" algn="ctr">
                      <a:solidFill>
                        <a:schemeClr val="tx1"/>
                      </a:solidFill>
                      <a:prstDash val="solid"/>
                      <a:round/>
                      <a:headEnd type="none" w="med" len="med"/>
                      <a:tailEnd type="none" w="med" len="med"/>
                    </a:lnB>
                    <a:noFill/>
                  </a:tcPr>
                </a:tc>
                <a:tc>
                  <a:txBody>
                    <a:bodyPr/>
                    <a:lstStyle/>
                    <a:p>
                      <a:pPr algn="ctr" fontAlgn="ctr"/>
                      <a:endParaRPr lang="en-US" sz="100" b="0" i="0" u="none" strike="noStrike">
                        <a:effectLst/>
                        <a:latin typeface="Calibri" panose="020F0502020204030204" pitchFamily="34" charset="0"/>
                      </a:endParaRPr>
                    </a:p>
                  </a:txBody>
                  <a:tcPr marL="27432" marR="27432" marT="0" marB="0" anchor="ctr">
                    <a:lnL>
                      <a:noFill/>
                    </a:lnL>
                    <a:lnR>
                      <a:noFill/>
                    </a:lnR>
                    <a:lnT>
                      <a:noFill/>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81844325"/>
                  </a:ext>
                </a:extLst>
              </a:tr>
              <a:tr h="0">
                <a:tc gridSpan="4">
                  <a:txBody>
                    <a:bodyPr/>
                    <a:lstStyle/>
                    <a:p>
                      <a:pPr algn="l" fontAlgn="ctr"/>
                      <a:r>
                        <a:rPr lang="en-US" sz="1000" b="1" i="0" u="none" strike="noStrike" dirty="0">
                          <a:effectLst/>
                          <a:latin typeface="Calibri" panose="020F0502020204030204" pitchFamily="34" charset="0"/>
                        </a:rPr>
                        <a:t>ISS Peers Not Part of Goofy Current Peers</a:t>
                      </a:r>
                    </a:p>
                  </a:txBody>
                  <a:tcPr marL="27432" marR="27432"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pPr algn="ctr" fontAlgn="ctr"/>
                      <a:endParaRPr lang="en-US" sz="1000" b="0" i="0" u="none" strike="noStrike">
                        <a:effectLst/>
                        <a:latin typeface="Calibri" panose="020F0502020204030204" pitchFamily="34" charset="0"/>
                      </a:endParaRPr>
                    </a:p>
                  </a:txBody>
                  <a:tcPr marL="0" marR="0" marT="0" marB="0" anchor="ctr">
                    <a:lnL>
                      <a:noFill/>
                    </a:lnL>
                    <a:lnR>
                      <a:noFill/>
                    </a:lnR>
                    <a:lnT>
                      <a:noFill/>
                    </a:lnT>
                    <a:lnB>
                      <a:noFill/>
                    </a:lnB>
                    <a:noFill/>
                  </a:tcPr>
                </a:tc>
                <a:tc hMerge="1">
                  <a:txBody>
                    <a:bodyPr/>
                    <a:lstStyle/>
                    <a:p>
                      <a:pPr algn="ctr" fontAlgn="ctr"/>
                      <a:endParaRPr lang="en-US" sz="1000" b="0" i="0" u="none" strike="noStrike">
                        <a:effectLst/>
                        <a:latin typeface="Calibri" panose="020F0502020204030204" pitchFamily="34" charset="0"/>
                      </a:endParaRPr>
                    </a:p>
                  </a:txBody>
                  <a:tcPr marL="0" marR="0" marT="0" marB="0" anchor="ctr">
                    <a:lnL>
                      <a:noFill/>
                    </a:lnL>
                    <a:lnR>
                      <a:noFill/>
                    </a:lnR>
                    <a:lnT>
                      <a:noFill/>
                    </a:lnT>
                    <a:lnB>
                      <a:noFill/>
                    </a:lnB>
                    <a:noFill/>
                  </a:tcPr>
                </a:tc>
                <a:tc hMerge="1">
                  <a:txBody>
                    <a:bodyPr/>
                    <a:lstStyle/>
                    <a:p>
                      <a:pPr algn="ctr" fontAlgn="ctr"/>
                      <a:endParaRPr lang="en-US" sz="1000" b="0" i="0" u="none" strike="noStrike">
                        <a:effectLst/>
                        <a:latin typeface="Calibri" panose="020F0502020204030204" pitchFamily="34" charset="0"/>
                      </a:endParaRPr>
                    </a:p>
                  </a:txBody>
                  <a:tcPr marL="0" marR="0" marT="0" marB="0" anchor="ctr">
                    <a:lnL>
                      <a:noFill/>
                    </a:lnL>
                    <a:lnR>
                      <a:noFill/>
                    </a:lnR>
                    <a:lnT>
                      <a:noFill/>
                    </a:lnT>
                    <a:lnB>
                      <a:noFill/>
                    </a:lnB>
                    <a:noFill/>
                  </a:tcPr>
                </a:tc>
                <a:extLst>
                  <a:ext uri="{0D108BD9-81ED-4DB2-BD59-A6C34878D82A}">
                    <a16:rowId xmlns:a16="http://schemas.microsoft.com/office/drawing/2014/main" val="1543394208"/>
                  </a:ext>
                </a:extLst>
              </a:tr>
              <a:tr h="0">
                <a:tc>
                  <a:txBody>
                    <a:bodyPr/>
                    <a:lstStyle/>
                    <a:p>
                      <a:pPr algn="l" fontAlgn="ctr"/>
                      <a:r>
                        <a:rPr lang="en-US" sz="1000" b="0" i="0" u="none" strike="noStrike">
                          <a:effectLst/>
                          <a:latin typeface="Calibri" panose="020F0502020204030204" pitchFamily="34" charset="0"/>
                        </a:rPr>
                        <a:t>Zimmer Biomet</a:t>
                      </a:r>
                    </a:p>
                  </a:txBody>
                  <a:tcPr marL="27432" marR="27432" marT="0" marB="0"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ctr"/>
                      <a:r>
                        <a:rPr lang="en-US" sz="1000" b="0" i="0" u="none" strike="noStrike">
                          <a:effectLst/>
                          <a:latin typeface="Calibri" panose="020F0502020204030204" pitchFamily="34" charset="0"/>
                        </a:rPr>
                        <a:t>HCE</a:t>
                      </a:r>
                    </a:p>
                  </a:txBody>
                  <a:tcPr marL="27432" marR="27432" marT="0" marB="0"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ctr"/>
                      <a:r>
                        <a:rPr lang="en-US" sz="1000" b="0" i="0" u="none" strike="noStrike">
                          <a:effectLst/>
                          <a:latin typeface="Calibri" panose="020F0502020204030204" pitchFamily="34" charset="0"/>
                        </a:rPr>
                        <a:t>$7,679</a:t>
                      </a:r>
                    </a:p>
                  </a:txBody>
                  <a:tcPr marL="27432" marR="27432" marT="0" marB="0"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ctr"/>
                      <a:r>
                        <a:rPr lang="en-US" sz="1000" b="0" i="0" u="none" strike="noStrike">
                          <a:effectLst/>
                          <a:latin typeface="Calibri" panose="020F0502020204030204" pitchFamily="34" charset="0"/>
                        </a:rPr>
                        <a:t>$20,356</a:t>
                      </a:r>
                    </a:p>
                  </a:txBody>
                  <a:tcPr marL="27432" marR="27432" marT="0" marB="0" anchor="ctr">
                    <a:lnL>
                      <a:noFill/>
                    </a:lnL>
                    <a:lnR>
                      <a:noFill/>
                    </a:lnR>
                    <a:lnT w="635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59499"/>
                  </a:ext>
                </a:extLst>
              </a:tr>
              <a:tr h="0">
                <a:tc>
                  <a:txBody>
                    <a:bodyPr/>
                    <a:lstStyle/>
                    <a:p>
                      <a:pPr algn="l" fontAlgn="ctr"/>
                      <a:r>
                        <a:rPr lang="en-US" sz="1000" b="0" i="0" u="none" strike="noStrike">
                          <a:effectLst/>
                          <a:latin typeface="Calibri" panose="020F0502020204030204" pitchFamily="34" charset="0"/>
                        </a:rPr>
                        <a:t>Teleflex Incorporated</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HCE</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$3,047</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$5,767</a:t>
                      </a: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1965853125"/>
                  </a:ext>
                </a:extLst>
              </a:tr>
              <a:tr h="0">
                <a:tc>
                  <a:txBody>
                    <a:bodyPr/>
                    <a:lstStyle/>
                    <a:p>
                      <a:pPr algn="l" fontAlgn="ctr"/>
                      <a:r>
                        <a:rPr lang="en-US" sz="1000" b="0" i="0" u="none" strike="noStrike">
                          <a:effectLst/>
                          <a:latin typeface="Calibri" panose="020F0502020204030204" pitchFamily="34" charset="0"/>
                        </a:rPr>
                        <a:t>QuidelOrtho Corporation</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HCE</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$2,783</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$1,782</a:t>
                      </a:r>
                    </a:p>
                  </a:txBody>
                  <a:tcPr marL="27432" marR="27432" marT="0" marB="0" anchor="ctr">
                    <a:lnL>
                      <a:noFill/>
                    </a:lnL>
                    <a:lnR>
                      <a:noFill/>
                    </a:lnR>
                    <a:lnT>
                      <a:noFill/>
                    </a:lnT>
                    <a:lnB>
                      <a:noFill/>
                    </a:lnB>
                    <a:noFill/>
                  </a:tcPr>
                </a:tc>
                <a:extLst>
                  <a:ext uri="{0D108BD9-81ED-4DB2-BD59-A6C34878D82A}">
                    <a16:rowId xmlns:a16="http://schemas.microsoft.com/office/drawing/2014/main" val="1306935919"/>
                  </a:ext>
                </a:extLst>
              </a:tr>
              <a:tr h="0">
                <a:tc>
                  <a:txBody>
                    <a:bodyPr/>
                    <a:lstStyle/>
                    <a:p>
                      <a:pPr algn="l" fontAlgn="ctr"/>
                      <a:r>
                        <a:rPr lang="en-US" sz="1000" b="0" i="0" u="none" strike="noStrike">
                          <a:effectLst/>
                          <a:latin typeface="Calibri" panose="020F0502020204030204" pitchFamily="34" charset="0"/>
                        </a:rPr>
                        <a:t>Globus Medical</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HCE</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$2,519</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$9,763</a:t>
                      </a: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1076479172"/>
                  </a:ext>
                </a:extLst>
              </a:tr>
              <a:tr h="0">
                <a:tc>
                  <a:txBody>
                    <a:bodyPr/>
                    <a:lstStyle/>
                    <a:p>
                      <a:pPr algn="l" fontAlgn="ctr"/>
                      <a:r>
                        <a:rPr lang="en-US" sz="1000" b="0" i="0" u="none" strike="noStrike">
                          <a:effectLst/>
                          <a:latin typeface="Calibri" panose="020F0502020204030204" pitchFamily="34" charset="0"/>
                        </a:rPr>
                        <a:t>Envista Holdings</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HCE</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$2,511</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$2,676</a:t>
                      </a:r>
                    </a:p>
                  </a:txBody>
                  <a:tcPr marL="27432" marR="27432" marT="0" marB="0" anchor="ctr">
                    <a:lnL>
                      <a:noFill/>
                    </a:lnL>
                    <a:lnR>
                      <a:noFill/>
                    </a:lnR>
                    <a:lnT>
                      <a:noFill/>
                    </a:lnT>
                    <a:lnB>
                      <a:noFill/>
                    </a:lnB>
                    <a:noFill/>
                  </a:tcPr>
                </a:tc>
                <a:extLst>
                  <a:ext uri="{0D108BD9-81ED-4DB2-BD59-A6C34878D82A}">
                    <a16:rowId xmlns:a16="http://schemas.microsoft.com/office/drawing/2014/main" val="2098356414"/>
                  </a:ext>
                </a:extLst>
              </a:tr>
              <a:tr h="0">
                <a:tc>
                  <a:txBody>
                    <a:bodyPr/>
                    <a:lstStyle/>
                    <a:p>
                      <a:pPr algn="l" fontAlgn="ctr"/>
                      <a:r>
                        <a:rPr lang="en-US" sz="1000" b="0" i="0" u="none" strike="noStrike">
                          <a:effectLst/>
                          <a:latin typeface="Calibri" panose="020F0502020204030204" pitchFamily="34" charset="0"/>
                        </a:rPr>
                        <a:t>Enovis Corporation</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HCE</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$2,108</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$1,829</a:t>
                      </a: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1460397653"/>
                  </a:ext>
                </a:extLst>
              </a:tr>
              <a:tr h="0">
                <a:tc>
                  <a:txBody>
                    <a:bodyPr/>
                    <a:lstStyle/>
                    <a:p>
                      <a:pPr algn="l" fontAlgn="ctr"/>
                      <a:r>
                        <a:rPr lang="en-US" sz="1000" b="0" i="0" u="none" strike="noStrike">
                          <a:effectLst/>
                          <a:latin typeface="Calibri" panose="020F0502020204030204" pitchFamily="34" charset="0"/>
                        </a:rPr>
                        <a:t>Masimo Corporation</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HCE</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$2,094</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$8,201</a:t>
                      </a:r>
                    </a:p>
                  </a:txBody>
                  <a:tcPr marL="27432" marR="27432" marT="0" marB="0" anchor="ctr">
                    <a:lnL>
                      <a:noFill/>
                    </a:lnL>
                    <a:lnR>
                      <a:noFill/>
                    </a:lnR>
                    <a:lnT>
                      <a:noFill/>
                    </a:lnT>
                    <a:lnB>
                      <a:noFill/>
                    </a:lnB>
                    <a:noFill/>
                  </a:tcPr>
                </a:tc>
                <a:extLst>
                  <a:ext uri="{0D108BD9-81ED-4DB2-BD59-A6C34878D82A}">
                    <a16:rowId xmlns:a16="http://schemas.microsoft.com/office/drawing/2014/main" val="246620977"/>
                  </a:ext>
                </a:extLst>
              </a:tr>
              <a:tr h="0">
                <a:tc>
                  <a:txBody>
                    <a:bodyPr/>
                    <a:lstStyle/>
                    <a:p>
                      <a:pPr algn="l" fontAlgn="ctr"/>
                      <a:r>
                        <a:rPr lang="en-US" sz="1000" b="0" i="0" u="none" strike="noStrike">
                          <a:effectLst/>
                          <a:latin typeface="Calibri" panose="020F0502020204030204" pitchFamily="34" charset="0"/>
                        </a:rPr>
                        <a:t>Insulet Corporation</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HCE</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$2,072</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$17,660</a:t>
                      </a: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3118953350"/>
                  </a:ext>
                </a:extLst>
              </a:tr>
              <a:tr h="0">
                <a:tc>
                  <a:txBody>
                    <a:bodyPr/>
                    <a:lstStyle/>
                    <a:p>
                      <a:pPr algn="l" fontAlgn="ctr"/>
                      <a:r>
                        <a:rPr lang="en-US" sz="1000" b="0" i="0" u="none" strike="noStrike">
                          <a:effectLst/>
                          <a:latin typeface="Calibri" panose="020F0502020204030204" pitchFamily="34" charset="0"/>
                        </a:rPr>
                        <a:t>Integer Holdings</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HCE</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$1,717</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$3,972</a:t>
                      </a:r>
                    </a:p>
                  </a:txBody>
                  <a:tcPr marL="27432" marR="27432" marT="0" marB="0" anchor="ctr">
                    <a:lnL>
                      <a:noFill/>
                    </a:lnL>
                    <a:lnR>
                      <a:noFill/>
                    </a:lnR>
                    <a:lnT>
                      <a:noFill/>
                    </a:lnT>
                    <a:lnB>
                      <a:noFill/>
                    </a:lnB>
                    <a:noFill/>
                  </a:tcPr>
                </a:tc>
                <a:extLst>
                  <a:ext uri="{0D108BD9-81ED-4DB2-BD59-A6C34878D82A}">
                    <a16:rowId xmlns:a16="http://schemas.microsoft.com/office/drawing/2014/main" val="3893376343"/>
                  </a:ext>
                </a:extLst>
              </a:tr>
              <a:tr h="0">
                <a:tc>
                  <a:txBody>
                    <a:bodyPr/>
                    <a:lstStyle/>
                    <a:p>
                      <a:pPr algn="l" fontAlgn="b"/>
                      <a:endParaRPr lang="en-US" sz="300" b="0" i="0" u="none" strike="noStrike">
                        <a:effectLst/>
                        <a:latin typeface="Calibri" panose="020F0502020204030204" pitchFamily="34" charset="0"/>
                      </a:endParaRPr>
                    </a:p>
                  </a:txBody>
                  <a:tcPr marL="27432" marR="27432"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endParaRPr lang="en-US" sz="300" b="0" i="0" u="none" strike="noStrike">
                        <a:effectLst/>
                        <a:latin typeface="Calibri" panose="020F0502020204030204" pitchFamily="34" charset="0"/>
                      </a:endParaRPr>
                    </a:p>
                  </a:txBody>
                  <a:tcPr marL="27432" marR="27432"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endParaRPr lang="en-US" sz="300" b="0" i="0" u="none" strike="noStrike">
                        <a:effectLst/>
                        <a:latin typeface="Calibri" panose="020F0502020204030204" pitchFamily="34" charset="0"/>
                      </a:endParaRPr>
                    </a:p>
                  </a:txBody>
                  <a:tcPr marL="27432" marR="27432"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endParaRPr lang="en-US" sz="300" b="0" i="0" u="none" strike="noStrike">
                        <a:effectLst/>
                        <a:latin typeface="Calibri" panose="020F0502020204030204" pitchFamily="34" charset="0"/>
                      </a:endParaRPr>
                    </a:p>
                  </a:txBody>
                  <a:tcPr marL="27432" marR="27432" marT="9144" marB="9144" anchor="b">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22745290"/>
                  </a:ext>
                </a:extLst>
              </a:tr>
              <a:tr h="0">
                <a:tc>
                  <a:txBody>
                    <a:bodyPr/>
                    <a:lstStyle/>
                    <a:p>
                      <a:pPr algn="l" fontAlgn="ctr"/>
                      <a:r>
                        <a:rPr lang="en-US" sz="1000" b="0" i="0" u="none" strike="noStrike">
                          <a:effectLst/>
                          <a:latin typeface="Calibri" panose="020F0502020204030204" pitchFamily="34" charset="0"/>
                        </a:rPr>
                        <a:t>75th %ile</a:t>
                      </a:r>
                    </a:p>
                  </a:txBody>
                  <a:tcPr marL="27432" marR="27432" marT="9144" marB="9144" anchor="ctr">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r>
                        <a:rPr lang="en-US" sz="1000" b="0" i="0" u="none" strike="noStrike">
                          <a:effectLst/>
                          <a:latin typeface="Calibri" panose="020F0502020204030204" pitchFamily="34" charset="0"/>
                        </a:rPr>
                        <a:t> </a:t>
                      </a:r>
                    </a:p>
                  </a:txBody>
                  <a:tcPr marL="27432" marR="27432"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ctr"/>
                      <a:r>
                        <a:rPr lang="en-US" sz="1000" b="0" i="0" u="none" strike="noStrike">
                          <a:effectLst/>
                          <a:latin typeface="Calibri" panose="020F0502020204030204" pitchFamily="34" charset="0"/>
                        </a:rPr>
                        <a:t>$4,799</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ctr"/>
                      <a:r>
                        <a:rPr lang="en-US" sz="1000" b="0" i="0" u="none" strike="noStrike">
                          <a:effectLst/>
                          <a:latin typeface="Calibri" panose="020F0502020204030204" pitchFamily="34" charset="0"/>
                        </a:rPr>
                        <a:t>$22,596</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DB"/>
                    </a:solidFill>
                  </a:tcPr>
                </a:tc>
                <a:extLst>
                  <a:ext uri="{0D108BD9-81ED-4DB2-BD59-A6C34878D82A}">
                    <a16:rowId xmlns:a16="http://schemas.microsoft.com/office/drawing/2014/main" val="819495751"/>
                  </a:ext>
                </a:extLst>
              </a:tr>
              <a:tr h="0">
                <a:tc>
                  <a:txBody>
                    <a:bodyPr/>
                    <a:lstStyle/>
                    <a:p>
                      <a:pPr algn="l" fontAlgn="ctr"/>
                      <a:r>
                        <a:rPr lang="en-US" sz="1000" b="1" i="0" u="none" strike="noStrike">
                          <a:effectLst/>
                          <a:latin typeface="Calibri" panose="020F0502020204030204" pitchFamily="34" charset="0"/>
                        </a:rPr>
                        <a:t>Median</a:t>
                      </a:r>
                    </a:p>
                  </a:txBody>
                  <a:tcPr marL="27432" marR="27432" marT="9144" marB="9144" anchor="ctr">
                    <a:lnL>
                      <a:noFill/>
                    </a:lnL>
                    <a:lnR>
                      <a:noFill/>
                    </a:lnR>
                    <a:lnT>
                      <a:noFill/>
                    </a:lnT>
                    <a:lnB>
                      <a:noFill/>
                    </a:lnB>
                    <a:solidFill>
                      <a:srgbClr val="FFFFDB"/>
                    </a:solidFill>
                  </a:tcPr>
                </a:tc>
                <a:tc>
                  <a:txBody>
                    <a:bodyPr/>
                    <a:lstStyle/>
                    <a:p>
                      <a:pPr algn="l" fontAlgn="b"/>
                      <a:r>
                        <a:rPr lang="en-US" sz="1000" b="1" i="0" u="none" strike="noStrike">
                          <a:effectLst/>
                          <a:latin typeface="Calibri" panose="020F0502020204030204" pitchFamily="34" charset="0"/>
                        </a:rPr>
                        <a:t> </a:t>
                      </a:r>
                    </a:p>
                  </a:txBody>
                  <a:tcPr marL="27432" marR="27432" marT="9144" marB="9144" anchor="b">
                    <a:lnL>
                      <a:noFill/>
                    </a:lnL>
                    <a:lnR>
                      <a:noFill/>
                    </a:lnR>
                    <a:lnT>
                      <a:noFill/>
                    </a:lnT>
                    <a:lnB>
                      <a:noFill/>
                    </a:lnB>
                    <a:solidFill>
                      <a:srgbClr val="FFFFDB"/>
                    </a:solidFill>
                  </a:tcPr>
                </a:tc>
                <a:tc>
                  <a:txBody>
                    <a:bodyPr/>
                    <a:lstStyle/>
                    <a:p>
                      <a:pPr algn="ctr" fontAlgn="ctr"/>
                      <a:r>
                        <a:rPr lang="en-US" sz="1000" b="1" i="0" u="none" strike="noStrike">
                          <a:effectLst/>
                          <a:latin typeface="Calibri" panose="020F0502020204030204" pitchFamily="34" charset="0"/>
                        </a:rPr>
                        <a:t>$3,947</a:t>
                      </a:r>
                    </a:p>
                  </a:txBody>
                  <a:tcPr marL="0" marR="0" marT="0" marB="0" anchor="ctr">
                    <a:lnL>
                      <a:noFill/>
                    </a:lnL>
                    <a:lnR>
                      <a:noFill/>
                    </a:lnR>
                    <a:lnT>
                      <a:noFill/>
                    </a:lnT>
                    <a:lnB>
                      <a:noFill/>
                    </a:lnB>
                    <a:solidFill>
                      <a:srgbClr val="FFFFDB"/>
                    </a:solidFill>
                  </a:tcPr>
                </a:tc>
                <a:tc>
                  <a:txBody>
                    <a:bodyPr/>
                    <a:lstStyle/>
                    <a:p>
                      <a:pPr algn="ctr" fontAlgn="ctr"/>
                      <a:r>
                        <a:rPr lang="en-US" sz="1000" b="1" i="0" u="none" strike="noStrike">
                          <a:effectLst/>
                          <a:latin typeface="Calibri" panose="020F0502020204030204" pitchFamily="34" charset="0"/>
                        </a:rPr>
                        <a:t>$12,275</a:t>
                      </a:r>
                    </a:p>
                  </a:txBody>
                  <a:tcPr marL="0" marR="0" marT="0" marB="0" anchor="ctr">
                    <a:lnL>
                      <a:noFill/>
                    </a:lnL>
                    <a:lnR>
                      <a:noFill/>
                    </a:lnR>
                    <a:lnT>
                      <a:noFill/>
                    </a:lnT>
                    <a:lnB>
                      <a:noFill/>
                    </a:lnB>
                    <a:solidFill>
                      <a:srgbClr val="FFFFDB"/>
                    </a:solidFill>
                  </a:tcPr>
                </a:tc>
                <a:extLst>
                  <a:ext uri="{0D108BD9-81ED-4DB2-BD59-A6C34878D82A}">
                    <a16:rowId xmlns:a16="http://schemas.microsoft.com/office/drawing/2014/main" val="2817790508"/>
                  </a:ext>
                </a:extLst>
              </a:tr>
              <a:tr h="0">
                <a:tc>
                  <a:txBody>
                    <a:bodyPr/>
                    <a:lstStyle/>
                    <a:p>
                      <a:pPr algn="l" fontAlgn="ctr"/>
                      <a:r>
                        <a:rPr lang="en-US" sz="1000" b="0" i="0" u="none" strike="noStrike">
                          <a:effectLst/>
                          <a:latin typeface="Calibri" panose="020F0502020204030204" pitchFamily="34" charset="0"/>
                        </a:rPr>
                        <a:t>25th %ile</a:t>
                      </a:r>
                    </a:p>
                  </a:txBody>
                  <a:tcPr marL="27432" marR="27432" marT="9144" marB="9144" anchor="ctr">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r>
                        <a:rPr lang="en-US" sz="1000" b="0" i="0" u="none" strike="noStrike">
                          <a:effectLst/>
                          <a:latin typeface="Calibri" panose="020F0502020204030204" pitchFamily="34" charset="0"/>
                        </a:rPr>
                        <a:t> </a:t>
                      </a:r>
                    </a:p>
                  </a:txBody>
                  <a:tcPr marL="27432" marR="27432"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ctr"/>
                      <a:r>
                        <a:rPr lang="en-US" sz="1000" b="0" i="0" u="none" strike="noStrike">
                          <a:effectLst/>
                          <a:latin typeface="Calibri" panose="020F0502020204030204" pitchFamily="34" charset="0"/>
                        </a:rPr>
                        <a:t>$2,555</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ctr"/>
                      <a:r>
                        <a:rPr lang="en-US" sz="1000" b="0" i="0" u="none" strike="noStrike">
                          <a:effectLst/>
                          <a:latin typeface="Calibri" panose="020F0502020204030204" pitchFamily="34" charset="0"/>
                        </a:rPr>
                        <a:t>$6,295</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DB"/>
                    </a:solidFill>
                  </a:tcPr>
                </a:tc>
                <a:extLst>
                  <a:ext uri="{0D108BD9-81ED-4DB2-BD59-A6C34878D82A}">
                    <a16:rowId xmlns:a16="http://schemas.microsoft.com/office/drawing/2014/main" val="2016346662"/>
                  </a:ext>
                </a:extLst>
              </a:tr>
              <a:tr h="0">
                <a:tc>
                  <a:txBody>
                    <a:bodyPr/>
                    <a:lstStyle/>
                    <a:p>
                      <a:pPr algn="l" fontAlgn="b"/>
                      <a:endParaRPr lang="en-US" sz="300" b="0" i="0" u="none" strike="noStrike">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300" b="0" i="0" u="none" strike="noStrike">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300" b="0" i="0" u="none" strike="noStrike">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300" b="0" i="0" u="none" strike="noStrike">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24972677"/>
                  </a:ext>
                </a:extLst>
              </a:tr>
              <a:tr h="0">
                <a:tc>
                  <a:txBody>
                    <a:bodyPr/>
                    <a:lstStyle/>
                    <a:p>
                      <a:pPr algn="l" fontAlgn="b"/>
                      <a:r>
                        <a:rPr lang="en-US" sz="1000" b="1" i="0" u="none" strike="noStrike" dirty="0">
                          <a:effectLst/>
                          <a:latin typeface="Calibri" panose="020F0502020204030204" pitchFamily="34" charset="0"/>
                        </a:rPr>
                        <a:t>Goofy</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r>
                        <a:rPr lang="en-US" sz="1000" b="1" i="0" u="none" strike="noStrike">
                          <a:effectLst/>
                          <a:latin typeface="Calibri" panose="020F0502020204030204" pitchFamily="34" charset="0"/>
                        </a:rPr>
                        <a:t>HCE</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r>
                        <a:rPr lang="en-US" sz="1000" b="1" i="0" u="none" strike="noStrike">
                          <a:effectLst/>
                          <a:latin typeface="Calibri" panose="020F0502020204030204" pitchFamily="34" charset="0"/>
                        </a:rPr>
                        <a:t>$3,898</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r>
                        <a:rPr lang="en-US" sz="1000" b="1" i="0" u="none" strike="noStrike" dirty="0">
                          <a:effectLst/>
                          <a:latin typeface="Calibri" panose="020F0502020204030204" pitchFamily="34" charset="0"/>
                        </a:rPr>
                        <a:t>$30,943</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extLst>
                  <a:ext uri="{0D108BD9-81ED-4DB2-BD59-A6C34878D82A}">
                    <a16:rowId xmlns:a16="http://schemas.microsoft.com/office/drawing/2014/main" val="624223949"/>
                  </a:ext>
                </a:extLst>
              </a:tr>
            </a:tbl>
          </a:graphicData>
        </a:graphic>
      </p:graphicFrame>
      <p:graphicFrame>
        <p:nvGraphicFramePr>
          <p:cNvPr id="9" name="Table 14">
            <a:extLst>
              <a:ext uri="{FF2B5EF4-FFF2-40B4-BE49-F238E27FC236}">
                <a16:creationId xmlns:a16="http://schemas.microsoft.com/office/drawing/2014/main" id="{C333145A-2DF1-735A-2D51-BA629CB7CD6A}"/>
              </a:ext>
            </a:extLst>
          </p:cNvPr>
          <p:cNvGraphicFramePr>
            <a:graphicFrameLocks noGrp="1"/>
          </p:cNvGraphicFramePr>
          <p:nvPr/>
        </p:nvGraphicFramePr>
        <p:xfrm>
          <a:off x="7061573" y="1534228"/>
          <a:ext cx="2011680" cy="686793"/>
        </p:xfrm>
        <a:graphic>
          <a:graphicData uri="http://schemas.openxmlformats.org/drawingml/2006/table">
            <a:tbl>
              <a:tblPr firstRow="1" bandRow="1">
                <a:tableStyleId>{5940675A-B579-460E-94D1-54222C63F5DA}</a:tableStyleId>
              </a:tblPr>
              <a:tblGrid>
                <a:gridCol w="274320">
                  <a:extLst>
                    <a:ext uri="{9D8B030D-6E8A-4147-A177-3AD203B41FA5}">
                      <a16:colId xmlns:a16="http://schemas.microsoft.com/office/drawing/2014/main" val="1448559794"/>
                    </a:ext>
                  </a:extLst>
                </a:gridCol>
                <a:gridCol w="1737360">
                  <a:extLst>
                    <a:ext uri="{9D8B030D-6E8A-4147-A177-3AD203B41FA5}">
                      <a16:colId xmlns:a16="http://schemas.microsoft.com/office/drawing/2014/main" val="1242357177"/>
                    </a:ext>
                  </a:extLst>
                </a:gridCol>
              </a:tblGrid>
              <a:tr h="127044">
                <a:tc>
                  <a:txBody>
                    <a:bodyPr/>
                    <a:lstStyle/>
                    <a:p>
                      <a:pPr algn="ctr"/>
                      <a:r>
                        <a:rPr lang="en-US" sz="900"/>
                        <a:t>HCE</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900"/>
                        <a:t>  Health Care Equipment</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456415924"/>
                  </a:ext>
                </a:extLst>
              </a:tr>
              <a:tr h="46051">
                <a:tc>
                  <a:txBody>
                    <a:bodyPr/>
                    <a:lstStyle/>
                    <a:p>
                      <a:pPr algn="ctr"/>
                      <a:endParaRPr lang="en-US" sz="100"/>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00"/>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45465110"/>
                  </a:ext>
                </a:extLst>
              </a:tr>
              <a:tr h="127044">
                <a:tc>
                  <a:txBody>
                    <a:bodyPr/>
                    <a:lstStyle/>
                    <a:p>
                      <a:pPr algn="ctr"/>
                      <a:r>
                        <a:rPr lang="en-US" sz="900"/>
                        <a:t>HCS</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900"/>
                        <a:t>  Health Care Supplies</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03461171"/>
                  </a:ext>
                </a:extLst>
              </a:tr>
              <a:tr h="46051">
                <a:tc>
                  <a:txBody>
                    <a:bodyPr/>
                    <a:lstStyle/>
                    <a:p>
                      <a:pPr algn="ctr"/>
                      <a:endParaRPr lang="en-US" sz="100"/>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00"/>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727313861"/>
                  </a:ext>
                </a:extLst>
              </a:tr>
              <a:tr h="127044">
                <a:tc>
                  <a:txBody>
                    <a:bodyPr/>
                    <a:lstStyle/>
                    <a:p>
                      <a:pPr algn="ctr"/>
                      <a:r>
                        <a:rPr lang="en-US" sz="900"/>
                        <a:t>P</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900"/>
                        <a:t>  Pharmaceuticals</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63960339"/>
                  </a:ext>
                </a:extLst>
              </a:tr>
              <a:tr h="46051">
                <a:tc>
                  <a:txBody>
                    <a:bodyPr/>
                    <a:lstStyle/>
                    <a:p>
                      <a:endParaRPr lang="en-US" sz="100"/>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65780605"/>
                  </a:ext>
                </a:extLst>
              </a:tr>
              <a:tr h="127044">
                <a:tc>
                  <a:txBody>
                    <a:bodyPr/>
                    <a:lstStyle/>
                    <a:p>
                      <a:pPr algn="ctr"/>
                      <a:r>
                        <a:rPr lang="en-US" sz="900"/>
                        <a:t>LS</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900"/>
                        <a:t>  Life Sciences Tools &amp; Svcs</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9601939"/>
                  </a:ext>
                </a:extLst>
              </a:tr>
            </a:tbl>
          </a:graphicData>
        </a:graphic>
      </p:graphicFrame>
      <p:sp>
        <p:nvSpPr>
          <p:cNvPr id="10" name="TextBox 9">
            <a:extLst>
              <a:ext uri="{FF2B5EF4-FFF2-40B4-BE49-F238E27FC236}">
                <a16:creationId xmlns:a16="http://schemas.microsoft.com/office/drawing/2014/main" id="{4636FDC6-335E-5687-9A22-25D798CD36F3}"/>
              </a:ext>
            </a:extLst>
          </p:cNvPr>
          <p:cNvSpPr txBox="1"/>
          <p:nvPr/>
        </p:nvSpPr>
        <p:spPr>
          <a:xfrm>
            <a:off x="200868" y="1290104"/>
            <a:ext cx="2213399" cy="355097"/>
          </a:xfrm>
          <a:prstGeom prst="rect">
            <a:avLst/>
          </a:prstGeom>
          <a:solidFill>
            <a:schemeClr val="accent3"/>
          </a:solidFill>
          <a:ln>
            <a:solidFill>
              <a:schemeClr val="tx1"/>
            </a:solidFill>
          </a:ln>
        </p:spPr>
        <p:txBody>
          <a:bodyPr vert="horz" wrap="square" lIns="45720" tIns="45720" rIns="45720" bIns="45720" rtlCol="0" anchor="ctr">
            <a:spAutoFit/>
          </a:bodyPr>
          <a:lstStyle/>
          <a:p>
            <a:pPr algn="ctr">
              <a:lnSpc>
                <a:spcPct val="85000"/>
              </a:lnSpc>
            </a:pPr>
            <a:r>
              <a:rPr lang="en-US" sz="1000" dirty="0"/>
              <a:t>To be updated after ISS report is received from Goofy</a:t>
            </a:r>
          </a:p>
        </p:txBody>
      </p:sp>
    </p:spTree>
    <p:extLst>
      <p:ext uri="{BB962C8B-B14F-4D97-AF65-F5344CB8AC3E}">
        <p14:creationId xmlns:p14="http://schemas.microsoft.com/office/powerpoint/2010/main" val="1624708567"/>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8E9E64-649F-0029-A2A9-F321E2EE2F4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A51F04B-0B4D-8867-FA8C-EB7C55B16957}"/>
              </a:ext>
            </a:extLst>
          </p:cNvPr>
          <p:cNvSpPr>
            <a:spLocks noGrp="1"/>
          </p:cNvSpPr>
          <p:nvPr>
            <p:ph type="title"/>
          </p:nvPr>
        </p:nvSpPr>
        <p:spPr>
          <a:xfrm>
            <a:off x="882797" y="44215"/>
            <a:ext cx="8074152" cy="1292899"/>
          </a:xfrm>
        </p:spPr>
        <p:txBody>
          <a:bodyPr/>
          <a:lstStyle/>
          <a:p>
            <a:r>
              <a:rPr lang="en-US" dirty="0"/>
              <a:t>ISS added one new company to its Goofy peer group and removed one company from the group for 2025</a:t>
            </a:r>
          </a:p>
        </p:txBody>
      </p:sp>
      <p:sp>
        <p:nvSpPr>
          <p:cNvPr id="4" name="Slide Number Placeholder 3">
            <a:extLst>
              <a:ext uri="{FF2B5EF4-FFF2-40B4-BE49-F238E27FC236}">
                <a16:creationId xmlns:a16="http://schemas.microsoft.com/office/drawing/2014/main" id="{B0300ED5-43F8-B8BC-87F5-55DCE053BE56}"/>
              </a:ext>
            </a:extLst>
          </p:cNvPr>
          <p:cNvSpPr>
            <a:spLocks noGrp="1"/>
          </p:cNvSpPr>
          <p:nvPr>
            <p:ph type="sldNum" sz="quarter" idx="12"/>
          </p:nvPr>
        </p:nvSpPr>
        <p:spPr>
          <a:xfrm>
            <a:off x="8581802" y="6577909"/>
            <a:ext cx="352260" cy="211339"/>
          </a:xfrm>
        </p:spPr>
        <p:txBody>
          <a:bodyPr/>
          <a:lstStyle/>
          <a:p>
            <a:fld id="{91690BAF-E217-4185-92FD-0CEA06F2B7C8}" type="slidenum">
              <a:rPr lang="en-US" smtClean="0"/>
              <a:pPr/>
              <a:t>13</a:t>
            </a:fld>
            <a:endParaRPr lang="en-US"/>
          </a:p>
        </p:txBody>
      </p:sp>
      <p:sp>
        <p:nvSpPr>
          <p:cNvPr id="6" name="TextBox 5">
            <a:extLst>
              <a:ext uri="{FF2B5EF4-FFF2-40B4-BE49-F238E27FC236}">
                <a16:creationId xmlns:a16="http://schemas.microsoft.com/office/drawing/2014/main" id="{E51487C6-B38B-44B3-4BF0-A888F1298932}"/>
              </a:ext>
            </a:extLst>
          </p:cNvPr>
          <p:cNvSpPr txBox="1"/>
          <p:nvPr/>
        </p:nvSpPr>
        <p:spPr>
          <a:xfrm>
            <a:off x="3025725" y="1081120"/>
            <a:ext cx="2257413" cy="286232"/>
          </a:xfrm>
          <a:prstGeom prst="rect">
            <a:avLst/>
          </a:prstGeom>
          <a:noFill/>
        </p:spPr>
        <p:txBody>
          <a:bodyPr wrap="none" lIns="45720" tIns="45720" rIns="45720" bIns="45720" rtlCol="0" anchor="ctr">
            <a:spAutoFit/>
          </a:bodyPr>
          <a:lstStyle/>
          <a:p>
            <a:pPr algn="ctr">
              <a:lnSpc>
                <a:spcPct val="90000"/>
              </a:lnSpc>
            </a:pPr>
            <a:r>
              <a:rPr lang="en-US" sz="1400" b="1"/>
              <a:t>ISS Peer Group 2025 Changes</a:t>
            </a:r>
            <a:endParaRPr lang="en-US" sz="1400" b="1" baseline="30000"/>
          </a:p>
        </p:txBody>
      </p:sp>
      <p:sp>
        <p:nvSpPr>
          <p:cNvPr id="7" name="Rectangle 6">
            <a:extLst>
              <a:ext uri="{FF2B5EF4-FFF2-40B4-BE49-F238E27FC236}">
                <a16:creationId xmlns:a16="http://schemas.microsoft.com/office/drawing/2014/main" id="{A982CCE2-EF50-5E17-D3C8-B1EC4127C8F2}"/>
              </a:ext>
            </a:extLst>
          </p:cNvPr>
          <p:cNvSpPr/>
          <p:nvPr/>
        </p:nvSpPr>
        <p:spPr>
          <a:xfrm>
            <a:off x="6334927" y="2125628"/>
            <a:ext cx="274320" cy="137160"/>
          </a:xfrm>
          <a:prstGeom prst="rect">
            <a:avLst/>
          </a:prstGeom>
          <a:solidFill>
            <a:schemeClr val="accent2">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endParaRPr lang="en-US" sz="1600" b="1">
              <a:solidFill>
                <a:schemeClr val="tx1"/>
              </a:solidFill>
            </a:endParaRPr>
          </a:p>
        </p:txBody>
      </p:sp>
      <p:sp>
        <p:nvSpPr>
          <p:cNvPr id="8" name="TextBox 7">
            <a:extLst>
              <a:ext uri="{FF2B5EF4-FFF2-40B4-BE49-F238E27FC236}">
                <a16:creationId xmlns:a16="http://schemas.microsoft.com/office/drawing/2014/main" id="{69ECAFA8-7906-8212-0D26-178A7E051596}"/>
              </a:ext>
            </a:extLst>
          </p:cNvPr>
          <p:cNvSpPr txBox="1"/>
          <p:nvPr/>
        </p:nvSpPr>
        <p:spPr>
          <a:xfrm>
            <a:off x="6568233" y="2274111"/>
            <a:ext cx="2367259" cy="230832"/>
          </a:xfrm>
          <a:prstGeom prst="rect">
            <a:avLst/>
          </a:prstGeom>
          <a:noFill/>
        </p:spPr>
        <p:txBody>
          <a:bodyPr wrap="square" rtlCol="0" anchor="ctr">
            <a:spAutoFit/>
          </a:bodyPr>
          <a:lstStyle/>
          <a:p>
            <a:r>
              <a:rPr lang="en-US" sz="900"/>
              <a:t>Company removed from ISS peer group</a:t>
            </a:r>
          </a:p>
        </p:txBody>
      </p:sp>
      <p:sp>
        <p:nvSpPr>
          <p:cNvPr id="9" name="Rectangle 8">
            <a:extLst>
              <a:ext uri="{FF2B5EF4-FFF2-40B4-BE49-F238E27FC236}">
                <a16:creationId xmlns:a16="http://schemas.microsoft.com/office/drawing/2014/main" id="{017CE459-D5A9-2F08-4AA3-E8A337607165}"/>
              </a:ext>
            </a:extLst>
          </p:cNvPr>
          <p:cNvSpPr/>
          <p:nvPr/>
        </p:nvSpPr>
        <p:spPr>
          <a:xfrm>
            <a:off x="6334927" y="2322463"/>
            <a:ext cx="274320" cy="137160"/>
          </a:xfrm>
          <a:prstGeom prst="rect">
            <a:avLst/>
          </a:prstGeom>
          <a:solidFill>
            <a:schemeClr val="accent4">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endParaRPr lang="en-US" sz="1600" b="1">
              <a:solidFill>
                <a:schemeClr val="tx1"/>
              </a:solidFill>
            </a:endParaRPr>
          </a:p>
        </p:txBody>
      </p:sp>
      <p:sp>
        <p:nvSpPr>
          <p:cNvPr id="10" name="TextBox 9">
            <a:extLst>
              <a:ext uri="{FF2B5EF4-FFF2-40B4-BE49-F238E27FC236}">
                <a16:creationId xmlns:a16="http://schemas.microsoft.com/office/drawing/2014/main" id="{CE2FFDEB-4793-566E-F4B0-2B844C2926F7}"/>
              </a:ext>
            </a:extLst>
          </p:cNvPr>
          <p:cNvSpPr txBox="1"/>
          <p:nvPr/>
        </p:nvSpPr>
        <p:spPr>
          <a:xfrm>
            <a:off x="6576853" y="2087501"/>
            <a:ext cx="2332600" cy="230832"/>
          </a:xfrm>
          <a:prstGeom prst="rect">
            <a:avLst/>
          </a:prstGeom>
          <a:noFill/>
        </p:spPr>
        <p:txBody>
          <a:bodyPr wrap="square" rtlCol="0" anchor="ctr">
            <a:spAutoFit/>
          </a:bodyPr>
          <a:lstStyle/>
          <a:p>
            <a:r>
              <a:rPr lang="en-US" sz="900"/>
              <a:t>Company added to ISS peer group</a:t>
            </a:r>
          </a:p>
        </p:txBody>
      </p:sp>
      <p:sp>
        <p:nvSpPr>
          <p:cNvPr id="11" name="TextBox 10">
            <a:extLst>
              <a:ext uri="{FF2B5EF4-FFF2-40B4-BE49-F238E27FC236}">
                <a16:creationId xmlns:a16="http://schemas.microsoft.com/office/drawing/2014/main" id="{3CB11D7E-BDA4-E14E-4651-1CD8CF1DE603}"/>
              </a:ext>
            </a:extLst>
          </p:cNvPr>
          <p:cNvSpPr txBox="1"/>
          <p:nvPr/>
        </p:nvSpPr>
        <p:spPr>
          <a:xfrm>
            <a:off x="6262210" y="1159643"/>
            <a:ext cx="1361837" cy="166895"/>
          </a:xfrm>
          <a:prstGeom prst="rect">
            <a:avLst/>
          </a:prstGeom>
          <a:noFill/>
        </p:spPr>
        <p:txBody>
          <a:bodyPr wrap="square" rtlCol="0" anchor="ctr">
            <a:spAutoFit/>
          </a:bodyPr>
          <a:lstStyle/>
          <a:p>
            <a:r>
              <a:rPr lang="en-US" sz="1000" b="1" i="1"/>
              <a:t>Legend:</a:t>
            </a:r>
          </a:p>
        </p:txBody>
      </p:sp>
      <p:graphicFrame>
        <p:nvGraphicFramePr>
          <p:cNvPr id="13" name="Table 12">
            <a:extLst>
              <a:ext uri="{FF2B5EF4-FFF2-40B4-BE49-F238E27FC236}">
                <a16:creationId xmlns:a16="http://schemas.microsoft.com/office/drawing/2014/main" id="{F63F38C0-C1A2-43D8-1086-B0642D21ADD6}"/>
              </a:ext>
            </a:extLst>
          </p:cNvPr>
          <p:cNvGraphicFramePr>
            <a:graphicFrameLocks noGrp="1"/>
          </p:cNvGraphicFramePr>
          <p:nvPr>
            <p:extLst>
              <p:ext uri="{D42A27DB-BD31-4B8C-83A1-F6EECF244321}">
                <p14:modId xmlns:p14="http://schemas.microsoft.com/office/powerpoint/2010/main" val="303513247"/>
              </p:ext>
            </p:extLst>
          </p:nvPr>
        </p:nvGraphicFramePr>
        <p:xfrm>
          <a:off x="1847571" y="1323108"/>
          <a:ext cx="4389120" cy="5273040"/>
        </p:xfrm>
        <a:graphic>
          <a:graphicData uri="http://schemas.openxmlformats.org/drawingml/2006/table">
            <a:tbl>
              <a:tblPr/>
              <a:tblGrid>
                <a:gridCol w="1557604">
                  <a:extLst>
                    <a:ext uri="{9D8B030D-6E8A-4147-A177-3AD203B41FA5}">
                      <a16:colId xmlns:a16="http://schemas.microsoft.com/office/drawing/2014/main" val="3250873083"/>
                    </a:ext>
                  </a:extLst>
                </a:gridCol>
                <a:gridCol w="667547">
                  <a:extLst>
                    <a:ext uri="{9D8B030D-6E8A-4147-A177-3AD203B41FA5}">
                      <a16:colId xmlns:a16="http://schemas.microsoft.com/office/drawing/2014/main" val="3726537592"/>
                    </a:ext>
                  </a:extLst>
                </a:gridCol>
                <a:gridCol w="556295">
                  <a:extLst>
                    <a:ext uri="{9D8B030D-6E8A-4147-A177-3AD203B41FA5}">
                      <a16:colId xmlns:a16="http://schemas.microsoft.com/office/drawing/2014/main" val="3860207607"/>
                    </a:ext>
                  </a:extLst>
                </a:gridCol>
                <a:gridCol w="445030">
                  <a:extLst>
                    <a:ext uri="{9D8B030D-6E8A-4147-A177-3AD203B41FA5}">
                      <a16:colId xmlns:a16="http://schemas.microsoft.com/office/drawing/2014/main" val="1660173184"/>
                    </a:ext>
                  </a:extLst>
                </a:gridCol>
                <a:gridCol w="445030">
                  <a:extLst>
                    <a:ext uri="{9D8B030D-6E8A-4147-A177-3AD203B41FA5}">
                      <a16:colId xmlns:a16="http://schemas.microsoft.com/office/drawing/2014/main" val="2127136201"/>
                    </a:ext>
                  </a:extLst>
                </a:gridCol>
                <a:gridCol w="717614">
                  <a:extLst>
                    <a:ext uri="{9D8B030D-6E8A-4147-A177-3AD203B41FA5}">
                      <a16:colId xmlns:a16="http://schemas.microsoft.com/office/drawing/2014/main" val="1403927394"/>
                    </a:ext>
                  </a:extLst>
                </a:gridCol>
              </a:tblGrid>
              <a:tr h="140245">
                <a:tc>
                  <a:txBody>
                    <a:bodyPr/>
                    <a:lstStyle/>
                    <a:p>
                      <a:pPr algn="l" fontAlgn="b"/>
                      <a:r>
                        <a:rPr lang="en-US" sz="1000" b="1" i="0" u="none" strike="noStrike" dirty="0">
                          <a:solidFill>
                            <a:srgbClr val="FFFFFF"/>
                          </a:solidFill>
                          <a:effectLst/>
                          <a:latin typeface="Calibri" panose="020F0502020204030204" pitchFamily="34" charset="0"/>
                        </a:rPr>
                        <a:t>($MM) </a:t>
                      </a:r>
                    </a:p>
                  </a:txBody>
                  <a:tcPr marL="27432" marR="27432" marT="0" marB="0" anchor="b">
                    <a:lnL>
                      <a:noFill/>
                    </a:lnL>
                    <a:lnR>
                      <a:noFill/>
                    </a:lnR>
                    <a:lnT w="6350" cap="flat" cmpd="sng" algn="ctr">
                      <a:solidFill>
                        <a:srgbClr val="000000"/>
                      </a:solidFill>
                      <a:prstDash val="solid"/>
                      <a:round/>
                      <a:headEnd type="none" w="med" len="med"/>
                      <a:tailEnd type="none" w="med" len="med"/>
                    </a:lnT>
                    <a:lnB>
                      <a:noFill/>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 </a:t>
                      </a:r>
                    </a:p>
                  </a:txBody>
                  <a:tcPr marL="27432" marR="27432" marT="0" marB="0" anchor="b">
                    <a:lnL>
                      <a:noFill/>
                    </a:lnL>
                    <a:lnR>
                      <a:noFill/>
                    </a:lnR>
                    <a:lnT w="6350" cap="flat" cmpd="sng" algn="ctr">
                      <a:solidFill>
                        <a:srgbClr val="000000"/>
                      </a:solidFill>
                      <a:prstDash val="solid"/>
                      <a:round/>
                      <a:headEnd type="none" w="med" len="med"/>
                      <a:tailEnd type="none" w="med" len="med"/>
                    </a:lnT>
                    <a:lnB>
                      <a:noFill/>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Current</a:t>
                      </a:r>
                    </a:p>
                  </a:txBody>
                  <a:tcPr marL="27432" marR="27432" marT="0" marB="0" anchor="b">
                    <a:lnL>
                      <a:noFill/>
                    </a:lnL>
                    <a:lnR>
                      <a:noFill/>
                    </a:lnR>
                    <a:lnT w="6350" cap="flat" cmpd="sng" algn="ctr">
                      <a:solidFill>
                        <a:srgbClr val="000000"/>
                      </a:solidFill>
                      <a:prstDash val="solid"/>
                      <a:round/>
                      <a:headEnd type="none" w="med" len="med"/>
                      <a:tailEnd type="none" w="med" len="med"/>
                    </a:lnT>
                    <a:lnB>
                      <a:noFill/>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2024</a:t>
                      </a:r>
                    </a:p>
                  </a:txBody>
                  <a:tcPr marL="27432" marR="27432" marT="0" marB="0" anchor="b">
                    <a:lnL>
                      <a:noFill/>
                    </a:lnL>
                    <a:lnR>
                      <a:noFill/>
                    </a:lnR>
                    <a:lnT w="6350" cap="flat" cmpd="sng" algn="ctr">
                      <a:solidFill>
                        <a:srgbClr val="000000"/>
                      </a:solidFill>
                      <a:prstDash val="solid"/>
                      <a:round/>
                      <a:headEnd type="none" w="med" len="med"/>
                      <a:tailEnd type="none" w="med" len="med"/>
                    </a:lnT>
                    <a:lnB>
                      <a:noFill/>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2025</a:t>
                      </a:r>
                    </a:p>
                  </a:txBody>
                  <a:tcPr marL="27432" marR="27432" marT="0" marB="0" anchor="b">
                    <a:lnL>
                      <a:noFill/>
                    </a:lnL>
                    <a:lnR>
                      <a:noFill/>
                    </a:lnR>
                    <a:lnT w="6350" cap="flat" cmpd="sng" algn="ctr">
                      <a:solidFill>
                        <a:srgbClr val="000000"/>
                      </a:solidFill>
                      <a:prstDash val="solid"/>
                      <a:round/>
                      <a:headEnd type="none" w="med" len="med"/>
                      <a:tailEnd type="none" w="med" len="med"/>
                    </a:lnT>
                    <a:lnB>
                      <a:noFill/>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FYE</a:t>
                      </a:r>
                    </a:p>
                  </a:txBody>
                  <a:tcPr marL="27432" marR="27432" marT="0" marB="0" anchor="b">
                    <a:lnL>
                      <a:noFill/>
                    </a:lnL>
                    <a:lnR>
                      <a:noFill/>
                    </a:lnR>
                    <a:lnT w="6350" cap="flat" cmpd="sng" algn="ctr">
                      <a:solidFill>
                        <a:srgbClr val="000000"/>
                      </a:solidFill>
                      <a:prstDash val="solid"/>
                      <a:round/>
                      <a:headEnd type="none" w="med" len="med"/>
                      <a:tailEnd type="none" w="med" len="med"/>
                    </a:lnT>
                    <a:lnB>
                      <a:noFill/>
                    </a:lnB>
                    <a:solidFill>
                      <a:srgbClr val="006EBE"/>
                    </a:solidFill>
                  </a:tcPr>
                </a:tc>
                <a:extLst>
                  <a:ext uri="{0D108BD9-81ED-4DB2-BD59-A6C34878D82A}">
                    <a16:rowId xmlns:a16="http://schemas.microsoft.com/office/drawing/2014/main" val="941830919"/>
                  </a:ext>
                </a:extLst>
              </a:tr>
              <a:tr h="140245">
                <a:tc>
                  <a:txBody>
                    <a:bodyPr/>
                    <a:lstStyle/>
                    <a:p>
                      <a:pPr algn="ctr" fontAlgn="b"/>
                      <a:r>
                        <a:rPr lang="en-US" sz="1000" b="1" i="0" u="none" strike="noStrike">
                          <a:solidFill>
                            <a:srgbClr val="FFFFFF"/>
                          </a:solidFill>
                          <a:effectLst/>
                          <a:latin typeface="Calibri" panose="020F0502020204030204" pitchFamily="34" charset="0"/>
                        </a:rPr>
                        <a:t>Company</a:t>
                      </a: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Industry</a:t>
                      </a: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Peer</a:t>
                      </a: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ISS</a:t>
                      </a: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ISS</a:t>
                      </a: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Revenue</a:t>
                      </a:r>
                      <a:r>
                        <a:rPr lang="en-US" sz="1000" b="1" i="0" u="none" strike="noStrike" baseline="30000">
                          <a:solidFill>
                            <a:srgbClr val="FFFFFF"/>
                          </a:solidFill>
                          <a:effectLst/>
                          <a:latin typeface="Calibri" panose="020F0502020204030204" pitchFamily="34" charset="0"/>
                        </a:rPr>
                        <a:t>(1)</a:t>
                      </a: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3127755799"/>
                  </a:ext>
                </a:extLst>
              </a:tr>
              <a:tr h="140245">
                <a:tc gridSpan="6">
                  <a:txBody>
                    <a:bodyPr/>
                    <a:lstStyle/>
                    <a:p>
                      <a:pPr algn="l" fontAlgn="ctr"/>
                      <a:r>
                        <a:rPr lang="en-US" sz="1000" b="1" i="0" u="none" strike="noStrike" dirty="0">
                          <a:effectLst/>
                          <a:latin typeface="Calibri" panose="020F0502020204030204" pitchFamily="34" charset="0"/>
                        </a:rPr>
                        <a:t>Goofy Peers</a:t>
                      </a:r>
                    </a:p>
                  </a:txBody>
                  <a:tcPr marL="27432" marR="27432"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hMerge="1">
                  <a:txBody>
                    <a:bodyPr/>
                    <a:lstStyle/>
                    <a:p>
                      <a:pPr algn="ctr" fontAlgn="ctr"/>
                      <a:endParaRPr lang="en-US" sz="1000" b="0" i="0" u="none" strike="noStrike">
                        <a:effectLst/>
                        <a:latin typeface="Calibri" panose="020F0502020204030204" pitchFamily="34" charset="0"/>
                      </a:endParaRPr>
                    </a:p>
                  </a:txBody>
                  <a:tcPr marL="9144" marR="9144"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hMerge="1">
                  <a:txBody>
                    <a:bodyPr/>
                    <a:lstStyle/>
                    <a:p>
                      <a:pPr algn="ctr" fontAlgn="ctr"/>
                      <a:endParaRPr lang="en-US" sz="1000" b="0" i="0" u="none" strike="noStrike">
                        <a:effectLst/>
                        <a:latin typeface="Calibri" panose="020F0502020204030204" pitchFamily="34" charset="0"/>
                      </a:endParaRPr>
                    </a:p>
                  </a:txBody>
                  <a:tcPr marL="9144" marR="9144"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hMerge="1">
                  <a:txBody>
                    <a:bodyPr/>
                    <a:lstStyle/>
                    <a:p>
                      <a:pPr algn="ctr" fontAlgn="ctr"/>
                      <a:endParaRPr lang="en-US" sz="1000" b="0" i="0" u="none" strike="noStrike">
                        <a:effectLst/>
                        <a:latin typeface="Calibri" panose="020F0502020204030204" pitchFamily="34" charset="0"/>
                      </a:endParaRPr>
                    </a:p>
                  </a:txBody>
                  <a:tcPr marL="9144" marR="9144"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hMerge="1">
                  <a:txBody>
                    <a:bodyPr/>
                    <a:lstStyle/>
                    <a:p>
                      <a:pPr algn="ctr" fontAlgn="ctr"/>
                      <a:endParaRPr lang="en-US" sz="1000" b="0" i="0" u="none" strike="noStrike">
                        <a:effectLst/>
                        <a:latin typeface="Calibri" panose="020F0502020204030204" pitchFamily="34" charset="0"/>
                      </a:endParaRPr>
                    </a:p>
                  </a:txBody>
                  <a:tcPr marL="9144" marR="9144"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hMerge="1">
                  <a:txBody>
                    <a:bodyPr/>
                    <a:lstStyle/>
                    <a:p>
                      <a:pPr algn="ctr" fontAlgn="ctr"/>
                      <a:endParaRPr lang="en-US" sz="1000" b="0" i="0" u="none" strike="noStrike">
                        <a:effectLst/>
                        <a:latin typeface="Calibri" panose="020F0502020204030204" pitchFamily="34" charset="0"/>
                      </a:endParaRPr>
                    </a:p>
                  </a:txBody>
                  <a:tcPr marL="9144" marR="9144"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838192044"/>
                  </a:ext>
                </a:extLst>
              </a:tr>
              <a:tr h="140245">
                <a:tc>
                  <a:txBody>
                    <a:bodyPr/>
                    <a:lstStyle/>
                    <a:p>
                      <a:pPr algn="l" fontAlgn="ctr"/>
                      <a:r>
                        <a:rPr lang="en-US" sz="1000" b="0" i="0" u="none" strike="noStrike">
                          <a:effectLst/>
                          <a:latin typeface="Calibri" panose="020F0502020204030204" pitchFamily="34" charset="0"/>
                        </a:rPr>
                        <a:t>Zoetis</a:t>
                      </a:r>
                    </a:p>
                  </a:txBody>
                  <a:tcPr marL="27432" marR="27432"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ctr"/>
                      <a:r>
                        <a:rPr lang="en-US" sz="1000" b="0" i="0" u="none" strike="noStrike">
                          <a:effectLst/>
                          <a:latin typeface="Calibri" panose="020F0502020204030204" pitchFamily="34" charset="0"/>
                        </a:rPr>
                        <a:t>P</a:t>
                      </a:r>
                    </a:p>
                  </a:txBody>
                  <a:tcPr marL="27432" marR="27432"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ctr"/>
                      <a:r>
                        <a:rPr lang="en-US" sz="1000" b="0" i="0" u="none" strike="noStrike">
                          <a:effectLst/>
                          <a:latin typeface="Calibri" panose="020F0502020204030204" pitchFamily="34" charset="0"/>
                        </a:rPr>
                        <a:t>$9,256</a:t>
                      </a:r>
                    </a:p>
                  </a:txBody>
                  <a:tcPr marL="27432" marR="27432" marT="0" marB="0" anchor="ctr">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931559139"/>
                  </a:ext>
                </a:extLst>
              </a:tr>
              <a:tr h="140245">
                <a:tc>
                  <a:txBody>
                    <a:bodyPr/>
                    <a:lstStyle/>
                    <a:p>
                      <a:pPr algn="l" fontAlgn="ctr"/>
                      <a:r>
                        <a:rPr lang="en-US" sz="1000" b="0" i="0" u="none" strike="noStrike">
                          <a:effectLst/>
                          <a:latin typeface="Calibri" panose="020F0502020204030204" pitchFamily="34" charset="0"/>
                        </a:rPr>
                        <a:t>Intuitive Surgical</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HCE</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$8,352</a:t>
                      </a: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545382567"/>
                  </a:ext>
                </a:extLst>
              </a:tr>
              <a:tr h="140245">
                <a:tc>
                  <a:txBody>
                    <a:bodyPr/>
                    <a:lstStyle/>
                    <a:p>
                      <a:pPr algn="l" fontAlgn="ctr"/>
                      <a:r>
                        <a:rPr lang="en-US" sz="1000" b="0" i="0" u="none" strike="noStrike">
                          <a:effectLst/>
                          <a:latin typeface="Calibri" panose="020F0502020204030204" pitchFamily="34" charset="0"/>
                        </a:rPr>
                        <a:t>Agilent Technologies</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LS</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$6,510</a:t>
                      </a:r>
                    </a:p>
                  </a:txBody>
                  <a:tcPr marL="27432" marR="27432" marT="0" marB="0" anchor="ctr">
                    <a:lnL>
                      <a:noFill/>
                    </a:lnL>
                    <a:lnR>
                      <a:noFill/>
                    </a:lnR>
                    <a:lnT>
                      <a:noFill/>
                    </a:lnT>
                    <a:lnB>
                      <a:noFill/>
                    </a:lnB>
                    <a:noFill/>
                  </a:tcPr>
                </a:tc>
                <a:extLst>
                  <a:ext uri="{0D108BD9-81ED-4DB2-BD59-A6C34878D82A}">
                    <a16:rowId xmlns:a16="http://schemas.microsoft.com/office/drawing/2014/main" val="3771459934"/>
                  </a:ext>
                </a:extLst>
              </a:tr>
              <a:tr h="140245">
                <a:tc>
                  <a:txBody>
                    <a:bodyPr/>
                    <a:lstStyle/>
                    <a:p>
                      <a:pPr algn="l" fontAlgn="ctr"/>
                      <a:r>
                        <a:rPr lang="en-US" sz="1000" b="0" i="0" u="none" strike="noStrike">
                          <a:effectLst/>
                          <a:latin typeface="Calibri" panose="020F0502020204030204" pitchFamily="34" charset="0"/>
                        </a:rPr>
                        <a:t>Edwards Lifesciences</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HCE</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$5,440</a:t>
                      </a: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296906131"/>
                  </a:ext>
                </a:extLst>
              </a:tr>
              <a:tr h="140245">
                <a:tc>
                  <a:txBody>
                    <a:bodyPr/>
                    <a:lstStyle/>
                    <a:p>
                      <a:pPr algn="l" fontAlgn="ctr"/>
                      <a:r>
                        <a:rPr lang="en-US" sz="1000" b="0" i="0" u="none" strike="noStrike">
                          <a:effectLst/>
                          <a:latin typeface="Calibri" panose="020F0502020204030204" pitchFamily="34" charset="0"/>
                        </a:rPr>
                        <a:t>STERIS plc</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HCE</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$5,139</a:t>
                      </a:r>
                    </a:p>
                  </a:txBody>
                  <a:tcPr marL="27432" marR="27432" marT="0" marB="0" anchor="ctr">
                    <a:lnL>
                      <a:noFill/>
                    </a:lnL>
                    <a:lnR>
                      <a:noFill/>
                    </a:lnR>
                    <a:lnT>
                      <a:noFill/>
                    </a:lnT>
                    <a:lnB>
                      <a:noFill/>
                    </a:lnB>
                    <a:noFill/>
                  </a:tcPr>
                </a:tc>
                <a:extLst>
                  <a:ext uri="{0D108BD9-81ED-4DB2-BD59-A6C34878D82A}">
                    <a16:rowId xmlns:a16="http://schemas.microsoft.com/office/drawing/2014/main" val="3803720904"/>
                  </a:ext>
                </a:extLst>
              </a:tr>
              <a:tr h="140245">
                <a:tc>
                  <a:txBody>
                    <a:bodyPr/>
                    <a:lstStyle/>
                    <a:p>
                      <a:pPr algn="l" fontAlgn="ctr"/>
                      <a:r>
                        <a:rPr lang="en-US" sz="1000" b="0" i="0" u="none" strike="noStrike">
                          <a:effectLst/>
                          <a:latin typeface="Calibri" panose="020F0502020204030204" pitchFamily="34" charset="0"/>
                        </a:rPr>
                        <a:t>ResMed</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HCE</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$4,685</a:t>
                      </a: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3390123229"/>
                  </a:ext>
                </a:extLst>
              </a:tr>
              <a:tr h="140245">
                <a:tc>
                  <a:txBody>
                    <a:bodyPr/>
                    <a:lstStyle/>
                    <a:p>
                      <a:pPr algn="l" fontAlgn="ctr"/>
                      <a:r>
                        <a:rPr lang="en-US" sz="1000" b="0" i="0" u="none" strike="noStrike">
                          <a:effectLst/>
                          <a:latin typeface="Calibri" panose="020F0502020204030204" pitchFamily="34" charset="0"/>
                        </a:rPr>
                        <a:t>Elanco Animal Health</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P</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$4,439</a:t>
                      </a:r>
                    </a:p>
                  </a:txBody>
                  <a:tcPr marL="27432" marR="27432" marT="0" marB="0" anchor="ctr">
                    <a:lnL>
                      <a:noFill/>
                    </a:lnL>
                    <a:lnR>
                      <a:noFill/>
                    </a:lnR>
                    <a:lnT>
                      <a:noFill/>
                    </a:lnT>
                    <a:lnB>
                      <a:noFill/>
                    </a:lnB>
                    <a:noFill/>
                  </a:tcPr>
                </a:tc>
                <a:extLst>
                  <a:ext uri="{0D108BD9-81ED-4DB2-BD59-A6C34878D82A}">
                    <a16:rowId xmlns:a16="http://schemas.microsoft.com/office/drawing/2014/main" val="1352216278"/>
                  </a:ext>
                </a:extLst>
              </a:tr>
              <a:tr h="140245">
                <a:tc>
                  <a:txBody>
                    <a:bodyPr/>
                    <a:lstStyle/>
                    <a:p>
                      <a:pPr algn="l" fontAlgn="ctr"/>
                      <a:r>
                        <a:rPr lang="en-US" sz="1000" b="0" i="0" u="none" strike="noStrike">
                          <a:effectLst/>
                          <a:latin typeface="Calibri" panose="020F0502020204030204" pitchFamily="34" charset="0"/>
                        </a:rPr>
                        <a:t>Illumina</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LS</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$4,372</a:t>
                      </a: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1983660746"/>
                  </a:ext>
                </a:extLst>
              </a:tr>
              <a:tr h="140245">
                <a:tc>
                  <a:txBody>
                    <a:bodyPr/>
                    <a:lstStyle/>
                    <a:p>
                      <a:pPr algn="l" fontAlgn="ctr"/>
                      <a:r>
                        <a:rPr lang="en-US" sz="1000" b="0" i="0" u="none" strike="noStrike">
                          <a:effectLst/>
                          <a:latin typeface="Calibri" panose="020F0502020204030204" pitchFamily="34" charset="0"/>
                        </a:rPr>
                        <a:t>DexCom</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HCE</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$4,033</a:t>
                      </a:r>
                    </a:p>
                  </a:txBody>
                  <a:tcPr marL="27432" marR="27432" marT="0" marB="0" anchor="ctr">
                    <a:lnL>
                      <a:noFill/>
                    </a:lnL>
                    <a:lnR>
                      <a:noFill/>
                    </a:lnR>
                    <a:lnT>
                      <a:noFill/>
                    </a:lnT>
                    <a:lnB>
                      <a:noFill/>
                    </a:lnB>
                    <a:noFill/>
                  </a:tcPr>
                </a:tc>
                <a:extLst>
                  <a:ext uri="{0D108BD9-81ED-4DB2-BD59-A6C34878D82A}">
                    <a16:rowId xmlns:a16="http://schemas.microsoft.com/office/drawing/2014/main" val="3355628228"/>
                  </a:ext>
                </a:extLst>
              </a:tr>
              <a:tr h="140245">
                <a:tc>
                  <a:txBody>
                    <a:bodyPr/>
                    <a:lstStyle/>
                    <a:p>
                      <a:pPr algn="l" fontAlgn="ctr"/>
                      <a:r>
                        <a:rPr lang="en-US" sz="1000" b="0" i="0" u="none" strike="noStrike">
                          <a:effectLst/>
                          <a:latin typeface="Calibri" panose="020F0502020204030204" pitchFamily="34" charset="0"/>
                        </a:rPr>
                        <a:t>Hologic</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HCE</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$4,030</a:t>
                      </a: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3138519823"/>
                  </a:ext>
                </a:extLst>
              </a:tr>
              <a:tr h="140245">
                <a:tc>
                  <a:txBody>
                    <a:bodyPr/>
                    <a:lstStyle/>
                    <a:p>
                      <a:pPr algn="l" fontAlgn="ctr"/>
                      <a:r>
                        <a:rPr lang="en-US" sz="1000" b="0" i="0" u="none" strike="noStrike">
                          <a:effectLst/>
                          <a:latin typeface="Calibri" panose="020F0502020204030204" pitchFamily="34" charset="0"/>
                        </a:rPr>
                        <a:t>Align Technology</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HCS</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$3,999</a:t>
                      </a:r>
                    </a:p>
                  </a:txBody>
                  <a:tcPr marL="27432" marR="27432" marT="0" marB="0" anchor="ctr">
                    <a:lnL>
                      <a:noFill/>
                    </a:lnL>
                    <a:lnR>
                      <a:noFill/>
                    </a:lnR>
                    <a:lnT>
                      <a:noFill/>
                    </a:lnT>
                    <a:lnB>
                      <a:noFill/>
                    </a:lnB>
                    <a:noFill/>
                  </a:tcPr>
                </a:tc>
                <a:extLst>
                  <a:ext uri="{0D108BD9-81ED-4DB2-BD59-A6C34878D82A}">
                    <a16:rowId xmlns:a16="http://schemas.microsoft.com/office/drawing/2014/main" val="1318055868"/>
                  </a:ext>
                </a:extLst>
              </a:tr>
              <a:tr h="140245">
                <a:tc>
                  <a:txBody>
                    <a:bodyPr/>
                    <a:lstStyle/>
                    <a:p>
                      <a:pPr algn="l" fontAlgn="ctr"/>
                      <a:r>
                        <a:rPr lang="en-US" sz="1000" b="0" i="0" u="none" strike="noStrike">
                          <a:effectLst/>
                          <a:latin typeface="Calibri" panose="020F0502020204030204" pitchFamily="34" charset="0"/>
                        </a:rPr>
                        <a:t>Cooper Companies</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HCS</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$3,895</a:t>
                      </a: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2666725483"/>
                  </a:ext>
                </a:extLst>
              </a:tr>
              <a:tr h="140245">
                <a:tc>
                  <a:txBody>
                    <a:bodyPr/>
                    <a:lstStyle/>
                    <a:p>
                      <a:pPr algn="l" fontAlgn="ctr"/>
                      <a:r>
                        <a:rPr lang="en-US" sz="1000" b="0" i="0" u="none" strike="noStrike">
                          <a:effectLst/>
                          <a:latin typeface="Calibri" panose="020F0502020204030204" pitchFamily="34" charset="0"/>
                        </a:rPr>
                        <a:t>Mettler-Toledo International</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LS</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 </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 </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$3,872</a:t>
                      </a:r>
                    </a:p>
                  </a:txBody>
                  <a:tcPr marL="27432" marR="27432" marT="0" marB="0" anchor="ctr">
                    <a:lnL>
                      <a:noFill/>
                    </a:lnL>
                    <a:lnR>
                      <a:noFill/>
                    </a:lnR>
                    <a:lnT>
                      <a:noFill/>
                    </a:lnT>
                    <a:lnB>
                      <a:noFill/>
                    </a:lnB>
                    <a:noFill/>
                  </a:tcPr>
                </a:tc>
                <a:extLst>
                  <a:ext uri="{0D108BD9-81ED-4DB2-BD59-A6C34878D82A}">
                    <a16:rowId xmlns:a16="http://schemas.microsoft.com/office/drawing/2014/main" val="1394838632"/>
                  </a:ext>
                </a:extLst>
              </a:tr>
              <a:tr h="140245">
                <a:tc>
                  <a:txBody>
                    <a:bodyPr/>
                    <a:lstStyle/>
                    <a:p>
                      <a:pPr algn="l" fontAlgn="ctr"/>
                      <a:r>
                        <a:rPr lang="en-US" sz="1000" b="0" i="0" u="none" strike="noStrike">
                          <a:effectLst/>
                          <a:latin typeface="Calibri" panose="020F0502020204030204" pitchFamily="34" charset="0"/>
                        </a:rPr>
                        <a:t>Waters</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LS</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$2,958</a:t>
                      </a: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2548293582"/>
                  </a:ext>
                </a:extLst>
              </a:tr>
              <a:tr h="140245">
                <a:tc>
                  <a:txBody>
                    <a:bodyPr/>
                    <a:lstStyle/>
                    <a:p>
                      <a:pPr algn="l" fontAlgn="ctr"/>
                      <a:r>
                        <a:rPr lang="en-US" sz="1000" b="0" i="0" u="none" strike="noStrike">
                          <a:effectLst/>
                          <a:latin typeface="Calibri" panose="020F0502020204030204" pitchFamily="34" charset="0"/>
                        </a:rPr>
                        <a:t>Revvity</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LS</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$2,755</a:t>
                      </a:r>
                    </a:p>
                  </a:txBody>
                  <a:tcPr marL="27432" marR="27432" marT="0" marB="0" anchor="ctr">
                    <a:lnL>
                      <a:noFill/>
                    </a:lnL>
                    <a:lnR>
                      <a:noFill/>
                    </a:lnR>
                    <a:lnT>
                      <a:noFill/>
                    </a:lnT>
                    <a:lnB>
                      <a:noFill/>
                    </a:lnB>
                    <a:noFill/>
                  </a:tcPr>
                </a:tc>
                <a:extLst>
                  <a:ext uri="{0D108BD9-81ED-4DB2-BD59-A6C34878D82A}">
                    <a16:rowId xmlns:a16="http://schemas.microsoft.com/office/drawing/2014/main" val="3995456278"/>
                  </a:ext>
                </a:extLst>
              </a:tr>
              <a:tr h="140245">
                <a:tc>
                  <a:txBody>
                    <a:bodyPr/>
                    <a:lstStyle/>
                    <a:p>
                      <a:pPr algn="l" fontAlgn="ctr"/>
                      <a:r>
                        <a:rPr lang="en-US" sz="1000" b="0" i="0" u="none" strike="noStrike">
                          <a:effectLst/>
                          <a:latin typeface="Calibri" panose="020F0502020204030204" pitchFamily="34" charset="0"/>
                        </a:rPr>
                        <a:t>Bio-Rad Laboratories</a:t>
                      </a:r>
                    </a:p>
                  </a:txBody>
                  <a:tcPr marL="27432" marR="27432" marT="0" marB="0" anchor="ctr">
                    <a:lnL>
                      <a:noFill/>
                    </a:lnL>
                    <a:lnR>
                      <a:noFill/>
                    </a:lnR>
                    <a:lnT>
                      <a:noFill/>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LS</a:t>
                      </a:r>
                    </a:p>
                  </a:txBody>
                  <a:tcPr marL="27432" marR="27432" marT="0" marB="0" anchor="ctr">
                    <a:lnL>
                      <a:noFill/>
                    </a:lnL>
                    <a:lnR>
                      <a:noFill/>
                    </a:lnR>
                    <a:lnT>
                      <a:noFill/>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$2,567</a:t>
                      </a:r>
                    </a:p>
                  </a:txBody>
                  <a:tcPr marL="27432" marR="27432" marT="0" marB="0" anchor="ctr">
                    <a:lnL>
                      <a:noFill/>
                    </a:lnL>
                    <a:lnR>
                      <a:noFill/>
                    </a:lnR>
                    <a:lnT>
                      <a:noFill/>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951489745"/>
                  </a:ext>
                </a:extLst>
              </a:tr>
              <a:tr h="140245">
                <a:tc gridSpan="6">
                  <a:txBody>
                    <a:bodyPr/>
                    <a:lstStyle/>
                    <a:p>
                      <a:pPr algn="l" fontAlgn="ctr"/>
                      <a:r>
                        <a:rPr lang="en-US" sz="1000" b="1" i="0" u="none" strike="noStrike" dirty="0">
                          <a:effectLst/>
                          <a:latin typeface="Calibri" panose="020F0502020204030204" pitchFamily="34" charset="0"/>
                        </a:rPr>
                        <a:t>ISS Peers Not Part of Goofy Peers</a:t>
                      </a:r>
                    </a:p>
                  </a:txBody>
                  <a:tcPr marL="27432" marR="27432"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pPr algn="ctr" fontAlgn="ctr"/>
                      <a:endParaRPr lang="en-US" sz="1000" b="1" i="0" u="none" strike="noStrike">
                        <a:effectLst/>
                        <a:latin typeface="Calibri" panose="020F0502020204030204" pitchFamily="34" charset="0"/>
                      </a:endParaRPr>
                    </a:p>
                  </a:txBody>
                  <a:tcPr marL="9144" marR="9144"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pPr algn="ctr" fontAlgn="ctr"/>
                      <a:endParaRPr lang="en-US" sz="1000" b="1" i="0" u="none" strike="noStrike">
                        <a:effectLst/>
                        <a:latin typeface="Calibri" panose="020F0502020204030204" pitchFamily="34" charset="0"/>
                      </a:endParaRPr>
                    </a:p>
                  </a:txBody>
                  <a:tcPr marL="9144" marR="9144"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pPr algn="ctr" fontAlgn="ctr"/>
                      <a:endParaRPr lang="en-US" sz="1000" b="1" i="0" u="none" strike="noStrike">
                        <a:effectLst/>
                        <a:latin typeface="Calibri" panose="020F0502020204030204" pitchFamily="34" charset="0"/>
                      </a:endParaRPr>
                    </a:p>
                  </a:txBody>
                  <a:tcPr marL="9144" marR="9144"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pPr algn="ctr" fontAlgn="ctr"/>
                      <a:endParaRPr lang="en-US" sz="1000" b="1" i="0" u="none" strike="noStrike">
                        <a:effectLst/>
                        <a:latin typeface="Calibri" panose="020F0502020204030204" pitchFamily="34" charset="0"/>
                      </a:endParaRPr>
                    </a:p>
                  </a:txBody>
                  <a:tcPr marL="9144" marR="9144"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pPr algn="ctr" fontAlgn="ctr"/>
                      <a:endParaRPr lang="en-US" sz="1000" b="1" i="0" u="none" strike="noStrike">
                        <a:effectLst/>
                        <a:latin typeface="Calibri" panose="020F0502020204030204" pitchFamily="34" charset="0"/>
                      </a:endParaRPr>
                    </a:p>
                  </a:txBody>
                  <a:tcPr marL="9144" marR="9144"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702869881"/>
                  </a:ext>
                </a:extLst>
              </a:tr>
              <a:tr h="140245">
                <a:tc>
                  <a:txBody>
                    <a:bodyPr/>
                    <a:lstStyle/>
                    <a:p>
                      <a:pPr algn="l" fontAlgn="ctr"/>
                      <a:r>
                        <a:rPr lang="en-US" sz="1000" b="0" i="0" u="none" strike="noStrike">
                          <a:effectLst/>
                          <a:latin typeface="Calibri" panose="020F0502020204030204" pitchFamily="34" charset="0"/>
                        </a:rPr>
                        <a:t>Zimmer Biomet</a:t>
                      </a:r>
                    </a:p>
                  </a:txBody>
                  <a:tcPr marL="27432" marR="27432" marT="0" marB="0"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ctr"/>
                      <a:r>
                        <a:rPr lang="en-US" sz="1000" b="0" i="0" u="none" strike="noStrike">
                          <a:effectLst/>
                          <a:latin typeface="Calibri" panose="020F0502020204030204" pitchFamily="34" charset="0"/>
                        </a:rPr>
                        <a:t>HCE</a:t>
                      </a:r>
                    </a:p>
                  </a:txBody>
                  <a:tcPr marL="27432" marR="27432" marT="0" marB="0"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ctr"/>
                      <a:r>
                        <a:rPr lang="en-US" sz="1000" b="0" i="0" u="none" strike="noStrike">
                          <a:effectLst/>
                          <a:latin typeface="Calibri" panose="020F0502020204030204" pitchFamily="34" charset="0"/>
                        </a:rPr>
                        <a:t> </a:t>
                      </a:r>
                    </a:p>
                  </a:txBody>
                  <a:tcPr marL="27432" marR="27432" marT="0" marB="0"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ctr"/>
                      <a:r>
                        <a:rPr lang="en-US" sz="1000" b="0" i="0" u="none" strike="noStrike">
                          <a:effectLst/>
                          <a:latin typeface="Calibri" panose="020F0502020204030204" pitchFamily="34" charset="0"/>
                        </a:rPr>
                        <a:t>$7,679</a:t>
                      </a:r>
                    </a:p>
                  </a:txBody>
                  <a:tcPr marL="27432" marR="27432" marT="0" marB="0" anchor="ctr">
                    <a:lnL>
                      <a:noFill/>
                    </a:lnL>
                    <a:lnR>
                      <a:noFill/>
                    </a:lnR>
                    <a:lnT w="635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3751081636"/>
                  </a:ext>
                </a:extLst>
              </a:tr>
              <a:tr h="140245">
                <a:tc>
                  <a:txBody>
                    <a:bodyPr/>
                    <a:lstStyle/>
                    <a:p>
                      <a:pPr algn="l" fontAlgn="ctr"/>
                      <a:r>
                        <a:rPr lang="en-US" sz="1000" b="0" i="0" u="none" strike="noStrike">
                          <a:effectLst/>
                          <a:latin typeface="Calibri" panose="020F0502020204030204" pitchFamily="34" charset="0"/>
                        </a:rPr>
                        <a:t>Teleflex Incorporated</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HCE</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 </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$3,047</a:t>
                      </a: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999298100"/>
                  </a:ext>
                </a:extLst>
              </a:tr>
              <a:tr h="140245">
                <a:tc>
                  <a:txBody>
                    <a:bodyPr/>
                    <a:lstStyle/>
                    <a:p>
                      <a:pPr algn="l" fontAlgn="ctr"/>
                      <a:r>
                        <a:rPr lang="en-US" sz="1000" b="0" i="0" u="none" strike="noStrike">
                          <a:effectLst/>
                          <a:latin typeface="Calibri" panose="020F0502020204030204" pitchFamily="34" charset="0"/>
                        </a:rPr>
                        <a:t>QuidelOrtho Corporation</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HCE</a:t>
                      </a: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$2,783</a:t>
                      </a:r>
                    </a:p>
                  </a:txBody>
                  <a:tcPr marL="27432" marR="27432" marT="0" marB="0" anchor="ctr">
                    <a:lnL>
                      <a:noFill/>
                    </a:lnL>
                    <a:lnR>
                      <a:noFill/>
                    </a:lnR>
                    <a:lnT>
                      <a:noFill/>
                    </a:lnT>
                    <a:lnB>
                      <a:noFill/>
                    </a:lnB>
                    <a:noFill/>
                  </a:tcPr>
                </a:tc>
                <a:extLst>
                  <a:ext uri="{0D108BD9-81ED-4DB2-BD59-A6C34878D82A}">
                    <a16:rowId xmlns:a16="http://schemas.microsoft.com/office/drawing/2014/main" val="1779692235"/>
                  </a:ext>
                </a:extLst>
              </a:tr>
              <a:tr h="140245">
                <a:tc>
                  <a:txBody>
                    <a:bodyPr/>
                    <a:lstStyle/>
                    <a:p>
                      <a:pPr algn="l" fontAlgn="ctr"/>
                      <a:r>
                        <a:rPr lang="en-US" sz="1000" b="0" i="0" u="none" strike="noStrike">
                          <a:effectLst/>
                          <a:latin typeface="Calibri" panose="020F0502020204030204" pitchFamily="34" charset="0"/>
                        </a:rPr>
                        <a:t>Globus Medical</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HCE</a:t>
                      </a: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Calibri" panose="020F0502020204030204" pitchFamily="34" charset="0"/>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Calibri" panose="020F0502020204030204" pitchFamily="34" charset="0"/>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solidFill>
                      <a:schemeClr val="accent2">
                        <a:lumMod val="20000"/>
                        <a:lumOff val="80000"/>
                      </a:schemeClr>
                    </a:solidFill>
                  </a:tcPr>
                </a:tc>
                <a:tc>
                  <a:txBody>
                    <a:bodyPr/>
                    <a:lstStyle/>
                    <a:p>
                      <a:pPr algn="ctr" fontAlgn="ctr"/>
                      <a:r>
                        <a:rPr lang="en-US" sz="1000" b="0" i="0" u="none" strike="noStrike">
                          <a:effectLst/>
                          <a:latin typeface="Calibri" panose="020F0502020204030204" pitchFamily="34" charset="0"/>
                        </a:rPr>
                        <a:t>$2,519</a:t>
                      </a: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740010537"/>
                  </a:ext>
                </a:extLst>
              </a:tr>
              <a:tr h="140245">
                <a:tc>
                  <a:txBody>
                    <a:bodyPr/>
                    <a:lstStyle/>
                    <a:p>
                      <a:pPr algn="l" fontAlgn="ctr"/>
                      <a:r>
                        <a:rPr lang="en-US" sz="1000" b="0" i="0" u="none" strike="noStrike">
                          <a:effectLst/>
                          <a:latin typeface="Calibri" panose="020F0502020204030204" pitchFamily="34" charset="0"/>
                        </a:rPr>
                        <a:t>Envista Holdings</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HCE</a:t>
                      </a: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$2,511</a:t>
                      </a:r>
                    </a:p>
                  </a:txBody>
                  <a:tcPr marL="27432" marR="27432" marT="0" marB="0" anchor="ctr">
                    <a:lnL>
                      <a:noFill/>
                    </a:lnL>
                    <a:lnR>
                      <a:noFill/>
                    </a:lnR>
                    <a:lnT>
                      <a:noFill/>
                    </a:lnT>
                    <a:lnB>
                      <a:noFill/>
                    </a:lnB>
                    <a:noFill/>
                  </a:tcPr>
                </a:tc>
                <a:extLst>
                  <a:ext uri="{0D108BD9-81ED-4DB2-BD59-A6C34878D82A}">
                    <a16:rowId xmlns:a16="http://schemas.microsoft.com/office/drawing/2014/main" val="134529914"/>
                  </a:ext>
                </a:extLst>
              </a:tr>
              <a:tr h="140245">
                <a:tc>
                  <a:txBody>
                    <a:bodyPr/>
                    <a:lstStyle/>
                    <a:p>
                      <a:pPr algn="l" fontAlgn="ctr"/>
                      <a:r>
                        <a:rPr lang="en-US" sz="1000" b="0" i="0" u="none" strike="noStrike">
                          <a:effectLst/>
                          <a:latin typeface="Calibri" panose="020F0502020204030204" pitchFamily="34" charset="0"/>
                        </a:rPr>
                        <a:t>Enovis Corporation</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HCE</a:t>
                      </a: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Calibri" panose="020F0502020204030204" pitchFamily="34" charset="0"/>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$2,108</a:t>
                      </a: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1734537973"/>
                  </a:ext>
                </a:extLst>
              </a:tr>
              <a:tr h="140245">
                <a:tc>
                  <a:txBody>
                    <a:bodyPr/>
                    <a:lstStyle/>
                    <a:p>
                      <a:pPr algn="l" fontAlgn="ctr"/>
                      <a:r>
                        <a:rPr lang="en-US" sz="1000" b="0" i="0" u="none" strike="noStrike">
                          <a:effectLst/>
                          <a:latin typeface="Calibri" panose="020F0502020204030204" pitchFamily="34" charset="0"/>
                        </a:rPr>
                        <a:t>Masimo Corporation</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HCE</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 </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$2,094</a:t>
                      </a:r>
                    </a:p>
                  </a:txBody>
                  <a:tcPr marL="27432" marR="27432" marT="0" marB="0" anchor="ctr">
                    <a:lnL>
                      <a:noFill/>
                    </a:lnL>
                    <a:lnR>
                      <a:noFill/>
                    </a:lnR>
                    <a:lnT>
                      <a:noFill/>
                    </a:lnT>
                    <a:lnB>
                      <a:noFill/>
                    </a:lnB>
                    <a:noFill/>
                  </a:tcPr>
                </a:tc>
                <a:extLst>
                  <a:ext uri="{0D108BD9-81ED-4DB2-BD59-A6C34878D82A}">
                    <a16:rowId xmlns:a16="http://schemas.microsoft.com/office/drawing/2014/main" val="2269030187"/>
                  </a:ext>
                </a:extLst>
              </a:tr>
              <a:tr h="140245">
                <a:tc>
                  <a:txBody>
                    <a:bodyPr/>
                    <a:lstStyle/>
                    <a:p>
                      <a:pPr algn="l" fontAlgn="ctr"/>
                      <a:r>
                        <a:rPr lang="en-US" sz="1000" b="0" i="0" u="none" strike="noStrike">
                          <a:effectLst/>
                          <a:latin typeface="Calibri" panose="020F0502020204030204" pitchFamily="34" charset="0"/>
                        </a:rPr>
                        <a:t>Insulet Corporation</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HCE</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 </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$2,072</a:t>
                      </a: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1601804036"/>
                  </a:ext>
                </a:extLst>
              </a:tr>
              <a:tr h="140245">
                <a:tc>
                  <a:txBody>
                    <a:bodyPr/>
                    <a:lstStyle/>
                    <a:p>
                      <a:pPr algn="l" fontAlgn="ctr"/>
                      <a:r>
                        <a:rPr lang="en-US" sz="1000" b="0" i="0" u="none" strike="noStrike">
                          <a:effectLst/>
                          <a:latin typeface="Calibri" panose="020F0502020204030204" pitchFamily="34" charset="0"/>
                        </a:rPr>
                        <a:t>Integer Holdings</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HCE</a:t>
                      </a: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$1,717</a:t>
                      </a:r>
                    </a:p>
                  </a:txBody>
                  <a:tcPr marL="27432" marR="27432" marT="0" marB="0" anchor="ctr">
                    <a:lnL>
                      <a:noFill/>
                    </a:lnL>
                    <a:lnR>
                      <a:noFill/>
                    </a:lnR>
                    <a:lnT>
                      <a:noFill/>
                    </a:lnT>
                    <a:lnB>
                      <a:noFill/>
                    </a:lnB>
                    <a:noFill/>
                  </a:tcPr>
                </a:tc>
                <a:extLst>
                  <a:ext uri="{0D108BD9-81ED-4DB2-BD59-A6C34878D82A}">
                    <a16:rowId xmlns:a16="http://schemas.microsoft.com/office/drawing/2014/main" val="2095763524"/>
                  </a:ext>
                </a:extLst>
              </a:tr>
              <a:tr h="140245">
                <a:tc>
                  <a:txBody>
                    <a:bodyPr/>
                    <a:lstStyle/>
                    <a:p>
                      <a:pPr algn="l" fontAlgn="ctr"/>
                      <a:r>
                        <a:rPr lang="en-US" sz="1000" b="0" i="0" u="none" strike="noStrike">
                          <a:effectLst/>
                          <a:latin typeface="Calibri" panose="020F0502020204030204" pitchFamily="34" charset="0"/>
                        </a:rPr>
                        <a:t>Integra LifeSciences</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HCE</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 </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 </a:t>
                      </a:r>
                    </a:p>
                  </a:txBody>
                  <a:tcPr marL="27432" marR="27432" marT="0" marB="0" anchor="ctr">
                    <a:lnL>
                      <a:noFill/>
                    </a:lnL>
                    <a:lnR>
                      <a:noFill/>
                    </a:lnR>
                    <a:lnT>
                      <a:noFill/>
                    </a:lnT>
                    <a:lnB>
                      <a:noFill/>
                    </a:lnB>
                    <a:solidFill>
                      <a:schemeClr val="accent4">
                        <a:lumMod val="20000"/>
                        <a:lumOff val="80000"/>
                      </a:schemeClr>
                    </a:solidFill>
                  </a:tcPr>
                </a:tc>
                <a:tc>
                  <a:txBody>
                    <a:bodyPr/>
                    <a:lstStyle/>
                    <a:p>
                      <a:pPr algn="ctr" fontAlgn="ctr"/>
                      <a:r>
                        <a:rPr lang="en-US" sz="1000" b="0" i="0" u="none" strike="noStrike">
                          <a:effectLst/>
                          <a:latin typeface="Calibri" panose="020F0502020204030204" pitchFamily="34" charset="0"/>
                        </a:rPr>
                        <a:t>$1,611</a:t>
                      </a: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1312869312"/>
                  </a:ext>
                </a:extLst>
              </a:tr>
              <a:tr h="42074">
                <a:tc>
                  <a:txBody>
                    <a:bodyPr/>
                    <a:lstStyle/>
                    <a:p>
                      <a:pPr algn="l" fontAlgn="b"/>
                      <a:endParaRPr lang="en-US" sz="300" b="0" i="0" u="none" strike="noStrike">
                        <a:effectLst/>
                        <a:latin typeface="Calibri" panose="020F0502020204030204" pitchFamily="34" charset="0"/>
                      </a:endParaRP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endParaRPr lang="en-US" sz="300" b="0" i="0" u="none" strike="noStrike">
                        <a:effectLst/>
                        <a:latin typeface="Calibri" panose="020F0502020204030204" pitchFamily="34" charset="0"/>
                      </a:endParaRP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endParaRPr lang="en-US" sz="300" b="0" i="0" u="none" strike="noStrike">
                        <a:effectLst/>
                        <a:latin typeface="Calibri" panose="020F0502020204030204" pitchFamily="34" charset="0"/>
                      </a:endParaRP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endParaRPr lang="en-US" sz="300" b="0" i="0" u="none" strike="noStrike">
                        <a:effectLst/>
                        <a:latin typeface="Calibri" panose="020F0502020204030204" pitchFamily="34" charset="0"/>
                      </a:endParaRP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endParaRPr lang="en-US" sz="300" b="0" i="0" u="none" strike="noStrike">
                        <a:effectLst/>
                        <a:latin typeface="Calibri" panose="020F0502020204030204" pitchFamily="34" charset="0"/>
                      </a:endParaRP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endParaRPr lang="en-US" sz="300" b="0" i="0" u="none" strike="noStrike">
                        <a:effectLst/>
                        <a:latin typeface="Calibri" panose="020F0502020204030204" pitchFamily="34" charset="0"/>
                      </a:endParaRP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02911764"/>
                  </a:ext>
                </a:extLst>
              </a:tr>
              <a:tr h="140245">
                <a:tc>
                  <a:txBody>
                    <a:bodyPr/>
                    <a:lstStyle/>
                    <a:p>
                      <a:pPr algn="l" fontAlgn="b"/>
                      <a:r>
                        <a:rPr lang="en-US" sz="1000" b="1" i="0" u="none" strike="noStrike" dirty="0">
                          <a:effectLst/>
                          <a:latin typeface="Calibri" panose="020F0502020204030204" pitchFamily="34" charset="0"/>
                        </a:rPr>
                        <a:t>Count</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l" fontAlgn="b"/>
                      <a:r>
                        <a:rPr lang="en-US" sz="1000" b="1" i="0" u="none" strike="noStrike" dirty="0">
                          <a:effectLst/>
                          <a:latin typeface="Calibri" panose="020F0502020204030204" pitchFamily="34" charset="0"/>
                        </a:rPr>
                        <a:t> </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b"/>
                      <a:r>
                        <a:rPr lang="en-US" sz="1000" b="1" i="0" u="none" strike="noStrike" dirty="0">
                          <a:effectLst/>
                          <a:latin typeface="Calibri" panose="020F0502020204030204" pitchFamily="34" charset="0"/>
                        </a:rPr>
                        <a:t>16</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b"/>
                      <a:r>
                        <a:rPr lang="en-US" sz="1000" b="1" i="0" u="none" strike="noStrike" dirty="0">
                          <a:effectLst/>
                          <a:latin typeface="Calibri" panose="020F0502020204030204" pitchFamily="34" charset="0"/>
                        </a:rPr>
                        <a:t>24</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b"/>
                      <a:r>
                        <a:rPr lang="en-US" sz="1000" b="1" i="0" u="none" strike="noStrike" dirty="0">
                          <a:effectLst/>
                          <a:latin typeface="Calibri" panose="020F0502020204030204" pitchFamily="34" charset="0"/>
                        </a:rPr>
                        <a:t>24</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l" fontAlgn="b"/>
                      <a:r>
                        <a:rPr lang="en-US" sz="1000" b="1" i="0" u="none" strike="noStrike" dirty="0">
                          <a:effectLst/>
                          <a:latin typeface="Calibri" panose="020F0502020204030204" pitchFamily="34" charset="0"/>
                        </a:rPr>
                        <a:t> </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6158276"/>
                  </a:ext>
                </a:extLst>
              </a:tr>
              <a:tr h="42074">
                <a:tc>
                  <a:txBody>
                    <a:bodyPr/>
                    <a:lstStyle/>
                    <a:p>
                      <a:pPr algn="l" fontAlgn="b"/>
                      <a:endParaRPr lang="en-US" sz="300" b="0" i="0" u="none" strike="noStrike">
                        <a:effectLst/>
                        <a:latin typeface="Calibri" panose="020F0502020204030204" pitchFamily="34" charset="0"/>
                      </a:endParaRP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300" b="0" i="0" u="none" strike="noStrike">
                        <a:effectLst/>
                        <a:latin typeface="Calibri" panose="020F0502020204030204" pitchFamily="34" charset="0"/>
                      </a:endParaRP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300" b="0" i="0" u="none" strike="noStrike">
                        <a:effectLst/>
                        <a:latin typeface="Calibri" panose="020F0502020204030204" pitchFamily="34" charset="0"/>
                      </a:endParaRP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300" b="0" i="0" u="none" strike="noStrike">
                        <a:effectLst/>
                        <a:latin typeface="Calibri" panose="020F0502020204030204" pitchFamily="34" charset="0"/>
                      </a:endParaRP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300" b="0" i="0" u="none" strike="noStrike">
                        <a:effectLst/>
                        <a:latin typeface="Calibri" panose="020F0502020204030204" pitchFamily="34" charset="0"/>
                      </a:endParaRP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300" b="0" i="0" u="none" strike="noStrike">
                        <a:effectLst/>
                        <a:latin typeface="Calibri" panose="020F0502020204030204" pitchFamily="34" charset="0"/>
                      </a:endParaRP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18642149"/>
                  </a:ext>
                </a:extLst>
              </a:tr>
              <a:tr h="140245">
                <a:tc>
                  <a:txBody>
                    <a:bodyPr/>
                    <a:lstStyle/>
                    <a:p>
                      <a:pPr algn="l" fontAlgn="b"/>
                      <a:r>
                        <a:rPr lang="en-US" sz="1000" b="0" i="0" u="none" strike="noStrike">
                          <a:effectLst/>
                          <a:latin typeface="Calibri" panose="020F0502020204030204" pitchFamily="34" charset="0"/>
                        </a:rPr>
                        <a:t>75th %ile</a:t>
                      </a:r>
                    </a:p>
                  </a:txBody>
                  <a:tcPr marL="27432" marR="27432" marT="0" marB="0"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r>
                        <a:rPr lang="en-US" sz="1000" b="0" i="0" u="none" strike="noStrike">
                          <a:effectLst/>
                          <a:latin typeface="Calibri" panose="020F0502020204030204" pitchFamily="34" charset="0"/>
                        </a:rPr>
                        <a:t> </a:t>
                      </a:r>
                    </a:p>
                  </a:txBody>
                  <a:tcPr marL="27432" marR="27432" marT="0" marB="0"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r>
                        <a:rPr lang="en-US" sz="1000" b="0" i="0" u="none" strike="noStrike">
                          <a:effectLst/>
                          <a:latin typeface="Calibri" panose="020F0502020204030204" pitchFamily="34" charset="0"/>
                        </a:rPr>
                        <a:t> </a:t>
                      </a:r>
                    </a:p>
                  </a:txBody>
                  <a:tcPr marL="27432" marR="27432" marT="0" marB="0"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r>
                        <a:rPr lang="en-US" sz="1000" b="0" i="0" u="none" strike="noStrike">
                          <a:effectLst/>
                          <a:latin typeface="Calibri" panose="020F0502020204030204" pitchFamily="34" charset="0"/>
                        </a:rPr>
                        <a:t> </a:t>
                      </a:r>
                    </a:p>
                  </a:txBody>
                  <a:tcPr marL="27432" marR="27432" marT="0" marB="0"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r>
                        <a:rPr lang="en-US" sz="1000" b="0" i="0" u="none" strike="noStrike">
                          <a:effectLst/>
                          <a:latin typeface="Calibri" panose="020F0502020204030204" pitchFamily="34" charset="0"/>
                        </a:rPr>
                        <a:t> </a:t>
                      </a:r>
                    </a:p>
                  </a:txBody>
                  <a:tcPr marL="27432" marR="27432" marT="0" marB="0"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r>
                        <a:rPr lang="en-US" sz="1000" b="0" i="0" u="none" strike="noStrike">
                          <a:effectLst/>
                          <a:latin typeface="Calibri" panose="020F0502020204030204" pitchFamily="34" charset="0"/>
                        </a:rPr>
                        <a:t>$4,799</a:t>
                      </a:r>
                    </a:p>
                  </a:txBody>
                  <a:tcPr marL="27432" marR="27432" marT="0" marB="0"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extLst>
                  <a:ext uri="{0D108BD9-81ED-4DB2-BD59-A6C34878D82A}">
                    <a16:rowId xmlns:a16="http://schemas.microsoft.com/office/drawing/2014/main" val="3038465702"/>
                  </a:ext>
                </a:extLst>
              </a:tr>
              <a:tr h="140245">
                <a:tc>
                  <a:txBody>
                    <a:bodyPr/>
                    <a:lstStyle/>
                    <a:p>
                      <a:pPr algn="l" fontAlgn="b"/>
                      <a:r>
                        <a:rPr lang="en-US" sz="1000" b="1" i="0" u="none" strike="noStrike" dirty="0">
                          <a:effectLst/>
                          <a:latin typeface="Calibri" panose="020F0502020204030204" pitchFamily="34" charset="0"/>
                        </a:rPr>
                        <a:t>Median</a:t>
                      </a:r>
                    </a:p>
                  </a:txBody>
                  <a:tcPr marL="27432" marR="27432" marT="0" marB="0" anchor="b">
                    <a:lnL>
                      <a:noFill/>
                    </a:lnL>
                    <a:lnR>
                      <a:noFill/>
                    </a:lnR>
                    <a:lnT>
                      <a:noFill/>
                    </a:lnT>
                    <a:lnB>
                      <a:noFill/>
                    </a:lnB>
                    <a:solidFill>
                      <a:srgbClr val="FFFFDB"/>
                    </a:solidFill>
                  </a:tcPr>
                </a:tc>
                <a:tc>
                  <a:txBody>
                    <a:bodyPr/>
                    <a:lstStyle/>
                    <a:p>
                      <a:pPr algn="l" fontAlgn="b"/>
                      <a:r>
                        <a:rPr lang="en-US" sz="1000" b="1" i="0" u="none" strike="noStrike">
                          <a:effectLst/>
                          <a:latin typeface="Calibri" panose="020F0502020204030204" pitchFamily="34" charset="0"/>
                        </a:rPr>
                        <a:t> </a:t>
                      </a:r>
                    </a:p>
                  </a:txBody>
                  <a:tcPr marL="27432" marR="27432" marT="0" marB="0" anchor="b">
                    <a:lnL>
                      <a:noFill/>
                    </a:lnL>
                    <a:lnR>
                      <a:noFill/>
                    </a:lnR>
                    <a:lnT>
                      <a:noFill/>
                    </a:lnT>
                    <a:lnB>
                      <a:noFill/>
                    </a:lnB>
                    <a:solidFill>
                      <a:srgbClr val="FFFFDB"/>
                    </a:solidFill>
                  </a:tcPr>
                </a:tc>
                <a:tc>
                  <a:txBody>
                    <a:bodyPr/>
                    <a:lstStyle/>
                    <a:p>
                      <a:pPr algn="l" fontAlgn="b"/>
                      <a:r>
                        <a:rPr lang="en-US" sz="1000" b="1" i="0" u="none" strike="noStrike">
                          <a:effectLst/>
                          <a:latin typeface="Calibri" panose="020F0502020204030204" pitchFamily="34" charset="0"/>
                        </a:rPr>
                        <a:t> </a:t>
                      </a:r>
                    </a:p>
                  </a:txBody>
                  <a:tcPr marL="27432" marR="27432" marT="0" marB="0" anchor="b">
                    <a:lnL>
                      <a:noFill/>
                    </a:lnL>
                    <a:lnR>
                      <a:noFill/>
                    </a:lnR>
                    <a:lnT>
                      <a:noFill/>
                    </a:lnT>
                    <a:lnB>
                      <a:noFill/>
                    </a:lnB>
                    <a:solidFill>
                      <a:srgbClr val="FFFFDB"/>
                    </a:solidFill>
                  </a:tcPr>
                </a:tc>
                <a:tc>
                  <a:txBody>
                    <a:bodyPr/>
                    <a:lstStyle/>
                    <a:p>
                      <a:pPr algn="l" fontAlgn="b"/>
                      <a:r>
                        <a:rPr lang="en-US" sz="1000" b="1" i="0" u="none" strike="noStrike">
                          <a:effectLst/>
                          <a:latin typeface="Calibri" panose="020F0502020204030204" pitchFamily="34" charset="0"/>
                        </a:rPr>
                        <a:t> </a:t>
                      </a:r>
                    </a:p>
                  </a:txBody>
                  <a:tcPr marL="27432" marR="27432" marT="0" marB="0" anchor="b">
                    <a:lnL>
                      <a:noFill/>
                    </a:lnL>
                    <a:lnR>
                      <a:noFill/>
                    </a:lnR>
                    <a:lnT>
                      <a:noFill/>
                    </a:lnT>
                    <a:lnB>
                      <a:noFill/>
                    </a:lnB>
                    <a:solidFill>
                      <a:srgbClr val="FFFFDB"/>
                    </a:solidFill>
                  </a:tcPr>
                </a:tc>
                <a:tc>
                  <a:txBody>
                    <a:bodyPr/>
                    <a:lstStyle/>
                    <a:p>
                      <a:pPr algn="l" fontAlgn="b"/>
                      <a:r>
                        <a:rPr lang="en-US" sz="1000" b="1" i="0" u="none" strike="noStrike">
                          <a:effectLst/>
                          <a:latin typeface="Calibri" panose="020F0502020204030204" pitchFamily="34" charset="0"/>
                        </a:rPr>
                        <a:t> </a:t>
                      </a:r>
                    </a:p>
                  </a:txBody>
                  <a:tcPr marL="27432" marR="27432" marT="0" marB="0" anchor="b">
                    <a:lnL>
                      <a:noFill/>
                    </a:lnL>
                    <a:lnR>
                      <a:noFill/>
                    </a:lnR>
                    <a:lnT>
                      <a:noFill/>
                    </a:lnT>
                    <a:lnB>
                      <a:noFill/>
                    </a:lnB>
                    <a:solidFill>
                      <a:srgbClr val="FFFFDB"/>
                    </a:solidFill>
                  </a:tcPr>
                </a:tc>
                <a:tc>
                  <a:txBody>
                    <a:bodyPr/>
                    <a:lstStyle/>
                    <a:p>
                      <a:pPr algn="ctr" fontAlgn="b"/>
                      <a:r>
                        <a:rPr lang="en-US" sz="1000" b="1" i="0" u="none" strike="noStrike">
                          <a:effectLst/>
                          <a:latin typeface="Calibri" panose="020F0502020204030204" pitchFamily="34" charset="0"/>
                        </a:rPr>
                        <a:t>$3,947</a:t>
                      </a:r>
                    </a:p>
                  </a:txBody>
                  <a:tcPr marL="27432" marR="27432" marT="0" marB="0" anchor="b">
                    <a:lnL>
                      <a:noFill/>
                    </a:lnL>
                    <a:lnR>
                      <a:noFill/>
                    </a:lnR>
                    <a:lnT>
                      <a:noFill/>
                    </a:lnT>
                    <a:lnB>
                      <a:noFill/>
                    </a:lnB>
                    <a:solidFill>
                      <a:srgbClr val="FFFFDB"/>
                    </a:solidFill>
                  </a:tcPr>
                </a:tc>
                <a:extLst>
                  <a:ext uri="{0D108BD9-81ED-4DB2-BD59-A6C34878D82A}">
                    <a16:rowId xmlns:a16="http://schemas.microsoft.com/office/drawing/2014/main" val="1397857449"/>
                  </a:ext>
                </a:extLst>
              </a:tr>
              <a:tr h="140245">
                <a:tc>
                  <a:txBody>
                    <a:bodyPr/>
                    <a:lstStyle/>
                    <a:p>
                      <a:pPr algn="l" fontAlgn="b"/>
                      <a:r>
                        <a:rPr lang="en-US" sz="1000" b="0" i="0" u="none" strike="noStrike">
                          <a:effectLst/>
                          <a:latin typeface="Calibri" panose="020F0502020204030204" pitchFamily="34" charset="0"/>
                        </a:rPr>
                        <a:t>25th %ile</a:t>
                      </a: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r>
                        <a:rPr lang="en-US" sz="1000" b="0" i="0" u="none" strike="noStrike">
                          <a:effectLst/>
                          <a:latin typeface="Calibri" panose="020F0502020204030204" pitchFamily="34" charset="0"/>
                        </a:rPr>
                        <a:t> </a:t>
                      </a: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r>
                        <a:rPr lang="en-US" sz="1000" b="0" i="0" u="none" strike="noStrike">
                          <a:effectLst/>
                          <a:latin typeface="Calibri" panose="020F0502020204030204" pitchFamily="34" charset="0"/>
                        </a:rPr>
                        <a:t> </a:t>
                      </a: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r>
                        <a:rPr lang="en-US" sz="1000" b="0" i="0" u="none" strike="noStrike">
                          <a:effectLst/>
                          <a:latin typeface="Calibri" panose="020F0502020204030204" pitchFamily="34" charset="0"/>
                        </a:rPr>
                        <a:t> </a:t>
                      </a: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r>
                        <a:rPr lang="en-US" sz="1000" b="0" i="0" u="none" strike="noStrike">
                          <a:effectLst/>
                          <a:latin typeface="Calibri" panose="020F0502020204030204" pitchFamily="34" charset="0"/>
                        </a:rPr>
                        <a:t> </a:t>
                      </a: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r>
                        <a:rPr lang="en-US" sz="1000" b="0" i="0" u="none" strike="noStrike" dirty="0">
                          <a:effectLst/>
                          <a:latin typeface="Calibri" panose="020F0502020204030204" pitchFamily="34" charset="0"/>
                        </a:rPr>
                        <a:t>$2,555</a:t>
                      </a: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extLst>
                  <a:ext uri="{0D108BD9-81ED-4DB2-BD59-A6C34878D82A}">
                    <a16:rowId xmlns:a16="http://schemas.microsoft.com/office/drawing/2014/main" val="2341301163"/>
                  </a:ext>
                </a:extLst>
              </a:tr>
            </a:tbl>
          </a:graphicData>
        </a:graphic>
      </p:graphicFrame>
      <p:graphicFrame>
        <p:nvGraphicFramePr>
          <p:cNvPr id="14" name="Table 14">
            <a:extLst>
              <a:ext uri="{FF2B5EF4-FFF2-40B4-BE49-F238E27FC236}">
                <a16:creationId xmlns:a16="http://schemas.microsoft.com/office/drawing/2014/main" id="{56157F85-86BF-CFF8-252A-47525B86CE9D}"/>
              </a:ext>
            </a:extLst>
          </p:cNvPr>
          <p:cNvGraphicFramePr>
            <a:graphicFrameLocks noGrp="1"/>
          </p:cNvGraphicFramePr>
          <p:nvPr>
            <p:extLst>
              <p:ext uri="{D42A27DB-BD31-4B8C-83A1-F6EECF244321}">
                <p14:modId xmlns:p14="http://schemas.microsoft.com/office/powerpoint/2010/main" val="3500819838"/>
              </p:ext>
            </p:extLst>
          </p:nvPr>
        </p:nvGraphicFramePr>
        <p:xfrm>
          <a:off x="6334927" y="1379160"/>
          <a:ext cx="2011680" cy="686793"/>
        </p:xfrm>
        <a:graphic>
          <a:graphicData uri="http://schemas.openxmlformats.org/drawingml/2006/table">
            <a:tbl>
              <a:tblPr firstRow="1" bandRow="1">
                <a:tableStyleId>{5940675A-B579-460E-94D1-54222C63F5DA}</a:tableStyleId>
              </a:tblPr>
              <a:tblGrid>
                <a:gridCol w="274320">
                  <a:extLst>
                    <a:ext uri="{9D8B030D-6E8A-4147-A177-3AD203B41FA5}">
                      <a16:colId xmlns:a16="http://schemas.microsoft.com/office/drawing/2014/main" val="1448559794"/>
                    </a:ext>
                  </a:extLst>
                </a:gridCol>
                <a:gridCol w="1737360">
                  <a:extLst>
                    <a:ext uri="{9D8B030D-6E8A-4147-A177-3AD203B41FA5}">
                      <a16:colId xmlns:a16="http://schemas.microsoft.com/office/drawing/2014/main" val="1242357177"/>
                    </a:ext>
                  </a:extLst>
                </a:gridCol>
              </a:tblGrid>
              <a:tr h="127044">
                <a:tc>
                  <a:txBody>
                    <a:bodyPr/>
                    <a:lstStyle/>
                    <a:p>
                      <a:pPr algn="ctr"/>
                      <a:r>
                        <a:rPr lang="en-US" sz="900"/>
                        <a:t>HCE</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900"/>
                        <a:t>  Health Care Equipment</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456415924"/>
                  </a:ext>
                </a:extLst>
              </a:tr>
              <a:tr h="46051">
                <a:tc>
                  <a:txBody>
                    <a:bodyPr/>
                    <a:lstStyle/>
                    <a:p>
                      <a:pPr algn="ctr"/>
                      <a:endParaRPr lang="en-US" sz="100"/>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00"/>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45465110"/>
                  </a:ext>
                </a:extLst>
              </a:tr>
              <a:tr h="127044">
                <a:tc>
                  <a:txBody>
                    <a:bodyPr/>
                    <a:lstStyle/>
                    <a:p>
                      <a:pPr algn="ctr"/>
                      <a:r>
                        <a:rPr lang="en-US" sz="900"/>
                        <a:t>HCS</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900"/>
                        <a:t>  Health Care Supplies</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03461171"/>
                  </a:ext>
                </a:extLst>
              </a:tr>
              <a:tr h="46051">
                <a:tc>
                  <a:txBody>
                    <a:bodyPr/>
                    <a:lstStyle/>
                    <a:p>
                      <a:pPr algn="ctr"/>
                      <a:endParaRPr lang="en-US" sz="100"/>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00"/>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727313861"/>
                  </a:ext>
                </a:extLst>
              </a:tr>
              <a:tr h="127044">
                <a:tc>
                  <a:txBody>
                    <a:bodyPr/>
                    <a:lstStyle/>
                    <a:p>
                      <a:pPr algn="ctr"/>
                      <a:r>
                        <a:rPr lang="en-US" sz="900"/>
                        <a:t>P</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900"/>
                        <a:t>  Pharmaceuticals</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63960339"/>
                  </a:ext>
                </a:extLst>
              </a:tr>
              <a:tr h="46051">
                <a:tc>
                  <a:txBody>
                    <a:bodyPr/>
                    <a:lstStyle/>
                    <a:p>
                      <a:endParaRPr lang="en-US" sz="100"/>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65780605"/>
                  </a:ext>
                </a:extLst>
              </a:tr>
              <a:tr h="127044">
                <a:tc>
                  <a:txBody>
                    <a:bodyPr/>
                    <a:lstStyle/>
                    <a:p>
                      <a:pPr algn="ctr"/>
                      <a:r>
                        <a:rPr lang="en-US" sz="900"/>
                        <a:t>LS</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900"/>
                        <a:t>  Life Sciences Tools &amp; Svcs</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9601939"/>
                  </a:ext>
                </a:extLst>
              </a:tr>
            </a:tbl>
          </a:graphicData>
        </a:graphic>
      </p:graphicFrame>
      <p:sp>
        <p:nvSpPr>
          <p:cNvPr id="15" name="TextBox 14">
            <a:extLst>
              <a:ext uri="{FF2B5EF4-FFF2-40B4-BE49-F238E27FC236}">
                <a16:creationId xmlns:a16="http://schemas.microsoft.com/office/drawing/2014/main" id="{746D8808-6DF8-BD0C-B635-69DD2F59A083}"/>
              </a:ext>
            </a:extLst>
          </p:cNvPr>
          <p:cNvSpPr txBox="1"/>
          <p:nvPr/>
        </p:nvSpPr>
        <p:spPr>
          <a:xfrm>
            <a:off x="1849431" y="6560467"/>
            <a:ext cx="4967145" cy="246221"/>
          </a:xfrm>
          <a:prstGeom prst="rect">
            <a:avLst/>
          </a:prstGeom>
          <a:noFill/>
        </p:spPr>
        <p:txBody>
          <a:bodyPr wrap="square" lIns="45720" tIns="45720" rIns="45720" bIns="45720" rtlCol="0" anchor="ctr">
            <a:spAutoFit/>
          </a:bodyPr>
          <a:lstStyle/>
          <a:p>
            <a:pPr marL="228600" indent="-228600">
              <a:buAutoNum type="arabicParenBoth"/>
            </a:pPr>
            <a:r>
              <a:rPr lang="en-US" sz="1000" i="1"/>
              <a:t>Summary statistics include only the companies listed as 2025 ISS peers</a:t>
            </a:r>
          </a:p>
        </p:txBody>
      </p:sp>
      <p:sp>
        <p:nvSpPr>
          <p:cNvPr id="2" name="TextBox 1">
            <a:extLst>
              <a:ext uri="{FF2B5EF4-FFF2-40B4-BE49-F238E27FC236}">
                <a16:creationId xmlns:a16="http://schemas.microsoft.com/office/drawing/2014/main" id="{488F32B4-1F89-BF67-C683-C701C3878E17}"/>
              </a:ext>
            </a:extLst>
          </p:cNvPr>
          <p:cNvSpPr txBox="1"/>
          <p:nvPr/>
        </p:nvSpPr>
        <p:spPr>
          <a:xfrm>
            <a:off x="160986" y="1424225"/>
            <a:ext cx="2213399" cy="355097"/>
          </a:xfrm>
          <a:prstGeom prst="rect">
            <a:avLst/>
          </a:prstGeom>
          <a:solidFill>
            <a:schemeClr val="accent3"/>
          </a:solidFill>
          <a:ln>
            <a:solidFill>
              <a:schemeClr val="tx1"/>
            </a:solidFill>
          </a:ln>
        </p:spPr>
        <p:txBody>
          <a:bodyPr vert="horz" wrap="square" lIns="45720" tIns="45720" rIns="45720" bIns="45720" rtlCol="0" anchor="ctr">
            <a:spAutoFit/>
          </a:bodyPr>
          <a:lstStyle/>
          <a:p>
            <a:pPr algn="ctr">
              <a:lnSpc>
                <a:spcPct val="85000"/>
              </a:lnSpc>
            </a:pPr>
            <a:r>
              <a:rPr lang="en-US" sz="1000" dirty="0"/>
              <a:t>To be updated after ISS report is received from Goofy</a:t>
            </a:r>
          </a:p>
        </p:txBody>
      </p:sp>
      <p:sp>
        <p:nvSpPr>
          <p:cNvPr id="16" name="Footer Placeholder 16"/>
          <p:cNvSpPr>
            <a:spLocks noGrp="1"/>
          </p:cNvSpPr>
          <p:nvPr>
            <p:ph type="ftr" sz="quarter" idx="16"/>
          </p:nvPr>
        </p:nvSpPr>
        <p:spPr>
          <a:xfrm>
            <a:off x="863745" y="6591503"/>
            <a:ext cx="7416510" cy="184151"/>
          </a:xfrm>
        </p:spPr>
        <p:txBody>
          <a:bodyPr/>
          <a:lstStyle/>
          <a:p>
            <a:r>
              <a:rPr lang="en-US" sz="800"/>
              <a:t>These materials are confidential and to be used only by the client to whom they are addressed</a:t>
            </a:r>
          </a:p>
        </p:txBody>
      </p:sp>
    </p:spTree>
    <p:extLst>
      <p:ext uri="{BB962C8B-B14F-4D97-AF65-F5344CB8AC3E}">
        <p14:creationId xmlns:p14="http://schemas.microsoft.com/office/powerpoint/2010/main" val="1711867941"/>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066735-0A80-966D-175B-A782E405914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1AB4550-ABB3-542D-13B4-E1A63E07174F}"/>
              </a:ext>
            </a:extLst>
          </p:cNvPr>
          <p:cNvSpPr>
            <a:spLocks noGrp="1"/>
          </p:cNvSpPr>
          <p:nvPr>
            <p:ph type="title"/>
          </p:nvPr>
        </p:nvSpPr>
        <p:spPr>
          <a:xfrm>
            <a:off x="882797" y="44215"/>
            <a:ext cx="8074152" cy="1292899"/>
          </a:xfrm>
        </p:spPr>
        <p:txBody>
          <a:bodyPr/>
          <a:lstStyle/>
          <a:p>
            <a:r>
              <a:rPr lang="en-US" dirty="0"/>
              <a:t>Glass Lewis removed two peers and added two peers to </a:t>
            </a:r>
            <a:r>
              <a:rPr lang="en-US" dirty="0" err="1"/>
              <a:t>Goofy’s</a:t>
            </a:r>
            <a:r>
              <a:rPr lang="en-US" dirty="0"/>
              <a:t> 2025 peer group</a:t>
            </a:r>
          </a:p>
        </p:txBody>
      </p:sp>
      <p:sp>
        <p:nvSpPr>
          <p:cNvPr id="4" name="Slide Number Placeholder 3">
            <a:extLst>
              <a:ext uri="{FF2B5EF4-FFF2-40B4-BE49-F238E27FC236}">
                <a16:creationId xmlns:a16="http://schemas.microsoft.com/office/drawing/2014/main" id="{E03B82BD-0178-1319-8D57-C95CBFA4EEE1}"/>
              </a:ext>
            </a:extLst>
          </p:cNvPr>
          <p:cNvSpPr>
            <a:spLocks noGrp="1"/>
          </p:cNvSpPr>
          <p:nvPr>
            <p:ph type="sldNum" sz="quarter" idx="12"/>
          </p:nvPr>
        </p:nvSpPr>
        <p:spPr>
          <a:xfrm>
            <a:off x="8581802" y="6577909"/>
            <a:ext cx="352260" cy="211339"/>
          </a:xfrm>
        </p:spPr>
        <p:txBody>
          <a:bodyPr/>
          <a:lstStyle/>
          <a:p>
            <a:fld id="{91690BAF-E217-4185-92FD-0CEA06F2B7C8}" type="slidenum">
              <a:rPr lang="en-US" smtClean="0"/>
              <a:pPr/>
              <a:t>14</a:t>
            </a:fld>
            <a:endParaRPr lang="en-US"/>
          </a:p>
        </p:txBody>
      </p:sp>
      <p:sp>
        <p:nvSpPr>
          <p:cNvPr id="2" name="TextBox 1">
            <a:extLst>
              <a:ext uri="{FF2B5EF4-FFF2-40B4-BE49-F238E27FC236}">
                <a16:creationId xmlns:a16="http://schemas.microsoft.com/office/drawing/2014/main" id="{37FC3260-2D5B-F607-6E1E-A48E5E628FC0}"/>
              </a:ext>
            </a:extLst>
          </p:cNvPr>
          <p:cNvSpPr txBox="1"/>
          <p:nvPr/>
        </p:nvSpPr>
        <p:spPr>
          <a:xfrm>
            <a:off x="2557635" y="1371880"/>
            <a:ext cx="3289298" cy="286232"/>
          </a:xfrm>
          <a:prstGeom prst="rect">
            <a:avLst/>
          </a:prstGeom>
          <a:noFill/>
        </p:spPr>
        <p:txBody>
          <a:bodyPr wrap="square" lIns="45720" tIns="45720" rIns="45720" bIns="45720" rtlCol="0" anchor="ctr">
            <a:spAutoFit/>
          </a:bodyPr>
          <a:lstStyle/>
          <a:p>
            <a:pPr algn="ctr">
              <a:lnSpc>
                <a:spcPct val="90000"/>
              </a:lnSpc>
            </a:pPr>
            <a:r>
              <a:rPr lang="en-US" sz="1400" b="1"/>
              <a:t>Glass Lewis Peer Group 2025 Changes</a:t>
            </a:r>
          </a:p>
        </p:txBody>
      </p:sp>
      <p:sp>
        <p:nvSpPr>
          <p:cNvPr id="6" name="TextBox 5">
            <a:extLst>
              <a:ext uri="{FF2B5EF4-FFF2-40B4-BE49-F238E27FC236}">
                <a16:creationId xmlns:a16="http://schemas.microsoft.com/office/drawing/2014/main" id="{F23459E9-99B4-8995-B94B-C0F443235E3D}"/>
              </a:ext>
            </a:extLst>
          </p:cNvPr>
          <p:cNvSpPr txBox="1"/>
          <p:nvPr/>
        </p:nvSpPr>
        <p:spPr>
          <a:xfrm>
            <a:off x="1811902" y="6516107"/>
            <a:ext cx="4389120" cy="246221"/>
          </a:xfrm>
          <a:prstGeom prst="rect">
            <a:avLst/>
          </a:prstGeom>
          <a:noFill/>
        </p:spPr>
        <p:txBody>
          <a:bodyPr wrap="square" lIns="45720" tIns="45720" rIns="45720" bIns="45720" rtlCol="0" anchor="ctr">
            <a:spAutoFit/>
          </a:bodyPr>
          <a:lstStyle/>
          <a:p>
            <a:pPr marL="228600" indent="-228600">
              <a:buAutoNum type="arabicParenBoth"/>
            </a:pPr>
            <a:r>
              <a:rPr lang="en-US" sz="1000" i="1"/>
              <a:t>Summary statistics include only the companies listed as 2025 Glass Lewis peers</a:t>
            </a:r>
          </a:p>
        </p:txBody>
      </p:sp>
      <p:sp>
        <p:nvSpPr>
          <p:cNvPr id="7" name="Rectangle 6">
            <a:extLst>
              <a:ext uri="{FF2B5EF4-FFF2-40B4-BE49-F238E27FC236}">
                <a16:creationId xmlns:a16="http://schemas.microsoft.com/office/drawing/2014/main" id="{BFCFBB1A-2813-CDCC-E179-5C26F9C163CC}"/>
              </a:ext>
            </a:extLst>
          </p:cNvPr>
          <p:cNvSpPr/>
          <p:nvPr/>
        </p:nvSpPr>
        <p:spPr>
          <a:xfrm>
            <a:off x="6334927" y="2500532"/>
            <a:ext cx="274320" cy="137160"/>
          </a:xfrm>
          <a:prstGeom prst="rect">
            <a:avLst/>
          </a:prstGeom>
          <a:solidFill>
            <a:schemeClr val="accent2">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endParaRPr lang="en-US" sz="1600" b="1">
              <a:solidFill>
                <a:schemeClr val="tx1"/>
              </a:solidFill>
            </a:endParaRPr>
          </a:p>
        </p:txBody>
      </p:sp>
      <p:sp>
        <p:nvSpPr>
          <p:cNvPr id="8" name="Rectangle 7">
            <a:extLst>
              <a:ext uri="{FF2B5EF4-FFF2-40B4-BE49-F238E27FC236}">
                <a16:creationId xmlns:a16="http://schemas.microsoft.com/office/drawing/2014/main" id="{090D6318-EFCA-1F33-5F2B-5979853108E4}"/>
              </a:ext>
            </a:extLst>
          </p:cNvPr>
          <p:cNvSpPr/>
          <p:nvPr/>
        </p:nvSpPr>
        <p:spPr>
          <a:xfrm>
            <a:off x="6334927" y="2697367"/>
            <a:ext cx="274320" cy="137160"/>
          </a:xfrm>
          <a:prstGeom prst="rect">
            <a:avLst/>
          </a:prstGeom>
          <a:solidFill>
            <a:schemeClr val="accent4">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endParaRPr lang="en-US" sz="1600" b="1">
              <a:solidFill>
                <a:schemeClr val="tx1"/>
              </a:solidFill>
            </a:endParaRPr>
          </a:p>
        </p:txBody>
      </p:sp>
      <p:sp>
        <p:nvSpPr>
          <p:cNvPr id="9" name="TextBox 8">
            <a:extLst>
              <a:ext uri="{FF2B5EF4-FFF2-40B4-BE49-F238E27FC236}">
                <a16:creationId xmlns:a16="http://schemas.microsoft.com/office/drawing/2014/main" id="{24837AD4-4CB2-0416-DFF9-133A089EA10A}"/>
              </a:ext>
            </a:extLst>
          </p:cNvPr>
          <p:cNvSpPr txBox="1"/>
          <p:nvPr/>
        </p:nvSpPr>
        <p:spPr>
          <a:xfrm>
            <a:off x="6227061" y="1609471"/>
            <a:ext cx="1361837" cy="166895"/>
          </a:xfrm>
          <a:prstGeom prst="rect">
            <a:avLst/>
          </a:prstGeom>
          <a:noFill/>
        </p:spPr>
        <p:txBody>
          <a:bodyPr wrap="square" rtlCol="0" anchor="ctr">
            <a:spAutoFit/>
          </a:bodyPr>
          <a:lstStyle/>
          <a:p>
            <a:r>
              <a:rPr lang="en-US" sz="1000" b="1" i="1"/>
              <a:t>Legend:</a:t>
            </a:r>
          </a:p>
        </p:txBody>
      </p:sp>
      <p:graphicFrame>
        <p:nvGraphicFramePr>
          <p:cNvPr id="10" name="Table 9">
            <a:extLst>
              <a:ext uri="{FF2B5EF4-FFF2-40B4-BE49-F238E27FC236}">
                <a16:creationId xmlns:a16="http://schemas.microsoft.com/office/drawing/2014/main" id="{7EEBDF4E-CD63-72ED-C572-DF446A273F0A}"/>
              </a:ext>
            </a:extLst>
          </p:cNvPr>
          <p:cNvGraphicFramePr>
            <a:graphicFrameLocks noGrp="1"/>
          </p:cNvGraphicFramePr>
          <p:nvPr>
            <p:extLst>
              <p:ext uri="{D42A27DB-BD31-4B8C-83A1-F6EECF244321}">
                <p14:modId xmlns:p14="http://schemas.microsoft.com/office/powerpoint/2010/main" val="139823133"/>
              </p:ext>
            </p:extLst>
          </p:nvPr>
        </p:nvGraphicFramePr>
        <p:xfrm>
          <a:off x="1811902" y="1640138"/>
          <a:ext cx="4389120" cy="4866640"/>
        </p:xfrm>
        <a:graphic>
          <a:graphicData uri="http://schemas.openxmlformats.org/drawingml/2006/table">
            <a:tbl>
              <a:tblPr/>
              <a:tblGrid>
                <a:gridCol w="1645920">
                  <a:extLst>
                    <a:ext uri="{9D8B030D-6E8A-4147-A177-3AD203B41FA5}">
                      <a16:colId xmlns:a16="http://schemas.microsoft.com/office/drawing/2014/main" val="189046131"/>
                    </a:ext>
                  </a:extLst>
                </a:gridCol>
                <a:gridCol w="548640">
                  <a:extLst>
                    <a:ext uri="{9D8B030D-6E8A-4147-A177-3AD203B41FA5}">
                      <a16:colId xmlns:a16="http://schemas.microsoft.com/office/drawing/2014/main" val="3266166983"/>
                    </a:ext>
                  </a:extLst>
                </a:gridCol>
                <a:gridCol w="457200">
                  <a:extLst>
                    <a:ext uri="{9D8B030D-6E8A-4147-A177-3AD203B41FA5}">
                      <a16:colId xmlns:a16="http://schemas.microsoft.com/office/drawing/2014/main" val="774650952"/>
                    </a:ext>
                  </a:extLst>
                </a:gridCol>
                <a:gridCol w="548640">
                  <a:extLst>
                    <a:ext uri="{9D8B030D-6E8A-4147-A177-3AD203B41FA5}">
                      <a16:colId xmlns:a16="http://schemas.microsoft.com/office/drawing/2014/main" val="3788330082"/>
                    </a:ext>
                  </a:extLst>
                </a:gridCol>
                <a:gridCol w="548640">
                  <a:extLst>
                    <a:ext uri="{9D8B030D-6E8A-4147-A177-3AD203B41FA5}">
                      <a16:colId xmlns:a16="http://schemas.microsoft.com/office/drawing/2014/main" val="1265053092"/>
                    </a:ext>
                  </a:extLst>
                </a:gridCol>
                <a:gridCol w="640080">
                  <a:extLst>
                    <a:ext uri="{9D8B030D-6E8A-4147-A177-3AD203B41FA5}">
                      <a16:colId xmlns:a16="http://schemas.microsoft.com/office/drawing/2014/main" val="4086555956"/>
                    </a:ext>
                  </a:extLst>
                </a:gridCol>
              </a:tblGrid>
              <a:tr h="0">
                <a:tc>
                  <a:txBody>
                    <a:bodyPr/>
                    <a:lstStyle/>
                    <a:p>
                      <a:pPr algn="l" fontAlgn="b"/>
                      <a:r>
                        <a:rPr lang="en-US" sz="1000" b="1" i="0" u="none" strike="noStrike" dirty="0">
                          <a:solidFill>
                            <a:srgbClr val="FFFFFF"/>
                          </a:solidFill>
                          <a:effectLst/>
                          <a:latin typeface="Calibri" panose="020F0502020204030204" pitchFamily="34" charset="0"/>
                        </a:rPr>
                        <a:t>($MM)</a:t>
                      </a:r>
                    </a:p>
                  </a:txBody>
                  <a:tcPr marL="27432" marR="27432" marT="9144" marB="9144" anchor="b">
                    <a:lnL>
                      <a:noFill/>
                    </a:lnL>
                    <a:lnR>
                      <a:noFill/>
                    </a:lnR>
                    <a:lnT w="6350" cap="flat" cmpd="sng" algn="ctr">
                      <a:solidFill>
                        <a:srgbClr val="000000"/>
                      </a:solidFill>
                      <a:prstDash val="solid"/>
                      <a:round/>
                      <a:headEnd type="none" w="med" len="med"/>
                      <a:tailEnd type="none" w="med" len="med"/>
                    </a:lnT>
                    <a:lnB>
                      <a:noFill/>
                    </a:lnB>
                    <a:solidFill>
                      <a:srgbClr val="006EBE"/>
                    </a:solidFill>
                  </a:tcPr>
                </a:tc>
                <a:tc>
                  <a:txBody>
                    <a:bodyPr/>
                    <a:lstStyle/>
                    <a:p>
                      <a:pPr algn="l" fontAlgn="b"/>
                      <a:r>
                        <a:rPr lang="en-US" sz="1000" b="1" i="0" u="none" strike="noStrike">
                          <a:solidFill>
                            <a:srgbClr val="FFFFFF"/>
                          </a:solidFill>
                          <a:effectLst/>
                          <a:latin typeface="Calibri" panose="020F0502020204030204" pitchFamily="34" charset="0"/>
                        </a:rPr>
                        <a:t> </a:t>
                      </a:r>
                    </a:p>
                  </a:txBody>
                  <a:tcPr marL="27432" marR="27432" marT="9144" marB="9144" anchor="b">
                    <a:lnL>
                      <a:noFill/>
                    </a:lnL>
                    <a:lnR>
                      <a:noFill/>
                    </a:lnR>
                    <a:lnT w="6350" cap="flat" cmpd="sng" algn="ctr">
                      <a:solidFill>
                        <a:srgbClr val="000000"/>
                      </a:solidFill>
                      <a:prstDash val="solid"/>
                      <a:round/>
                      <a:headEnd type="none" w="med" len="med"/>
                      <a:tailEnd type="none" w="med" len="med"/>
                    </a:lnT>
                    <a:lnB>
                      <a:noFill/>
                    </a:lnB>
                    <a:solidFill>
                      <a:srgbClr val="006EBE"/>
                    </a:solidFill>
                  </a:tcPr>
                </a:tc>
                <a:tc>
                  <a:txBody>
                    <a:bodyPr/>
                    <a:lstStyle/>
                    <a:p>
                      <a:pPr algn="l" fontAlgn="b"/>
                      <a:r>
                        <a:rPr lang="en-US" sz="1000" b="1" i="0" u="none" strike="noStrike">
                          <a:solidFill>
                            <a:srgbClr val="FFFFFF"/>
                          </a:solidFill>
                          <a:effectLst/>
                          <a:latin typeface="Calibri" panose="020F0502020204030204" pitchFamily="34" charset="0"/>
                        </a:rPr>
                        <a:t>Current</a:t>
                      </a:r>
                    </a:p>
                  </a:txBody>
                  <a:tcPr marL="27432" marR="27432" marT="9144" marB="9144" anchor="b">
                    <a:lnL>
                      <a:noFill/>
                    </a:lnL>
                    <a:lnR>
                      <a:noFill/>
                    </a:lnR>
                    <a:lnT w="6350" cap="flat" cmpd="sng" algn="ctr">
                      <a:solidFill>
                        <a:srgbClr val="000000"/>
                      </a:solidFill>
                      <a:prstDash val="solid"/>
                      <a:round/>
                      <a:headEnd type="none" w="med" len="med"/>
                      <a:tailEnd type="none" w="med" len="med"/>
                    </a:lnT>
                    <a:lnB>
                      <a:noFill/>
                    </a:lnB>
                    <a:solidFill>
                      <a:srgbClr val="006EBE"/>
                    </a:solidFill>
                  </a:tcPr>
                </a:tc>
                <a:tc>
                  <a:txBody>
                    <a:bodyPr/>
                    <a:lstStyle/>
                    <a:p>
                      <a:pPr algn="l" fontAlgn="b"/>
                      <a:r>
                        <a:rPr lang="en-US" sz="1000" b="1" i="0" u="none" strike="noStrike">
                          <a:solidFill>
                            <a:srgbClr val="FFFFFF"/>
                          </a:solidFill>
                          <a:effectLst/>
                          <a:latin typeface="Calibri" panose="020F0502020204030204" pitchFamily="34" charset="0"/>
                        </a:rPr>
                        <a:t> </a:t>
                      </a:r>
                    </a:p>
                  </a:txBody>
                  <a:tcPr marL="27432" marR="27432" marT="9144" marB="9144" anchor="b">
                    <a:lnL>
                      <a:noFill/>
                    </a:lnL>
                    <a:lnR>
                      <a:noFill/>
                    </a:lnR>
                    <a:lnT w="6350" cap="flat" cmpd="sng" algn="ctr">
                      <a:solidFill>
                        <a:srgbClr val="000000"/>
                      </a:solidFill>
                      <a:prstDash val="solid"/>
                      <a:round/>
                      <a:headEnd type="none" w="med" len="med"/>
                      <a:tailEnd type="none" w="med" len="med"/>
                    </a:lnT>
                    <a:lnB>
                      <a:noFill/>
                    </a:lnB>
                    <a:solidFill>
                      <a:srgbClr val="006EBE"/>
                    </a:solidFill>
                  </a:tcPr>
                </a:tc>
                <a:tc>
                  <a:txBody>
                    <a:bodyPr/>
                    <a:lstStyle/>
                    <a:p>
                      <a:pPr algn="l" fontAlgn="b"/>
                      <a:r>
                        <a:rPr lang="en-US" sz="1000" b="1" i="0" u="none" strike="noStrike">
                          <a:solidFill>
                            <a:srgbClr val="FFFFFF"/>
                          </a:solidFill>
                          <a:effectLst/>
                          <a:latin typeface="Calibri" panose="020F0502020204030204" pitchFamily="34" charset="0"/>
                        </a:rPr>
                        <a:t> </a:t>
                      </a:r>
                    </a:p>
                  </a:txBody>
                  <a:tcPr marL="27432" marR="27432" marT="9144" marB="9144" anchor="b">
                    <a:lnL>
                      <a:noFill/>
                    </a:lnL>
                    <a:lnR>
                      <a:noFill/>
                    </a:lnR>
                    <a:lnT w="6350" cap="flat" cmpd="sng" algn="ctr">
                      <a:solidFill>
                        <a:srgbClr val="000000"/>
                      </a:solidFill>
                      <a:prstDash val="solid"/>
                      <a:round/>
                      <a:headEnd type="none" w="med" len="med"/>
                      <a:tailEnd type="none" w="med" len="med"/>
                    </a:lnT>
                    <a:lnB>
                      <a:noFill/>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FYE</a:t>
                      </a:r>
                    </a:p>
                  </a:txBody>
                  <a:tcPr marL="27432" marR="27432" marT="9144" marB="9144" anchor="b">
                    <a:lnL>
                      <a:noFill/>
                    </a:lnL>
                    <a:lnR>
                      <a:noFill/>
                    </a:lnR>
                    <a:lnT w="6350" cap="flat" cmpd="sng" algn="ctr">
                      <a:solidFill>
                        <a:srgbClr val="000000"/>
                      </a:solidFill>
                      <a:prstDash val="solid"/>
                      <a:round/>
                      <a:headEnd type="none" w="med" len="med"/>
                      <a:tailEnd type="none" w="med" len="med"/>
                    </a:lnT>
                    <a:lnB>
                      <a:noFill/>
                    </a:lnB>
                    <a:solidFill>
                      <a:srgbClr val="006EBE"/>
                    </a:solidFill>
                  </a:tcPr>
                </a:tc>
                <a:extLst>
                  <a:ext uri="{0D108BD9-81ED-4DB2-BD59-A6C34878D82A}">
                    <a16:rowId xmlns:a16="http://schemas.microsoft.com/office/drawing/2014/main" val="2147918211"/>
                  </a:ext>
                </a:extLst>
              </a:tr>
              <a:tr h="0">
                <a:tc>
                  <a:txBody>
                    <a:bodyPr/>
                    <a:lstStyle/>
                    <a:p>
                      <a:pPr algn="ctr" fontAlgn="b"/>
                      <a:r>
                        <a:rPr lang="en-US" sz="1000" b="1" i="0" u="none" strike="noStrike">
                          <a:solidFill>
                            <a:srgbClr val="FFFFFF"/>
                          </a:solidFill>
                          <a:effectLst/>
                          <a:latin typeface="Calibri" panose="020F0502020204030204" pitchFamily="34" charset="0"/>
                        </a:rPr>
                        <a:t>Company</a:t>
                      </a:r>
                    </a:p>
                  </a:txBody>
                  <a:tcPr marL="27432" marR="27432" marT="9144" marB="9144" anchor="b">
                    <a:lnL>
                      <a:noFill/>
                    </a:lnL>
                    <a:lnR>
                      <a:noFill/>
                    </a:lnR>
                    <a:lnT>
                      <a:noFill/>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Industry</a:t>
                      </a:r>
                    </a:p>
                  </a:txBody>
                  <a:tcPr marL="27432" marR="27432" marT="9144" marB="9144" anchor="b">
                    <a:lnL>
                      <a:noFill/>
                    </a:lnL>
                    <a:lnR>
                      <a:noFill/>
                    </a:lnR>
                    <a:lnT>
                      <a:noFill/>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Peer</a:t>
                      </a:r>
                    </a:p>
                  </a:txBody>
                  <a:tcPr marL="27432" marR="27432" marT="9144" marB="9144" anchor="b">
                    <a:lnL>
                      <a:noFill/>
                    </a:lnL>
                    <a:lnR>
                      <a:noFill/>
                    </a:lnR>
                    <a:lnT>
                      <a:noFill/>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GL 2024</a:t>
                      </a:r>
                    </a:p>
                  </a:txBody>
                  <a:tcPr marL="27432" marR="27432" marT="9144" marB="9144" anchor="b">
                    <a:lnL>
                      <a:noFill/>
                    </a:lnL>
                    <a:lnR>
                      <a:noFill/>
                    </a:lnR>
                    <a:lnT>
                      <a:noFill/>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GL 2025</a:t>
                      </a:r>
                    </a:p>
                  </a:txBody>
                  <a:tcPr marL="27432" marR="27432" marT="9144" marB="9144" anchor="b">
                    <a:lnL>
                      <a:noFill/>
                    </a:lnL>
                    <a:lnR>
                      <a:noFill/>
                    </a:lnR>
                    <a:lnT>
                      <a:noFill/>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Revenue</a:t>
                      </a:r>
                      <a:r>
                        <a:rPr lang="en-US" sz="1000" b="1" i="0" u="none" strike="noStrike" baseline="30000">
                          <a:solidFill>
                            <a:srgbClr val="FFFFFF"/>
                          </a:solidFill>
                          <a:effectLst/>
                          <a:latin typeface="Calibri" panose="020F0502020204030204" pitchFamily="34" charset="0"/>
                        </a:rPr>
                        <a:t>(1)</a:t>
                      </a:r>
                    </a:p>
                  </a:txBody>
                  <a:tcPr marL="27432" marR="27432" marT="9144" marB="9144" anchor="b">
                    <a:lnL>
                      <a:noFill/>
                    </a:lnL>
                    <a:lnR>
                      <a:noFill/>
                    </a:lnR>
                    <a:lnT>
                      <a:noFill/>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769162591"/>
                  </a:ext>
                </a:extLst>
              </a:tr>
              <a:tr h="0">
                <a:tc>
                  <a:txBody>
                    <a:bodyPr/>
                    <a:lstStyle/>
                    <a:p>
                      <a:pPr algn="l" fontAlgn="ctr"/>
                      <a:r>
                        <a:rPr lang="en-US" sz="1000" b="1" i="0" u="none" strike="noStrike" dirty="0">
                          <a:effectLst/>
                          <a:latin typeface="Calibri" panose="020F0502020204030204" pitchFamily="34" charset="0"/>
                        </a:rPr>
                        <a:t>Goofy Peers</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ctr"/>
                      <a:endParaRPr lang="en-US" sz="1000" b="1" i="0" u="none" strike="noStrike">
                        <a:effectLst/>
                        <a:latin typeface="Calibri" panose="020F0502020204030204" pitchFamily="34" charset="0"/>
                      </a:endParaRPr>
                    </a:p>
                  </a:txBody>
                  <a:tcPr marL="27432" marR="27432"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ctr"/>
                      <a:endParaRPr lang="en-US" sz="1000" b="1" i="0" u="none" strike="noStrike">
                        <a:effectLst/>
                        <a:latin typeface="Calibri" panose="020F0502020204030204" pitchFamily="34" charset="0"/>
                      </a:endParaRPr>
                    </a:p>
                  </a:txBody>
                  <a:tcPr marL="27432" marR="27432"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ctr"/>
                      <a:endParaRPr lang="en-US" sz="1000" b="1" i="0" u="none" strike="noStrike">
                        <a:effectLst/>
                        <a:latin typeface="Calibri" panose="020F0502020204030204" pitchFamily="34" charset="0"/>
                      </a:endParaRPr>
                    </a:p>
                  </a:txBody>
                  <a:tcPr marL="27432" marR="27432"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ctr"/>
                      <a:endParaRPr lang="en-US" sz="1000" b="1" i="0" u="none" strike="noStrike">
                        <a:effectLst/>
                        <a:latin typeface="Calibri" panose="020F0502020204030204" pitchFamily="34" charset="0"/>
                      </a:endParaRPr>
                    </a:p>
                  </a:txBody>
                  <a:tcPr marL="27432" marR="27432"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ctr"/>
                      <a:endParaRPr lang="en-US" sz="1000" b="1" i="0" u="none" strike="noStrike">
                        <a:effectLst/>
                        <a:latin typeface="Calibri" panose="020F0502020204030204" pitchFamily="34" charset="0"/>
                      </a:endParaRPr>
                    </a:p>
                  </a:txBody>
                  <a:tcPr marL="27432" marR="27432"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4210771386"/>
                  </a:ext>
                </a:extLst>
              </a:tr>
              <a:tr h="0">
                <a:tc>
                  <a:txBody>
                    <a:bodyPr/>
                    <a:lstStyle/>
                    <a:p>
                      <a:pPr algn="l" fontAlgn="ctr"/>
                      <a:r>
                        <a:rPr lang="en-US" sz="1000" b="0" i="0" u="none" strike="noStrike">
                          <a:effectLst/>
                          <a:latin typeface="Calibri" panose="020F0502020204030204" pitchFamily="34" charset="0"/>
                        </a:rPr>
                        <a:t>Zoetis</a:t>
                      </a:r>
                    </a:p>
                  </a:txBody>
                  <a:tcPr marL="27432" marR="27432" marT="9144" marB="9144"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ctr"/>
                      <a:r>
                        <a:rPr lang="en-US" sz="1000" b="0" i="0" u="none" strike="noStrike">
                          <a:effectLst/>
                          <a:latin typeface="Calibri" panose="020F0502020204030204" pitchFamily="34" charset="0"/>
                        </a:rPr>
                        <a:t>P</a:t>
                      </a:r>
                    </a:p>
                  </a:txBody>
                  <a:tcPr marL="27432" marR="27432" marT="9144" marB="9144"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ctr"/>
                      <a:endParaRPr lang="en-US" sz="1000" b="0" i="0" u="none" strike="noStrike">
                        <a:effectLst/>
                        <a:latin typeface="Calibri" panose="020F0502020204030204" pitchFamily="34" charset="0"/>
                      </a:endParaRPr>
                    </a:p>
                  </a:txBody>
                  <a:tcPr marL="27432" marR="27432" marT="9144" marB="9144"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ctr"/>
                      <a:endParaRPr lang="en-US" sz="1000" b="0" i="0" u="none" strike="noStrike">
                        <a:effectLst/>
                        <a:latin typeface="Calibri" panose="020F0502020204030204" pitchFamily="34" charset="0"/>
                      </a:endParaRPr>
                    </a:p>
                  </a:txBody>
                  <a:tcPr marL="27432" marR="27432" marT="9144" marB="9144"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ctr"/>
                      <a:r>
                        <a:rPr lang="en-US" sz="1000" b="0" i="0" u="none" strike="noStrike" dirty="0">
                          <a:effectLst/>
                          <a:latin typeface="Calibri" panose="020F0502020204030204" pitchFamily="34" charset="0"/>
                        </a:rPr>
                        <a:t>$9,256</a:t>
                      </a:r>
                    </a:p>
                  </a:txBody>
                  <a:tcPr marL="27432" marR="27432" marT="9144" marB="9144" anchor="ctr">
                    <a:lnL>
                      <a:noFill/>
                    </a:lnL>
                    <a:lnR>
                      <a:noFill/>
                    </a:lnR>
                    <a:lnT w="635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3108301607"/>
                  </a:ext>
                </a:extLst>
              </a:tr>
              <a:tr h="50793">
                <a:tc>
                  <a:txBody>
                    <a:bodyPr/>
                    <a:lstStyle/>
                    <a:p>
                      <a:pPr algn="l" fontAlgn="ctr"/>
                      <a:r>
                        <a:rPr lang="en-US" sz="1000" b="0" i="0" u="none" strike="noStrike">
                          <a:effectLst/>
                          <a:latin typeface="Calibri" panose="020F0502020204030204" pitchFamily="34" charset="0"/>
                        </a:rPr>
                        <a:t>Intuitive Surgical</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HCE</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$8,352</a:t>
                      </a:r>
                    </a:p>
                  </a:txBody>
                  <a:tcPr marL="27432" marR="27432" marT="9144" marB="9144" anchor="ctr">
                    <a:lnL>
                      <a:noFill/>
                    </a:lnL>
                    <a:lnR>
                      <a:noFill/>
                    </a:lnR>
                    <a:lnT>
                      <a:noFill/>
                    </a:lnT>
                    <a:lnB>
                      <a:noFill/>
                    </a:lnB>
                    <a:solidFill>
                      <a:schemeClr val="bg1">
                        <a:lumMod val="95000"/>
                      </a:schemeClr>
                    </a:solidFill>
                  </a:tcPr>
                </a:tc>
                <a:extLst>
                  <a:ext uri="{0D108BD9-81ED-4DB2-BD59-A6C34878D82A}">
                    <a16:rowId xmlns:a16="http://schemas.microsoft.com/office/drawing/2014/main" val="1460068477"/>
                  </a:ext>
                </a:extLst>
              </a:tr>
              <a:tr h="0">
                <a:tc>
                  <a:txBody>
                    <a:bodyPr/>
                    <a:lstStyle/>
                    <a:p>
                      <a:pPr algn="l" fontAlgn="ctr"/>
                      <a:r>
                        <a:rPr lang="en-US" sz="1000" b="0" i="0" u="none" strike="noStrike">
                          <a:effectLst/>
                          <a:latin typeface="Calibri" panose="020F0502020204030204" pitchFamily="34" charset="0"/>
                        </a:rPr>
                        <a:t>Agilent Technologies</a:t>
                      </a:r>
                    </a:p>
                  </a:txBody>
                  <a:tcPr marL="27432" marR="27432" marT="9144" marB="9144"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LS</a:t>
                      </a:r>
                    </a:p>
                  </a:txBody>
                  <a:tcPr marL="27432" marR="27432" marT="9144" marB="9144"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$6,510</a:t>
                      </a:r>
                    </a:p>
                  </a:txBody>
                  <a:tcPr marL="27432" marR="27432" marT="9144" marB="9144" anchor="ctr">
                    <a:lnL>
                      <a:noFill/>
                    </a:lnL>
                    <a:lnR>
                      <a:noFill/>
                    </a:lnR>
                    <a:lnT>
                      <a:noFill/>
                    </a:lnT>
                    <a:lnB>
                      <a:noFill/>
                    </a:lnB>
                    <a:noFill/>
                  </a:tcPr>
                </a:tc>
                <a:extLst>
                  <a:ext uri="{0D108BD9-81ED-4DB2-BD59-A6C34878D82A}">
                    <a16:rowId xmlns:a16="http://schemas.microsoft.com/office/drawing/2014/main" val="3296783677"/>
                  </a:ext>
                </a:extLst>
              </a:tr>
              <a:tr h="0">
                <a:tc>
                  <a:txBody>
                    <a:bodyPr/>
                    <a:lstStyle/>
                    <a:p>
                      <a:pPr algn="l" fontAlgn="ctr"/>
                      <a:r>
                        <a:rPr lang="en-US" sz="1000" b="0" i="0" u="none" strike="noStrike">
                          <a:effectLst/>
                          <a:latin typeface="Calibri" panose="020F0502020204030204" pitchFamily="34" charset="0"/>
                        </a:rPr>
                        <a:t>Edwards Lifesciences</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HCE</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$5,440</a:t>
                      </a:r>
                    </a:p>
                  </a:txBody>
                  <a:tcPr marL="27432" marR="27432" marT="9144" marB="9144" anchor="ctr">
                    <a:lnL>
                      <a:noFill/>
                    </a:lnL>
                    <a:lnR>
                      <a:noFill/>
                    </a:lnR>
                    <a:lnT>
                      <a:noFill/>
                    </a:lnT>
                    <a:lnB>
                      <a:noFill/>
                    </a:lnB>
                    <a:solidFill>
                      <a:schemeClr val="bg1">
                        <a:lumMod val="95000"/>
                      </a:schemeClr>
                    </a:solidFill>
                  </a:tcPr>
                </a:tc>
                <a:extLst>
                  <a:ext uri="{0D108BD9-81ED-4DB2-BD59-A6C34878D82A}">
                    <a16:rowId xmlns:a16="http://schemas.microsoft.com/office/drawing/2014/main" val="429979402"/>
                  </a:ext>
                </a:extLst>
              </a:tr>
              <a:tr h="0">
                <a:tc>
                  <a:txBody>
                    <a:bodyPr/>
                    <a:lstStyle/>
                    <a:p>
                      <a:pPr algn="l" fontAlgn="ctr"/>
                      <a:r>
                        <a:rPr lang="en-US" sz="1000" b="0" i="0" u="none" strike="noStrike">
                          <a:effectLst/>
                          <a:latin typeface="Calibri" panose="020F0502020204030204" pitchFamily="34" charset="0"/>
                        </a:rPr>
                        <a:t>STERIS</a:t>
                      </a:r>
                    </a:p>
                  </a:txBody>
                  <a:tcPr marL="27432" marR="27432" marT="9144" marB="9144"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HCE</a:t>
                      </a:r>
                    </a:p>
                  </a:txBody>
                  <a:tcPr marL="27432" marR="27432" marT="9144" marB="9144"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$5,139</a:t>
                      </a:r>
                    </a:p>
                  </a:txBody>
                  <a:tcPr marL="27432" marR="27432" marT="9144" marB="9144" anchor="ctr">
                    <a:lnL>
                      <a:noFill/>
                    </a:lnL>
                    <a:lnR>
                      <a:noFill/>
                    </a:lnR>
                    <a:lnT>
                      <a:noFill/>
                    </a:lnT>
                    <a:lnB>
                      <a:noFill/>
                    </a:lnB>
                    <a:noFill/>
                  </a:tcPr>
                </a:tc>
                <a:extLst>
                  <a:ext uri="{0D108BD9-81ED-4DB2-BD59-A6C34878D82A}">
                    <a16:rowId xmlns:a16="http://schemas.microsoft.com/office/drawing/2014/main" val="2400611066"/>
                  </a:ext>
                </a:extLst>
              </a:tr>
              <a:tr h="0">
                <a:tc>
                  <a:txBody>
                    <a:bodyPr/>
                    <a:lstStyle/>
                    <a:p>
                      <a:pPr algn="l" fontAlgn="ctr"/>
                      <a:r>
                        <a:rPr lang="en-US" sz="1000" b="0" i="0" u="none" strike="noStrike">
                          <a:effectLst/>
                          <a:latin typeface="Calibri" panose="020F0502020204030204" pitchFamily="34" charset="0"/>
                        </a:rPr>
                        <a:t>ResMed</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HCE</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$4,685</a:t>
                      </a:r>
                    </a:p>
                  </a:txBody>
                  <a:tcPr marL="27432" marR="27432" marT="9144" marB="9144" anchor="ctr">
                    <a:lnL>
                      <a:noFill/>
                    </a:lnL>
                    <a:lnR>
                      <a:noFill/>
                    </a:lnR>
                    <a:lnT>
                      <a:noFill/>
                    </a:lnT>
                    <a:lnB>
                      <a:noFill/>
                    </a:lnB>
                    <a:solidFill>
                      <a:schemeClr val="bg1">
                        <a:lumMod val="95000"/>
                      </a:schemeClr>
                    </a:solidFill>
                  </a:tcPr>
                </a:tc>
                <a:extLst>
                  <a:ext uri="{0D108BD9-81ED-4DB2-BD59-A6C34878D82A}">
                    <a16:rowId xmlns:a16="http://schemas.microsoft.com/office/drawing/2014/main" val="732275259"/>
                  </a:ext>
                </a:extLst>
              </a:tr>
              <a:tr h="0">
                <a:tc>
                  <a:txBody>
                    <a:bodyPr/>
                    <a:lstStyle/>
                    <a:p>
                      <a:pPr algn="l" fontAlgn="ctr"/>
                      <a:r>
                        <a:rPr lang="en-US" sz="1000" b="0" i="0" u="none" strike="noStrike">
                          <a:effectLst/>
                          <a:latin typeface="Calibri" panose="020F0502020204030204" pitchFamily="34" charset="0"/>
                        </a:rPr>
                        <a:t>Elanco Animal Health</a:t>
                      </a:r>
                    </a:p>
                  </a:txBody>
                  <a:tcPr marL="27432" marR="27432" marT="9144" marB="9144"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P</a:t>
                      </a:r>
                    </a:p>
                  </a:txBody>
                  <a:tcPr marL="27432" marR="27432" marT="9144" marB="9144"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noFill/>
                  </a:tcPr>
                </a:tc>
                <a:tc>
                  <a:txBody>
                    <a:bodyPr/>
                    <a:lstStyle/>
                    <a:p>
                      <a:pPr algn="ctr" fontAlgn="ctr"/>
                      <a:endParaRPr lang="en-US" sz="1000" b="0" i="0" u="none" strike="noStrike">
                        <a:effectLst/>
                        <a:latin typeface="Calibri" panose="020F0502020204030204" pitchFamily="34" charset="0"/>
                      </a:endParaRPr>
                    </a:p>
                  </a:txBody>
                  <a:tcPr marL="27432" marR="27432" marT="9144" marB="9144" anchor="ctr">
                    <a:lnL>
                      <a:noFill/>
                    </a:lnL>
                    <a:lnR>
                      <a:noFill/>
                    </a:lnR>
                    <a:lnT>
                      <a:noFill/>
                    </a:lnT>
                    <a:lnB>
                      <a:noFill/>
                    </a:lnB>
                    <a:noFill/>
                  </a:tcPr>
                </a:tc>
                <a:tc>
                  <a:txBody>
                    <a:bodyPr/>
                    <a:lstStyle/>
                    <a:p>
                      <a:pPr algn="ctr" fontAlgn="ctr"/>
                      <a:endParaRPr lang="en-US" sz="1000" b="0" i="0" u="none" strike="noStrike">
                        <a:effectLst/>
                        <a:latin typeface="Calibri" panose="020F0502020204030204" pitchFamily="34" charset="0"/>
                      </a:endParaRPr>
                    </a:p>
                  </a:txBody>
                  <a:tcPr marL="27432" marR="27432" marT="9144" marB="9144"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$4,439</a:t>
                      </a:r>
                    </a:p>
                  </a:txBody>
                  <a:tcPr marL="27432" marR="27432" marT="9144" marB="9144" anchor="ctr">
                    <a:lnL>
                      <a:noFill/>
                    </a:lnL>
                    <a:lnR>
                      <a:noFill/>
                    </a:lnR>
                    <a:lnT>
                      <a:noFill/>
                    </a:lnT>
                    <a:lnB>
                      <a:noFill/>
                    </a:lnB>
                    <a:noFill/>
                  </a:tcPr>
                </a:tc>
                <a:extLst>
                  <a:ext uri="{0D108BD9-81ED-4DB2-BD59-A6C34878D82A}">
                    <a16:rowId xmlns:a16="http://schemas.microsoft.com/office/drawing/2014/main" val="463957324"/>
                  </a:ext>
                </a:extLst>
              </a:tr>
              <a:tr h="0">
                <a:tc>
                  <a:txBody>
                    <a:bodyPr/>
                    <a:lstStyle/>
                    <a:p>
                      <a:pPr algn="l" fontAlgn="ctr"/>
                      <a:r>
                        <a:rPr lang="en-US" sz="1000" b="0" i="0" u="none" strike="noStrike">
                          <a:effectLst/>
                          <a:latin typeface="Calibri" panose="020F0502020204030204" pitchFamily="34" charset="0"/>
                        </a:rPr>
                        <a:t>Illumina</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LS</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$4,372</a:t>
                      </a:r>
                    </a:p>
                  </a:txBody>
                  <a:tcPr marL="27432" marR="27432" marT="9144" marB="9144" anchor="ctr">
                    <a:lnL>
                      <a:noFill/>
                    </a:lnL>
                    <a:lnR>
                      <a:noFill/>
                    </a:lnR>
                    <a:lnT>
                      <a:noFill/>
                    </a:lnT>
                    <a:lnB>
                      <a:noFill/>
                    </a:lnB>
                    <a:solidFill>
                      <a:schemeClr val="bg1">
                        <a:lumMod val="95000"/>
                      </a:schemeClr>
                    </a:solidFill>
                  </a:tcPr>
                </a:tc>
                <a:extLst>
                  <a:ext uri="{0D108BD9-81ED-4DB2-BD59-A6C34878D82A}">
                    <a16:rowId xmlns:a16="http://schemas.microsoft.com/office/drawing/2014/main" val="2297695784"/>
                  </a:ext>
                </a:extLst>
              </a:tr>
              <a:tr h="0">
                <a:tc>
                  <a:txBody>
                    <a:bodyPr/>
                    <a:lstStyle/>
                    <a:p>
                      <a:pPr algn="l" fontAlgn="ctr"/>
                      <a:r>
                        <a:rPr lang="en-US" sz="1000" b="0" i="0" u="none" strike="noStrike">
                          <a:effectLst/>
                          <a:latin typeface="Calibri" panose="020F0502020204030204" pitchFamily="34" charset="0"/>
                        </a:rPr>
                        <a:t>DexCom</a:t>
                      </a:r>
                    </a:p>
                  </a:txBody>
                  <a:tcPr marL="27432" marR="27432" marT="9144" marB="9144"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HCE</a:t>
                      </a:r>
                    </a:p>
                  </a:txBody>
                  <a:tcPr marL="27432" marR="27432" marT="9144" marB="9144"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$4,033</a:t>
                      </a:r>
                    </a:p>
                  </a:txBody>
                  <a:tcPr marL="27432" marR="27432" marT="9144" marB="9144" anchor="ctr">
                    <a:lnL>
                      <a:noFill/>
                    </a:lnL>
                    <a:lnR>
                      <a:noFill/>
                    </a:lnR>
                    <a:lnT>
                      <a:noFill/>
                    </a:lnT>
                    <a:lnB>
                      <a:noFill/>
                    </a:lnB>
                    <a:noFill/>
                  </a:tcPr>
                </a:tc>
                <a:extLst>
                  <a:ext uri="{0D108BD9-81ED-4DB2-BD59-A6C34878D82A}">
                    <a16:rowId xmlns:a16="http://schemas.microsoft.com/office/drawing/2014/main" val="1508227816"/>
                  </a:ext>
                </a:extLst>
              </a:tr>
              <a:tr h="0">
                <a:tc>
                  <a:txBody>
                    <a:bodyPr/>
                    <a:lstStyle/>
                    <a:p>
                      <a:pPr algn="l" fontAlgn="ctr"/>
                      <a:r>
                        <a:rPr lang="en-US" sz="1000" b="0" i="0" u="none" strike="noStrike">
                          <a:effectLst/>
                          <a:latin typeface="Calibri" panose="020F0502020204030204" pitchFamily="34" charset="0"/>
                        </a:rPr>
                        <a:t>Hologic</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HCE</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$4,030</a:t>
                      </a:r>
                    </a:p>
                  </a:txBody>
                  <a:tcPr marL="27432" marR="27432" marT="9144" marB="9144" anchor="ctr">
                    <a:lnL>
                      <a:noFill/>
                    </a:lnL>
                    <a:lnR>
                      <a:noFill/>
                    </a:lnR>
                    <a:lnT>
                      <a:noFill/>
                    </a:lnT>
                    <a:lnB>
                      <a:noFill/>
                    </a:lnB>
                    <a:solidFill>
                      <a:schemeClr val="bg1">
                        <a:lumMod val="95000"/>
                      </a:schemeClr>
                    </a:solidFill>
                  </a:tcPr>
                </a:tc>
                <a:extLst>
                  <a:ext uri="{0D108BD9-81ED-4DB2-BD59-A6C34878D82A}">
                    <a16:rowId xmlns:a16="http://schemas.microsoft.com/office/drawing/2014/main" val="1098753571"/>
                  </a:ext>
                </a:extLst>
              </a:tr>
              <a:tr h="0">
                <a:tc>
                  <a:txBody>
                    <a:bodyPr/>
                    <a:lstStyle/>
                    <a:p>
                      <a:pPr algn="l" fontAlgn="ctr"/>
                      <a:r>
                        <a:rPr lang="en-US" sz="1000" b="0" i="0" u="none" strike="noStrike">
                          <a:effectLst/>
                          <a:latin typeface="Calibri" panose="020F0502020204030204" pitchFamily="34" charset="0"/>
                        </a:rPr>
                        <a:t>Align Technology</a:t>
                      </a:r>
                    </a:p>
                  </a:txBody>
                  <a:tcPr marL="27432" marR="27432" marT="9144" marB="9144"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HCS</a:t>
                      </a:r>
                    </a:p>
                  </a:txBody>
                  <a:tcPr marL="27432" marR="27432" marT="9144" marB="9144"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$3,999</a:t>
                      </a:r>
                    </a:p>
                  </a:txBody>
                  <a:tcPr marL="27432" marR="27432" marT="9144" marB="9144" anchor="ctr">
                    <a:lnL>
                      <a:noFill/>
                    </a:lnL>
                    <a:lnR>
                      <a:noFill/>
                    </a:lnR>
                    <a:lnT>
                      <a:noFill/>
                    </a:lnT>
                    <a:lnB>
                      <a:noFill/>
                    </a:lnB>
                    <a:noFill/>
                  </a:tcPr>
                </a:tc>
                <a:extLst>
                  <a:ext uri="{0D108BD9-81ED-4DB2-BD59-A6C34878D82A}">
                    <a16:rowId xmlns:a16="http://schemas.microsoft.com/office/drawing/2014/main" val="144838696"/>
                  </a:ext>
                </a:extLst>
              </a:tr>
              <a:tr h="0">
                <a:tc>
                  <a:txBody>
                    <a:bodyPr/>
                    <a:lstStyle/>
                    <a:p>
                      <a:pPr algn="l" fontAlgn="ctr"/>
                      <a:r>
                        <a:rPr lang="en-US" sz="1000" b="0" i="0" u="none" strike="noStrike">
                          <a:effectLst/>
                          <a:latin typeface="Calibri" panose="020F0502020204030204" pitchFamily="34" charset="0"/>
                        </a:rPr>
                        <a:t>Cooper Companies</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HCS</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$3,895</a:t>
                      </a:r>
                    </a:p>
                  </a:txBody>
                  <a:tcPr marL="27432" marR="27432" marT="9144" marB="9144" anchor="ctr">
                    <a:lnL>
                      <a:noFill/>
                    </a:lnL>
                    <a:lnR>
                      <a:noFill/>
                    </a:lnR>
                    <a:lnT>
                      <a:noFill/>
                    </a:lnT>
                    <a:lnB>
                      <a:noFill/>
                    </a:lnB>
                    <a:solidFill>
                      <a:schemeClr val="bg1">
                        <a:lumMod val="95000"/>
                      </a:schemeClr>
                    </a:solidFill>
                  </a:tcPr>
                </a:tc>
                <a:extLst>
                  <a:ext uri="{0D108BD9-81ED-4DB2-BD59-A6C34878D82A}">
                    <a16:rowId xmlns:a16="http://schemas.microsoft.com/office/drawing/2014/main" val="1267588416"/>
                  </a:ext>
                </a:extLst>
              </a:tr>
              <a:tr h="0">
                <a:tc>
                  <a:txBody>
                    <a:bodyPr/>
                    <a:lstStyle/>
                    <a:p>
                      <a:pPr algn="l" fontAlgn="ctr"/>
                      <a:r>
                        <a:rPr lang="en-US" sz="1000" b="0" i="0" u="none" strike="noStrike">
                          <a:effectLst/>
                          <a:latin typeface="Calibri" panose="020F0502020204030204" pitchFamily="34" charset="0"/>
                        </a:rPr>
                        <a:t>Mettler-Toledo International</a:t>
                      </a:r>
                    </a:p>
                  </a:txBody>
                  <a:tcPr marL="27432" marR="27432" marT="9144" marB="9144"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LS</a:t>
                      </a:r>
                    </a:p>
                  </a:txBody>
                  <a:tcPr marL="27432" marR="27432" marT="9144" marB="9144"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noFill/>
                  </a:tcPr>
                </a:tc>
                <a:tc>
                  <a:txBody>
                    <a:bodyPr/>
                    <a:lstStyle/>
                    <a:p>
                      <a:pPr algn="ctr" fontAlgn="ctr"/>
                      <a:endParaRPr lang="en-US" sz="1000" b="0" i="0" u="none" strike="noStrike">
                        <a:effectLst/>
                        <a:latin typeface="Calibri" panose="020F0502020204030204" pitchFamily="34" charset="0"/>
                      </a:endParaRPr>
                    </a:p>
                  </a:txBody>
                  <a:tcPr marL="27432" marR="27432" marT="9144" marB="9144" anchor="ctr">
                    <a:lnL>
                      <a:noFill/>
                    </a:lnL>
                    <a:lnR>
                      <a:noFill/>
                    </a:lnR>
                    <a:lnT>
                      <a:noFill/>
                    </a:lnT>
                    <a:lnB>
                      <a:noFill/>
                    </a:lnB>
                    <a:solidFill>
                      <a:schemeClr val="accent4">
                        <a:lumMod val="20000"/>
                        <a:lumOff val="80000"/>
                      </a:schemeClr>
                    </a:solidFill>
                  </a:tcPr>
                </a:tc>
                <a:tc>
                  <a:txBody>
                    <a:bodyPr/>
                    <a:lstStyle/>
                    <a:p>
                      <a:pPr algn="ctr" fontAlgn="ctr"/>
                      <a:r>
                        <a:rPr lang="en-US" sz="1000" b="0" i="0" u="none" strike="noStrike">
                          <a:effectLst/>
                          <a:latin typeface="Calibri" panose="020F0502020204030204" pitchFamily="34" charset="0"/>
                        </a:rPr>
                        <a:t>$3,872</a:t>
                      </a:r>
                    </a:p>
                  </a:txBody>
                  <a:tcPr marL="27432" marR="27432" marT="9144" marB="9144" anchor="ctr">
                    <a:lnL>
                      <a:noFill/>
                    </a:lnL>
                    <a:lnR>
                      <a:noFill/>
                    </a:lnR>
                    <a:lnT>
                      <a:noFill/>
                    </a:lnT>
                    <a:lnB>
                      <a:noFill/>
                    </a:lnB>
                    <a:noFill/>
                  </a:tcPr>
                </a:tc>
                <a:extLst>
                  <a:ext uri="{0D108BD9-81ED-4DB2-BD59-A6C34878D82A}">
                    <a16:rowId xmlns:a16="http://schemas.microsoft.com/office/drawing/2014/main" val="848301905"/>
                  </a:ext>
                </a:extLst>
              </a:tr>
              <a:tr h="0">
                <a:tc>
                  <a:txBody>
                    <a:bodyPr/>
                    <a:lstStyle/>
                    <a:p>
                      <a:pPr algn="l" fontAlgn="ctr"/>
                      <a:r>
                        <a:rPr lang="en-US" sz="1000" b="0" i="0" u="none" strike="noStrike">
                          <a:effectLst/>
                          <a:latin typeface="Calibri" panose="020F0502020204030204" pitchFamily="34" charset="0"/>
                        </a:rPr>
                        <a:t>Waters</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LS</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$2,958</a:t>
                      </a:r>
                    </a:p>
                  </a:txBody>
                  <a:tcPr marL="27432" marR="27432" marT="9144" marB="9144" anchor="ctr">
                    <a:lnL>
                      <a:noFill/>
                    </a:lnL>
                    <a:lnR>
                      <a:noFill/>
                    </a:lnR>
                    <a:lnT>
                      <a:noFill/>
                    </a:lnT>
                    <a:lnB>
                      <a:noFill/>
                    </a:lnB>
                    <a:solidFill>
                      <a:schemeClr val="bg1">
                        <a:lumMod val="95000"/>
                      </a:schemeClr>
                    </a:solidFill>
                  </a:tcPr>
                </a:tc>
                <a:extLst>
                  <a:ext uri="{0D108BD9-81ED-4DB2-BD59-A6C34878D82A}">
                    <a16:rowId xmlns:a16="http://schemas.microsoft.com/office/drawing/2014/main" val="2192790367"/>
                  </a:ext>
                </a:extLst>
              </a:tr>
              <a:tr h="0">
                <a:tc>
                  <a:txBody>
                    <a:bodyPr/>
                    <a:lstStyle/>
                    <a:p>
                      <a:pPr algn="l" fontAlgn="ctr"/>
                      <a:r>
                        <a:rPr lang="en-US" sz="1000" b="0" i="0" u="none" strike="noStrike">
                          <a:effectLst/>
                          <a:latin typeface="Calibri" panose="020F0502020204030204" pitchFamily="34" charset="0"/>
                        </a:rPr>
                        <a:t>Revvity</a:t>
                      </a:r>
                    </a:p>
                  </a:txBody>
                  <a:tcPr marL="27432" marR="27432" marT="9144" marB="9144"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LS</a:t>
                      </a:r>
                    </a:p>
                  </a:txBody>
                  <a:tcPr marL="27432" marR="27432" marT="9144" marB="9144"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noFill/>
                  </a:tcPr>
                </a:tc>
                <a:tc>
                  <a:txBody>
                    <a:bodyPr/>
                    <a:lstStyle/>
                    <a:p>
                      <a:pPr algn="ctr" fontAlgn="ctr"/>
                      <a:endParaRPr lang="en-US" sz="1000" b="0" i="0" u="none" strike="noStrike">
                        <a:effectLst/>
                        <a:latin typeface="Calibri" panose="020F0502020204030204" pitchFamily="34" charset="0"/>
                      </a:endParaRPr>
                    </a:p>
                  </a:txBody>
                  <a:tcPr marL="27432" marR="27432" marT="9144" marB="9144" anchor="ctr">
                    <a:lnL>
                      <a:noFill/>
                    </a:lnL>
                    <a:lnR>
                      <a:noFill/>
                    </a:lnR>
                    <a:lnT>
                      <a:noFill/>
                    </a:lnT>
                    <a:lnB>
                      <a:noFill/>
                    </a:lnB>
                    <a:noFill/>
                  </a:tcPr>
                </a:tc>
                <a:tc>
                  <a:txBody>
                    <a:bodyPr/>
                    <a:lstStyle/>
                    <a:p>
                      <a:pPr algn="ctr" fontAlgn="ctr"/>
                      <a:endParaRPr lang="en-US" sz="1000" b="0" i="0" u="none" strike="noStrike">
                        <a:effectLst/>
                        <a:latin typeface="Calibri" panose="020F0502020204030204" pitchFamily="34" charset="0"/>
                      </a:endParaRPr>
                    </a:p>
                  </a:txBody>
                  <a:tcPr marL="27432" marR="27432" marT="9144" marB="9144"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$2,755</a:t>
                      </a:r>
                    </a:p>
                  </a:txBody>
                  <a:tcPr marL="27432" marR="27432" marT="9144" marB="9144" anchor="ctr">
                    <a:lnL>
                      <a:noFill/>
                    </a:lnL>
                    <a:lnR>
                      <a:noFill/>
                    </a:lnR>
                    <a:lnT>
                      <a:noFill/>
                    </a:lnT>
                    <a:lnB>
                      <a:noFill/>
                    </a:lnB>
                    <a:noFill/>
                  </a:tcPr>
                </a:tc>
                <a:extLst>
                  <a:ext uri="{0D108BD9-81ED-4DB2-BD59-A6C34878D82A}">
                    <a16:rowId xmlns:a16="http://schemas.microsoft.com/office/drawing/2014/main" val="411480680"/>
                  </a:ext>
                </a:extLst>
              </a:tr>
              <a:tr h="0">
                <a:tc>
                  <a:txBody>
                    <a:bodyPr/>
                    <a:lstStyle/>
                    <a:p>
                      <a:pPr algn="l" fontAlgn="ctr"/>
                      <a:r>
                        <a:rPr lang="en-US" sz="1000" b="0" i="0" u="none" strike="noStrike">
                          <a:effectLst/>
                          <a:latin typeface="Calibri" panose="020F0502020204030204" pitchFamily="34" charset="0"/>
                        </a:rPr>
                        <a:t>Bio-Rad Laboratories</a:t>
                      </a:r>
                    </a:p>
                  </a:txBody>
                  <a:tcPr marL="27432" marR="27432" marT="9144" marB="9144" anchor="ctr">
                    <a:lnL>
                      <a:noFill/>
                    </a:lnL>
                    <a:lnR>
                      <a:noFill/>
                    </a:lnR>
                    <a:lnT>
                      <a:noFill/>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LS</a:t>
                      </a:r>
                    </a:p>
                  </a:txBody>
                  <a:tcPr marL="27432" marR="27432" marT="9144" marB="9144" anchor="ctr">
                    <a:lnL>
                      <a:noFill/>
                    </a:lnL>
                    <a:lnR>
                      <a:noFill/>
                    </a:lnR>
                    <a:lnT>
                      <a:noFill/>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$2,567</a:t>
                      </a:r>
                    </a:p>
                  </a:txBody>
                  <a:tcPr marL="27432" marR="27432" marT="9144" marB="9144" anchor="ctr">
                    <a:lnL>
                      <a:noFill/>
                    </a:lnL>
                    <a:lnR>
                      <a:noFill/>
                    </a:lnR>
                    <a:lnT>
                      <a:noFill/>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235744852"/>
                  </a:ext>
                </a:extLst>
              </a:tr>
              <a:tr h="0">
                <a:tc gridSpan="6">
                  <a:txBody>
                    <a:bodyPr/>
                    <a:lstStyle/>
                    <a:p>
                      <a:pPr algn="l" fontAlgn="ctr"/>
                      <a:r>
                        <a:rPr lang="en-US" sz="1000" b="1" i="0" u="none" strike="noStrike" dirty="0">
                          <a:effectLst/>
                          <a:latin typeface="Calibri" panose="020F0502020204030204" pitchFamily="34" charset="0"/>
                        </a:rPr>
                        <a:t>GL Peers Not Part of Goofy Peers</a:t>
                      </a:r>
                    </a:p>
                  </a:txBody>
                  <a:tcPr marL="27432" marR="27432" marT="9144" marB="9144"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pPr algn="ctr" fontAlgn="ctr"/>
                      <a:endParaRPr lang="en-US" sz="1000" b="1" i="0" u="none" strike="noStrike">
                        <a:effectLst/>
                        <a:latin typeface="Calibri" panose="020F0502020204030204" pitchFamily="34" charset="0"/>
                      </a:endParaRPr>
                    </a:p>
                  </a:txBody>
                  <a:tcPr marL="27432" marR="27432" marT="9144" marB="9144"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pPr algn="ctr" fontAlgn="ctr"/>
                      <a:endParaRPr lang="en-US" sz="1000" b="1" i="0" u="none" strike="noStrike">
                        <a:effectLst/>
                        <a:latin typeface="Calibri" panose="020F0502020204030204" pitchFamily="34" charset="0"/>
                      </a:endParaRPr>
                    </a:p>
                  </a:txBody>
                  <a:tcPr marL="27432" marR="27432" marT="9144" marB="9144"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pPr algn="ctr" fontAlgn="ctr"/>
                      <a:endParaRPr lang="en-US" sz="1000" b="1" i="0" u="none" strike="noStrike">
                        <a:effectLst/>
                        <a:latin typeface="Calibri" panose="020F0502020204030204" pitchFamily="34" charset="0"/>
                      </a:endParaRPr>
                    </a:p>
                  </a:txBody>
                  <a:tcPr marL="27432" marR="27432" marT="9144" marB="9144"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pPr algn="ctr" fontAlgn="ctr"/>
                      <a:endParaRPr lang="en-US" sz="1000" b="1" i="0" u="none" strike="noStrike">
                        <a:effectLst/>
                        <a:latin typeface="Calibri" panose="020F0502020204030204" pitchFamily="34" charset="0"/>
                      </a:endParaRPr>
                    </a:p>
                  </a:txBody>
                  <a:tcPr marL="27432" marR="27432" marT="9144" marB="9144"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pPr algn="ctr" fontAlgn="ctr"/>
                      <a:endParaRPr lang="en-US" sz="1000" b="1" i="0" u="none" strike="noStrike">
                        <a:effectLst/>
                        <a:latin typeface="Calibri" panose="020F0502020204030204" pitchFamily="34" charset="0"/>
                      </a:endParaRPr>
                    </a:p>
                  </a:txBody>
                  <a:tcPr marL="27432" marR="27432" marT="9144" marB="9144"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435010936"/>
                  </a:ext>
                </a:extLst>
              </a:tr>
              <a:tr h="0">
                <a:tc>
                  <a:txBody>
                    <a:bodyPr/>
                    <a:lstStyle/>
                    <a:p>
                      <a:pPr algn="l" fontAlgn="ctr"/>
                      <a:r>
                        <a:rPr lang="en-US" sz="1000" b="0" i="0" u="none" strike="noStrike">
                          <a:effectLst/>
                          <a:latin typeface="Calibri" panose="020F0502020204030204" pitchFamily="34" charset="0"/>
                        </a:rPr>
                        <a:t>Boston Scientific</a:t>
                      </a:r>
                    </a:p>
                  </a:txBody>
                  <a:tcPr marL="27432" marR="27432" marT="9144" marB="9144"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ctr"/>
                      <a:r>
                        <a:rPr lang="en-US" sz="1000" b="0" i="0" u="none" strike="noStrike">
                          <a:effectLst/>
                          <a:latin typeface="Calibri" panose="020F0502020204030204" pitchFamily="34" charset="0"/>
                        </a:rPr>
                        <a:t>HCE</a:t>
                      </a:r>
                    </a:p>
                  </a:txBody>
                  <a:tcPr marL="27432" marR="27432" marT="9144" marB="9144"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ctr"/>
                      <a:endParaRPr lang="en-US" sz="1000" b="0" i="0" u="none" strike="noStrike">
                        <a:effectLst/>
                        <a:latin typeface="Calibri" panose="020F0502020204030204" pitchFamily="34" charset="0"/>
                      </a:endParaRPr>
                    </a:p>
                  </a:txBody>
                  <a:tcPr marL="27432" marR="27432" marT="9144" marB="9144"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ctr"/>
                      <a:endParaRPr lang="en-US" sz="1000" b="0" i="0" u="none" strike="noStrike">
                        <a:effectLst/>
                        <a:latin typeface="Calibri" panose="020F0502020204030204" pitchFamily="34" charset="0"/>
                      </a:endParaRPr>
                    </a:p>
                  </a:txBody>
                  <a:tcPr marL="27432" marR="27432" marT="9144" marB="9144" anchor="ctr">
                    <a:lnL>
                      <a:noFill/>
                    </a:lnL>
                    <a:lnR>
                      <a:noFill/>
                    </a:lnR>
                    <a:lnT w="6350" cap="flat" cmpd="sng" algn="ctr">
                      <a:solidFill>
                        <a:schemeClr val="tx1"/>
                      </a:solidFill>
                      <a:prstDash val="solid"/>
                      <a:round/>
                      <a:headEnd type="none" w="med" len="med"/>
                      <a:tailEnd type="none" w="med" len="med"/>
                    </a:lnT>
                    <a:lnB>
                      <a:noFill/>
                    </a:lnB>
                    <a:solidFill>
                      <a:schemeClr val="accent4">
                        <a:lumMod val="20000"/>
                        <a:lumOff val="80000"/>
                      </a:schemeClr>
                    </a:solidFill>
                  </a:tcPr>
                </a:tc>
                <a:tc>
                  <a:txBody>
                    <a:bodyPr/>
                    <a:lstStyle/>
                    <a:p>
                      <a:pPr algn="ctr" fontAlgn="ctr"/>
                      <a:r>
                        <a:rPr lang="en-US" sz="1000" b="0" i="0" u="none" strike="noStrike">
                          <a:effectLst/>
                          <a:latin typeface="Calibri" panose="020F0502020204030204" pitchFamily="34" charset="0"/>
                        </a:rPr>
                        <a:t>$16,747</a:t>
                      </a:r>
                    </a:p>
                  </a:txBody>
                  <a:tcPr marL="27432" marR="27432" marT="9144" marB="9144" anchor="ctr">
                    <a:lnL>
                      <a:noFill/>
                    </a:lnL>
                    <a:lnR>
                      <a:noFill/>
                    </a:lnR>
                    <a:lnT w="635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4000261091"/>
                  </a:ext>
                </a:extLst>
              </a:tr>
              <a:tr h="0">
                <a:tc>
                  <a:txBody>
                    <a:bodyPr/>
                    <a:lstStyle/>
                    <a:p>
                      <a:pPr algn="l" fontAlgn="ctr"/>
                      <a:r>
                        <a:rPr lang="en-US" sz="1000" b="0" i="0" u="none" strike="noStrike">
                          <a:effectLst/>
                          <a:latin typeface="Calibri" panose="020F0502020204030204" pitchFamily="34" charset="0"/>
                        </a:rPr>
                        <a:t>Zimmer Biomet Holdings</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HCE</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Calibri" panose="020F0502020204030204" pitchFamily="34" charset="0"/>
                      </a:endParaRP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$7,679</a:t>
                      </a:r>
                    </a:p>
                  </a:txBody>
                  <a:tcPr marL="27432" marR="27432" marT="9144" marB="9144" anchor="ctr">
                    <a:lnL>
                      <a:noFill/>
                    </a:lnL>
                    <a:lnR>
                      <a:noFill/>
                    </a:lnR>
                    <a:lnT>
                      <a:noFill/>
                    </a:lnT>
                    <a:lnB>
                      <a:noFill/>
                    </a:lnB>
                    <a:solidFill>
                      <a:schemeClr val="bg1">
                        <a:lumMod val="95000"/>
                      </a:schemeClr>
                    </a:solidFill>
                  </a:tcPr>
                </a:tc>
                <a:extLst>
                  <a:ext uri="{0D108BD9-81ED-4DB2-BD59-A6C34878D82A}">
                    <a16:rowId xmlns:a16="http://schemas.microsoft.com/office/drawing/2014/main" val="1944234129"/>
                  </a:ext>
                </a:extLst>
              </a:tr>
              <a:tr h="0">
                <a:tc>
                  <a:txBody>
                    <a:bodyPr/>
                    <a:lstStyle/>
                    <a:p>
                      <a:pPr algn="l" fontAlgn="ctr"/>
                      <a:r>
                        <a:rPr lang="en-US" sz="1000" b="0" i="0" u="none" strike="noStrike">
                          <a:effectLst/>
                          <a:latin typeface="Calibri" panose="020F0502020204030204" pitchFamily="34" charset="0"/>
                        </a:rPr>
                        <a:t>DENTSPLY SIRONA</a:t>
                      </a:r>
                    </a:p>
                  </a:txBody>
                  <a:tcPr marL="27432" marR="27432" marT="9144" marB="9144"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HCS</a:t>
                      </a:r>
                    </a:p>
                  </a:txBody>
                  <a:tcPr marL="27432" marR="27432" marT="9144" marB="9144" anchor="ctr">
                    <a:lnL>
                      <a:noFill/>
                    </a:lnL>
                    <a:lnR>
                      <a:noFill/>
                    </a:lnR>
                    <a:lnT>
                      <a:noFill/>
                    </a:lnT>
                    <a:lnB>
                      <a:noFill/>
                    </a:lnB>
                    <a:noFill/>
                  </a:tcPr>
                </a:tc>
                <a:tc>
                  <a:txBody>
                    <a:bodyPr/>
                    <a:lstStyle/>
                    <a:p>
                      <a:pPr algn="ctr" fontAlgn="ctr"/>
                      <a:endParaRPr lang="en-US" sz="1000" b="0" i="0" u="none" strike="noStrike">
                        <a:effectLst/>
                        <a:latin typeface="Calibri" panose="020F0502020204030204" pitchFamily="34" charset="0"/>
                      </a:endParaRPr>
                    </a:p>
                  </a:txBody>
                  <a:tcPr marL="27432" marR="27432" marT="9144" marB="9144" anchor="ctr">
                    <a:lnL>
                      <a:noFill/>
                    </a:lnL>
                    <a:lnR>
                      <a:noFill/>
                    </a:lnR>
                    <a:lnT>
                      <a:noFill/>
                    </a:lnT>
                    <a:lnB>
                      <a:noFill/>
                    </a:lnB>
                    <a:noFill/>
                  </a:tcPr>
                </a:tc>
                <a:tc>
                  <a:txBody>
                    <a:bodyPr/>
                    <a:lstStyle/>
                    <a:p>
                      <a:pPr algn="ctr" fontAlgn="ctr"/>
                      <a:endParaRPr lang="en-US" sz="1000" b="0" i="0" u="none" strike="noStrike">
                        <a:effectLst/>
                        <a:latin typeface="Calibri" panose="020F0502020204030204" pitchFamily="34" charset="0"/>
                      </a:endParaRPr>
                    </a:p>
                  </a:txBody>
                  <a:tcPr marL="27432" marR="27432" marT="9144" marB="9144"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solidFill>
                      <a:schemeClr val="accent2">
                        <a:lumMod val="20000"/>
                        <a:lumOff val="80000"/>
                      </a:schemeClr>
                    </a:solidFill>
                  </a:tcPr>
                </a:tc>
                <a:tc>
                  <a:txBody>
                    <a:bodyPr/>
                    <a:lstStyle/>
                    <a:p>
                      <a:pPr algn="ctr" fontAlgn="ctr"/>
                      <a:r>
                        <a:rPr lang="en-US" sz="1000" b="0" i="0" u="none" strike="noStrike">
                          <a:effectLst/>
                          <a:latin typeface="Calibri" panose="020F0502020204030204" pitchFamily="34" charset="0"/>
                        </a:rPr>
                        <a:t>$3,793</a:t>
                      </a:r>
                    </a:p>
                  </a:txBody>
                  <a:tcPr marL="27432" marR="27432" marT="9144" marB="9144" anchor="ctr">
                    <a:lnL>
                      <a:noFill/>
                    </a:lnL>
                    <a:lnR>
                      <a:noFill/>
                    </a:lnR>
                    <a:lnT>
                      <a:noFill/>
                    </a:lnT>
                    <a:lnB>
                      <a:noFill/>
                    </a:lnB>
                    <a:noFill/>
                  </a:tcPr>
                </a:tc>
                <a:extLst>
                  <a:ext uri="{0D108BD9-81ED-4DB2-BD59-A6C34878D82A}">
                    <a16:rowId xmlns:a16="http://schemas.microsoft.com/office/drawing/2014/main" val="2831713839"/>
                  </a:ext>
                </a:extLst>
              </a:tr>
              <a:tr h="0">
                <a:tc>
                  <a:txBody>
                    <a:bodyPr/>
                    <a:lstStyle/>
                    <a:p>
                      <a:pPr algn="l" fontAlgn="ctr"/>
                      <a:r>
                        <a:rPr lang="en-US" sz="1000" b="0" i="0" u="none" strike="noStrike">
                          <a:effectLst/>
                          <a:latin typeface="Calibri" panose="020F0502020204030204" pitchFamily="34" charset="0"/>
                        </a:rPr>
                        <a:t>Teleflex Incorporated</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HCE</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Calibri" panose="020F0502020204030204" pitchFamily="34" charset="0"/>
                      </a:endParaRPr>
                    </a:p>
                  </a:txBody>
                  <a:tcPr marL="27432" marR="27432" marT="9144" marB="9144"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Calibri" panose="020F0502020204030204" pitchFamily="34" charset="0"/>
                      </a:endParaRP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solidFill>
                      <a:schemeClr val="accent2">
                        <a:lumMod val="20000"/>
                        <a:lumOff val="80000"/>
                      </a:schemeClr>
                    </a:solidFill>
                  </a:tcPr>
                </a:tc>
                <a:tc>
                  <a:txBody>
                    <a:bodyPr/>
                    <a:lstStyle/>
                    <a:p>
                      <a:pPr algn="ctr" fontAlgn="ctr"/>
                      <a:r>
                        <a:rPr lang="en-US" sz="1000" b="0" i="0" u="none" strike="noStrike">
                          <a:effectLst/>
                          <a:latin typeface="Calibri" panose="020F0502020204030204" pitchFamily="34" charset="0"/>
                        </a:rPr>
                        <a:t>$3,047</a:t>
                      </a:r>
                    </a:p>
                  </a:txBody>
                  <a:tcPr marL="27432" marR="27432" marT="9144" marB="9144" anchor="ctr">
                    <a:lnL>
                      <a:noFill/>
                    </a:lnL>
                    <a:lnR>
                      <a:noFill/>
                    </a:lnR>
                    <a:lnT>
                      <a:noFill/>
                    </a:lnT>
                    <a:lnB>
                      <a:noFill/>
                    </a:lnB>
                    <a:solidFill>
                      <a:schemeClr val="bg1">
                        <a:lumMod val="95000"/>
                      </a:schemeClr>
                    </a:solidFill>
                  </a:tcPr>
                </a:tc>
                <a:extLst>
                  <a:ext uri="{0D108BD9-81ED-4DB2-BD59-A6C34878D82A}">
                    <a16:rowId xmlns:a16="http://schemas.microsoft.com/office/drawing/2014/main" val="885117146"/>
                  </a:ext>
                </a:extLst>
              </a:tr>
              <a:tr h="0">
                <a:tc>
                  <a:txBody>
                    <a:bodyPr/>
                    <a:lstStyle/>
                    <a:p>
                      <a:pPr algn="l" fontAlgn="b"/>
                      <a:endParaRPr lang="en-US" sz="100" b="0" i="0" u="none" strike="noStrike">
                        <a:effectLst/>
                        <a:latin typeface="Calibri" panose="020F0502020204030204" pitchFamily="34" charset="0"/>
                      </a:endParaRPr>
                    </a:p>
                  </a:txBody>
                  <a:tcPr marL="27432" marR="27432"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endParaRPr lang="en-US" sz="100" b="0" i="0" u="none" strike="noStrike">
                        <a:effectLst/>
                        <a:latin typeface="Calibri" panose="020F0502020204030204" pitchFamily="34" charset="0"/>
                      </a:endParaRPr>
                    </a:p>
                  </a:txBody>
                  <a:tcPr marL="27432" marR="27432"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endParaRPr lang="en-US" sz="100" b="0" i="0" u="none" strike="noStrike">
                        <a:effectLst/>
                        <a:latin typeface="Calibri" panose="020F0502020204030204" pitchFamily="34" charset="0"/>
                      </a:endParaRPr>
                    </a:p>
                  </a:txBody>
                  <a:tcPr marL="27432" marR="27432"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endParaRPr lang="en-US" sz="100" b="0" i="0" u="none" strike="noStrike">
                        <a:effectLst/>
                        <a:latin typeface="Calibri" panose="020F0502020204030204" pitchFamily="34" charset="0"/>
                      </a:endParaRPr>
                    </a:p>
                  </a:txBody>
                  <a:tcPr marL="27432" marR="27432"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endParaRPr lang="en-US" sz="100" b="0" i="0" u="none" strike="noStrike">
                        <a:effectLst/>
                        <a:latin typeface="Calibri" panose="020F0502020204030204" pitchFamily="34" charset="0"/>
                      </a:endParaRPr>
                    </a:p>
                  </a:txBody>
                  <a:tcPr marL="27432" marR="27432"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endParaRPr lang="en-US" sz="100" b="0" i="0" u="none" strike="noStrike">
                        <a:effectLst/>
                        <a:latin typeface="Calibri" panose="020F0502020204030204" pitchFamily="34" charset="0"/>
                      </a:endParaRPr>
                    </a:p>
                  </a:txBody>
                  <a:tcPr marL="27432" marR="27432" marT="9144" marB="9144" anchor="b">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81320834"/>
                  </a:ext>
                </a:extLst>
              </a:tr>
              <a:tr h="0">
                <a:tc>
                  <a:txBody>
                    <a:bodyPr/>
                    <a:lstStyle/>
                    <a:p>
                      <a:pPr algn="l" fontAlgn="b"/>
                      <a:r>
                        <a:rPr lang="en-US" sz="1000" b="1" i="0" u="none" strike="noStrike">
                          <a:effectLst/>
                          <a:latin typeface="Calibri" panose="020F0502020204030204" pitchFamily="34" charset="0"/>
                        </a:rPr>
                        <a:t>Count</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l" fontAlgn="b"/>
                      <a:r>
                        <a:rPr lang="en-US" sz="1000" b="1" i="0" u="none" strike="noStrike">
                          <a:effectLst/>
                          <a:latin typeface="Calibri" panose="020F0502020204030204" pitchFamily="34" charset="0"/>
                        </a:rPr>
                        <a:t> </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b"/>
                      <a:r>
                        <a:rPr lang="en-US" sz="1000" b="1" i="0" u="none" strike="noStrike">
                          <a:effectLst/>
                          <a:latin typeface="Calibri" panose="020F0502020204030204" pitchFamily="34" charset="0"/>
                        </a:rPr>
                        <a:t>16</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b"/>
                      <a:r>
                        <a:rPr lang="en-US" sz="1000" b="1" i="0" u="none" strike="noStrike">
                          <a:effectLst/>
                          <a:latin typeface="Calibri" panose="020F0502020204030204" pitchFamily="34" charset="0"/>
                        </a:rPr>
                        <a:t>15</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b"/>
                      <a:r>
                        <a:rPr lang="en-US" sz="1000" b="1" i="0" u="none" strike="noStrike">
                          <a:effectLst/>
                          <a:latin typeface="Calibri" panose="020F0502020204030204" pitchFamily="34" charset="0"/>
                        </a:rPr>
                        <a:t>15</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l" fontAlgn="b"/>
                      <a:r>
                        <a:rPr lang="en-US" sz="1000" b="1" i="0" u="none" strike="noStrike">
                          <a:effectLst/>
                          <a:latin typeface="Calibri" panose="020F0502020204030204" pitchFamily="34" charset="0"/>
                        </a:rPr>
                        <a:t> </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2416470246"/>
                  </a:ext>
                </a:extLst>
              </a:tr>
              <a:tr h="0">
                <a:tc>
                  <a:txBody>
                    <a:bodyPr/>
                    <a:lstStyle/>
                    <a:p>
                      <a:pPr algn="l" fontAlgn="b"/>
                      <a:endParaRPr lang="en-US" sz="100" b="0" i="0" u="none" strike="noStrike">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 b="0" i="0" u="none" strike="noStrike">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 b="0" i="0" u="none" strike="noStrike">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 b="0" i="0" u="none" strike="noStrike">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 b="0" i="0" u="none" strike="noStrike">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 b="0" i="0" u="none" strike="noStrike">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25248626"/>
                  </a:ext>
                </a:extLst>
              </a:tr>
              <a:tr h="0">
                <a:tc>
                  <a:txBody>
                    <a:bodyPr/>
                    <a:lstStyle/>
                    <a:p>
                      <a:pPr algn="l" fontAlgn="b"/>
                      <a:r>
                        <a:rPr lang="en-US" sz="1000" b="0" i="0" u="none" strike="noStrike">
                          <a:effectLst/>
                          <a:latin typeface="Calibri" panose="020F0502020204030204" pitchFamily="34" charset="0"/>
                        </a:rPr>
                        <a:t>75th %ile</a:t>
                      </a:r>
                    </a:p>
                  </a:txBody>
                  <a:tcPr marL="27432" marR="27432"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r>
                        <a:rPr lang="en-US" sz="1000" b="0" i="0" u="none" strike="noStrike">
                          <a:effectLst/>
                          <a:latin typeface="Calibri" panose="020F0502020204030204" pitchFamily="34" charset="0"/>
                        </a:rPr>
                        <a:t> </a:t>
                      </a:r>
                    </a:p>
                  </a:txBody>
                  <a:tcPr marL="27432" marR="27432"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r>
                        <a:rPr lang="en-US" sz="1000" b="0" i="0" u="none" strike="noStrike">
                          <a:effectLst/>
                          <a:latin typeface="Calibri" panose="020F0502020204030204" pitchFamily="34" charset="0"/>
                        </a:rPr>
                        <a:t> </a:t>
                      </a:r>
                    </a:p>
                  </a:txBody>
                  <a:tcPr marL="27432" marR="27432"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r>
                        <a:rPr lang="en-US" sz="1000" b="0" i="0" u="none" strike="noStrike">
                          <a:effectLst/>
                          <a:latin typeface="Calibri" panose="020F0502020204030204" pitchFamily="34" charset="0"/>
                        </a:rPr>
                        <a:t> </a:t>
                      </a:r>
                    </a:p>
                  </a:txBody>
                  <a:tcPr marL="27432" marR="27432"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r>
                        <a:rPr lang="en-US" sz="1000" b="0" i="0" u="none" strike="noStrike">
                          <a:effectLst/>
                          <a:latin typeface="Calibri" panose="020F0502020204030204" pitchFamily="34" charset="0"/>
                        </a:rPr>
                        <a:t> </a:t>
                      </a:r>
                    </a:p>
                  </a:txBody>
                  <a:tcPr marL="27432" marR="27432"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r>
                        <a:rPr lang="en-US" sz="1000" b="0" i="0" u="none" strike="noStrike">
                          <a:effectLst/>
                          <a:latin typeface="Calibri" panose="020F0502020204030204" pitchFamily="34" charset="0"/>
                        </a:rPr>
                        <a:t>$5,289</a:t>
                      </a:r>
                    </a:p>
                  </a:txBody>
                  <a:tcPr marL="27432" marR="27432" marT="9144" marB="9144" anchor="ctr">
                    <a:lnL>
                      <a:noFill/>
                    </a:lnL>
                    <a:lnR>
                      <a:noFill/>
                    </a:lnR>
                    <a:lnT w="6350" cap="flat" cmpd="sng" algn="ctr">
                      <a:solidFill>
                        <a:srgbClr val="000000"/>
                      </a:solidFill>
                      <a:prstDash val="solid"/>
                      <a:round/>
                      <a:headEnd type="none" w="med" len="med"/>
                      <a:tailEnd type="none" w="med" len="med"/>
                    </a:lnT>
                    <a:lnB>
                      <a:noFill/>
                    </a:lnB>
                    <a:solidFill>
                      <a:srgbClr val="FFFFDB"/>
                    </a:solidFill>
                  </a:tcPr>
                </a:tc>
                <a:extLst>
                  <a:ext uri="{0D108BD9-81ED-4DB2-BD59-A6C34878D82A}">
                    <a16:rowId xmlns:a16="http://schemas.microsoft.com/office/drawing/2014/main" val="2509642743"/>
                  </a:ext>
                </a:extLst>
              </a:tr>
              <a:tr h="0">
                <a:tc>
                  <a:txBody>
                    <a:bodyPr/>
                    <a:lstStyle/>
                    <a:p>
                      <a:pPr algn="l" fontAlgn="b"/>
                      <a:r>
                        <a:rPr lang="en-US" sz="1000" b="1" i="0" u="none" strike="noStrike">
                          <a:effectLst/>
                          <a:latin typeface="Calibri" panose="020F0502020204030204" pitchFamily="34" charset="0"/>
                        </a:rPr>
                        <a:t>Median</a:t>
                      </a:r>
                    </a:p>
                  </a:txBody>
                  <a:tcPr marL="27432" marR="27432" marT="9144" marB="9144" anchor="b">
                    <a:lnL>
                      <a:noFill/>
                    </a:lnL>
                    <a:lnR>
                      <a:noFill/>
                    </a:lnR>
                    <a:lnT>
                      <a:noFill/>
                    </a:lnT>
                    <a:lnB>
                      <a:noFill/>
                    </a:lnB>
                    <a:solidFill>
                      <a:srgbClr val="FFFFDB"/>
                    </a:solidFill>
                  </a:tcPr>
                </a:tc>
                <a:tc>
                  <a:txBody>
                    <a:bodyPr/>
                    <a:lstStyle/>
                    <a:p>
                      <a:pPr algn="l" fontAlgn="b"/>
                      <a:r>
                        <a:rPr lang="en-US" sz="1000" b="1" i="0" u="none" strike="noStrike">
                          <a:effectLst/>
                          <a:latin typeface="Calibri" panose="020F0502020204030204" pitchFamily="34" charset="0"/>
                        </a:rPr>
                        <a:t> </a:t>
                      </a:r>
                    </a:p>
                  </a:txBody>
                  <a:tcPr marL="27432" marR="27432" marT="9144" marB="9144" anchor="b">
                    <a:lnL>
                      <a:noFill/>
                    </a:lnL>
                    <a:lnR>
                      <a:noFill/>
                    </a:lnR>
                    <a:lnT>
                      <a:noFill/>
                    </a:lnT>
                    <a:lnB>
                      <a:noFill/>
                    </a:lnB>
                    <a:solidFill>
                      <a:srgbClr val="FFFFDB"/>
                    </a:solidFill>
                  </a:tcPr>
                </a:tc>
                <a:tc>
                  <a:txBody>
                    <a:bodyPr/>
                    <a:lstStyle/>
                    <a:p>
                      <a:pPr algn="l" fontAlgn="b"/>
                      <a:r>
                        <a:rPr lang="en-US" sz="1000" b="1" i="0" u="none" strike="noStrike">
                          <a:effectLst/>
                          <a:latin typeface="Calibri" panose="020F0502020204030204" pitchFamily="34" charset="0"/>
                        </a:rPr>
                        <a:t> </a:t>
                      </a:r>
                    </a:p>
                  </a:txBody>
                  <a:tcPr marL="27432" marR="27432" marT="9144" marB="9144" anchor="b">
                    <a:lnL>
                      <a:noFill/>
                    </a:lnL>
                    <a:lnR>
                      <a:noFill/>
                    </a:lnR>
                    <a:lnT>
                      <a:noFill/>
                    </a:lnT>
                    <a:lnB>
                      <a:noFill/>
                    </a:lnB>
                    <a:solidFill>
                      <a:srgbClr val="FFFFDB"/>
                    </a:solidFill>
                  </a:tcPr>
                </a:tc>
                <a:tc>
                  <a:txBody>
                    <a:bodyPr/>
                    <a:lstStyle/>
                    <a:p>
                      <a:pPr algn="l" fontAlgn="b"/>
                      <a:r>
                        <a:rPr lang="en-US" sz="1000" b="1" i="0" u="none" strike="noStrike">
                          <a:effectLst/>
                          <a:latin typeface="Calibri" panose="020F0502020204030204" pitchFamily="34" charset="0"/>
                        </a:rPr>
                        <a:t> </a:t>
                      </a:r>
                    </a:p>
                  </a:txBody>
                  <a:tcPr marL="27432" marR="27432" marT="9144" marB="9144" anchor="b">
                    <a:lnL>
                      <a:noFill/>
                    </a:lnL>
                    <a:lnR>
                      <a:noFill/>
                    </a:lnR>
                    <a:lnT>
                      <a:noFill/>
                    </a:lnT>
                    <a:lnB>
                      <a:noFill/>
                    </a:lnB>
                    <a:solidFill>
                      <a:srgbClr val="FFFFDB"/>
                    </a:solidFill>
                  </a:tcPr>
                </a:tc>
                <a:tc>
                  <a:txBody>
                    <a:bodyPr/>
                    <a:lstStyle/>
                    <a:p>
                      <a:pPr algn="l" fontAlgn="b"/>
                      <a:r>
                        <a:rPr lang="en-US" sz="1000" b="1" i="0" u="none" strike="noStrike">
                          <a:effectLst/>
                          <a:latin typeface="Calibri" panose="020F0502020204030204" pitchFamily="34" charset="0"/>
                        </a:rPr>
                        <a:t> </a:t>
                      </a:r>
                    </a:p>
                  </a:txBody>
                  <a:tcPr marL="27432" marR="27432" marT="9144" marB="9144" anchor="b">
                    <a:lnL>
                      <a:noFill/>
                    </a:lnL>
                    <a:lnR>
                      <a:noFill/>
                    </a:lnR>
                    <a:lnT>
                      <a:noFill/>
                    </a:lnT>
                    <a:lnB>
                      <a:noFill/>
                    </a:lnB>
                    <a:solidFill>
                      <a:srgbClr val="FFFFDB"/>
                    </a:solidFill>
                  </a:tcPr>
                </a:tc>
                <a:tc>
                  <a:txBody>
                    <a:bodyPr/>
                    <a:lstStyle/>
                    <a:p>
                      <a:pPr algn="ctr" fontAlgn="b"/>
                      <a:r>
                        <a:rPr lang="en-US" sz="1000" b="1" i="0" u="none" strike="noStrike">
                          <a:effectLst/>
                          <a:latin typeface="Calibri" panose="020F0502020204030204" pitchFamily="34" charset="0"/>
                        </a:rPr>
                        <a:t>$4,033</a:t>
                      </a:r>
                    </a:p>
                  </a:txBody>
                  <a:tcPr marL="27432" marR="27432" marT="9144" marB="9144" anchor="ctr">
                    <a:lnL>
                      <a:noFill/>
                    </a:lnL>
                    <a:lnR>
                      <a:noFill/>
                    </a:lnR>
                    <a:lnT>
                      <a:noFill/>
                    </a:lnT>
                    <a:lnB>
                      <a:noFill/>
                    </a:lnB>
                    <a:solidFill>
                      <a:srgbClr val="FFFFDB"/>
                    </a:solidFill>
                  </a:tcPr>
                </a:tc>
                <a:extLst>
                  <a:ext uri="{0D108BD9-81ED-4DB2-BD59-A6C34878D82A}">
                    <a16:rowId xmlns:a16="http://schemas.microsoft.com/office/drawing/2014/main" val="3244225872"/>
                  </a:ext>
                </a:extLst>
              </a:tr>
              <a:tr h="0">
                <a:tc>
                  <a:txBody>
                    <a:bodyPr/>
                    <a:lstStyle/>
                    <a:p>
                      <a:pPr algn="l" fontAlgn="b"/>
                      <a:r>
                        <a:rPr lang="en-US" sz="1000" b="0" i="0" u="none" strike="noStrike">
                          <a:effectLst/>
                          <a:latin typeface="Calibri" panose="020F0502020204030204" pitchFamily="34" charset="0"/>
                        </a:rPr>
                        <a:t>25th %ile</a:t>
                      </a:r>
                    </a:p>
                  </a:txBody>
                  <a:tcPr marL="27432" marR="27432"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r>
                        <a:rPr lang="en-US" sz="1000" b="0" i="0" u="none" strike="noStrike">
                          <a:effectLst/>
                          <a:latin typeface="Calibri" panose="020F0502020204030204" pitchFamily="34" charset="0"/>
                        </a:rPr>
                        <a:t> </a:t>
                      </a:r>
                    </a:p>
                  </a:txBody>
                  <a:tcPr marL="27432" marR="27432"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r>
                        <a:rPr lang="en-US" sz="1000" b="0" i="0" u="none" strike="noStrike">
                          <a:effectLst/>
                          <a:latin typeface="Calibri" panose="020F0502020204030204" pitchFamily="34" charset="0"/>
                        </a:rPr>
                        <a:t> </a:t>
                      </a:r>
                    </a:p>
                  </a:txBody>
                  <a:tcPr marL="27432" marR="27432"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r>
                        <a:rPr lang="en-US" sz="1000" b="0" i="0" u="none" strike="noStrike">
                          <a:effectLst/>
                          <a:latin typeface="Calibri" panose="020F0502020204030204" pitchFamily="34" charset="0"/>
                        </a:rPr>
                        <a:t> </a:t>
                      </a:r>
                    </a:p>
                  </a:txBody>
                  <a:tcPr marL="27432" marR="27432"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r>
                        <a:rPr lang="en-US" sz="1000" b="0" i="0" u="none" strike="noStrike">
                          <a:effectLst/>
                          <a:latin typeface="Calibri" panose="020F0502020204030204" pitchFamily="34" charset="0"/>
                        </a:rPr>
                        <a:t> </a:t>
                      </a:r>
                    </a:p>
                  </a:txBody>
                  <a:tcPr marL="27432" marR="27432"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r>
                        <a:rPr lang="en-US" sz="1000" b="0" i="0" u="none" strike="noStrike" dirty="0">
                          <a:effectLst/>
                          <a:latin typeface="Calibri" panose="020F0502020204030204" pitchFamily="34" charset="0"/>
                        </a:rPr>
                        <a:t>$3,844</a:t>
                      </a:r>
                    </a:p>
                  </a:txBody>
                  <a:tcPr marL="27432" marR="27432" marT="9144" marB="9144" anchor="ctr">
                    <a:lnL>
                      <a:noFill/>
                    </a:lnL>
                    <a:lnR>
                      <a:noFill/>
                    </a:lnR>
                    <a:lnT>
                      <a:noFill/>
                    </a:lnT>
                    <a:lnB w="6350" cap="flat" cmpd="sng" algn="ctr">
                      <a:solidFill>
                        <a:srgbClr val="000000"/>
                      </a:solidFill>
                      <a:prstDash val="solid"/>
                      <a:round/>
                      <a:headEnd type="none" w="med" len="med"/>
                      <a:tailEnd type="none" w="med" len="med"/>
                    </a:lnB>
                    <a:solidFill>
                      <a:srgbClr val="FFFFDB"/>
                    </a:solidFill>
                  </a:tcPr>
                </a:tc>
                <a:extLst>
                  <a:ext uri="{0D108BD9-81ED-4DB2-BD59-A6C34878D82A}">
                    <a16:rowId xmlns:a16="http://schemas.microsoft.com/office/drawing/2014/main" val="3752279458"/>
                  </a:ext>
                </a:extLst>
              </a:tr>
            </a:tbl>
          </a:graphicData>
        </a:graphic>
      </p:graphicFrame>
      <p:graphicFrame>
        <p:nvGraphicFramePr>
          <p:cNvPr id="11" name="Table 14">
            <a:extLst>
              <a:ext uri="{FF2B5EF4-FFF2-40B4-BE49-F238E27FC236}">
                <a16:creationId xmlns:a16="http://schemas.microsoft.com/office/drawing/2014/main" id="{26928CBF-A516-A5EF-5FFD-2C3BAF7C7450}"/>
              </a:ext>
            </a:extLst>
          </p:cNvPr>
          <p:cNvGraphicFramePr>
            <a:graphicFrameLocks noGrp="1"/>
          </p:cNvGraphicFramePr>
          <p:nvPr/>
        </p:nvGraphicFramePr>
        <p:xfrm>
          <a:off x="6334927" y="1780078"/>
          <a:ext cx="2011680" cy="686793"/>
        </p:xfrm>
        <a:graphic>
          <a:graphicData uri="http://schemas.openxmlformats.org/drawingml/2006/table">
            <a:tbl>
              <a:tblPr firstRow="1" bandRow="1">
                <a:tableStyleId>{5940675A-B579-460E-94D1-54222C63F5DA}</a:tableStyleId>
              </a:tblPr>
              <a:tblGrid>
                <a:gridCol w="274320">
                  <a:extLst>
                    <a:ext uri="{9D8B030D-6E8A-4147-A177-3AD203B41FA5}">
                      <a16:colId xmlns:a16="http://schemas.microsoft.com/office/drawing/2014/main" val="1448559794"/>
                    </a:ext>
                  </a:extLst>
                </a:gridCol>
                <a:gridCol w="1737360">
                  <a:extLst>
                    <a:ext uri="{9D8B030D-6E8A-4147-A177-3AD203B41FA5}">
                      <a16:colId xmlns:a16="http://schemas.microsoft.com/office/drawing/2014/main" val="1242357177"/>
                    </a:ext>
                  </a:extLst>
                </a:gridCol>
              </a:tblGrid>
              <a:tr h="127044">
                <a:tc>
                  <a:txBody>
                    <a:bodyPr/>
                    <a:lstStyle/>
                    <a:p>
                      <a:pPr algn="ctr"/>
                      <a:r>
                        <a:rPr lang="en-US" sz="900"/>
                        <a:t>HCE</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900"/>
                        <a:t>  Health Care Equipment</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456415924"/>
                  </a:ext>
                </a:extLst>
              </a:tr>
              <a:tr h="46051">
                <a:tc>
                  <a:txBody>
                    <a:bodyPr/>
                    <a:lstStyle/>
                    <a:p>
                      <a:pPr algn="ctr"/>
                      <a:endParaRPr lang="en-US" sz="100"/>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00"/>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45465110"/>
                  </a:ext>
                </a:extLst>
              </a:tr>
              <a:tr h="127044">
                <a:tc>
                  <a:txBody>
                    <a:bodyPr/>
                    <a:lstStyle/>
                    <a:p>
                      <a:pPr algn="ctr"/>
                      <a:r>
                        <a:rPr lang="en-US" sz="900"/>
                        <a:t>HCS</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900"/>
                        <a:t>  Health Care Supplies</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03461171"/>
                  </a:ext>
                </a:extLst>
              </a:tr>
              <a:tr h="46051">
                <a:tc>
                  <a:txBody>
                    <a:bodyPr/>
                    <a:lstStyle/>
                    <a:p>
                      <a:pPr algn="ctr"/>
                      <a:endParaRPr lang="en-US" sz="100"/>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00"/>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727313861"/>
                  </a:ext>
                </a:extLst>
              </a:tr>
              <a:tr h="127044">
                <a:tc>
                  <a:txBody>
                    <a:bodyPr/>
                    <a:lstStyle/>
                    <a:p>
                      <a:pPr algn="ctr"/>
                      <a:r>
                        <a:rPr lang="en-US" sz="900"/>
                        <a:t>P</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900"/>
                        <a:t>  Pharmaceuticals</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63960339"/>
                  </a:ext>
                </a:extLst>
              </a:tr>
              <a:tr h="46051">
                <a:tc>
                  <a:txBody>
                    <a:bodyPr/>
                    <a:lstStyle/>
                    <a:p>
                      <a:endParaRPr lang="en-US" sz="100"/>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65780605"/>
                  </a:ext>
                </a:extLst>
              </a:tr>
              <a:tr h="127044">
                <a:tc>
                  <a:txBody>
                    <a:bodyPr/>
                    <a:lstStyle/>
                    <a:p>
                      <a:pPr algn="ctr"/>
                      <a:r>
                        <a:rPr lang="en-US" sz="900"/>
                        <a:t>LS</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900"/>
                        <a:t>  Life Sciences Tools &amp; Svcs</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9601939"/>
                  </a:ext>
                </a:extLst>
              </a:tr>
            </a:tbl>
          </a:graphicData>
        </a:graphic>
      </p:graphicFrame>
      <p:sp>
        <p:nvSpPr>
          <p:cNvPr id="3" name="TextBox 2">
            <a:extLst>
              <a:ext uri="{FF2B5EF4-FFF2-40B4-BE49-F238E27FC236}">
                <a16:creationId xmlns:a16="http://schemas.microsoft.com/office/drawing/2014/main" id="{B0873793-342C-82B4-FEF7-66FE3493CA06}"/>
              </a:ext>
            </a:extLst>
          </p:cNvPr>
          <p:cNvSpPr txBox="1"/>
          <p:nvPr/>
        </p:nvSpPr>
        <p:spPr>
          <a:xfrm>
            <a:off x="210331" y="1427823"/>
            <a:ext cx="2213399" cy="355097"/>
          </a:xfrm>
          <a:prstGeom prst="rect">
            <a:avLst/>
          </a:prstGeom>
          <a:solidFill>
            <a:schemeClr val="accent3"/>
          </a:solidFill>
          <a:ln>
            <a:solidFill>
              <a:schemeClr val="tx1"/>
            </a:solidFill>
          </a:ln>
        </p:spPr>
        <p:txBody>
          <a:bodyPr vert="horz" wrap="square" lIns="45720" tIns="45720" rIns="45720" bIns="45720" rtlCol="0" anchor="ctr">
            <a:spAutoFit/>
          </a:bodyPr>
          <a:lstStyle/>
          <a:p>
            <a:pPr algn="ctr">
              <a:lnSpc>
                <a:spcPct val="85000"/>
              </a:lnSpc>
            </a:pPr>
            <a:r>
              <a:rPr lang="en-US" sz="1000" dirty="0"/>
              <a:t>To be updated after GL report is received from Goofy</a:t>
            </a:r>
          </a:p>
        </p:txBody>
      </p:sp>
      <p:sp>
        <p:nvSpPr>
          <p:cNvPr id="12" name="Footer Placeholder 12"/>
          <p:cNvSpPr>
            <a:spLocks noGrp="1"/>
          </p:cNvSpPr>
          <p:nvPr>
            <p:ph type="ftr" sz="quarter" idx="16"/>
          </p:nvPr>
        </p:nvSpPr>
        <p:spPr>
          <a:xfrm>
            <a:off x="863745" y="6591503"/>
            <a:ext cx="7416510" cy="184151"/>
          </a:xfrm>
        </p:spPr>
        <p:txBody>
          <a:bodyPr/>
          <a:lstStyle/>
          <a:p>
            <a:r>
              <a:rPr lang="en-US" sz="800"/>
              <a:t>These materials are confidential and to be used only by the client to whom they are addressed</a:t>
            </a:r>
          </a:p>
        </p:txBody>
      </p:sp>
    </p:spTree>
    <p:extLst>
      <p:ext uri="{BB962C8B-B14F-4D97-AF65-F5344CB8AC3E}">
        <p14:creationId xmlns:p14="http://schemas.microsoft.com/office/powerpoint/2010/main" val="5741617"/>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03E3AA-5691-FE4E-B352-BAD13699C6DC}"/>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38D7B9AA-CFC3-1B7E-98C7-C20EC3713097}"/>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5" name="Title 4">
            <a:extLst>
              <a:ext uri="{FF2B5EF4-FFF2-40B4-BE49-F238E27FC236}">
                <a16:creationId xmlns:a16="http://schemas.microsoft.com/office/drawing/2014/main" id="{CCE7D35C-AC91-9C17-B636-7AEBE5DA8E62}"/>
              </a:ext>
            </a:extLst>
          </p:cNvPr>
          <p:cNvSpPr>
            <a:spLocks noGrp="1"/>
          </p:cNvSpPr>
          <p:nvPr>
            <p:ph type="title"/>
          </p:nvPr>
        </p:nvSpPr>
        <p:spPr>
          <a:xfrm>
            <a:off x="882797" y="44215"/>
            <a:ext cx="8074152" cy="1292899"/>
          </a:xfrm>
        </p:spPr>
        <p:txBody>
          <a:bodyPr/>
          <a:lstStyle/>
          <a:p>
            <a:r>
              <a:rPr lang="en-US" dirty="0"/>
              <a:t>Business descriptions for </a:t>
            </a:r>
            <a:r>
              <a:rPr lang="en-US" dirty="0" err="1"/>
              <a:t>Goofy’s</a:t>
            </a:r>
            <a:r>
              <a:rPr lang="en-US" dirty="0"/>
              <a:t> current compensation peers are as follows:</a:t>
            </a:r>
          </a:p>
        </p:txBody>
      </p:sp>
      <p:sp>
        <p:nvSpPr>
          <p:cNvPr id="4" name="Slide Number Placeholder 3">
            <a:extLst>
              <a:ext uri="{FF2B5EF4-FFF2-40B4-BE49-F238E27FC236}">
                <a16:creationId xmlns:a16="http://schemas.microsoft.com/office/drawing/2014/main" id="{D2694D6B-3BD0-7607-C1B8-2A595B6B7C32}"/>
              </a:ext>
            </a:extLst>
          </p:cNvPr>
          <p:cNvSpPr>
            <a:spLocks noGrp="1"/>
          </p:cNvSpPr>
          <p:nvPr>
            <p:ph type="sldNum" sz="quarter" idx="12"/>
          </p:nvPr>
        </p:nvSpPr>
        <p:spPr>
          <a:xfrm>
            <a:off x="8581802" y="6577909"/>
            <a:ext cx="352260" cy="211339"/>
          </a:xfrm>
        </p:spPr>
        <p:txBody>
          <a:bodyPr/>
          <a:lstStyle/>
          <a:p>
            <a:fld id="{91690BAF-E217-4185-92FD-0CEA06F2B7C8}" type="slidenum">
              <a:rPr lang="en-US" smtClean="0"/>
              <a:pPr/>
              <a:t>15</a:t>
            </a:fld>
            <a:endParaRPr lang="en-US"/>
          </a:p>
        </p:txBody>
      </p:sp>
      <p:sp>
        <p:nvSpPr>
          <p:cNvPr id="2" name="TextBox 1">
            <a:extLst>
              <a:ext uri="{FF2B5EF4-FFF2-40B4-BE49-F238E27FC236}">
                <a16:creationId xmlns:a16="http://schemas.microsoft.com/office/drawing/2014/main" id="{67C0E403-05F7-6F74-AF34-01E699C3FAC9}"/>
              </a:ext>
            </a:extLst>
          </p:cNvPr>
          <p:cNvSpPr txBox="1"/>
          <p:nvPr/>
        </p:nvSpPr>
        <p:spPr>
          <a:xfrm>
            <a:off x="1593273" y="1083884"/>
            <a:ext cx="5957455" cy="307777"/>
          </a:xfrm>
          <a:prstGeom prst="rect">
            <a:avLst/>
          </a:prstGeom>
          <a:noFill/>
        </p:spPr>
        <p:txBody>
          <a:bodyPr wrap="square" lIns="45720" tIns="45720" rIns="45720" bIns="45720" rtlCol="0" anchor="ctr">
            <a:spAutoFit/>
          </a:bodyPr>
          <a:lstStyle/>
          <a:p>
            <a:pPr algn="ctr"/>
            <a:r>
              <a:rPr lang="en-US" sz="1400" b="1"/>
              <a:t>Business Descriptions of Current Peers</a:t>
            </a:r>
          </a:p>
        </p:txBody>
      </p:sp>
      <p:graphicFrame>
        <p:nvGraphicFramePr>
          <p:cNvPr id="6" name="Table 5">
            <a:extLst>
              <a:ext uri="{FF2B5EF4-FFF2-40B4-BE49-F238E27FC236}">
                <a16:creationId xmlns:a16="http://schemas.microsoft.com/office/drawing/2014/main" id="{0A62ADD7-D627-D4D2-1514-4D2AAA9BC8B0}"/>
              </a:ext>
            </a:extLst>
          </p:cNvPr>
          <p:cNvGraphicFramePr>
            <a:graphicFrameLocks noGrp="1"/>
          </p:cNvGraphicFramePr>
          <p:nvPr>
            <p:extLst>
              <p:ext uri="{D42A27DB-BD31-4B8C-83A1-F6EECF244321}">
                <p14:modId xmlns:p14="http://schemas.microsoft.com/office/powerpoint/2010/main" val="1952486946"/>
              </p:ext>
            </p:extLst>
          </p:nvPr>
        </p:nvGraphicFramePr>
        <p:xfrm>
          <a:off x="86593" y="1407050"/>
          <a:ext cx="8983836" cy="3895344"/>
        </p:xfrm>
        <a:graphic>
          <a:graphicData uri="http://schemas.openxmlformats.org/drawingml/2006/table">
            <a:tbl>
              <a:tblPr/>
              <a:tblGrid>
                <a:gridCol w="717016">
                  <a:extLst>
                    <a:ext uri="{9D8B030D-6E8A-4147-A177-3AD203B41FA5}">
                      <a16:colId xmlns:a16="http://schemas.microsoft.com/office/drawing/2014/main" val="2847594257"/>
                    </a:ext>
                  </a:extLst>
                </a:gridCol>
                <a:gridCol w="1007029">
                  <a:extLst>
                    <a:ext uri="{9D8B030D-6E8A-4147-A177-3AD203B41FA5}">
                      <a16:colId xmlns:a16="http://schemas.microsoft.com/office/drawing/2014/main" val="2325195630"/>
                    </a:ext>
                  </a:extLst>
                </a:gridCol>
                <a:gridCol w="7259791">
                  <a:extLst>
                    <a:ext uri="{9D8B030D-6E8A-4147-A177-3AD203B41FA5}">
                      <a16:colId xmlns:a16="http://schemas.microsoft.com/office/drawing/2014/main" val="2715828596"/>
                    </a:ext>
                  </a:extLst>
                </a:gridCol>
              </a:tblGrid>
              <a:tr h="0">
                <a:tc>
                  <a:txBody>
                    <a:bodyPr/>
                    <a:lstStyle/>
                    <a:p>
                      <a:pPr algn="ctr" fontAlgn="b"/>
                      <a:r>
                        <a:rPr lang="en-US" sz="900" b="1" i="0" u="none" strike="noStrike">
                          <a:solidFill>
                            <a:srgbClr val="FFFFFF"/>
                          </a:solidFill>
                          <a:effectLst/>
                          <a:latin typeface="+mn-lt"/>
                        </a:rPr>
                        <a:t>Current Peer</a:t>
                      </a:r>
                    </a:p>
                  </a:txBody>
                  <a:tcPr marL="27432" marR="27432" marT="27432" marB="27432" anchor="b">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r>
                        <a:rPr lang="en-US" sz="900" b="1" i="0" u="none" strike="noStrike">
                          <a:solidFill>
                            <a:srgbClr val="FFFFFF"/>
                          </a:solidFill>
                          <a:effectLst/>
                          <a:latin typeface="+mn-lt"/>
                        </a:rPr>
                        <a:t>FYE Revenue ($MM)</a:t>
                      </a:r>
                    </a:p>
                  </a:txBody>
                  <a:tcPr marL="27432" marR="27432" marT="27432" marB="27432" anchor="b">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r>
                        <a:rPr lang="en-US" sz="900" b="1" i="0" u="none" strike="noStrike">
                          <a:solidFill>
                            <a:srgbClr val="FFFFFF"/>
                          </a:solidFill>
                          <a:effectLst/>
                          <a:latin typeface="+mn-lt"/>
                        </a:rPr>
                        <a:t>Business Description</a:t>
                      </a:r>
                    </a:p>
                  </a:txBody>
                  <a:tcPr marL="27432" marR="27432" marT="27432" marB="27432" anchor="b">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extLst>
                  <a:ext uri="{0D108BD9-81ED-4DB2-BD59-A6C34878D82A}">
                    <a16:rowId xmlns:a16="http://schemas.microsoft.com/office/drawing/2014/main" val="3632874250"/>
                  </a:ext>
                </a:extLst>
              </a:tr>
              <a:tr h="0">
                <a:tc>
                  <a:txBody>
                    <a:bodyPr/>
                    <a:lstStyle/>
                    <a:p>
                      <a:pPr algn="l" fontAlgn="ctr"/>
                      <a:r>
                        <a:rPr lang="en-US" sz="900" b="1" i="0" u="none" strike="noStrike">
                          <a:solidFill>
                            <a:srgbClr val="000000"/>
                          </a:solidFill>
                          <a:effectLst/>
                          <a:latin typeface="+mn-lt"/>
                        </a:rPr>
                        <a:t>Intuitive</a:t>
                      </a:r>
                    </a:p>
                    <a:p>
                      <a:pPr algn="l" fontAlgn="ctr"/>
                      <a:r>
                        <a:rPr lang="en-US" sz="900" b="1" i="0" u="none" strike="noStrike">
                          <a:solidFill>
                            <a:srgbClr val="000000"/>
                          </a:solidFill>
                          <a:effectLst/>
                          <a:latin typeface="+mn-lt"/>
                        </a:rPr>
                        <a:t>Surgical</a:t>
                      </a:r>
                    </a:p>
                  </a:txBody>
                  <a:tcPr marL="27432" marR="27432" marT="27432" marB="27432" anchor="ctr">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900" b="0" i="0" u="none" strike="noStrike">
                          <a:solidFill>
                            <a:srgbClr val="000000"/>
                          </a:solidFill>
                          <a:effectLst/>
                          <a:latin typeface="+mn-lt"/>
                        </a:rPr>
                        <a:t>$10,065</a:t>
                      </a:r>
                    </a:p>
                  </a:txBody>
                  <a:tcPr marL="27432" marR="27432" marT="27432" marB="27432"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1450" indent="-171450" algn="l" fontAlgn="b">
                        <a:buFont typeface="Wingdings" panose="05000000000000000000" pitchFamily="2" charset="2"/>
                        <a:buChar char="§"/>
                      </a:pPr>
                      <a:r>
                        <a:rPr lang="en-US" sz="900" b="0" i="0" u="none" strike="noStrike">
                          <a:solidFill>
                            <a:srgbClr val="000000"/>
                          </a:solidFill>
                          <a:effectLst/>
                          <a:latin typeface="Calibri" panose="020F0502020204030204" pitchFamily="34" charset="0"/>
                        </a:rPr>
                        <a:t>Develops, manufactures, and markets products that enable physicians and healthcare providers to enhance the quality of and access to minimally invasive care in the United States and internationally</a:t>
                      </a:r>
                    </a:p>
                    <a:p>
                      <a:pPr marL="171450" indent="-171450" algn="l" fontAlgn="b">
                        <a:buFont typeface="Wingdings" panose="05000000000000000000" pitchFamily="2" charset="2"/>
                        <a:buChar char="§"/>
                      </a:pPr>
                      <a:r>
                        <a:rPr lang="en-US" sz="900" b="0" i="0" u="none" strike="noStrike">
                          <a:solidFill>
                            <a:srgbClr val="000000"/>
                          </a:solidFill>
                          <a:effectLst/>
                          <a:latin typeface="Calibri" panose="020F0502020204030204" pitchFamily="34" charset="0"/>
                        </a:rPr>
                        <a:t>Offers the da Vinci Surgical System that enables surgical procedures using a minimally invasive approach; and Ion endoluminal system, which extends its commercial offerings beyond surgery into diagnostic endoluminal procedures enabling minimally invasive biopsies in the lung </a:t>
                      </a:r>
                    </a:p>
                    <a:p>
                      <a:pPr marL="171450" indent="-171450" algn="l" fontAlgn="b">
                        <a:buFont typeface="Wingdings" panose="05000000000000000000" pitchFamily="2" charset="2"/>
                        <a:buChar char="§"/>
                      </a:pPr>
                      <a:r>
                        <a:rPr lang="en-US" sz="900" b="0" i="0" u="none" strike="noStrike">
                          <a:solidFill>
                            <a:srgbClr val="000000"/>
                          </a:solidFill>
                          <a:effectLst/>
                          <a:latin typeface="Calibri" panose="020F0502020204030204" pitchFamily="34" charset="0"/>
                        </a:rPr>
                        <a:t>Provides a suite of stapling, energy, and core instrumentation for its multi-port da Vinci surgical systems; progressive learning pathways to support the use of its technology; infrastructure of customer service and support specialists, a complement of services to its customers, including installation, repair, maintenance, 24/7 technical support, and proactive system health monitoring; and integrated digital capabilities providing connected offerings, streamlining performance for hospitals with program-enhancing insights</a:t>
                      </a:r>
                    </a:p>
                  </a:txBody>
                  <a:tcPr marL="0" marR="0" marT="0" marB="0" anchor="b">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8286701"/>
                  </a:ext>
                </a:extLst>
              </a:tr>
              <a:tr h="0">
                <a:tc>
                  <a:txBody>
                    <a:bodyPr/>
                    <a:lstStyle/>
                    <a:p>
                      <a:pPr algn="l" fontAlgn="ctr"/>
                      <a:r>
                        <a:rPr lang="en-US" sz="900" b="1" i="0" u="none" strike="noStrike">
                          <a:solidFill>
                            <a:srgbClr val="000000"/>
                          </a:solidFill>
                          <a:effectLst/>
                          <a:latin typeface="+mn-lt"/>
                        </a:rPr>
                        <a:t>Zoetis</a:t>
                      </a:r>
                    </a:p>
                  </a:txBody>
                  <a:tcPr marL="27432" marR="27432" marT="27432" marB="27432" anchor="ctr">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a:solidFill>
                            <a:srgbClr val="000000"/>
                          </a:solidFill>
                          <a:effectLst/>
                          <a:latin typeface="+mn-lt"/>
                        </a:rPr>
                        <a:t>$9,467</a:t>
                      </a:r>
                    </a:p>
                  </a:txBody>
                  <a:tcPr marL="27432" marR="27432" marT="27432" marB="27432"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lgn="l" fontAlgn="b">
                        <a:buFont typeface="Wingdings" panose="05000000000000000000" pitchFamily="2" charset="2"/>
                        <a:buChar char="§"/>
                      </a:pPr>
                      <a:r>
                        <a:rPr lang="en-US" sz="900" b="0" i="0" u="none" strike="noStrike">
                          <a:solidFill>
                            <a:schemeClr val="tx1"/>
                          </a:solidFill>
                          <a:effectLst/>
                          <a:latin typeface="Calibri" panose="020F0502020204030204" pitchFamily="34" charset="0"/>
                        </a:rPr>
                        <a:t>Engages in the discovery, development, manufacture, and commercialization of medicines, vaccines, diagnostic products and services, biodevices, genetic tests, and precision animal health solutions for the animal health industry in the United States and internationally</a:t>
                      </a:r>
                    </a:p>
                    <a:p>
                      <a:pPr marL="171450" indent="-171450" algn="l" fontAlgn="b">
                        <a:buFont typeface="Wingdings" panose="05000000000000000000" pitchFamily="2" charset="2"/>
                        <a:buChar char="§"/>
                      </a:pPr>
                      <a:r>
                        <a:rPr lang="en-US" sz="900" b="0" i="0" u="none" strike="noStrike">
                          <a:solidFill>
                            <a:schemeClr val="tx1"/>
                          </a:solidFill>
                          <a:effectLst/>
                          <a:latin typeface="Calibri" panose="020F0502020204030204" pitchFamily="34" charset="0"/>
                        </a:rPr>
                        <a:t>Commercializes products primarily across companion animals comprising dogs, cats, and horses; and species, including livestock, such as cattle, swine, poultry, fish, and sheep</a:t>
                      </a:r>
                    </a:p>
                    <a:p>
                      <a:pPr marL="171450" indent="-171450" algn="l" fontAlgn="b">
                        <a:buFont typeface="Wingdings" panose="05000000000000000000" pitchFamily="2" charset="2"/>
                        <a:buChar char="§"/>
                      </a:pPr>
                      <a:r>
                        <a:rPr lang="en-US" sz="900" b="0" i="0" u="none" strike="noStrike">
                          <a:solidFill>
                            <a:schemeClr val="tx1"/>
                          </a:solidFill>
                          <a:effectLst/>
                          <a:latin typeface="Calibri" panose="020F0502020204030204" pitchFamily="34" charset="0"/>
                        </a:rPr>
                        <a:t>Offers parasiticides, vaccines, dermatology, anti-infectives, pain and sedation, other pharmaceutical, and animal health diagnostics</a:t>
                      </a:r>
                    </a:p>
                    <a:p>
                      <a:pPr marL="171450" indent="-171450" algn="l" fontAlgn="b">
                        <a:buFont typeface="Wingdings" panose="05000000000000000000" pitchFamily="2" charset="2"/>
                        <a:buChar char="§"/>
                      </a:pPr>
                      <a:r>
                        <a:rPr lang="en-US" sz="900" b="0" i="0" u="none" strike="noStrike">
                          <a:solidFill>
                            <a:schemeClr val="tx1"/>
                          </a:solidFill>
                          <a:effectLst/>
                          <a:latin typeface="Calibri" panose="020F0502020204030204" pitchFamily="34" charset="0"/>
                        </a:rPr>
                        <a:t>Provides animal health diagnostics, including point-of-care diagnostic products, instruments and reagents, rapid immunoassay tests, reference laboratory kits and services, and blood glucose monitors; and other non-pharmaceutical products, which include nutritionals, as well as products and services in biodevices, genetic tests, and precision animal health</a:t>
                      </a:r>
                    </a:p>
                    <a:p>
                      <a:pPr marL="171450" indent="-171450" algn="l" fontAlgn="b">
                        <a:buFont typeface="Wingdings" panose="05000000000000000000" pitchFamily="2" charset="2"/>
                        <a:buChar char="§"/>
                      </a:pPr>
                      <a:r>
                        <a:rPr lang="en-US" sz="900" b="0" i="0" u="none" strike="noStrike">
                          <a:solidFill>
                            <a:schemeClr val="tx1"/>
                          </a:solidFill>
                          <a:effectLst/>
                          <a:latin typeface="Calibri" panose="020F0502020204030204" pitchFamily="34" charset="0"/>
                        </a:rPr>
                        <a:t>Markets its products to veterinarians, livestock producers, and pet owners</a:t>
                      </a:r>
                    </a:p>
                  </a:txBody>
                  <a:tcPr marL="0" marR="0" marT="0" marB="0" anchor="b">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590539770"/>
                  </a:ext>
                </a:extLst>
              </a:tr>
              <a:tr h="0">
                <a:tc>
                  <a:txBody>
                    <a:bodyPr/>
                    <a:lstStyle/>
                    <a:p>
                      <a:pPr algn="l" fontAlgn="ctr"/>
                      <a:r>
                        <a:rPr lang="en-US" sz="900" b="1" i="0" u="none" strike="noStrike">
                          <a:solidFill>
                            <a:srgbClr val="000000"/>
                          </a:solidFill>
                          <a:effectLst/>
                          <a:latin typeface="+mn-lt"/>
                        </a:rPr>
                        <a:t>Agilent</a:t>
                      </a:r>
                    </a:p>
                    <a:p>
                      <a:pPr algn="l" fontAlgn="ctr"/>
                      <a:r>
                        <a:rPr lang="en-US" sz="900" b="1" i="0" u="none" strike="noStrike">
                          <a:solidFill>
                            <a:srgbClr val="000000"/>
                          </a:solidFill>
                          <a:effectLst/>
                          <a:latin typeface="+mn-lt"/>
                        </a:rPr>
                        <a:t>Technologies</a:t>
                      </a:r>
                    </a:p>
                  </a:txBody>
                  <a:tcPr marL="27432" marR="27432" marT="27432" marB="27432" anchor="ctr">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900" b="0" i="0" u="none" strike="noStrike">
                          <a:effectLst/>
                          <a:latin typeface="+mn-lt"/>
                        </a:rPr>
                        <a:t>$6,948</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kumimoji="0" lang="en-US" sz="900" b="0" i="0" u="none" strike="noStrike" kern="1200" cap="none" spc="0" normalizeH="0" baseline="0" noProof="0">
                          <a:ln>
                            <a:noFill/>
                          </a:ln>
                          <a:solidFill>
                            <a:schemeClr val="tx1"/>
                          </a:solidFill>
                          <a:effectLst/>
                          <a:uLnTx/>
                          <a:uFillTx/>
                          <a:latin typeface="+mn-lt"/>
                          <a:ea typeface="+mn-ea"/>
                          <a:cs typeface="+mn-cs"/>
                        </a:rPr>
                        <a:t>Provides application focused solutions to the life sciences, diagnostics, and applied chemical markets worldwide</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lang="en-US" sz="900" b="0" i="0" u="none" strike="noStrike">
                          <a:solidFill>
                            <a:schemeClr val="tx1"/>
                          </a:solidFill>
                          <a:effectLst/>
                          <a:latin typeface="Calibri" panose="020F0502020204030204" pitchFamily="34" charset="0"/>
                        </a:rPr>
                        <a:t>Operates through three segments: Life Sciences and Diagnostics Markets, Agilent CrossLab, and Applied Markets</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lang="en-US" sz="900" b="0" i="0" u="none" strike="noStrike">
                          <a:solidFill>
                            <a:schemeClr val="tx1"/>
                          </a:solidFill>
                          <a:effectLst/>
                          <a:latin typeface="Calibri" panose="020F0502020204030204" pitchFamily="34" charset="0"/>
                        </a:rPr>
                        <a:t>Involved in the genomics, contract development and manufacturing organization, pathology, companion diagnostics, and biomolecular analysis businesses. </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lang="en-US" sz="900" b="0" i="0" u="none" strike="noStrike">
                          <a:solidFill>
                            <a:schemeClr val="tx1"/>
                          </a:solidFill>
                          <a:effectLst/>
                          <a:latin typeface="Calibri" panose="020F0502020204030204" pitchFamily="34" charset="0"/>
                        </a:rPr>
                        <a:t>Offers liquid chromatography systems and components, and liquid chromatography mass spectrometry systems, gas chromatography, gas chromatography and liquid chromatography columns, mass spectrometry, spectroscopy, vacuum technology, sample preparation products, custom chemistries, laboratory supplies, and remarketed instruments</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lang="en-US" sz="900" b="0" i="0" u="none" strike="noStrike">
                          <a:solidFill>
                            <a:schemeClr val="tx1"/>
                          </a:solidFill>
                          <a:effectLst/>
                          <a:latin typeface="Calibri" panose="020F0502020204030204" pitchFamily="34" charset="0"/>
                        </a:rPr>
                        <a:t>Provides various services, including repairs, parts, maintenance, installations, training, compliance support, software as a service, asset management, consulting, and other custom services.</a:t>
                      </a:r>
                    </a:p>
                  </a:txBody>
                  <a:tcPr marL="0" marR="0" marT="0" marB="0" anchor="ctr">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88849602"/>
                  </a:ext>
                </a:extLst>
              </a:tr>
            </a:tbl>
          </a:graphicData>
        </a:graphic>
      </p:graphicFrame>
    </p:spTree>
    <p:extLst>
      <p:ext uri="{BB962C8B-B14F-4D97-AF65-F5344CB8AC3E}">
        <p14:creationId xmlns:p14="http://schemas.microsoft.com/office/powerpoint/2010/main" val="2811447437"/>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52ABC6-E35D-B9BF-B809-842F67C25D85}"/>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BA85D45D-781E-2BB0-1D7C-AD836E185575}"/>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5" name="Title 4">
            <a:extLst>
              <a:ext uri="{FF2B5EF4-FFF2-40B4-BE49-F238E27FC236}">
                <a16:creationId xmlns:a16="http://schemas.microsoft.com/office/drawing/2014/main" id="{D0A750A6-8B60-4384-9C1E-206E0564E772}"/>
              </a:ext>
            </a:extLst>
          </p:cNvPr>
          <p:cNvSpPr>
            <a:spLocks noGrp="1"/>
          </p:cNvSpPr>
          <p:nvPr>
            <p:ph type="title"/>
          </p:nvPr>
        </p:nvSpPr>
        <p:spPr>
          <a:xfrm>
            <a:off x="882797" y="44215"/>
            <a:ext cx="8074152" cy="1292899"/>
          </a:xfrm>
        </p:spPr>
        <p:txBody>
          <a:bodyPr/>
          <a:lstStyle/>
          <a:p>
            <a:r>
              <a:rPr lang="en-US" dirty="0"/>
              <a:t>Business descriptions for </a:t>
            </a:r>
            <a:r>
              <a:rPr lang="en-US" dirty="0" err="1"/>
              <a:t>Goofy’s</a:t>
            </a:r>
            <a:r>
              <a:rPr lang="en-US" dirty="0"/>
              <a:t> current compensation peers are as follows: </a:t>
            </a:r>
            <a:r>
              <a:rPr lang="en-US" i="1" dirty="0"/>
              <a:t>(continued)</a:t>
            </a:r>
            <a:endParaRPr lang="en-US" dirty="0"/>
          </a:p>
        </p:txBody>
      </p:sp>
      <p:sp>
        <p:nvSpPr>
          <p:cNvPr id="4" name="Slide Number Placeholder 3">
            <a:extLst>
              <a:ext uri="{FF2B5EF4-FFF2-40B4-BE49-F238E27FC236}">
                <a16:creationId xmlns:a16="http://schemas.microsoft.com/office/drawing/2014/main" id="{E9B1622C-313E-E502-3119-C78A940A7D56}"/>
              </a:ext>
            </a:extLst>
          </p:cNvPr>
          <p:cNvSpPr>
            <a:spLocks noGrp="1"/>
          </p:cNvSpPr>
          <p:nvPr>
            <p:ph type="sldNum" sz="quarter" idx="12"/>
          </p:nvPr>
        </p:nvSpPr>
        <p:spPr>
          <a:xfrm>
            <a:off x="8581802" y="6577909"/>
            <a:ext cx="352260" cy="211339"/>
          </a:xfrm>
        </p:spPr>
        <p:txBody>
          <a:bodyPr/>
          <a:lstStyle/>
          <a:p>
            <a:fld id="{91690BAF-E217-4185-92FD-0CEA06F2B7C8}" type="slidenum">
              <a:rPr lang="en-US" smtClean="0"/>
              <a:pPr/>
              <a:t>16</a:t>
            </a:fld>
            <a:endParaRPr lang="en-US"/>
          </a:p>
        </p:txBody>
      </p:sp>
      <p:sp>
        <p:nvSpPr>
          <p:cNvPr id="2" name="TextBox 1">
            <a:extLst>
              <a:ext uri="{FF2B5EF4-FFF2-40B4-BE49-F238E27FC236}">
                <a16:creationId xmlns:a16="http://schemas.microsoft.com/office/drawing/2014/main" id="{DD54C35A-4F9B-6D16-A722-910DDBDEEA27}"/>
              </a:ext>
            </a:extLst>
          </p:cNvPr>
          <p:cNvSpPr txBox="1"/>
          <p:nvPr/>
        </p:nvSpPr>
        <p:spPr>
          <a:xfrm>
            <a:off x="1593272" y="1235399"/>
            <a:ext cx="5957455" cy="307777"/>
          </a:xfrm>
          <a:prstGeom prst="rect">
            <a:avLst/>
          </a:prstGeom>
          <a:noFill/>
        </p:spPr>
        <p:txBody>
          <a:bodyPr wrap="square" lIns="45720" tIns="45720" rIns="45720" bIns="45720" rtlCol="0" anchor="ctr">
            <a:spAutoFit/>
          </a:bodyPr>
          <a:lstStyle/>
          <a:p>
            <a:pPr algn="ctr"/>
            <a:r>
              <a:rPr lang="en-US" sz="1400" b="1"/>
              <a:t>Business Descriptions of Current Peers </a:t>
            </a:r>
            <a:r>
              <a:rPr lang="en-US" sz="1400" b="1" i="1"/>
              <a:t>(continued)</a:t>
            </a:r>
          </a:p>
        </p:txBody>
      </p:sp>
      <p:graphicFrame>
        <p:nvGraphicFramePr>
          <p:cNvPr id="6" name="Table 5">
            <a:extLst>
              <a:ext uri="{FF2B5EF4-FFF2-40B4-BE49-F238E27FC236}">
                <a16:creationId xmlns:a16="http://schemas.microsoft.com/office/drawing/2014/main" id="{AC7AB911-46DF-966A-31B5-3E4580E9634E}"/>
              </a:ext>
            </a:extLst>
          </p:cNvPr>
          <p:cNvGraphicFramePr>
            <a:graphicFrameLocks noGrp="1"/>
          </p:cNvGraphicFramePr>
          <p:nvPr>
            <p:extLst>
              <p:ext uri="{D42A27DB-BD31-4B8C-83A1-F6EECF244321}">
                <p14:modId xmlns:p14="http://schemas.microsoft.com/office/powerpoint/2010/main" val="2725146801"/>
              </p:ext>
            </p:extLst>
          </p:nvPr>
        </p:nvGraphicFramePr>
        <p:xfrm>
          <a:off x="86592" y="1529977"/>
          <a:ext cx="8970816" cy="4718304"/>
        </p:xfrm>
        <a:graphic>
          <a:graphicData uri="http://schemas.openxmlformats.org/drawingml/2006/table">
            <a:tbl>
              <a:tblPr/>
              <a:tblGrid>
                <a:gridCol w="739861">
                  <a:extLst>
                    <a:ext uri="{9D8B030D-6E8A-4147-A177-3AD203B41FA5}">
                      <a16:colId xmlns:a16="http://schemas.microsoft.com/office/drawing/2014/main" val="2847594257"/>
                    </a:ext>
                  </a:extLst>
                </a:gridCol>
                <a:gridCol w="739861">
                  <a:extLst>
                    <a:ext uri="{9D8B030D-6E8A-4147-A177-3AD203B41FA5}">
                      <a16:colId xmlns:a16="http://schemas.microsoft.com/office/drawing/2014/main" val="2325195630"/>
                    </a:ext>
                  </a:extLst>
                </a:gridCol>
                <a:gridCol w="7491094">
                  <a:extLst>
                    <a:ext uri="{9D8B030D-6E8A-4147-A177-3AD203B41FA5}">
                      <a16:colId xmlns:a16="http://schemas.microsoft.com/office/drawing/2014/main" val="2715828596"/>
                    </a:ext>
                  </a:extLst>
                </a:gridCol>
              </a:tblGrid>
              <a:tr h="0">
                <a:tc>
                  <a:txBody>
                    <a:bodyPr/>
                    <a:lstStyle/>
                    <a:p>
                      <a:pPr algn="ctr" fontAlgn="b"/>
                      <a:r>
                        <a:rPr lang="en-US" sz="900" b="1" i="0" u="none" strike="noStrike">
                          <a:solidFill>
                            <a:srgbClr val="FFFFFF"/>
                          </a:solidFill>
                          <a:effectLst/>
                          <a:latin typeface="+mn-lt"/>
                        </a:rPr>
                        <a:t>Current Peer</a:t>
                      </a:r>
                    </a:p>
                  </a:txBody>
                  <a:tcPr marL="27432" marR="27432" marT="27432" marB="27432" anchor="b">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r>
                        <a:rPr lang="en-US" sz="900" b="1" i="0" u="none" strike="noStrike">
                          <a:solidFill>
                            <a:srgbClr val="FFFFFF"/>
                          </a:solidFill>
                          <a:effectLst/>
                          <a:latin typeface="+mn-lt"/>
                        </a:rPr>
                        <a:t>FYE Revenue ($MM)</a:t>
                      </a:r>
                    </a:p>
                  </a:txBody>
                  <a:tcPr marL="27432" marR="27432" marT="27432" marB="27432" anchor="b">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r>
                        <a:rPr lang="en-US" sz="900" b="1" i="0" u="none" strike="noStrike">
                          <a:solidFill>
                            <a:srgbClr val="FFFFFF"/>
                          </a:solidFill>
                          <a:effectLst/>
                          <a:latin typeface="+mn-lt"/>
                        </a:rPr>
                        <a:t>Business Description</a:t>
                      </a:r>
                    </a:p>
                  </a:txBody>
                  <a:tcPr marL="27432" marR="27432" marT="27432" marB="27432" anchor="b">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extLst>
                  <a:ext uri="{0D108BD9-81ED-4DB2-BD59-A6C34878D82A}">
                    <a16:rowId xmlns:a16="http://schemas.microsoft.com/office/drawing/2014/main" val="3632874250"/>
                  </a:ext>
                </a:extLst>
              </a:tr>
              <a:tr h="0">
                <a:tc>
                  <a:txBody>
                    <a:bodyPr/>
                    <a:lstStyle/>
                    <a:p>
                      <a:pPr algn="l" fontAlgn="ctr"/>
                      <a:r>
                        <a:rPr lang="en-US" sz="900" b="1" i="0" u="none" strike="noStrike">
                          <a:effectLst/>
                          <a:latin typeface="+mn-lt"/>
                        </a:rPr>
                        <a:t>Edwards Lifesciences </a:t>
                      </a:r>
                    </a:p>
                  </a:txBody>
                  <a:tcPr marL="27432" marR="27432" marT="0" marB="0" anchor="ctr">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900" b="0" i="0" u="none" strike="noStrike">
                          <a:effectLst/>
                          <a:latin typeface="+mn-lt"/>
                        </a:rPr>
                        <a:t>$6,068</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1450" indent="-171450" algn="l" fontAlgn="ctr">
                        <a:buFont typeface="Wingdings" panose="05000000000000000000" pitchFamily="2" charset="2"/>
                        <a:buChar char="§"/>
                      </a:pPr>
                      <a:r>
                        <a:rPr lang="en-US" sz="900" b="0" i="0" u="none" strike="noStrike">
                          <a:solidFill>
                            <a:srgbClr val="000000"/>
                          </a:solidFill>
                          <a:effectLst/>
                          <a:latin typeface="Calibri" panose="020F0502020204030204" pitchFamily="34" charset="0"/>
                        </a:rPr>
                        <a:t>Provides products and technologies to treat advanced cardiovascular diseases in the United States, Europe, Japan, and internationally</a:t>
                      </a:r>
                    </a:p>
                    <a:p>
                      <a:pPr marL="171450" indent="-171450" algn="l" fontAlgn="ctr">
                        <a:buFont typeface="Wingdings" panose="05000000000000000000" pitchFamily="2" charset="2"/>
                        <a:buChar char="§"/>
                      </a:pPr>
                      <a:r>
                        <a:rPr lang="en-US" sz="900" b="0" i="0" u="none" strike="noStrike">
                          <a:solidFill>
                            <a:srgbClr val="000000"/>
                          </a:solidFill>
                          <a:effectLst/>
                          <a:latin typeface="Calibri" panose="020F0502020204030204" pitchFamily="34" charset="0"/>
                        </a:rPr>
                        <a:t>It offers transcatheter heart valve replacement products for minimally invasive replacement of aortic heart valves under the Edwards SAPIEN family of valves system; and transcatheter heart valve repair and replacement products to treat mitral and tricuspid valve diseases under the PASCAL and EVOQUE brands</a:t>
                      </a:r>
                    </a:p>
                    <a:p>
                      <a:pPr marL="171450" indent="-171450" algn="l" fontAlgn="ctr">
                        <a:buFont typeface="Wingdings" panose="05000000000000000000" pitchFamily="2" charset="2"/>
                        <a:buChar char="§"/>
                      </a:pPr>
                      <a:r>
                        <a:rPr lang="en-US" sz="900" b="0" i="0" u="none" strike="noStrike">
                          <a:solidFill>
                            <a:srgbClr val="000000"/>
                          </a:solidFill>
                          <a:effectLst/>
                          <a:latin typeface="Calibri" panose="020F0502020204030204" pitchFamily="34" charset="0"/>
                        </a:rPr>
                        <a:t>The company also provides surgical structural heart solutions, such as aortic surgical valve under the INSPIRIS brand name; INSPIRIS RESILIA aortic valve, which offers RESILIA tissue and VFit technology; KONECT RESILIA, a pre-assembled tissue valve conduit for complex combined procedures; and MITRIS RESILIA valve </a:t>
                      </a:r>
                    </a:p>
                  </a:txBody>
                  <a:tcPr marL="0" marR="0" marT="0" marB="0" anchor="ctr">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8286701"/>
                  </a:ext>
                </a:extLst>
              </a:tr>
              <a:tr h="0">
                <a:tc>
                  <a:txBody>
                    <a:bodyPr/>
                    <a:lstStyle/>
                    <a:p>
                      <a:pPr algn="l" fontAlgn="ctr"/>
                      <a:r>
                        <a:rPr lang="en-US" sz="900" b="1" i="0" u="none" strike="noStrike">
                          <a:effectLst/>
                          <a:latin typeface="+mn-lt"/>
                        </a:rPr>
                        <a:t>STERIS plc</a:t>
                      </a:r>
                    </a:p>
                  </a:txBody>
                  <a:tcPr marL="27432" marR="27432" marT="0" marB="0" anchor="ctr">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a:effectLst/>
                          <a:latin typeface="+mn-lt"/>
                        </a:rPr>
                        <a:t>$5,460</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kumimoji="0" lang="en-US" sz="900" b="0" i="0" u="none" strike="noStrike" kern="1200" cap="none" spc="0" normalizeH="0" baseline="0" noProof="0">
                          <a:ln>
                            <a:noFill/>
                          </a:ln>
                          <a:solidFill>
                            <a:srgbClr val="000000"/>
                          </a:solidFill>
                          <a:effectLst/>
                          <a:uLnTx/>
                          <a:uFillTx/>
                          <a:latin typeface="+mn-lt"/>
                          <a:ea typeface="+mn-ea"/>
                          <a:cs typeface="+mn-cs"/>
                        </a:rPr>
                        <a:t>Operates through three segments: Healthcare, Applied Sterilization Technologies (AST), and Life Sciences</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lang="en-US" sz="900" b="0" i="0" u="none" strike="noStrike">
                          <a:solidFill>
                            <a:schemeClr val="tx1"/>
                          </a:solidFill>
                          <a:effectLst/>
                          <a:latin typeface="Calibri" panose="020F0502020204030204" pitchFamily="34" charset="0"/>
                        </a:rPr>
                        <a:t>Offers cleaning chemistries and sterility assurance products; automated endoscope reprocessing system and tracking products; endoscopy accessories, washers, sterilizers, and other pieces of capital equipment for the operation of a sterile processing department; and equipment used directly in procedure rooms, including surgical tables, lights, and connectivity solutions, as well as equipment management services</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lang="en-US" sz="900" b="0" i="0" u="none" strike="noStrike">
                          <a:solidFill>
                            <a:schemeClr val="tx1"/>
                          </a:solidFill>
                          <a:effectLst/>
                          <a:latin typeface="Calibri" panose="020F0502020204030204" pitchFamily="34" charset="0"/>
                        </a:rPr>
                        <a:t>Provides capital equipment installation, maintenance, upgradation, repair, and troubleshooting services; preventive maintenance programs and repair services; instrument, devices, and endoscope repair and maintenance services; and custom process improvement consulting and outsourced instrument sterile processing services</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lang="en-US" sz="900" b="0" i="0" u="none" strike="noStrike">
                          <a:solidFill>
                            <a:schemeClr val="tx1"/>
                          </a:solidFill>
                          <a:effectLst/>
                          <a:latin typeface="Calibri" panose="020F0502020204030204" pitchFamily="34" charset="0"/>
                        </a:rPr>
                        <a:t>Provides contract sterilization and testing services for medical device and pharmaceutical manufacturers through a network of contract sterilization and laboratory facilities, as well as integrated sterilization equipment and control systems to medical device manufacturers and research institutions</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lang="en-US" sz="900" b="0" i="0" u="none" strike="noStrike">
                          <a:solidFill>
                            <a:schemeClr val="tx1"/>
                          </a:solidFill>
                          <a:effectLst/>
                          <a:latin typeface="Calibri" panose="020F0502020204030204" pitchFamily="34" charset="0"/>
                        </a:rPr>
                        <a:t>Designs, manufactures, and sells consumable products, such as pharmaceutical detergents, cleanroom disinfectants and sterilants, pharmaceutical grade and research sterilizers and washers, sterility assurance and maintenance products, vaporized hydrogen peroxide room decontamination systems and sterilizers, and high purity water and pure steam generators</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kumimoji="0" lang="en-US" sz="900" b="0" i="0" u="none" strike="noStrike" kern="1200" cap="none" spc="0" normalizeH="0" baseline="0" noProof="0">
                          <a:ln>
                            <a:noFill/>
                          </a:ln>
                          <a:solidFill>
                            <a:schemeClr val="tx1"/>
                          </a:solidFill>
                          <a:effectLst/>
                          <a:uLnTx/>
                          <a:uFillTx/>
                          <a:latin typeface="+mn-lt"/>
                          <a:ea typeface="+mn-ea"/>
                          <a:cs typeface="+mn-cs"/>
                        </a:rPr>
                        <a:t>Serves hospitals, other healthcare providers, and pharmaceutical manufacturers</a:t>
                      </a:r>
                      <a:endParaRPr lang="en-US" sz="900" b="0" i="0" u="none" strike="noStrike">
                        <a:solidFill>
                          <a:schemeClr val="tx1"/>
                        </a:solidFill>
                        <a:effectLst/>
                        <a:latin typeface="Calibri" panose="020F0502020204030204" pitchFamily="34" charset="0"/>
                      </a:endParaRPr>
                    </a:p>
                  </a:txBody>
                  <a:tcPr marL="0" marR="0" marT="0" marB="0" anchor="b">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590539770"/>
                  </a:ext>
                </a:extLst>
              </a:tr>
              <a:tr h="0">
                <a:tc>
                  <a:txBody>
                    <a:bodyPr/>
                    <a:lstStyle/>
                    <a:p>
                      <a:pPr algn="l" fontAlgn="ctr"/>
                      <a:r>
                        <a:rPr lang="en-US" sz="900" b="1" i="0" u="none" strike="noStrike">
                          <a:effectLst/>
                          <a:latin typeface="+mn-lt"/>
                        </a:rPr>
                        <a:t>ResMed </a:t>
                      </a:r>
                    </a:p>
                  </a:txBody>
                  <a:tcPr marL="27432" marR="27432" marT="0" marB="0" anchor="ctr">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a:effectLst/>
                          <a:latin typeface="+mn-lt"/>
                        </a:rPr>
                        <a:t>$5,146</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l" fontAlgn="b">
                        <a:buFont typeface="Wingdings" panose="05000000000000000000" pitchFamily="2" charset="2"/>
                        <a:buChar char="§"/>
                      </a:pPr>
                      <a:r>
                        <a:rPr lang="en-US" sz="900" b="0" i="0" u="none" strike="noStrike">
                          <a:solidFill>
                            <a:schemeClr val="tx1"/>
                          </a:solidFill>
                          <a:effectLst/>
                          <a:latin typeface="Calibri" panose="020F0502020204030204" pitchFamily="34" charset="0"/>
                        </a:rPr>
                        <a:t>Develops, manufactures, distributes, and markets medical devices and cloud-based software applications to diagnose, treat, and manage respiratory disorders in the United States and internationally</a:t>
                      </a:r>
                    </a:p>
                    <a:p>
                      <a:pPr marL="171450" indent="-171450" algn="l" fontAlgn="b">
                        <a:buFont typeface="Wingdings" panose="05000000000000000000" pitchFamily="2" charset="2"/>
                        <a:buChar char="§"/>
                      </a:pPr>
                      <a:r>
                        <a:rPr lang="en-US" sz="900" b="0" i="0" u="none" strike="noStrike">
                          <a:solidFill>
                            <a:schemeClr val="tx1"/>
                          </a:solidFill>
                          <a:effectLst/>
                          <a:latin typeface="Calibri" panose="020F0502020204030204" pitchFamily="34" charset="0"/>
                        </a:rPr>
                        <a:t>Operates in two segments, Sleep and Breathing Health, and Residential Care Software </a:t>
                      </a:r>
                    </a:p>
                    <a:p>
                      <a:pPr marL="171450" indent="-171450" algn="l" fontAlgn="b">
                        <a:buFont typeface="Wingdings" panose="05000000000000000000" pitchFamily="2" charset="2"/>
                        <a:buChar char="§"/>
                      </a:pPr>
                      <a:r>
                        <a:rPr lang="en-US" sz="900" b="0" i="0" u="none" strike="noStrike">
                          <a:solidFill>
                            <a:schemeClr val="tx1"/>
                          </a:solidFill>
                          <a:effectLst/>
                          <a:latin typeface="Calibri" panose="020F0502020204030204" pitchFamily="34" charset="0"/>
                        </a:rPr>
                        <a:t>Offers sleep recorders for the diagnosis and titration of sleep apnea in sleep clinics, hospitals, and at home, including ApneaLink Air, a portable diagnostic device that measures oximetry, respiratory effort, pulse, nasal flow, and snoring; NightOwl, a portable, cloud-connected, and disposable diagnostic device that measures AHI based on derived peripheral arterial tone, actigraphy, and oximetry; and EasyCare Tx, a sleep lab solution</a:t>
                      </a:r>
                    </a:p>
                    <a:p>
                      <a:pPr marL="171450" indent="-171450" algn="l" fontAlgn="b">
                        <a:buFont typeface="Wingdings" panose="05000000000000000000" pitchFamily="2" charset="2"/>
                        <a:buChar char="§"/>
                      </a:pPr>
                      <a:r>
                        <a:rPr lang="en-US" sz="900" b="0" i="0" u="none" strike="noStrike">
                          <a:solidFill>
                            <a:schemeClr val="tx1"/>
                          </a:solidFill>
                          <a:effectLst/>
                          <a:latin typeface="Calibri" panose="020F0502020204030204" pitchFamily="34" charset="0"/>
                        </a:rPr>
                        <a:t>Provides AirView, a cloud-based system that enables remote monitoring and changing of patients’ device settings; myAir, a personalized therapy management application for patients with sleep apnea that provides support, education, and troubleshooting tools for increased patient engagement and improved compliance; and connectivity module which provides a cellular connection between compatible ventilation devices and AirView system</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kumimoji="0" lang="en-US" sz="900" b="0" i="0" u="none" strike="noStrike" kern="1200" cap="none" spc="0" normalizeH="0" baseline="0" noProof="0">
                          <a:ln>
                            <a:noFill/>
                          </a:ln>
                          <a:solidFill>
                            <a:schemeClr val="tx1"/>
                          </a:solidFill>
                          <a:effectLst/>
                          <a:uLnTx/>
                          <a:uFillTx/>
                          <a:latin typeface="+mn-lt"/>
                          <a:ea typeface="+mn-ea"/>
                          <a:cs typeface="+mn-cs"/>
                        </a:rPr>
                        <a:t>Offers out-of-hospital software solution, such as Brightree business management software and service solutions to providers of HME, pharmacy, home infusion, orthotics, and prosthetics services; MatrixCare care management and related ancillary solutions to senior living, skilled nursing, life plan communities, home health, home care, and hospice organizations, as well as related accountable care organizations; and HEALTHCAREfirst that offers electronic health record, software, billing and coding services, and analytics for home health and hospice agencies</a:t>
                      </a:r>
                      <a:endParaRPr lang="en-US" sz="900" b="0" i="0" u="none" strike="noStrike">
                        <a:solidFill>
                          <a:schemeClr val="tx1"/>
                        </a:solidFill>
                        <a:effectLst/>
                        <a:latin typeface="Calibri" panose="020F0502020204030204" pitchFamily="34" charset="0"/>
                      </a:endParaRPr>
                    </a:p>
                  </a:txBody>
                  <a:tcPr marL="0" marR="0" marT="0" marB="0" anchor="b">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39908096"/>
                  </a:ext>
                </a:extLst>
              </a:tr>
            </a:tbl>
          </a:graphicData>
        </a:graphic>
      </p:graphicFrame>
    </p:spTree>
    <p:extLst>
      <p:ext uri="{BB962C8B-B14F-4D97-AF65-F5344CB8AC3E}">
        <p14:creationId xmlns:p14="http://schemas.microsoft.com/office/powerpoint/2010/main" val="1518959984"/>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6CFB2D-404B-9A37-7FE3-C0D284278628}"/>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078D3EB0-0D58-DDAC-E32E-F04FB19C9C51}"/>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5" name="Title 4">
            <a:extLst>
              <a:ext uri="{FF2B5EF4-FFF2-40B4-BE49-F238E27FC236}">
                <a16:creationId xmlns:a16="http://schemas.microsoft.com/office/drawing/2014/main" id="{FC35150F-9B42-7292-DB55-B8529E756184}"/>
              </a:ext>
            </a:extLst>
          </p:cNvPr>
          <p:cNvSpPr>
            <a:spLocks noGrp="1"/>
          </p:cNvSpPr>
          <p:nvPr>
            <p:ph type="title"/>
          </p:nvPr>
        </p:nvSpPr>
        <p:spPr>
          <a:xfrm>
            <a:off x="882797" y="44215"/>
            <a:ext cx="8074152" cy="1292899"/>
          </a:xfrm>
        </p:spPr>
        <p:txBody>
          <a:bodyPr/>
          <a:lstStyle/>
          <a:p>
            <a:r>
              <a:rPr lang="en-US" dirty="0"/>
              <a:t>Business descriptions for </a:t>
            </a:r>
            <a:r>
              <a:rPr lang="en-US" dirty="0" err="1"/>
              <a:t>Goofy’s</a:t>
            </a:r>
            <a:r>
              <a:rPr lang="en-US" dirty="0"/>
              <a:t> current compensation peers are as follows: </a:t>
            </a:r>
            <a:r>
              <a:rPr lang="en-US" i="1" dirty="0"/>
              <a:t>(continued)</a:t>
            </a:r>
            <a:endParaRPr lang="en-US" dirty="0"/>
          </a:p>
        </p:txBody>
      </p:sp>
      <p:sp>
        <p:nvSpPr>
          <p:cNvPr id="4" name="Slide Number Placeholder 3">
            <a:extLst>
              <a:ext uri="{FF2B5EF4-FFF2-40B4-BE49-F238E27FC236}">
                <a16:creationId xmlns:a16="http://schemas.microsoft.com/office/drawing/2014/main" id="{0031070F-CA1C-79A9-7D0D-7338FDB93294}"/>
              </a:ext>
            </a:extLst>
          </p:cNvPr>
          <p:cNvSpPr>
            <a:spLocks noGrp="1"/>
          </p:cNvSpPr>
          <p:nvPr>
            <p:ph type="sldNum" sz="quarter" idx="12"/>
          </p:nvPr>
        </p:nvSpPr>
        <p:spPr>
          <a:xfrm>
            <a:off x="8581802" y="6577909"/>
            <a:ext cx="352260" cy="211339"/>
          </a:xfrm>
        </p:spPr>
        <p:txBody>
          <a:bodyPr/>
          <a:lstStyle/>
          <a:p>
            <a:fld id="{91690BAF-E217-4185-92FD-0CEA06F2B7C8}" type="slidenum">
              <a:rPr lang="en-US" smtClean="0"/>
              <a:pPr/>
              <a:t>17</a:t>
            </a:fld>
            <a:endParaRPr lang="en-US"/>
          </a:p>
        </p:txBody>
      </p:sp>
      <p:sp>
        <p:nvSpPr>
          <p:cNvPr id="2" name="TextBox 1">
            <a:extLst>
              <a:ext uri="{FF2B5EF4-FFF2-40B4-BE49-F238E27FC236}">
                <a16:creationId xmlns:a16="http://schemas.microsoft.com/office/drawing/2014/main" id="{98DB4987-2455-7215-E577-3A173F9CABD5}"/>
              </a:ext>
            </a:extLst>
          </p:cNvPr>
          <p:cNvSpPr txBox="1"/>
          <p:nvPr/>
        </p:nvSpPr>
        <p:spPr>
          <a:xfrm>
            <a:off x="1593272" y="1078045"/>
            <a:ext cx="5957455" cy="307777"/>
          </a:xfrm>
          <a:prstGeom prst="rect">
            <a:avLst/>
          </a:prstGeom>
          <a:noFill/>
        </p:spPr>
        <p:txBody>
          <a:bodyPr wrap="square" lIns="45720" tIns="45720" rIns="45720" bIns="45720" rtlCol="0" anchor="ctr">
            <a:spAutoFit/>
          </a:bodyPr>
          <a:lstStyle/>
          <a:p>
            <a:pPr algn="ctr"/>
            <a:r>
              <a:rPr lang="en-US" sz="1400" b="1"/>
              <a:t>Business Descriptions of Current Peers </a:t>
            </a:r>
            <a:r>
              <a:rPr lang="en-US" sz="1400" b="1" i="1"/>
              <a:t>(continued)</a:t>
            </a:r>
            <a:endParaRPr lang="en-US" sz="1400" b="1"/>
          </a:p>
        </p:txBody>
      </p:sp>
      <p:graphicFrame>
        <p:nvGraphicFramePr>
          <p:cNvPr id="6" name="Table 5">
            <a:extLst>
              <a:ext uri="{FF2B5EF4-FFF2-40B4-BE49-F238E27FC236}">
                <a16:creationId xmlns:a16="http://schemas.microsoft.com/office/drawing/2014/main" id="{F054443A-AADA-926A-7867-38FA763ED7A9}"/>
              </a:ext>
            </a:extLst>
          </p:cNvPr>
          <p:cNvGraphicFramePr>
            <a:graphicFrameLocks noGrp="1"/>
          </p:cNvGraphicFramePr>
          <p:nvPr>
            <p:extLst>
              <p:ext uri="{D42A27DB-BD31-4B8C-83A1-F6EECF244321}">
                <p14:modId xmlns:p14="http://schemas.microsoft.com/office/powerpoint/2010/main" val="291045208"/>
              </p:ext>
            </p:extLst>
          </p:nvPr>
        </p:nvGraphicFramePr>
        <p:xfrm>
          <a:off x="86592" y="1385822"/>
          <a:ext cx="8970816" cy="4992624"/>
        </p:xfrm>
        <a:graphic>
          <a:graphicData uri="http://schemas.openxmlformats.org/drawingml/2006/table">
            <a:tbl>
              <a:tblPr/>
              <a:tblGrid>
                <a:gridCol w="739861">
                  <a:extLst>
                    <a:ext uri="{9D8B030D-6E8A-4147-A177-3AD203B41FA5}">
                      <a16:colId xmlns:a16="http://schemas.microsoft.com/office/drawing/2014/main" val="2847594257"/>
                    </a:ext>
                  </a:extLst>
                </a:gridCol>
                <a:gridCol w="739861">
                  <a:extLst>
                    <a:ext uri="{9D8B030D-6E8A-4147-A177-3AD203B41FA5}">
                      <a16:colId xmlns:a16="http://schemas.microsoft.com/office/drawing/2014/main" val="2325195630"/>
                    </a:ext>
                  </a:extLst>
                </a:gridCol>
                <a:gridCol w="7491094">
                  <a:extLst>
                    <a:ext uri="{9D8B030D-6E8A-4147-A177-3AD203B41FA5}">
                      <a16:colId xmlns:a16="http://schemas.microsoft.com/office/drawing/2014/main" val="2715828596"/>
                    </a:ext>
                  </a:extLst>
                </a:gridCol>
              </a:tblGrid>
              <a:tr h="0">
                <a:tc>
                  <a:txBody>
                    <a:bodyPr/>
                    <a:lstStyle/>
                    <a:p>
                      <a:pPr algn="ctr" fontAlgn="b"/>
                      <a:r>
                        <a:rPr lang="en-US" sz="900" b="1" i="0" u="none" strike="noStrike">
                          <a:solidFill>
                            <a:srgbClr val="FFFFFF"/>
                          </a:solidFill>
                          <a:effectLst/>
                          <a:latin typeface="+mn-lt"/>
                        </a:rPr>
                        <a:t>Current Peer</a:t>
                      </a:r>
                    </a:p>
                  </a:txBody>
                  <a:tcPr marL="27432" marR="27432" marT="27432" marB="27432" anchor="b">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r>
                        <a:rPr lang="en-US" sz="900" b="1" i="0" u="none" strike="noStrike">
                          <a:solidFill>
                            <a:srgbClr val="FFFFFF"/>
                          </a:solidFill>
                          <a:effectLst/>
                          <a:latin typeface="+mn-lt"/>
                        </a:rPr>
                        <a:t>FYE Revenue ($MM)</a:t>
                      </a:r>
                    </a:p>
                  </a:txBody>
                  <a:tcPr marL="27432" marR="27432" marT="27432" marB="27432" anchor="b">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r>
                        <a:rPr lang="en-US" sz="900" b="1" i="0" u="none" strike="noStrike">
                          <a:solidFill>
                            <a:srgbClr val="FFFFFF"/>
                          </a:solidFill>
                          <a:effectLst/>
                          <a:latin typeface="+mn-lt"/>
                        </a:rPr>
                        <a:t>Business Description</a:t>
                      </a:r>
                    </a:p>
                  </a:txBody>
                  <a:tcPr marL="27432" marR="27432" marT="27432" marB="27432" anchor="b">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extLst>
                  <a:ext uri="{0D108BD9-81ED-4DB2-BD59-A6C34878D82A}">
                    <a16:rowId xmlns:a16="http://schemas.microsoft.com/office/drawing/2014/main" val="3632874250"/>
                  </a:ext>
                </a:extLst>
              </a:tr>
              <a:tr h="0">
                <a:tc>
                  <a:txBody>
                    <a:bodyPr/>
                    <a:lstStyle/>
                    <a:p>
                      <a:pPr algn="l" fontAlgn="ctr"/>
                      <a:r>
                        <a:rPr lang="en-US" sz="900" b="1" i="0" u="none" strike="noStrike">
                          <a:effectLst/>
                          <a:latin typeface="+mn-lt"/>
                        </a:rPr>
                        <a:t>Elanco Animal Health </a:t>
                      </a:r>
                    </a:p>
                  </a:txBody>
                  <a:tcPr marL="27432" marR="27432" marT="0" marB="0" anchor="ctr">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900" b="0" i="0" u="none" strike="noStrike">
                          <a:effectLst/>
                          <a:latin typeface="+mn-lt"/>
                        </a:rPr>
                        <a:t>$4,715</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kumimoji="0" lang="en-US" sz="900" b="0" i="0" u="none" strike="noStrike" kern="1200" cap="none" spc="0" normalizeH="0" baseline="0" noProof="0">
                          <a:ln>
                            <a:noFill/>
                          </a:ln>
                          <a:solidFill>
                            <a:srgbClr val="000000"/>
                          </a:solidFill>
                          <a:effectLst/>
                          <a:uLnTx/>
                          <a:uFillTx/>
                          <a:latin typeface="+mn-lt"/>
                          <a:ea typeface="+mn-ea"/>
                          <a:cs typeface="+mn-cs"/>
                        </a:rPr>
                        <a:t>Innovates, develops, manufactures, and markets products for pets and farm animals</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kumimoji="0" lang="en-US" sz="900" b="0" i="0" u="none" strike="noStrike" kern="1200" cap="none" spc="0" normalizeH="0" baseline="0" noProof="0">
                          <a:ln>
                            <a:noFill/>
                          </a:ln>
                          <a:solidFill>
                            <a:srgbClr val="000000"/>
                          </a:solidFill>
                          <a:effectLst/>
                          <a:uLnTx/>
                          <a:uFillTx/>
                          <a:latin typeface="+mn-lt"/>
                          <a:ea typeface="+mn-ea"/>
                          <a:cs typeface="+mn-cs"/>
                        </a:rPr>
                        <a:t>Offers pet health disease prevention products, such as parasiticide and vaccine products that protect pets from worms, fleas, and ticks under the Seresto, Advantage, Advantix, and Advocate brands; pet health therapeutics for pain, osteoarthritis, ear infections, cardiovascular, and dermatology indications in canines and felines under the Galliprant and Claro brands; vaccines, antibiotics, parasiticides, and other products for use in poultry and aquaculture production, as well as nutritional health products, including enzymes, probiotics, and prebiotics; and a range of vaccines, antibiotics, implants, parasiticides, and other products used in ruminant and swine production under the Rumensin and Baytril brands</a:t>
                      </a:r>
                    </a:p>
                  </a:txBody>
                  <a:tcPr marL="0" marR="0" marT="0" marB="0" anchor="b">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12961211"/>
                  </a:ext>
                </a:extLst>
              </a:tr>
              <a:tr h="0">
                <a:tc>
                  <a:txBody>
                    <a:bodyPr/>
                    <a:lstStyle/>
                    <a:p>
                      <a:pPr algn="l" fontAlgn="ctr"/>
                      <a:r>
                        <a:rPr lang="en-US" sz="900" b="1" i="0" u="none" strike="noStrike">
                          <a:effectLst/>
                          <a:latin typeface="+mn-lt"/>
                        </a:rPr>
                        <a:t>Dexcom</a:t>
                      </a:r>
                    </a:p>
                  </a:txBody>
                  <a:tcPr marL="27432" marR="27432" marT="0" marB="0" anchor="ctr">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a:effectLst/>
                          <a:latin typeface="+mn-lt"/>
                        </a:rPr>
                        <a:t>$4,662</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lgn="l" fontAlgn="b">
                        <a:buFont typeface="Wingdings" panose="05000000000000000000" pitchFamily="2" charset="2"/>
                        <a:buChar char="§"/>
                      </a:pPr>
                      <a:r>
                        <a:rPr lang="en-US" sz="900" b="0" i="0" u="none" strike="noStrike">
                          <a:solidFill>
                            <a:schemeClr val="tx1"/>
                          </a:solidFill>
                          <a:effectLst/>
                          <a:latin typeface="Calibri" panose="020F0502020204030204" pitchFamily="34" charset="0"/>
                        </a:rPr>
                        <a:t>Focuses on the design, development, and commercialization of continuous glucose monitoring (CGM) systems for the management of diabetes and metabolic health in the United States and internationally</a:t>
                      </a:r>
                    </a:p>
                    <a:p>
                      <a:pPr marL="171450" indent="-171450" algn="l" fontAlgn="b">
                        <a:buFont typeface="Wingdings" panose="05000000000000000000" pitchFamily="2" charset="2"/>
                        <a:buChar char="§"/>
                      </a:pPr>
                      <a:r>
                        <a:rPr lang="en-US" sz="900" b="0" i="0" u="none" strike="noStrike">
                          <a:solidFill>
                            <a:schemeClr val="tx1"/>
                          </a:solidFill>
                          <a:effectLst/>
                          <a:latin typeface="Calibri" panose="020F0502020204030204" pitchFamily="34" charset="0"/>
                        </a:rPr>
                        <a:t>Offers Dexcom G7 and G7 15 Day, an integrated continuous glucose monitoring system; Dexcom G6, a CGM system; Dexcom ONE+ to replace fingerstick blood glucose testing for diabetes treatment decisions; Stelo, a biosensor designed for adults with prediabetes and Type 2 diabetes who do not use insulin; Dexcom Share, a remote monitoring system; and Dexcom Follow application</a:t>
                      </a:r>
                    </a:p>
                    <a:p>
                      <a:pPr marL="171450" indent="-171450" algn="l" fontAlgn="b">
                        <a:buFont typeface="Wingdings" panose="05000000000000000000" pitchFamily="2" charset="2"/>
                        <a:buChar char="§"/>
                      </a:pPr>
                      <a:r>
                        <a:rPr lang="en-US" sz="900" b="0" i="0" u="none" strike="noStrike">
                          <a:solidFill>
                            <a:schemeClr val="tx1"/>
                          </a:solidFill>
                          <a:effectLst/>
                          <a:latin typeface="Calibri" panose="020F0502020204030204" pitchFamily="34" charset="0"/>
                        </a:rPr>
                        <a:t>Markets its products directly to endocrinologists, physicians, and diabetes educators</a:t>
                      </a:r>
                    </a:p>
                  </a:txBody>
                  <a:tcPr marL="0" marR="0" marT="0" marB="0" anchor="b">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18286701"/>
                  </a:ext>
                </a:extLst>
              </a:tr>
              <a:tr h="0">
                <a:tc>
                  <a:txBody>
                    <a:bodyPr/>
                    <a:lstStyle/>
                    <a:p>
                      <a:pPr algn="l" fontAlgn="ctr"/>
                      <a:r>
                        <a:rPr lang="en-US" sz="900" b="1" i="0" u="none" strike="noStrike">
                          <a:effectLst/>
                          <a:latin typeface="+mn-lt"/>
                        </a:rPr>
                        <a:t>Illumina</a:t>
                      </a:r>
                    </a:p>
                  </a:txBody>
                  <a:tcPr marL="27432" marR="27432" marT="0" marB="0" anchor="ctr">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a:effectLst/>
                          <a:latin typeface="+mn-lt"/>
                        </a:rPr>
                        <a:t>$4,343</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l" fontAlgn="b">
                        <a:buFont typeface="Wingdings" panose="05000000000000000000" pitchFamily="2" charset="2"/>
                        <a:buChar char="§"/>
                      </a:pPr>
                      <a:r>
                        <a:rPr lang="en-US" sz="900" b="0" i="0" u="none" strike="noStrike">
                          <a:solidFill>
                            <a:schemeClr val="tx1"/>
                          </a:solidFill>
                          <a:effectLst/>
                          <a:latin typeface="Calibri" panose="020F0502020204030204" pitchFamily="34" charset="0"/>
                        </a:rPr>
                        <a:t>Provides sequencing- and array-based solutions for genetic and genomic analysis in the Americas, Europe, Greater China, the Asia Pacific, the Middle East, and Africa</a:t>
                      </a:r>
                    </a:p>
                    <a:p>
                      <a:pPr marL="171450" indent="-171450" algn="l" fontAlgn="b">
                        <a:buFont typeface="Wingdings" panose="05000000000000000000" pitchFamily="2" charset="2"/>
                        <a:buChar char="§"/>
                      </a:pPr>
                      <a:r>
                        <a:rPr lang="en-US" sz="900" b="0" i="0" u="none" strike="noStrike">
                          <a:solidFill>
                            <a:schemeClr val="tx1"/>
                          </a:solidFill>
                          <a:effectLst/>
                          <a:latin typeface="Calibri" panose="020F0502020204030204" pitchFamily="34" charset="0"/>
                        </a:rPr>
                        <a:t>Offers sequencing- and array-based instruments and consumables, which include reagents, flow cells, and library preparation; whole-genome sequencing kits, which sequence entire genomes of various size and complexity; and targeted resequencing kits, which sequence exomes, specific genes, and RNA or other genomic regions of interest</a:t>
                      </a:r>
                    </a:p>
                    <a:p>
                      <a:pPr marL="171450" indent="-171450" algn="l" fontAlgn="b">
                        <a:buFont typeface="Wingdings" panose="05000000000000000000" pitchFamily="2" charset="2"/>
                        <a:buChar char="§"/>
                      </a:pPr>
                      <a:r>
                        <a:rPr lang="en-US" sz="900" b="0" i="0" u="none" strike="noStrike">
                          <a:solidFill>
                            <a:schemeClr val="tx1"/>
                          </a:solidFill>
                          <a:effectLst/>
                          <a:latin typeface="Calibri" panose="020F0502020204030204" pitchFamily="34" charset="0"/>
                        </a:rPr>
                        <a:t>Provides whole-genome sequencing, genotyping, noninvasive prenatal testing, and product support services. The company serves genomic research centers, academic institutions, government laboratories, and hospitals, as well as pharmaceutical, biotechnology, commercial molecular diagnostic laboratories, and consumer genomics companies</a:t>
                      </a:r>
                    </a:p>
                  </a:txBody>
                  <a:tcPr marL="0" marR="0" marT="0" marB="0" anchor="b">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8849602"/>
                  </a:ext>
                </a:extLst>
              </a:tr>
              <a:tr h="0">
                <a:tc>
                  <a:txBody>
                    <a:bodyPr/>
                    <a:lstStyle/>
                    <a:p>
                      <a:pPr algn="l" fontAlgn="ctr"/>
                      <a:r>
                        <a:rPr lang="en-US" sz="900" b="1" i="0" u="none" strike="noStrike">
                          <a:effectLst/>
                          <a:latin typeface="+mn-lt"/>
                        </a:rPr>
                        <a:t>Hologic</a:t>
                      </a:r>
                    </a:p>
                  </a:txBody>
                  <a:tcPr marL="27432" marR="27432" marT="0" marB="0" anchor="ctr">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a:effectLst/>
                          <a:latin typeface="+mn-lt"/>
                        </a:rPr>
                        <a:t>$4,101</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lgn="l" fontAlgn="b">
                        <a:buFont typeface="Wingdings" panose="05000000000000000000" pitchFamily="2" charset="2"/>
                        <a:buChar char="§"/>
                      </a:pPr>
                      <a:r>
                        <a:rPr lang="en-US" sz="900" b="0" i="0" u="none" strike="noStrike">
                          <a:solidFill>
                            <a:schemeClr val="tx1"/>
                          </a:solidFill>
                          <a:effectLst/>
                          <a:latin typeface="Calibri" panose="020F0502020204030204" pitchFamily="34" charset="0"/>
                        </a:rPr>
                        <a:t>Engages in the development, manufacture, and supply of diagnostics products, medical imaging systems, and surgical products for women's health through early detection and treatment worldwide</a:t>
                      </a:r>
                    </a:p>
                    <a:p>
                      <a:pPr marL="171450" indent="-171450" algn="l" fontAlgn="b">
                        <a:buFont typeface="Wingdings" panose="05000000000000000000" pitchFamily="2" charset="2"/>
                        <a:buChar char="§"/>
                      </a:pPr>
                      <a:r>
                        <a:rPr lang="en-US" sz="900" b="0" i="0" u="none" strike="noStrike">
                          <a:solidFill>
                            <a:schemeClr val="tx1"/>
                          </a:solidFill>
                          <a:effectLst/>
                          <a:latin typeface="Calibri" panose="020F0502020204030204" pitchFamily="34" charset="0"/>
                        </a:rPr>
                        <a:t>Operates through four segments: Diagnostics, Breast Health, GYN Surgical, and Skeletal Health</a:t>
                      </a:r>
                    </a:p>
                    <a:p>
                      <a:pPr marL="171450" indent="-171450" algn="l" fontAlgn="b">
                        <a:buFont typeface="Wingdings" panose="05000000000000000000" pitchFamily="2" charset="2"/>
                        <a:buChar char="§"/>
                      </a:pPr>
                      <a:r>
                        <a:rPr lang="en-US" sz="900" b="0" i="0" u="none" strike="noStrike">
                          <a:solidFill>
                            <a:schemeClr val="tx1"/>
                          </a:solidFill>
                          <a:effectLst/>
                          <a:latin typeface="Calibri" panose="020F0502020204030204" pitchFamily="34" charset="0"/>
                        </a:rPr>
                        <a:t>Provides Aptima molecular diagnostic assays to detect the infectious microorganisms; Aptima viral load assays for Hepatitis B virus, Hepatitis C virus, human immunodeficiency virus, and human cytomegalo virus; Aptima bacterial vaginosis and candida vaginitis assays for the diagnosis of vaginitis; Aptima SARS-CoV-2 and Panther Fusion SARS-CoV-2 assays to detect SARS-CoV-2; ThinPrep System for cytology applications; and Rapid Fetal Fibronectin Test that assists physicians in assessing the risk of pre-term birth</a:t>
                      </a:r>
                    </a:p>
                    <a:p>
                      <a:pPr marL="171450" indent="-171450" algn="l" fontAlgn="b">
                        <a:buFont typeface="Wingdings" panose="05000000000000000000" pitchFamily="2" charset="2"/>
                        <a:buChar char="§"/>
                      </a:pPr>
                      <a:r>
                        <a:rPr lang="en-US" sz="900" b="0" i="0" u="none" strike="noStrike">
                          <a:solidFill>
                            <a:schemeClr val="tx1"/>
                          </a:solidFill>
                          <a:effectLst/>
                          <a:latin typeface="Calibri" panose="020F0502020204030204" pitchFamily="34" charset="0"/>
                        </a:rPr>
                        <a:t>Offers breast cancer care solutions in the areas of radiology, breast surgery, pathology, and treatment, such as 3D digital mammography systems, image analysis software, reading workstations, minimally invasive breast biopsy guidance systems, breast biopsy site markers, localization, and specimen radiology systems; and breast conserving surgery products</a:t>
                      </a:r>
                    </a:p>
                    <a:p>
                      <a:pPr marL="171450" indent="-171450" algn="l" fontAlgn="b">
                        <a:buFont typeface="Wingdings" panose="05000000000000000000" pitchFamily="2" charset="2"/>
                        <a:buChar char="§"/>
                      </a:pPr>
                      <a:r>
                        <a:rPr lang="en-US" sz="900" b="0" i="0" u="none" strike="noStrike">
                          <a:solidFill>
                            <a:schemeClr val="tx1"/>
                          </a:solidFill>
                          <a:effectLst/>
                          <a:latin typeface="Calibri" panose="020F0502020204030204" pitchFamily="34" charset="0"/>
                        </a:rPr>
                        <a:t>Provides MyoSure Hysteroscopic Tissue Removal System for the removal of fibroids and polyps in the uterus; NovaSure Endometrial Ablation System to treat abnormal uterine bleeding; Fluent Fluid Management System that provides liquid distention during diagnostic and operative hysteroscopic procedures; Acessa ProVu system to treat various fibroids; and CoolSeal portfolio, such as bipolar vessel sealing devices. </a:t>
                      </a:r>
                    </a:p>
                    <a:p>
                      <a:pPr marL="171450" indent="-171450" algn="l" fontAlgn="b">
                        <a:buFont typeface="Wingdings" panose="05000000000000000000" pitchFamily="2" charset="2"/>
                        <a:buChar char="§"/>
                      </a:pPr>
                      <a:r>
                        <a:rPr lang="en-US" sz="900" b="0" i="0" u="none" strike="noStrike">
                          <a:solidFill>
                            <a:schemeClr val="tx1"/>
                          </a:solidFill>
                          <a:effectLst/>
                          <a:latin typeface="Calibri" panose="020F0502020204030204" pitchFamily="34" charset="0"/>
                        </a:rPr>
                        <a:t>Offers Horizon DXA, a dual energy X-ray system</a:t>
                      </a:r>
                    </a:p>
                  </a:txBody>
                  <a:tcPr marL="0" marR="0" marT="0" marB="0" anchor="b">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716806331"/>
                  </a:ext>
                </a:extLst>
              </a:tr>
            </a:tbl>
          </a:graphicData>
        </a:graphic>
      </p:graphicFrame>
    </p:spTree>
    <p:extLst>
      <p:ext uri="{BB962C8B-B14F-4D97-AF65-F5344CB8AC3E}">
        <p14:creationId xmlns:p14="http://schemas.microsoft.com/office/powerpoint/2010/main" val="4262996689"/>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131BEF-A9F7-3741-7C4A-D402F9EA354D}"/>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41DC5C49-310C-11BB-6A27-A35E35ADE2F4}"/>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5" name="Title 4">
            <a:extLst>
              <a:ext uri="{FF2B5EF4-FFF2-40B4-BE49-F238E27FC236}">
                <a16:creationId xmlns:a16="http://schemas.microsoft.com/office/drawing/2014/main" id="{F4B6F8E2-E123-80B2-C653-1F4DED8B5C83}"/>
              </a:ext>
            </a:extLst>
          </p:cNvPr>
          <p:cNvSpPr>
            <a:spLocks noGrp="1"/>
          </p:cNvSpPr>
          <p:nvPr>
            <p:ph type="title"/>
          </p:nvPr>
        </p:nvSpPr>
        <p:spPr>
          <a:xfrm>
            <a:off x="882797" y="44215"/>
            <a:ext cx="8074152" cy="1292899"/>
          </a:xfrm>
        </p:spPr>
        <p:txBody>
          <a:bodyPr/>
          <a:lstStyle/>
          <a:p>
            <a:r>
              <a:rPr lang="en-US" dirty="0"/>
              <a:t>Business descriptions for </a:t>
            </a:r>
            <a:r>
              <a:rPr lang="en-US" dirty="0" err="1"/>
              <a:t>Goofy’s</a:t>
            </a:r>
            <a:r>
              <a:rPr lang="en-US" dirty="0"/>
              <a:t> current compensation peers are as follows: </a:t>
            </a:r>
            <a:r>
              <a:rPr lang="en-US" i="1" dirty="0"/>
              <a:t>(continued)</a:t>
            </a:r>
            <a:endParaRPr lang="en-US" dirty="0"/>
          </a:p>
        </p:txBody>
      </p:sp>
      <p:sp>
        <p:nvSpPr>
          <p:cNvPr id="4" name="Slide Number Placeholder 3">
            <a:extLst>
              <a:ext uri="{FF2B5EF4-FFF2-40B4-BE49-F238E27FC236}">
                <a16:creationId xmlns:a16="http://schemas.microsoft.com/office/drawing/2014/main" id="{2925510B-604B-14CA-8228-367F3DEA20A0}"/>
              </a:ext>
            </a:extLst>
          </p:cNvPr>
          <p:cNvSpPr>
            <a:spLocks noGrp="1"/>
          </p:cNvSpPr>
          <p:nvPr>
            <p:ph type="sldNum" sz="quarter" idx="12"/>
          </p:nvPr>
        </p:nvSpPr>
        <p:spPr>
          <a:xfrm>
            <a:off x="8581802" y="6577909"/>
            <a:ext cx="352260" cy="211339"/>
          </a:xfrm>
        </p:spPr>
        <p:txBody>
          <a:bodyPr/>
          <a:lstStyle/>
          <a:p>
            <a:fld id="{91690BAF-E217-4185-92FD-0CEA06F2B7C8}" type="slidenum">
              <a:rPr lang="en-US" smtClean="0"/>
              <a:pPr/>
              <a:t>18</a:t>
            </a:fld>
            <a:endParaRPr lang="en-US"/>
          </a:p>
        </p:txBody>
      </p:sp>
      <p:sp>
        <p:nvSpPr>
          <p:cNvPr id="2" name="TextBox 1">
            <a:extLst>
              <a:ext uri="{FF2B5EF4-FFF2-40B4-BE49-F238E27FC236}">
                <a16:creationId xmlns:a16="http://schemas.microsoft.com/office/drawing/2014/main" id="{B70B318C-5568-A1D1-F786-AE4F089DCA47}"/>
              </a:ext>
            </a:extLst>
          </p:cNvPr>
          <p:cNvSpPr txBox="1"/>
          <p:nvPr/>
        </p:nvSpPr>
        <p:spPr>
          <a:xfrm>
            <a:off x="1593272" y="1078045"/>
            <a:ext cx="5957455" cy="307777"/>
          </a:xfrm>
          <a:prstGeom prst="rect">
            <a:avLst/>
          </a:prstGeom>
          <a:noFill/>
        </p:spPr>
        <p:txBody>
          <a:bodyPr wrap="square" lIns="45720" tIns="45720" rIns="45720" bIns="45720" rtlCol="0" anchor="ctr">
            <a:spAutoFit/>
          </a:bodyPr>
          <a:lstStyle/>
          <a:p>
            <a:pPr algn="ctr"/>
            <a:r>
              <a:rPr lang="en-US" sz="1400" b="1"/>
              <a:t>Business Descriptions of Current Peers </a:t>
            </a:r>
            <a:r>
              <a:rPr lang="en-US" sz="1400" b="1" i="1"/>
              <a:t>(continued)</a:t>
            </a:r>
            <a:endParaRPr lang="en-US" sz="1400" b="1"/>
          </a:p>
        </p:txBody>
      </p:sp>
      <p:graphicFrame>
        <p:nvGraphicFramePr>
          <p:cNvPr id="6" name="Table 5">
            <a:extLst>
              <a:ext uri="{FF2B5EF4-FFF2-40B4-BE49-F238E27FC236}">
                <a16:creationId xmlns:a16="http://schemas.microsoft.com/office/drawing/2014/main" id="{8B0B602E-6198-5ABB-1561-9DB2ECDD2C7D}"/>
              </a:ext>
            </a:extLst>
          </p:cNvPr>
          <p:cNvGraphicFramePr>
            <a:graphicFrameLocks noGrp="1"/>
          </p:cNvGraphicFramePr>
          <p:nvPr>
            <p:extLst>
              <p:ext uri="{D42A27DB-BD31-4B8C-83A1-F6EECF244321}">
                <p14:modId xmlns:p14="http://schemas.microsoft.com/office/powerpoint/2010/main" val="2550940714"/>
              </p:ext>
            </p:extLst>
          </p:nvPr>
        </p:nvGraphicFramePr>
        <p:xfrm>
          <a:off x="86592" y="1385822"/>
          <a:ext cx="8970816" cy="4032504"/>
        </p:xfrm>
        <a:graphic>
          <a:graphicData uri="http://schemas.openxmlformats.org/drawingml/2006/table">
            <a:tbl>
              <a:tblPr/>
              <a:tblGrid>
                <a:gridCol w="739861">
                  <a:extLst>
                    <a:ext uri="{9D8B030D-6E8A-4147-A177-3AD203B41FA5}">
                      <a16:colId xmlns:a16="http://schemas.microsoft.com/office/drawing/2014/main" val="2847594257"/>
                    </a:ext>
                  </a:extLst>
                </a:gridCol>
                <a:gridCol w="739861">
                  <a:extLst>
                    <a:ext uri="{9D8B030D-6E8A-4147-A177-3AD203B41FA5}">
                      <a16:colId xmlns:a16="http://schemas.microsoft.com/office/drawing/2014/main" val="2325195630"/>
                    </a:ext>
                  </a:extLst>
                </a:gridCol>
                <a:gridCol w="7491094">
                  <a:extLst>
                    <a:ext uri="{9D8B030D-6E8A-4147-A177-3AD203B41FA5}">
                      <a16:colId xmlns:a16="http://schemas.microsoft.com/office/drawing/2014/main" val="2715828596"/>
                    </a:ext>
                  </a:extLst>
                </a:gridCol>
              </a:tblGrid>
              <a:tr h="0">
                <a:tc>
                  <a:txBody>
                    <a:bodyPr/>
                    <a:lstStyle/>
                    <a:p>
                      <a:pPr algn="ctr" fontAlgn="b"/>
                      <a:r>
                        <a:rPr lang="en-US" sz="900" b="1" i="0" u="none" strike="noStrike">
                          <a:solidFill>
                            <a:srgbClr val="FFFFFF"/>
                          </a:solidFill>
                          <a:effectLst/>
                          <a:latin typeface="+mn-lt"/>
                        </a:rPr>
                        <a:t>Current Peer</a:t>
                      </a:r>
                    </a:p>
                  </a:txBody>
                  <a:tcPr marL="27432" marR="27432" marT="27432" marB="27432" anchor="b">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r>
                        <a:rPr lang="en-US" sz="900" b="1" i="0" u="none" strike="noStrike">
                          <a:solidFill>
                            <a:srgbClr val="FFFFFF"/>
                          </a:solidFill>
                          <a:effectLst/>
                          <a:latin typeface="+mn-lt"/>
                        </a:rPr>
                        <a:t>FYE Revenue ($MM)</a:t>
                      </a:r>
                    </a:p>
                  </a:txBody>
                  <a:tcPr marL="27432" marR="27432" marT="27432" marB="27432" anchor="b">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r>
                        <a:rPr lang="en-US" sz="900" b="1" i="0" u="none" strike="noStrike">
                          <a:solidFill>
                            <a:srgbClr val="FFFFFF"/>
                          </a:solidFill>
                          <a:effectLst/>
                          <a:latin typeface="+mn-lt"/>
                        </a:rPr>
                        <a:t>Business Description</a:t>
                      </a:r>
                    </a:p>
                  </a:txBody>
                  <a:tcPr marL="27432" marR="27432" marT="27432" marB="27432" anchor="b">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extLst>
                  <a:ext uri="{0D108BD9-81ED-4DB2-BD59-A6C34878D82A}">
                    <a16:rowId xmlns:a16="http://schemas.microsoft.com/office/drawing/2014/main" val="3632874250"/>
                  </a:ext>
                </a:extLst>
              </a:tr>
              <a:tr h="0">
                <a:tc>
                  <a:txBody>
                    <a:bodyPr/>
                    <a:lstStyle/>
                    <a:p>
                      <a:pPr marL="0" marR="0" lvl="0" indent="0" algn="l" defTabSz="914378" rtl="0" eaLnBrk="1" fontAlgn="ctr" latinLnBrk="0" hangingPunct="1">
                        <a:lnSpc>
                          <a:spcPct val="100000"/>
                        </a:lnSpc>
                        <a:spcBef>
                          <a:spcPts val="0"/>
                        </a:spcBef>
                        <a:spcAft>
                          <a:spcPts val="0"/>
                        </a:spcAft>
                        <a:buClrTx/>
                        <a:buSzTx/>
                        <a:buFontTx/>
                        <a:buNone/>
                        <a:tabLst/>
                        <a:defRPr/>
                      </a:pPr>
                      <a:r>
                        <a:rPr lang="en-US" sz="900" b="1" i="0" u="none" strike="noStrike">
                          <a:effectLst/>
                          <a:latin typeface="+mn-lt"/>
                        </a:rPr>
                        <a:t>Cooper Companies</a:t>
                      </a:r>
                    </a:p>
                  </a:txBody>
                  <a:tcPr marL="27432" marR="27432" marT="0" marB="0" anchor="ctr">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900" b="0" i="0" u="none" strike="noStrike">
                          <a:effectLst/>
                          <a:latin typeface="+mn-lt"/>
                        </a:rPr>
                        <a:t>$4,092</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1450" indent="-171450" algn="l" fontAlgn="b">
                        <a:buFont typeface="Wingdings" panose="05000000000000000000" pitchFamily="2" charset="2"/>
                        <a:buChar char="§"/>
                      </a:pPr>
                      <a:r>
                        <a:rPr lang="en-US" sz="900" b="0" i="0" u="none" strike="noStrike">
                          <a:solidFill>
                            <a:schemeClr val="tx1"/>
                          </a:solidFill>
                          <a:effectLst/>
                          <a:latin typeface="Calibri" panose="020F0502020204030204" pitchFamily="34" charset="0"/>
                        </a:rPr>
                        <a:t>Develops, manufactures, and markets contact lens wearers</a:t>
                      </a:r>
                    </a:p>
                    <a:p>
                      <a:pPr marL="171450" indent="-171450" algn="l" fontAlgn="b">
                        <a:buFont typeface="Wingdings" panose="05000000000000000000" pitchFamily="2" charset="2"/>
                        <a:buChar char="§"/>
                      </a:pPr>
                      <a:r>
                        <a:rPr lang="en-US" sz="900" b="0" i="0" u="none" strike="noStrike">
                          <a:solidFill>
                            <a:schemeClr val="tx1"/>
                          </a:solidFill>
                          <a:effectLst/>
                          <a:latin typeface="Calibri" panose="020F0502020204030204" pitchFamily="34" charset="0"/>
                        </a:rPr>
                        <a:t>Operates in two segments, CooperVision and CooperSurgical</a:t>
                      </a:r>
                    </a:p>
                    <a:p>
                      <a:pPr marL="171450" indent="-171450" algn="l" fontAlgn="b">
                        <a:buFont typeface="Wingdings" panose="05000000000000000000" pitchFamily="2" charset="2"/>
                        <a:buChar char="§"/>
                      </a:pPr>
                      <a:r>
                        <a:rPr lang="en-US" sz="900" b="0" i="0" u="none" strike="noStrike">
                          <a:solidFill>
                            <a:schemeClr val="tx1"/>
                          </a:solidFill>
                          <a:effectLst/>
                          <a:latin typeface="Calibri" panose="020F0502020204030204" pitchFamily="34" charset="0"/>
                        </a:rPr>
                        <a:t>Provides spherical, toric, and multifocal contact lenses that address vision challenges, such as astigmatism, presbyopia, and myopia. </a:t>
                      </a:r>
                    </a:p>
                    <a:p>
                      <a:pPr marL="171450" indent="-171450" algn="l" fontAlgn="b">
                        <a:buFont typeface="Wingdings" panose="05000000000000000000" pitchFamily="2" charset="2"/>
                        <a:buChar char="§"/>
                      </a:pPr>
                      <a:r>
                        <a:rPr lang="en-US" sz="900" b="0" i="0" u="none" strike="noStrike">
                          <a:solidFill>
                            <a:schemeClr val="tx1"/>
                          </a:solidFill>
                          <a:effectLst/>
                          <a:latin typeface="Calibri" panose="020F0502020204030204" pitchFamily="34" charset="0"/>
                        </a:rPr>
                        <a:t>Offers family and women’s health care, which provides fertility products and services, medical devices, and contraception, as well as cryostorage, such as cord blood and cord tissue storage</a:t>
                      </a:r>
                    </a:p>
                    <a:p>
                      <a:pPr marL="171450" indent="-171450" algn="l" fontAlgn="b">
                        <a:buFont typeface="Wingdings" panose="05000000000000000000" pitchFamily="2" charset="2"/>
                        <a:buChar char="§"/>
                      </a:pPr>
                      <a:r>
                        <a:rPr lang="en-US" sz="900" b="0" i="0" u="none" strike="noStrike">
                          <a:solidFill>
                            <a:schemeClr val="tx1"/>
                          </a:solidFill>
                          <a:effectLst/>
                          <a:latin typeface="Calibri" panose="020F0502020204030204" pitchFamily="34" charset="0"/>
                        </a:rPr>
                        <a:t>Offers Paragard, a hormone-free intrauterine device; and fertility consumables and equipment, donor gamete services, and genomic services, including genetic testing</a:t>
                      </a:r>
                    </a:p>
                  </a:txBody>
                  <a:tcPr marL="0" marR="0" marT="0" marB="0" anchor="b">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12961211"/>
                  </a:ext>
                </a:extLst>
              </a:tr>
              <a:tr h="0">
                <a:tc>
                  <a:txBody>
                    <a:bodyPr/>
                    <a:lstStyle/>
                    <a:p>
                      <a:pPr algn="l" fontAlgn="ctr"/>
                      <a:r>
                        <a:rPr lang="en-US" sz="900" b="1" i="0" u="none" strike="noStrike">
                          <a:effectLst/>
                          <a:latin typeface="+mn-lt"/>
                        </a:rPr>
                        <a:t>Align Technologies</a:t>
                      </a:r>
                    </a:p>
                  </a:txBody>
                  <a:tcPr marL="27432" marR="27432" marT="0" marB="0" anchor="ctr">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a:effectLst/>
                          <a:latin typeface="+mn-lt"/>
                        </a:rPr>
                        <a:t>$4,035</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kumimoji="0" lang="en-US" sz="900" b="0" i="0" u="none" strike="noStrike" kern="1200" cap="none" spc="0" normalizeH="0" baseline="0" noProof="0">
                          <a:ln>
                            <a:noFill/>
                          </a:ln>
                          <a:solidFill>
                            <a:schemeClr val="tx1"/>
                          </a:solidFill>
                          <a:effectLst/>
                          <a:uLnTx/>
                          <a:uFillTx/>
                          <a:latin typeface="+mn-lt"/>
                          <a:ea typeface="+mn-ea"/>
                          <a:cs typeface="+mn-cs"/>
                        </a:rPr>
                        <a:t>Designs, manufactures, and markets Invisalign clear aligners, Vivera retainers, and iTero intraoral scanners and services in the United States, Switzerland, and internationally</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kumimoji="0" lang="en-US" sz="900" b="0" i="0" u="none" strike="noStrike" kern="1200" cap="none" spc="0" normalizeH="0" baseline="0" noProof="0">
                          <a:ln>
                            <a:noFill/>
                          </a:ln>
                          <a:solidFill>
                            <a:schemeClr val="tx1"/>
                          </a:solidFill>
                          <a:effectLst/>
                          <a:uLnTx/>
                          <a:uFillTx/>
                          <a:latin typeface="+mn-lt"/>
                          <a:ea typeface="+mn-ea"/>
                          <a:cs typeface="+mn-cs"/>
                        </a:rPr>
                        <a:t>Operates in two segments: Clear Aligner and Imaging Systems and CAD/CAM Services (Systems and Services) </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kumimoji="0" lang="en-US" sz="900" b="0" i="0" u="none" strike="noStrike" kern="1200" cap="none" spc="0" normalizeH="0" baseline="0" noProof="0">
                          <a:ln>
                            <a:noFill/>
                          </a:ln>
                          <a:solidFill>
                            <a:schemeClr val="tx1"/>
                          </a:solidFill>
                          <a:effectLst/>
                          <a:uLnTx/>
                          <a:uFillTx/>
                          <a:latin typeface="+mn-lt"/>
                          <a:ea typeface="+mn-ea"/>
                          <a:cs typeface="+mn-cs"/>
                        </a:rPr>
                        <a:t>Offers comprehensive products, including Invisalign comprehensive package that addresses the orthodontic needs of teenage patients, such as mandibular advancement, compliance indicators, and compensation for tooth eruption; and Invisalign First Phase I and Invisalign First Comprehensive Phase 2 package for younger patients generally between the ages of seven and ten years, which is a mixture of primary/baby and permanent teeth</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kumimoji="0" lang="en-US" sz="900" b="0" i="0" u="none" strike="noStrike" kern="1200" cap="none" spc="0" normalizeH="0" baseline="0" noProof="0">
                          <a:ln>
                            <a:noFill/>
                          </a:ln>
                          <a:solidFill>
                            <a:schemeClr val="tx1"/>
                          </a:solidFill>
                          <a:effectLst/>
                          <a:uLnTx/>
                          <a:uFillTx/>
                          <a:latin typeface="+mn-lt"/>
                          <a:ea typeface="+mn-ea"/>
                          <a:cs typeface="+mn-cs"/>
                        </a:rPr>
                        <a:t>Offers iTero intraoral scanning system, a single hardware platform with software options for restorative or orthodontic procedures; restorative software for general practitioner dentists, prosthodontists, periodontists, and oral surgeons; and software for orthodontists for digital records storage, orthodontic diagnosis, and for the fabrication of printed models and retainers</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kumimoji="0" lang="en-US" sz="900" b="0" i="0" u="none" strike="noStrike" kern="1200" cap="none" spc="0" normalizeH="0" baseline="0" noProof="0">
                          <a:ln>
                            <a:noFill/>
                          </a:ln>
                          <a:solidFill>
                            <a:schemeClr val="tx1"/>
                          </a:solidFill>
                          <a:effectLst/>
                          <a:uLnTx/>
                          <a:uFillTx/>
                          <a:latin typeface="+mn-lt"/>
                          <a:ea typeface="+mn-ea"/>
                          <a:cs typeface="+mn-cs"/>
                        </a:rPr>
                        <a:t>Offers Align Oral Health Suite a digital interface for dental consultations</a:t>
                      </a:r>
                      <a:endParaRPr kumimoji="0" lang="en-US" sz="900" b="0" i="0" u="none" strike="noStrike" kern="1200" cap="none" spc="0" normalizeH="0" baseline="0" noProof="0">
                        <a:ln>
                          <a:noFill/>
                        </a:ln>
                        <a:solidFill>
                          <a:schemeClr val="tx1"/>
                        </a:solidFill>
                        <a:effectLst/>
                        <a:uLnTx/>
                        <a:uFillTx/>
                        <a:latin typeface="Calibri" panose="020F0502020204030204" pitchFamily="34" charset="0"/>
                        <a:ea typeface="+mn-ea"/>
                        <a:cs typeface="+mn-cs"/>
                      </a:endParaRPr>
                    </a:p>
                  </a:txBody>
                  <a:tcPr marL="0" marR="0" marT="0" marB="0" anchor="b">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18286701"/>
                  </a:ext>
                </a:extLst>
              </a:tr>
              <a:tr h="0">
                <a:tc>
                  <a:txBody>
                    <a:bodyPr/>
                    <a:lstStyle/>
                    <a:p>
                      <a:pPr algn="l" fontAlgn="ctr"/>
                      <a:r>
                        <a:rPr lang="en-US" sz="900" b="1" i="0" u="none" strike="noStrike">
                          <a:effectLst/>
                          <a:latin typeface="+mn-lt"/>
                        </a:rPr>
                        <a:t>Mettler-Toledo International </a:t>
                      </a:r>
                    </a:p>
                  </a:txBody>
                  <a:tcPr marL="27432" marR="27432" marT="0" marB="0" anchor="ctr">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900" b="0" i="0" u="none" strike="noStrike">
                          <a:effectLst/>
                          <a:latin typeface="+mn-lt"/>
                        </a:rPr>
                        <a:t>$4,026</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kumimoji="0" lang="en-US" sz="900" b="0" i="0" u="none" strike="noStrike" kern="1200" cap="none" spc="0" normalizeH="0" baseline="0" noProof="0">
                          <a:ln>
                            <a:noFill/>
                          </a:ln>
                          <a:solidFill>
                            <a:schemeClr val="tx1"/>
                          </a:solidFill>
                          <a:effectLst/>
                          <a:uLnTx/>
                          <a:uFillTx/>
                          <a:latin typeface="+mn-lt"/>
                          <a:ea typeface="+mn-ea"/>
                          <a:cs typeface="+mn-cs"/>
                        </a:rPr>
                        <a:t>Manufactures and supplies precision instruments and services in the United States and internationally</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kumimoji="0" lang="en-US" sz="900" b="0" i="0" u="none" strike="noStrike" kern="1200" cap="none" spc="0" normalizeH="0" baseline="0" noProof="0">
                          <a:ln>
                            <a:noFill/>
                          </a:ln>
                          <a:solidFill>
                            <a:schemeClr val="tx1"/>
                          </a:solidFill>
                          <a:effectLst/>
                          <a:uLnTx/>
                          <a:uFillTx/>
                          <a:latin typeface="+mn-lt"/>
                          <a:ea typeface="+mn-ea"/>
                          <a:cs typeface="+mn-cs"/>
                        </a:rPr>
                        <a:t>Operates through five segments: U.S. Operations, Swiss Operations, Western European Operations, Chinese Operations, and Other</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kumimoji="0" lang="en-US" sz="900" b="0" i="0" u="none" strike="noStrike" kern="1200" cap="none" spc="0" normalizeH="0" baseline="0" noProof="0">
                          <a:ln>
                            <a:noFill/>
                          </a:ln>
                          <a:solidFill>
                            <a:schemeClr val="tx1"/>
                          </a:solidFill>
                          <a:effectLst/>
                          <a:uLnTx/>
                          <a:uFillTx/>
                          <a:latin typeface="+mn-lt"/>
                          <a:ea typeface="+mn-ea"/>
                          <a:cs typeface="+mn-cs"/>
                        </a:rPr>
                        <a:t>Provides laboratory instruments including laboratory balances, liquid pipetting solutions, automated laboratory reactors, titrators, pH meters, process analytics sensors and analyzer technologies, physical value analyzers, density and refractometry, thermal analysis systems, and other analytical instruments; and LabX, a laboratory software platform to manage and analyze data generated from its instruments</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kumimoji="0" lang="en-US" sz="900" b="0" i="0" u="none" strike="noStrike" kern="1200" cap="none" spc="0" normalizeH="0" baseline="0" noProof="0">
                          <a:ln>
                            <a:noFill/>
                          </a:ln>
                          <a:solidFill>
                            <a:schemeClr val="tx1"/>
                          </a:solidFill>
                          <a:effectLst/>
                          <a:uLnTx/>
                          <a:uFillTx/>
                          <a:latin typeface="+mn-lt"/>
                          <a:ea typeface="+mn-ea"/>
                          <a:cs typeface="+mn-cs"/>
                        </a:rPr>
                        <a:t>Offers industrial instruments such as industrial weighing instruments and related terminals, automatic dimensional measurement and data capture solutions, vehicle scale systems, industrial software, metal detection equipment, x-ray systems, check weighing equipment, camera-based imaging equipment, track-and-trace solutions, and product inspection systems</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lang="en-US" sz="900" u="none" strike="noStrike">
                          <a:solidFill>
                            <a:schemeClr val="tx1"/>
                          </a:solidFill>
                          <a:effectLst/>
                        </a:rPr>
                        <a:t>Offers retail weighing solutions consisting of weighing and software solutions, AI-driven image recognition solutions for fresh goods, and automated packaging and labeling solutions for the meat backroom</a:t>
                      </a:r>
                      <a:endParaRPr kumimoji="0" lang="en-US" sz="900" b="0" i="0" u="none" strike="noStrike" kern="1200" cap="none" spc="0" normalizeH="0" baseline="0" noProof="0">
                        <a:ln>
                          <a:noFill/>
                        </a:ln>
                        <a:solidFill>
                          <a:schemeClr val="tx1"/>
                        </a:solidFill>
                        <a:effectLst/>
                        <a:uLnTx/>
                        <a:uFillTx/>
                        <a:latin typeface="+mn-lt"/>
                        <a:ea typeface="+mn-ea"/>
                        <a:cs typeface="+mn-cs"/>
                      </a:endParaRPr>
                    </a:p>
                  </a:txBody>
                  <a:tcPr marL="0" marR="0" marT="0" marB="0" anchor="ctr">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90539770"/>
                  </a:ext>
                </a:extLst>
              </a:tr>
            </a:tbl>
          </a:graphicData>
        </a:graphic>
      </p:graphicFrame>
    </p:spTree>
    <p:extLst>
      <p:ext uri="{BB962C8B-B14F-4D97-AF65-F5344CB8AC3E}">
        <p14:creationId xmlns:p14="http://schemas.microsoft.com/office/powerpoint/2010/main" val="394563507"/>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2F932-1DE0-D655-AD68-58E93AEBC8EC}"/>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D184C2F9-177C-26DC-9BE8-F7AFCD6E081E}"/>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5" name="Title 4">
            <a:extLst>
              <a:ext uri="{FF2B5EF4-FFF2-40B4-BE49-F238E27FC236}">
                <a16:creationId xmlns:a16="http://schemas.microsoft.com/office/drawing/2014/main" id="{EA43E8A1-1625-4727-9780-F5C5A068EDE1}"/>
              </a:ext>
            </a:extLst>
          </p:cNvPr>
          <p:cNvSpPr>
            <a:spLocks noGrp="1"/>
          </p:cNvSpPr>
          <p:nvPr>
            <p:ph type="title"/>
          </p:nvPr>
        </p:nvSpPr>
        <p:spPr>
          <a:xfrm>
            <a:off x="882797" y="44215"/>
            <a:ext cx="8074152" cy="1292899"/>
          </a:xfrm>
        </p:spPr>
        <p:txBody>
          <a:bodyPr/>
          <a:lstStyle/>
          <a:p>
            <a:r>
              <a:rPr lang="en-US" dirty="0"/>
              <a:t>Business descriptions for </a:t>
            </a:r>
            <a:r>
              <a:rPr lang="en-US" dirty="0" err="1"/>
              <a:t>Goofy’s</a:t>
            </a:r>
            <a:r>
              <a:rPr lang="en-US" dirty="0"/>
              <a:t> current compensation peers are as follows: </a:t>
            </a:r>
            <a:r>
              <a:rPr lang="en-US" i="1" dirty="0"/>
              <a:t>(continued)</a:t>
            </a:r>
            <a:endParaRPr lang="en-US" dirty="0"/>
          </a:p>
        </p:txBody>
      </p:sp>
      <p:sp>
        <p:nvSpPr>
          <p:cNvPr id="4" name="Slide Number Placeholder 3">
            <a:extLst>
              <a:ext uri="{FF2B5EF4-FFF2-40B4-BE49-F238E27FC236}">
                <a16:creationId xmlns:a16="http://schemas.microsoft.com/office/drawing/2014/main" id="{164F9B1D-752F-A752-4F03-39572A15B53C}"/>
              </a:ext>
            </a:extLst>
          </p:cNvPr>
          <p:cNvSpPr>
            <a:spLocks noGrp="1"/>
          </p:cNvSpPr>
          <p:nvPr>
            <p:ph type="sldNum" sz="quarter" idx="12"/>
          </p:nvPr>
        </p:nvSpPr>
        <p:spPr>
          <a:xfrm>
            <a:off x="8581802" y="6577909"/>
            <a:ext cx="352260" cy="211339"/>
          </a:xfrm>
        </p:spPr>
        <p:txBody>
          <a:bodyPr/>
          <a:lstStyle/>
          <a:p>
            <a:fld id="{91690BAF-E217-4185-92FD-0CEA06F2B7C8}" type="slidenum">
              <a:rPr lang="en-US" smtClean="0"/>
              <a:pPr/>
              <a:t>19</a:t>
            </a:fld>
            <a:endParaRPr lang="en-US"/>
          </a:p>
        </p:txBody>
      </p:sp>
      <p:sp>
        <p:nvSpPr>
          <p:cNvPr id="2" name="TextBox 1">
            <a:extLst>
              <a:ext uri="{FF2B5EF4-FFF2-40B4-BE49-F238E27FC236}">
                <a16:creationId xmlns:a16="http://schemas.microsoft.com/office/drawing/2014/main" id="{3A55D609-BABE-0BBF-6820-19FCF5443CAF}"/>
              </a:ext>
            </a:extLst>
          </p:cNvPr>
          <p:cNvSpPr txBox="1"/>
          <p:nvPr/>
        </p:nvSpPr>
        <p:spPr>
          <a:xfrm>
            <a:off x="1593272" y="1222200"/>
            <a:ext cx="5957455" cy="307777"/>
          </a:xfrm>
          <a:prstGeom prst="rect">
            <a:avLst/>
          </a:prstGeom>
          <a:noFill/>
        </p:spPr>
        <p:txBody>
          <a:bodyPr wrap="square" lIns="45720" tIns="45720" rIns="45720" bIns="45720" rtlCol="0" anchor="ctr">
            <a:spAutoFit/>
          </a:bodyPr>
          <a:lstStyle/>
          <a:p>
            <a:pPr algn="ctr"/>
            <a:r>
              <a:rPr lang="en-US" sz="1400" b="1"/>
              <a:t>Business Descriptions of Current Peers </a:t>
            </a:r>
            <a:r>
              <a:rPr lang="en-US" sz="1400" b="1" i="1"/>
              <a:t>(continued)</a:t>
            </a:r>
            <a:endParaRPr lang="en-US" sz="1400" b="1"/>
          </a:p>
        </p:txBody>
      </p:sp>
      <p:graphicFrame>
        <p:nvGraphicFramePr>
          <p:cNvPr id="6" name="Table 5">
            <a:extLst>
              <a:ext uri="{FF2B5EF4-FFF2-40B4-BE49-F238E27FC236}">
                <a16:creationId xmlns:a16="http://schemas.microsoft.com/office/drawing/2014/main" id="{8C4F7DA9-6093-29AA-1DDD-BB0095AA2042}"/>
              </a:ext>
            </a:extLst>
          </p:cNvPr>
          <p:cNvGraphicFramePr>
            <a:graphicFrameLocks noGrp="1"/>
          </p:cNvGraphicFramePr>
          <p:nvPr>
            <p:extLst>
              <p:ext uri="{D42A27DB-BD31-4B8C-83A1-F6EECF244321}">
                <p14:modId xmlns:p14="http://schemas.microsoft.com/office/powerpoint/2010/main" val="1462615450"/>
              </p:ext>
            </p:extLst>
          </p:nvPr>
        </p:nvGraphicFramePr>
        <p:xfrm>
          <a:off x="86592" y="1529977"/>
          <a:ext cx="8970816" cy="4306824"/>
        </p:xfrm>
        <a:graphic>
          <a:graphicData uri="http://schemas.openxmlformats.org/drawingml/2006/table">
            <a:tbl>
              <a:tblPr/>
              <a:tblGrid>
                <a:gridCol w="739861">
                  <a:extLst>
                    <a:ext uri="{9D8B030D-6E8A-4147-A177-3AD203B41FA5}">
                      <a16:colId xmlns:a16="http://schemas.microsoft.com/office/drawing/2014/main" val="2847594257"/>
                    </a:ext>
                  </a:extLst>
                </a:gridCol>
                <a:gridCol w="739861">
                  <a:extLst>
                    <a:ext uri="{9D8B030D-6E8A-4147-A177-3AD203B41FA5}">
                      <a16:colId xmlns:a16="http://schemas.microsoft.com/office/drawing/2014/main" val="2325195630"/>
                    </a:ext>
                  </a:extLst>
                </a:gridCol>
                <a:gridCol w="7491094">
                  <a:extLst>
                    <a:ext uri="{9D8B030D-6E8A-4147-A177-3AD203B41FA5}">
                      <a16:colId xmlns:a16="http://schemas.microsoft.com/office/drawing/2014/main" val="2715828596"/>
                    </a:ext>
                  </a:extLst>
                </a:gridCol>
              </a:tblGrid>
              <a:tr h="0">
                <a:tc>
                  <a:txBody>
                    <a:bodyPr/>
                    <a:lstStyle/>
                    <a:p>
                      <a:pPr algn="ctr" fontAlgn="b"/>
                      <a:r>
                        <a:rPr lang="en-US" sz="900" b="1" i="0" u="none" strike="noStrike">
                          <a:solidFill>
                            <a:srgbClr val="FFFFFF"/>
                          </a:solidFill>
                          <a:effectLst/>
                          <a:latin typeface="+mn-lt"/>
                        </a:rPr>
                        <a:t>Current Peer</a:t>
                      </a:r>
                    </a:p>
                  </a:txBody>
                  <a:tcPr marL="27432" marR="27432" marT="27432" marB="27432" anchor="b">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r>
                        <a:rPr lang="en-US" sz="900" b="1" i="0" u="none" strike="noStrike">
                          <a:solidFill>
                            <a:srgbClr val="FFFFFF"/>
                          </a:solidFill>
                          <a:effectLst/>
                          <a:latin typeface="+mn-lt"/>
                        </a:rPr>
                        <a:t>FYE Revenue ($MM)</a:t>
                      </a:r>
                    </a:p>
                  </a:txBody>
                  <a:tcPr marL="27432" marR="27432" marT="27432" marB="27432" anchor="b">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r>
                        <a:rPr lang="en-US" sz="900" b="1" i="0" u="none" strike="noStrike">
                          <a:solidFill>
                            <a:srgbClr val="FFFFFF"/>
                          </a:solidFill>
                          <a:effectLst/>
                          <a:latin typeface="+mn-lt"/>
                        </a:rPr>
                        <a:t>Business Description</a:t>
                      </a:r>
                    </a:p>
                  </a:txBody>
                  <a:tcPr marL="27432" marR="27432" marT="27432" marB="27432" anchor="b">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extLst>
                  <a:ext uri="{0D108BD9-81ED-4DB2-BD59-A6C34878D82A}">
                    <a16:rowId xmlns:a16="http://schemas.microsoft.com/office/drawing/2014/main" val="3632874250"/>
                  </a:ext>
                </a:extLst>
              </a:tr>
              <a:tr h="0">
                <a:tc>
                  <a:txBody>
                    <a:bodyPr/>
                    <a:lstStyle/>
                    <a:p>
                      <a:pPr algn="l" fontAlgn="ctr"/>
                      <a:r>
                        <a:rPr lang="en-US" sz="900" b="1" i="0" u="none" strike="noStrike">
                          <a:effectLst/>
                          <a:latin typeface="+mn-lt"/>
                        </a:rPr>
                        <a:t>Waters </a:t>
                      </a:r>
                    </a:p>
                  </a:txBody>
                  <a:tcPr marL="27432" marR="27432" marT="0" marB="0" anchor="ctr">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a:effectLst/>
                          <a:latin typeface="+mn-lt"/>
                        </a:rPr>
                        <a:t>$3,165</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kumimoji="0" lang="en-US" sz="900" b="0" i="0" u="none" strike="noStrike" kern="1200" cap="none" spc="0" normalizeH="0" baseline="0" noProof="0">
                          <a:ln>
                            <a:noFill/>
                          </a:ln>
                          <a:solidFill>
                            <a:schemeClr val="tx1"/>
                          </a:solidFill>
                          <a:effectLst/>
                          <a:uLnTx/>
                          <a:uFillTx/>
                          <a:latin typeface="+mn-lt"/>
                          <a:ea typeface="+mn-ea"/>
                          <a:cs typeface="+mn-cs"/>
                        </a:rPr>
                        <a:t>Provides analytical workflow solutions in Asia, the Americas, and Europe</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kumimoji="0" lang="en-US" sz="900" b="0" i="0" u="none" strike="noStrike" kern="1200" cap="none" spc="0" normalizeH="0" baseline="0" noProof="0">
                          <a:ln>
                            <a:noFill/>
                          </a:ln>
                          <a:solidFill>
                            <a:schemeClr val="tx1"/>
                          </a:solidFill>
                          <a:effectLst/>
                          <a:uLnTx/>
                          <a:uFillTx/>
                          <a:latin typeface="+mn-lt"/>
                          <a:ea typeface="+mn-ea"/>
                          <a:cs typeface="+mn-cs"/>
                        </a:rPr>
                        <a:t>Operates through two segments: Waters and TA</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kumimoji="0" lang="en-US" sz="900" b="0" i="0" u="none" strike="noStrike" kern="1200" cap="none" spc="0" normalizeH="0" baseline="0" noProof="0">
                          <a:ln>
                            <a:noFill/>
                          </a:ln>
                          <a:solidFill>
                            <a:schemeClr val="tx1"/>
                          </a:solidFill>
                          <a:effectLst/>
                          <a:uLnTx/>
                          <a:uFillTx/>
                          <a:latin typeface="+mn-lt"/>
                          <a:ea typeface="+mn-ea"/>
                          <a:cs typeface="+mn-cs"/>
                        </a:rPr>
                        <a:t>Designs, manufactures, sells, and services high and ultra-performance liquid chromatography, as well as mass spectrometry (MS) technology systems and support products, including chromatography columns, other consumable products, and post-warranty service plans</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kumimoji="0" lang="en-US" sz="900" b="0" i="0" u="none" strike="noStrike" kern="1200" cap="none" spc="0" normalizeH="0" baseline="0" noProof="0">
                          <a:ln>
                            <a:noFill/>
                          </a:ln>
                          <a:solidFill>
                            <a:schemeClr val="tx1"/>
                          </a:solidFill>
                          <a:effectLst/>
                          <a:uLnTx/>
                          <a:uFillTx/>
                          <a:latin typeface="+mn-lt"/>
                          <a:ea typeface="+mn-ea"/>
                          <a:cs typeface="+mn-cs"/>
                        </a:rPr>
                        <a:t>Designs, manufactures, sells, and services thermal analysis, rheometry, and calorimetry instruments; and develops and supplies software-based products that interface with its instruments, as well as other manufacturers' instruments</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kumimoji="0" lang="en-US" sz="900" b="0" i="0" u="none" strike="noStrike" kern="1200" cap="none" spc="0" normalizeH="0" baseline="0" noProof="0">
                          <a:ln>
                            <a:noFill/>
                          </a:ln>
                          <a:solidFill>
                            <a:schemeClr val="tx1"/>
                          </a:solidFill>
                          <a:effectLst/>
                          <a:uLnTx/>
                          <a:uFillTx/>
                          <a:latin typeface="+mn-lt"/>
                          <a:ea typeface="+mn-ea"/>
                          <a:cs typeface="+mn-cs"/>
                        </a:rPr>
                        <a:t>Offers thermal analysis, rheometry, and calorimetry instruments for use in predicting the suitability and stability of fine chemicals, pharmaceuticals, water, polymers, metals, and viscous liquids for various industrial, consumer good, and healthcare products, as well as for life science research</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lang="en-US" sz="900" b="0" i="0" u="none" strike="noStrike">
                          <a:solidFill>
                            <a:schemeClr val="tx1"/>
                          </a:solidFill>
                          <a:effectLst/>
                          <a:latin typeface="Calibri" panose="020F0502020204030204" pitchFamily="34" charset="0"/>
                        </a:rPr>
                        <a:t>Offers MS technology, which is used in drug discovery and development comprising clinical trial testing, the analysis of proteins in disease processes, nutritional safety analysis, and environmental testingproducts are used by clinical, pharmaceutical, biochemical, industrial, nutritional safety, environmental, academic, and governmental customers working in research and development, quality assurance, and other laboratory applications</a:t>
                      </a:r>
                      <a:endParaRPr kumimoji="0" lang="en-US" sz="900" b="0" i="0" u="none" strike="noStrike" kern="1200" cap="none" spc="0" normalizeH="0" baseline="0" noProof="0">
                        <a:ln>
                          <a:noFill/>
                        </a:ln>
                        <a:solidFill>
                          <a:schemeClr val="tx1"/>
                        </a:solidFill>
                        <a:effectLst/>
                        <a:uLnTx/>
                        <a:uFillTx/>
                        <a:latin typeface="+mn-lt"/>
                        <a:ea typeface="+mn-ea"/>
                        <a:cs typeface="+mn-cs"/>
                      </a:endParaRPr>
                    </a:p>
                  </a:txBody>
                  <a:tcPr marL="0" marR="0" marT="0" marB="0" anchor="ctr">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45841235"/>
                  </a:ext>
                </a:extLst>
              </a:tr>
              <a:tr h="0">
                <a:tc>
                  <a:txBody>
                    <a:bodyPr/>
                    <a:lstStyle/>
                    <a:p>
                      <a:pPr algn="l" fontAlgn="ctr"/>
                      <a:r>
                        <a:rPr lang="en-US" sz="900" b="1" i="0" u="none" strike="noStrike">
                          <a:effectLst/>
                          <a:latin typeface="+mn-lt"/>
                        </a:rPr>
                        <a:t>Revvity</a:t>
                      </a:r>
                    </a:p>
                  </a:txBody>
                  <a:tcPr marL="27432" marR="27432" marT="0" marB="0" anchor="ctr">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a:effectLst/>
                          <a:latin typeface="+mn-lt"/>
                        </a:rPr>
                        <a:t>$2,856</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kumimoji="0" lang="en-US" sz="900" b="0" i="0" u="none" strike="noStrike" kern="1200" cap="none" spc="0" normalizeH="0" baseline="0" noProof="0">
                          <a:ln>
                            <a:noFill/>
                          </a:ln>
                          <a:solidFill>
                            <a:schemeClr val="tx1"/>
                          </a:solidFill>
                          <a:effectLst/>
                          <a:uLnTx/>
                          <a:uFillTx/>
                          <a:latin typeface="+mn-lt"/>
                          <a:ea typeface="+mn-ea"/>
                          <a:cs typeface="+mn-cs"/>
                        </a:rPr>
                        <a:t>Provides products, services, and solutions to the diagnostics, life sciences, and applied services markets worldwide</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kumimoji="0" lang="en-US" sz="900" b="0" i="0" u="none" strike="noStrike" kern="1200" cap="none" spc="0" normalizeH="0" baseline="0" noProof="0">
                          <a:ln>
                            <a:noFill/>
                          </a:ln>
                          <a:solidFill>
                            <a:schemeClr val="tx1"/>
                          </a:solidFill>
                          <a:effectLst/>
                          <a:uLnTx/>
                          <a:uFillTx/>
                          <a:latin typeface="+mn-lt"/>
                          <a:ea typeface="+mn-ea"/>
                          <a:cs typeface="+mn-cs"/>
                        </a:rPr>
                        <a:t>Operates through two segments: Life Sciences and Diagnostics</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lang="en-US" sz="900" b="0" i="0" u="none" strike="noStrike">
                          <a:solidFill>
                            <a:schemeClr val="tx1"/>
                          </a:solidFill>
                          <a:effectLst/>
                          <a:latin typeface="Calibri" panose="020F0502020204030204" pitchFamily="34" charset="0"/>
                        </a:rPr>
                        <a:t>Offers instruments, reagents, software, subscriptions, detection and imaging technologies, extended warranties, training and services; and instruments, reagents, assay platforms and software products for early detection of common and rare conditions, such as pregnancy and early childhood, as well as infectious disease testing in the diagnostics market</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lang="en-US" sz="900" b="0" i="0" u="none" strike="noStrike">
                          <a:solidFill>
                            <a:schemeClr val="tx1"/>
                          </a:solidFill>
                          <a:effectLst/>
                          <a:latin typeface="Calibri" panose="020F0502020204030204" pitchFamily="34" charset="0"/>
                        </a:rPr>
                        <a:t>Develops technologies that enable and support genomic workflows using protein coupled receptor and next-generation DNA sequencing for oncology, immunodiagnostics, and drug discovery </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lang="en-US" sz="900" b="0" i="0" u="none" strike="noStrike">
                          <a:solidFill>
                            <a:schemeClr val="tx1"/>
                          </a:solidFill>
                          <a:effectLst/>
                          <a:latin typeface="Calibri" panose="020F0502020204030204" pitchFamily="34" charset="0"/>
                        </a:rPr>
                        <a:t>Serves pharmaceutical and biotechnology companies, laboratories, academic and research institutions, public health authorities, private healthcare organizations, doctors, and government agencies</a:t>
                      </a:r>
                      <a:endParaRPr kumimoji="0" lang="en-US" sz="900" b="0" i="0" u="none" strike="noStrike" kern="1200" cap="none" spc="0" normalizeH="0" baseline="0" noProof="0">
                        <a:ln>
                          <a:noFill/>
                        </a:ln>
                        <a:solidFill>
                          <a:schemeClr val="tx1"/>
                        </a:solidFill>
                        <a:effectLst/>
                        <a:uLnTx/>
                        <a:uFillTx/>
                        <a:latin typeface="+mn-lt"/>
                        <a:ea typeface="+mn-ea"/>
                        <a:cs typeface="+mn-cs"/>
                      </a:endParaRPr>
                    </a:p>
                  </a:txBody>
                  <a:tcPr marL="0" marR="0" marT="0" marB="0" anchor="ctr">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590539770"/>
                  </a:ext>
                </a:extLst>
              </a:tr>
              <a:tr h="0">
                <a:tc>
                  <a:txBody>
                    <a:bodyPr/>
                    <a:lstStyle/>
                    <a:p>
                      <a:pPr algn="l" fontAlgn="ctr"/>
                      <a:r>
                        <a:rPr lang="en-US" sz="900" b="1" i="0" u="none" strike="noStrike">
                          <a:effectLst/>
                          <a:latin typeface="+mn-lt"/>
                        </a:rPr>
                        <a:t>Bio-Rad Laboratories</a:t>
                      </a:r>
                    </a:p>
                  </a:txBody>
                  <a:tcPr marL="27432" marR="27432" marT="0" marB="0" anchor="ctr">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a:effectLst/>
                          <a:latin typeface="+mn-lt"/>
                        </a:rPr>
                        <a:t>$2,853</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kumimoji="0" lang="en-US" sz="900" b="0" i="0" u="none" strike="noStrike" kern="1200" cap="none" spc="0" normalizeH="0" baseline="0" noProof="0">
                          <a:ln>
                            <a:noFill/>
                          </a:ln>
                          <a:solidFill>
                            <a:schemeClr val="tx1"/>
                          </a:solidFill>
                          <a:effectLst/>
                          <a:uLnTx/>
                          <a:uFillTx/>
                          <a:latin typeface="+mn-lt"/>
                          <a:ea typeface="+mn-ea"/>
                          <a:cs typeface="+mn-cs"/>
                        </a:rPr>
                        <a:t>Manufactures, and distributes life science research and clinical diagnostic products in the United States, Europe, Asia, Canada, and Latin America</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kumimoji="0" lang="en-US" sz="900" b="0" i="0" u="none" strike="noStrike" kern="1200" cap="none" spc="0" normalizeH="0" baseline="0" noProof="0">
                          <a:ln>
                            <a:noFill/>
                          </a:ln>
                          <a:solidFill>
                            <a:schemeClr val="tx1"/>
                          </a:solidFill>
                          <a:effectLst/>
                          <a:uLnTx/>
                          <a:uFillTx/>
                          <a:latin typeface="+mn-lt"/>
                          <a:ea typeface="+mn-ea"/>
                          <a:cs typeface="+mn-cs"/>
                        </a:rPr>
                        <a:t>Operates through two segments: Life Science and Clinical Diagnostics </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lang="en-US" sz="900" b="0" i="0" u="none" strike="noStrike">
                          <a:solidFill>
                            <a:schemeClr val="tx1"/>
                          </a:solidFill>
                          <a:effectLst/>
                          <a:latin typeface="Calibri" panose="020F0502020204030204" pitchFamily="34" charset="0"/>
                        </a:rPr>
                        <a:t>Develops, manufactures, and markets instruments, systems, reagents, and consumables to separate, purify, characterize, and quantify biological materials, including cells, proteins, and nucleic acids used in research and biopharmaceutical laboratory environments, as well as for biopharmaceutical manufacturing, quality control process, food safety, and science education applications. </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lang="en-US" sz="900" b="0" i="0" u="none" strike="noStrike">
                          <a:solidFill>
                            <a:schemeClr val="tx1"/>
                          </a:solidFill>
                          <a:effectLst/>
                          <a:latin typeface="Calibri" panose="020F0502020204030204" pitchFamily="34" charset="0"/>
                        </a:rPr>
                        <a:t>Designs, manufactures, markets, and supports diagnostic test systems, informatics systems, test kits, and specialized quality controls for clinical, hospital, diagnostic reference, and transfusion and physician office laboratories, as well as software</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lang="en-US" sz="900" b="0" i="0" u="none" strike="noStrike">
                          <a:solidFill>
                            <a:schemeClr val="tx1"/>
                          </a:solidFill>
                          <a:effectLst/>
                          <a:latin typeface="Calibri" panose="020F0502020204030204" pitchFamily="34" charset="0"/>
                        </a:rPr>
                        <a:t>Serves universities and medical schools, industrial research organizations, government agencies, pharmaceutical manufacturers, biotechnology companies, food producers, and testing laboratories as well as hospitals and laboratories</a:t>
                      </a:r>
                    </a:p>
                  </a:txBody>
                  <a:tcPr marL="0" marR="0" marT="0" marB="0" anchor="ctr">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8849602"/>
                  </a:ext>
                </a:extLst>
              </a:tr>
            </a:tbl>
          </a:graphicData>
        </a:graphic>
      </p:graphicFrame>
    </p:spTree>
    <p:extLst>
      <p:ext uri="{BB962C8B-B14F-4D97-AF65-F5344CB8AC3E}">
        <p14:creationId xmlns:p14="http://schemas.microsoft.com/office/powerpoint/2010/main" val="3869414897"/>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B4F173-25C8-7B12-A0C1-85CCEAD6FC99}"/>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82FD57A9-FFD5-1761-1A41-7DD5F5C6209E}"/>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5" name="Title 4">
            <a:extLst>
              <a:ext uri="{FF2B5EF4-FFF2-40B4-BE49-F238E27FC236}">
                <a16:creationId xmlns:a16="http://schemas.microsoft.com/office/drawing/2014/main" id="{E105DEDB-3EA4-2D6B-B0B4-D3B05F202DD4}"/>
              </a:ext>
            </a:extLst>
          </p:cNvPr>
          <p:cNvSpPr>
            <a:spLocks noGrp="1"/>
          </p:cNvSpPr>
          <p:nvPr>
            <p:ph type="title"/>
          </p:nvPr>
        </p:nvSpPr>
        <p:spPr>
          <a:xfrm>
            <a:off x="882797" y="44215"/>
            <a:ext cx="8074152" cy="1292899"/>
          </a:xfrm>
        </p:spPr>
        <p:txBody>
          <a:bodyPr/>
          <a:lstStyle/>
          <a:p>
            <a:r>
              <a:rPr lang="en-US" dirty="0"/>
              <a:t>ACME evaluated five additional companies new to the screen this year, but none warrant inclusion at this time:</a:t>
            </a:r>
          </a:p>
        </p:txBody>
      </p:sp>
      <p:sp>
        <p:nvSpPr>
          <p:cNvPr id="4" name="Slide Number Placeholder 3">
            <a:extLst>
              <a:ext uri="{FF2B5EF4-FFF2-40B4-BE49-F238E27FC236}">
                <a16:creationId xmlns:a16="http://schemas.microsoft.com/office/drawing/2014/main" id="{02575CC4-D15C-FAB3-FA3E-3CC8D1C4D797}"/>
              </a:ext>
            </a:extLst>
          </p:cNvPr>
          <p:cNvSpPr>
            <a:spLocks noGrp="1"/>
          </p:cNvSpPr>
          <p:nvPr>
            <p:ph type="sldNum" sz="quarter" idx="12"/>
          </p:nvPr>
        </p:nvSpPr>
        <p:spPr>
          <a:xfrm>
            <a:off x="8581802" y="6577909"/>
            <a:ext cx="352260" cy="211339"/>
          </a:xfrm>
        </p:spPr>
        <p:txBody>
          <a:bodyPr/>
          <a:lstStyle/>
          <a:p>
            <a:fld id="{91690BAF-E217-4185-92FD-0CEA06F2B7C8}" type="slidenum">
              <a:rPr lang="en-US" smtClean="0"/>
              <a:pPr/>
              <a:t>20</a:t>
            </a:fld>
            <a:endParaRPr lang="en-US"/>
          </a:p>
        </p:txBody>
      </p:sp>
      <p:sp>
        <p:nvSpPr>
          <p:cNvPr id="2" name="TextBox 1">
            <a:extLst>
              <a:ext uri="{FF2B5EF4-FFF2-40B4-BE49-F238E27FC236}">
                <a16:creationId xmlns:a16="http://schemas.microsoft.com/office/drawing/2014/main" id="{191BB799-6089-A397-E988-260B97AEA654}"/>
              </a:ext>
            </a:extLst>
          </p:cNvPr>
          <p:cNvSpPr txBox="1"/>
          <p:nvPr/>
        </p:nvSpPr>
        <p:spPr>
          <a:xfrm>
            <a:off x="1593273" y="1206811"/>
            <a:ext cx="5957455" cy="307777"/>
          </a:xfrm>
          <a:prstGeom prst="rect">
            <a:avLst/>
          </a:prstGeom>
          <a:noFill/>
        </p:spPr>
        <p:txBody>
          <a:bodyPr wrap="square" lIns="45720" tIns="45720" rIns="45720" bIns="45720" rtlCol="0" anchor="ctr">
            <a:spAutoFit/>
          </a:bodyPr>
          <a:lstStyle/>
          <a:p>
            <a:pPr algn="ctr"/>
            <a:r>
              <a:rPr lang="en-US" sz="1400" b="1"/>
              <a:t>Business Descriptions for Companies New to the Screen</a:t>
            </a:r>
          </a:p>
        </p:txBody>
      </p:sp>
      <p:graphicFrame>
        <p:nvGraphicFramePr>
          <p:cNvPr id="6" name="Table 5">
            <a:extLst>
              <a:ext uri="{FF2B5EF4-FFF2-40B4-BE49-F238E27FC236}">
                <a16:creationId xmlns:a16="http://schemas.microsoft.com/office/drawing/2014/main" id="{B57E3253-2CF9-2107-3D97-FAB152BAFCF3}"/>
              </a:ext>
            </a:extLst>
          </p:cNvPr>
          <p:cNvGraphicFramePr>
            <a:graphicFrameLocks noGrp="1"/>
          </p:cNvGraphicFramePr>
          <p:nvPr>
            <p:extLst>
              <p:ext uri="{D42A27DB-BD31-4B8C-83A1-F6EECF244321}">
                <p14:modId xmlns:p14="http://schemas.microsoft.com/office/powerpoint/2010/main" val="211843666"/>
              </p:ext>
            </p:extLst>
          </p:nvPr>
        </p:nvGraphicFramePr>
        <p:xfrm>
          <a:off x="86592" y="1529977"/>
          <a:ext cx="8970816" cy="3346704"/>
        </p:xfrm>
        <a:graphic>
          <a:graphicData uri="http://schemas.openxmlformats.org/drawingml/2006/table">
            <a:tbl>
              <a:tblPr/>
              <a:tblGrid>
                <a:gridCol w="739861">
                  <a:extLst>
                    <a:ext uri="{9D8B030D-6E8A-4147-A177-3AD203B41FA5}">
                      <a16:colId xmlns:a16="http://schemas.microsoft.com/office/drawing/2014/main" val="2847594257"/>
                    </a:ext>
                  </a:extLst>
                </a:gridCol>
                <a:gridCol w="739861">
                  <a:extLst>
                    <a:ext uri="{9D8B030D-6E8A-4147-A177-3AD203B41FA5}">
                      <a16:colId xmlns:a16="http://schemas.microsoft.com/office/drawing/2014/main" val="2325195630"/>
                    </a:ext>
                  </a:extLst>
                </a:gridCol>
                <a:gridCol w="7491094">
                  <a:extLst>
                    <a:ext uri="{9D8B030D-6E8A-4147-A177-3AD203B41FA5}">
                      <a16:colId xmlns:a16="http://schemas.microsoft.com/office/drawing/2014/main" val="2715828596"/>
                    </a:ext>
                  </a:extLst>
                </a:gridCol>
              </a:tblGrid>
              <a:tr h="0">
                <a:tc>
                  <a:txBody>
                    <a:bodyPr/>
                    <a:lstStyle/>
                    <a:p>
                      <a:pPr algn="ctr" fontAlgn="b"/>
                      <a:r>
                        <a:rPr lang="en-US" sz="900" b="1" i="0" u="none" strike="noStrike">
                          <a:solidFill>
                            <a:srgbClr val="FFFFFF"/>
                          </a:solidFill>
                          <a:effectLst/>
                          <a:latin typeface="+mn-lt"/>
                        </a:rPr>
                        <a:t>Company</a:t>
                      </a:r>
                    </a:p>
                  </a:txBody>
                  <a:tcPr marL="27432" marR="27432" marT="27432" marB="27432" anchor="b">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r>
                        <a:rPr lang="en-US" sz="900" b="1" i="0" u="none" strike="noStrike">
                          <a:solidFill>
                            <a:srgbClr val="FFFFFF"/>
                          </a:solidFill>
                          <a:effectLst/>
                          <a:latin typeface="+mn-lt"/>
                        </a:rPr>
                        <a:t>FYE Revenue ($MM)</a:t>
                      </a:r>
                    </a:p>
                  </a:txBody>
                  <a:tcPr marL="27432" marR="27432" marT="27432" marB="27432" anchor="b">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r>
                        <a:rPr lang="en-US" sz="900" b="1" i="0" u="none" strike="noStrike">
                          <a:solidFill>
                            <a:srgbClr val="FFFFFF"/>
                          </a:solidFill>
                          <a:effectLst/>
                          <a:latin typeface="+mn-lt"/>
                        </a:rPr>
                        <a:t>Business Description</a:t>
                      </a:r>
                    </a:p>
                  </a:txBody>
                  <a:tcPr marL="27432" marR="27432" marT="27432" marB="27432" anchor="b">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extLst>
                  <a:ext uri="{0D108BD9-81ED-4DB2-BD59-A6C34878D82A}">
                    <a16:rowId xmlns:a16="http://schemas.microsoft.com/office/drawing/2014/main" val="3632874250"/>
                  </a:ext>
                </a:extLst>
              </a:tr>
              <a:tr h="0">
                <a:tc>
                  <a:txBody>
                    <a:bodyPr/>
                    <a:lstStyle/>
                    <a:p>
                      <a:pPr algn="l" fontAlgn="ctr"/>
                      <a:r>
                        <a:rPr lang="en-US" sz="900" b="1" i="0" u="none" strike="noStrike">
                          <a:effectLst/>
                          <a:latin typeface="+mn-lt"/>
                        </a:rPr>
                        <a:t>Accendra </a:t>
                      </a:r>
                    </a:p>
                  </a:txBody>
                  <a:tcPr marL="27432" marR="27432" marT="0" marB="0" anchor="ctr">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a:effectLst/>
                          <a:latin typeface="+mn-lt"/>
                        </a:rPr>
                        <a:t>$2,762</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l" fontAlgn="b">
                        <a:buFont typeface="Wingdings" panose="05000000000000000000" pitchFamily="2" charset="2"/>
                        <a:buChar char="§"/>
                      </a:pPr>
                      <a:r>
                        <a:rPr lang="en-US" sz="900" b="0" i="0" u="none" strike="noStrike">
                          <a:solidFill>
                            <a:srgbClr val="000000"/>
                          </a:solidFill>
                          <a:effectLst/>
                          <a:latin typeface="Calibri" panose="020F0502020204030204" pitchFamily="34" charset="0"/>
                        </a:rPr>
                        <a:t>Operates as a healthcare solutions company in the United States</a:t>
                      </a:r>
                    </a:p>
                    <a:p>
                      <a:pPr marL="171450" indent="-171450" algn="l" fontAlgn="b">
                        <a:buFont typeface="Wingdings" panose="05000000000000000000" pitchFamily="2" charset="2"/>
                        <a:buChar char="§"/>
                      </a:pPr>
                      <a:r>
                        <a:rPr lang="en-US" sz="900" b="0" i="0" u="none" strike="noStrike">
                          <a:solidFill>
                            <a:srgbClr val="000000"/>
                          </a:solidFill>
                          <a:effectLst/>
                          <a:latin typeface="Calibri" panose="020F0502020204030204" pitchFamily="34" charset="0"/>
                        </a:rPr>
                        <a:t>Offers a range of products and services for in-home care and delivery for diabetes treatment; home respiratory therapy, including home oxygen and non-invasive ventilation services; obstructive sleep apnea treatment, such as continuous positive airway pressure and bi-level positive airway pressure devices, and patient support services</a:t>
                      </a:r>
                    </a:p>
                    <a:p>
                      <a:pPr marL="171450" indent="-171450" algn="l" fontAlgn="b">
                        <a:buFont typeface="Wingdings" panose="05000000000000000000" pitchFamily="2" charset="2"/>
                        <a:buChar char="§"/>
                      </a:pPr>
                      <a:r>
                        <a:rPr lang="en-US" sz="900" b="0" i="0" u="none" strike="noStrike">
                          <a:solidFill>
                            <a:srgbClr val="000000"/>
                          </a:solidFill>
                          <a:effectLst/>
                          <a:latin typeface="Calibri" panose="020F0502020204030204" pitchFamily="34" charset="0"/>
                        </a:rPr>
                        <a:t>Supplies other home medical equipment, patient care product lines including ostomy, wound care and negative pressure wound therapy, urology, incontinence, and other products and services. It serves patients and home health agencies</a:t>
                      </a:r>
                    </a:p>
                  </a:txBody>
                  <a:tcPr marL="0" marR="0" marT="0" marB="0" anchor="b">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45841235"/>
                  </a:ext>
                </a:extLst>
              </a:tr>
              <a:tr h="0">
                <a:tc>
                  <a:txBody>
                    <a:bodyPr/>
                    <a:lstStyle/>
                    <a:p>
                      <a:pPr algn="l" fontAlgn="ctr"/>
                      <a:r>
                        <a:rPr lang="en-US" sz="900" b="1" i="0" u="none" strike="noStrike">
                          <a:effectLst/>
                          <a:latin typeface="+mn-lt"/>
                        </a:rPr>
                        <a:t>Insulet</a:t>
                      </a:r>
                    </a:p>
                  </a:txBody>
                  <a:tcPr marL="27432" marR="27432" marT="0" marB="0" anchor="ctr">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a:effectLst/>
                          <a:latin typeface="+mn-lt"/>
                        </a:rPr>
                        <a:t>$2,708</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lgn="l" fontAlgn="ctr">
                        <a:buFont typeface="Wingdings" panose="05000000000000000000" pitchFamily="2" charset="2"/>
                        <a:buChar char="§"/>
                      </a:pPr>
                      <a:r>
                        <a:rPr lang="en-US" sz="900" b="0" i="0" u="none" strike="noStrike">
                          <a:solidFill>
                            <a:srgbClr val="000000"/>
                          </a:solidFill>
                          <a:effectLst/>
                          <a:latin typeface="Calibri" panose="020F0502020204030204" pitchFamily="34" charset="0"/>
                        </a:rPr>
                        <a:t>Develops, manufactures, and sells insulin delivery systems for people with insulin-dependent diabetes in the United States and internationally</a:t>
                      </a:r>
                    </a:p>
                    <a:p>
                      <a:pPr marL="171450" indent="-171450" algn="l" fontAlgn="ctr">
                        <a:buFont typeface="Wingdings" panose="05000000000000000000" pitchFamily="2" charset="2"/>
                        <a:buChar char="§"/>
                      </a:pPr>
                      <a:r>
                        <a:rPr lang="en-US" sz="900" b="0" i="0" u="none" strike="noStrike">
                          <a:solidFill>
                            <a:srgbClr val="000000"/>
                          </a:solidFill>
                          <a:effectLst/>
                          <a:latin typeface="Calibri" panose="020F0502020204030204" pitchFamily="34" charset="0"/>
                        </a:rPr>
                        <a:t>Offers Omnipod platform products comprising Omnipod 5 automated insulin delivery system, which includes a proprietary AID algorithm embedded in the pod that integrates with a third-party continuous glucose monitor to obtain glucose values through wireless Bluetooth communication; Omnipod DASH insulin management system that features a Bluetooth enabled pod that is controlled by a smartphone-like personal diabetes manager with a color touch screen user interface; and the Omnipod Insulin Management System</a:t>
                      </a:r>
                    </a:p>
                    <a:p>
                      <a:pPr marL="171450" indent="-171450" algn="l" fontAlgn="ctr">
                        <a:buFont typeface="Wingdings" panose="05000000000000000000" pitchFamily="2" charset="2"/>
                        <a:buChar char="§"/>
                      </a:pPr>
                      <a:r>
                        <a:rPr lang="en-US" sz="900" b="0" i="0" u="none" strike="noStrike">
                          <a:solidFill>
                            <a:srgbClr val="000000"/>
                          </a:solidFill>
                          <a:effectLst/>
                          <a:latin typeface="Calibri" panose="020F0502020204030204" pitchFamily="34" charset="0"/>
                        </a:rPr>
                        <a:t>Provides pods for Amgen for use in the Neulasta Onpro kit, which is a delivery system to help reduce the risk of infection after intense chemotherapy. </a:t>
                      </a:r>
                    </a:p>
                    <a:p>
                      <a:pPr marL="171450" indent="-171450" algn="l" fontAlgn="ctr">
                        <a:buFont typeface="Wingdings" panose="05000000000000000000" pitchFamily="2" charset="2"/>
                        <a:buChar char="§"/>
                      </a:pPr>
                      <a:r>
                        <a:rPr lang="en-US" sz="900" b="0" i="0" u="none" strike="noStrike">
                          <a:solidFill>
                            <a:srgbClr val="000000"/>
                          </a:solidFill>
                          <a:effectLst/>
                          <a:latin typeface="Calibri" panose="020F0502020204030204" pitchFamily="34" charset="0"/>
                        </a:rPr>
                        <a:t>Sells its products to end-users through the pharmacy channel; and independent distributors</a:t>
                      </a:r>
                    </a:p>
                  </a:txBody>
                  <a:tcPr marL="0" marR="0" marT="0" marB="0" anchor="ctr">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672179374"/>
                  </a:ext>
                </a:extLst>
              </a:tr>
              <a:tr h="0">
                <a:tc>
                  <a:txBody>
                    <a:bodyPr/>
                    <a:lstStyle/>
                    <a:p>
                      <a:pPr algn="l" fontAlgn="ctr"/>
                      <a:r>
                        <a:rPr lang="en-US" sz="900" b="1" i="0" u="none" strike="noStrike">
                          <a:effectLst/>
                          <a:latin typeface="+mn-lt"/>
                        </a:rPr>
                        <a:t>Concentra</a:t>
                      </a:r>
                    </a:p>
                  </a:txBody>
                  <a:tcPr marL="27432" marR="27432" marT="0" marB="0" anchor="ctr">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a:effectLst/>
                          <a:latin typeface="+mn-lt"/>
                        </a:rPr>
                        <a:t>$2,163</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l" fontAlgn="b">
                        <a:buFont typeface="Wingdings" panose="05000000000000000000" pitchFamily="2" charset="2"/>
                        <a:buChar char="§"/>
                      </a:pPr>
                      <a:r>
                        <a:rPr lang="en-US" sz="900" b="0" i="0" u="none" strike="noStrike">
                          <a:solidFill>
                            <a:srgbClr val="000000"/>
                          </a:solidFill>
                          <a:effectLst/>
                          <a:latin typeface="Calibri" panose="020F0502020204030204" pitchFamily="34" charset="0"/>
                        </a:rPr>
                        <a:t>Provides occupational health services in the United States</a:t>
                      </a:r>
                    </a:p>
                    <a:p>
                      <a:pPr marL="171450" indent="-171450" algn="l" fontAlgn="b">
                        <a:buFont typeface="Wingdings" panose="05000000000000000000" pitchFamily="2" charset="2"/>
                        <a:buChar char="§"/>
                      </a:pPr>
                      <a:r>
                        <a:rPr lang="en-US" sz="900" b="0" i="0" u="none" strike="noStrike">
                          <a:solidFill>
                            <a:srgbClr val="000000"/>
                          </a:solidFill>
                          <a:effectLst/>
                          <a:latin typeface="Calibri" panose="020F0502020204030204" pitchFamily="34" charset="0"/>
                        </a:rPr>
                        <a:t>Operates in three segments: Occupational Health centers, Onsite health clinics, and Other business</a:t>
                      </a:r>
                    </a:p>
                    <a:p>
                      <a:pPr marL="171450" indent="-171450" algn="l" fontAlgn="b">
                        <a:buFont typeface="Wingdings" panose="05000000000000000000" pitchFamily="2" charset="2"/>
                        <a:buChar char="§"/>
                      </a:pPr>
                      <a:r>
                        <a:rPr lang="en-US" sz="900" b="0" i="0" u="none" strike="noStrike">
                          <a:solidFill>
                            <a:srgbClr val="000000"/>
                          </a:solidFill>
                          <a:effectLst/>
                          <a:latin typeface="Calibri" panose="020F0502020204030204" pitchFamily="34" charset="0"/>
                        </a:rPr>
                        <a:t>Offers occupational health services, including workers compensation, employer, and consumer health services; and employer-sponsored primary care services at workplace, including mobile health and episodic specialty testing services</a:t>
                      </a:r>
                    </a:p>
                    <a:p>
                      <a:pPr marL="171450" indent="-171450" algn="l" fontAlgn="b">
                        <a:buFont typeface="Wingdings" panose="05000000000000000000" pitchFamily="2" charset="2"/>
                        <a:buChar char="§"/>
                      </a:pPr>
                      <a:r>
                        <a:rPr lang="en-US" sz="900" b="0" i="0" u="none" strike="noStrike">
                          <a:solidFill>
                            <a:srgbClr val="000000"/>
                          </a:solidFill>
                          <a:effectLst/>
                          <a:latin typeface="Calibri" panose="020F0502020204030204" pitchFamily="34" charset="0"/>
                        </a:rPr>
                        <a:t>Operates Concentra Telemed, a telemedicine platform for the treatment of work-related injuries and illnesses; Concentra Pharmacy for distributing repackaged medications; and Concentra Medical Compliance Administration, a third-party administrator that helps to manage abuse testing programs for employers with regulated or non-regulated workforces</a:t>
                      </a:r>
                    </a:p>
                    <a:p>
                      <a:pPr marL="171450" indent="-171450" algn="l" fontAlgn="b">
                        <a:buFont typeface="Wingdings" panose="05000000000000000000" pitchFamily="2" charset="2"/>
                        <a:buChar char="§"/>
                      </a:pPr>
                      <a:r>
                        <a:rPr lang="en-US" sz="900" b="0" i="0" u="none" strike="noStrike">
                          <a:solidFill>
                            <a:srgbClr val="000000"/>
                          </a:solidFill>
                          <a:effectLst/>
                          <a:latin typeface="Calibri" panose="020F0502020204030204" pitchFamily="34" charset="0"/>
                        </a:rPr>
                        <a:t>Provides injury care, primary care, urgent care, preventive care, clinical testing, physical examinations and evaluations, drug and alcohol screenings, clinical testing, vaccinations and other preventive care, and a range of consultative services designed to protect employees from workplace hazards</a:t>
                      </a:r>
                    </a:p>
                  </a:txBody>
                  <a:tcPr marL="0" marR="0" marT="0" marB="0" anchor="b">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90539770"/>
                  </a:ext>
                </a:extLst>
              </a:tr>
            </a:tbl>
          </a:graphicData>
        </a:graphic>
      </p:graphicFrame>
    </p:spTree>
    <p:extLst>
      <p:ext uri="{BB962C8B-B14F-4D97-AF65-F5344CB8AC3E}">
        <p14:creationId xmlns:p14="http://schemas.microsoft.com/office/powerpoint/2010/main" val="3931667626"/>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4147A-2EDE-7156-1B0C-1DCFBAFCAB2A}"/>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C1EEA487-AD9E-9E44-1006-9A3F8E3CF9F3}"/>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5" name="Title 4">
            <a:extLst>
              <a:ext uri="{FF2B5EF4-FFF2-40B4-BE49-F238E27FC236}">
                <a16:creationId xmlns:a16="http://schemas.microsoft.com/office/drawing/2014/main" id="{C4F26923-F683-55B8-CFA8-4720719D0F04}"/>
              </a:ext>
            </a:extLst>
          </p:cNvPr>
          <p:cNvSpPr>
            <a:spLocks noGrp="1"/>
          </p:cNvSpPr>
          <p:nvPr>
            <p:ph type="title"/>
          </p:nvPr>
        </p:nvSpPr>
        <p:spPr>
          <a:xfrm>
            <a:off x="882797" y="44215"/>
            <a:ext cx="8074152" cy="1292899"/>
          </a:xfrm>
        </p:spPr>
        <p:txBody>
          <a:bodyPr/>
          <a:lstStyle/>
          <a:p>
            <a:r>
              <a:rPr lang="en-US" dirty="0"/>
              <a:t>ACME evaluated five additional companies new to the screen this year, but none warrant inclusion at this time </a:t>
            </a:r>
            <a:r>
              <a:rPr lang="en-US" i="1" dirty="0"/>
              <a:t>(continued)</a:t>
            </a:r>
            <a:r>
              <a:rPr lang="en-US" dirty="0"/>
              <a:t>:</a:t>
            </a:r>
          </a:p>
        </p:txBody>
      </p:sp>
      <p:sp>
        <p:nvSpPr>
          <p:cNvPr id="4" name="Slide Number Placeholder 3">
            <a:extLst>
              <a:ext uri="{FF2B5EF4-FFF2-40B4-BE49-F238E27FC236}">
                <a16:creationId xmlns:a16="http://schemas.microsoft.com/office/drawing/2014/main" id="{5F439EF8-94E7-7467-2C03-D1D70D036265}"/>
              </a:ext>
            </a:extLst>
          </p:cNvPr>
          <p:cNvSpPr>
            <a:spLocks noGrp="1"/>
          </p:cNvSpPr>
          <p:nvPr>
            <p:ph type="sldNum" sz="quarter" idx="12"/>
          </p:nvPr>
        </p:nvSpPr>
        <p:spPr>
          <a:xfrm>
            <a:off x="8581802" y="6577909"/>
            <a:ext cx="352260" cy="211339"/>
          </a:xfrm>
        </p:spPr>
        <p:txBody>
          <a:bodyPr/>
          <a:lstStyle/>
          <a:p>
            <a:fld id="{91690BAF-E217-4185-92FD-0CEA06F2B7C8}" type="slidenum">
              <a:rPr lang="en-US" smtClean="0"/>
              <a:pPr/>
              <a:t>21</a:t>
            </a:fld>
            <a:endParaRPr lang="en-US"/>
          </a:p>
        </p:txBody>
      </p:sp>
      <p:sp>
        <p:nvSpPr>
          <p:cNvPr id="2" name="TextBox 1">
            <a:extLst>
              <a:ext uri="{FF2B5EF4-FFF2-40B4-BE49-F238E27FC236}">
                <a16:creationId xmlns:a16="http://schemas.microsoft.com/office/drawing/2014/main" id="{73AFD60B-9B6D-23F4-C58E-B8943A6459A9}"/>
              </a:ext>
            </a:extLst>
          </p:cNvPr>
          <p:cNvSpPr txBox="1"/>
          <p:nvPr/>
        </p:nvSpPr>
        <p:spPr>
          <a:xfrm>
            <a:off x="1593273" y="1206811"/>
            <a:ext cx="5957455" cy="307777"/>
          </a:xfrm>
          <a:prstGeom prst="rect">
            <a:avLst/>
          </a:prstGeom>
          <a:noFill/>
        </p:spPr>
        <p:txBody>
          <a:bodyPr wrap="square" lIns="45720" tIns="45720" rIns="45720" bIns="45720" rtlCol="0" anchor="ctr">
            <a:spAutoFit/>
          </a:bodyPr>
          <a:lstStyle/>
          <a:p>
            <a:pPr algn="ctr"/>
            <a:r>
              <a:rPr lang="en-US" sz="1400" b="1"/>
              <a:t>Business Descriptions for Companies New to the Screen </a:t>
            </a:r>
            <a:r>
              <a:rPr lang="en-US" sz="1400" b="1" i="1"/>
              <a:t>(continued)</a:t>
            </a:r>
          </a:p>
        </p:txBody>
      </p:sp>
      <p:graphicFrame>
        <p:nvGraphicFramePr>
          <p:cNvPr id="6" name="Table 5">
            <a:extLst>
              <a:ext uri="{FF2B5EF4-FFF2-40B4-BE49-F238E27FC236}">
                <a16:creationId xmlns:a16="http://schemas.microsoft.com/office/drawing/2014/main" id="{281D8230-1CD8-3D11-FBBC-5222889675F1}"/>
              </a:ext>
            </a:extLst>
          </p:cNvPr>
          <p:cNvGraphicFramePr>
            <a:graphicFrameLocks noGrp="1"/>
          </p:cNvGraphicFramePr>
          <p:nvPr>
            <p:extLst>
              <p:ext uri="{D42A27DB-BD31-4B8C-83A1-F6EECF244321}">
                <p14:modId xmlns:p14="http://schemas.microsoft.com/office/powerpoint/2010/main" val="3258746480"/>
              </p:ext>
            </p:extLst>
          </p:nvPr>
        </p:nvGraphicFramePr>
        <p:xfrm>
          <a:off x="86592" y="1529977"/>
          <a:ext cx="8970816" cy="3072384"/>
        </p:xfrm>
        <a:graphic>
          <a:graphicData uri="http://schemas.openxmlformats.org/drawingml/2006/table">
            <a:tbl>
              <a:tblPr/>
              <a:tblGrid>
                <a:gridCol w="739861">
                  <a:extLst>
                    <a:ext uri="{9D8B030D-6E8A-4147-A177-3AD203B41FA5}">
                      <a16:colId xmlns:a16="http://schemas.microsoft.com/office/drawing/2014/main" val="2847594257"/>
                    </a:ext>
                  </a:extLst>
                </a:gridCol>
                <a:gridCol w="739861">
                  <a:extLst>
                    <a:ext uri="{9D8B030D-6E8A-4147-A177-3AD203B41FA5}">
                      <a16:colId xmlns:a16="http://schemas.microsoft.com/office/drawing/2014/main" val="2325195630"/>
                    </a:ext>
                  </a:extLst>
                </a:gridCol>
                <a:gridCol w="7491094">
                  <a:extLst>
                    <a:ext uri="{9D8B030D-6E8A-4147-A177-3AD203B41FA5}">
                      <a16:colId xmlns:a16="http://schemas.microsoft.com/office/drawing/2014/main" val="2715828596"/>
                    </a:ext>
                  </a:extLst>
                </a:gridCol>
              </a:tblGrid>
              <a:tr h="0">
                <a:tc>
                  <a:txBody>
                    <a:bodyPr/>
                    <a:lstStyle/>
                    <a:p>
                      <a:pPr algn="ctr" fontAlgn="b"/>
                      <a:r>
                        <a:rPr lang="en-US" sz="900" b="1" i="0" u="none" strike="noStrike">
                          <a:solidFill>
                            <a:srgbClr val="FFFFFF"/>
                          </a:solidFill>
                          <a:effectLst/>
                          <a:latin typeface="+mn-lt"/>
                        </a:rPr>
                        <a:t>Company</a:t>
                      </a:r>
                    </a:p>
                  </a:txBody>
                  <a:tcPr marL="27432" marR="27432" marT="27432" marB="27432" anchor="b">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r>
                        <a:rPr lang="en-US" sz="900" b="1" i="0" u="none" strike="noStrike">
                          <a:solidFill>
                            <a:srgbClr val="FFFFFF"/>
                          </a:solidFill>
                          <a:effectLst/>
                          <a:latin typeface="+mn-lt"/>
                        </a:rPr>
                        <a:t>FYE Revenue ($MM)</a:t>
                      </a:r>
                    </a:p>
                  </a:txBody>
                  <a:tcPr marL="27432" marR="27432" marT="27432" marB="27432" anchor="b">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r>
                        <a:rPr lang="en-US" sz="900" b="1" i="0" u="none" strike="noStrike">
                          <a:solidFill>
                            <a:srgbClr val="FFFFFF"/>
                          </a:solidFill>
                          <a:effectLst/>
                          <a:latin typeface="+mn-lt"/>
                        </a:rPr>
                        <a:t>Business Description</a:t>
                      </a:r>
                    </a:p>
                  </a:txBody>
                  <a:tcPr marL="27432" marR="27432" marT="27432" marB="27432" anchor="b">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extLst>
                  <a:ext uri="{0D108BD9-81ED-4DB2-BD59-A6C34878D82A}">
                    <a16:rowId xmlns:a16="http://schemas.microsoft.com/office/drawing/2014/main" val="3632874250"/>
                  </a:ext>
                </a:extLst>
              </a:tr>
              <a:tr h="93464">
                <a:tc>
                  <a:txBody>
                    <a:bodyPr/>
                    <a:lstStyle/>
                    <a:p>
                      <a:pPr algn="l" fontAlgn="ctr"/>
                      <a:r>
                        <a:rPr lang="en-US" sz="900" b="1" i="0" u="none" strike="noStrike">
                          <a:effectLst/>
                          <a:latin typeface="+mn-lt"/>
                        </a:rPr>
                        <a:t>PTC Therapeutics</a:t>
                      </a:r>
                    </a:p>
                  </a:txBody>
                  <a:tcPr marL="27432" marR="27432" marT="0" marB="0" anchor="ctr">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a:effectLst/>
                          <a:latin typeface="+mn-lt"/>
                        </a:rPr>
                        <a:t>$1,731</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l" fontAlgn="b">
                        <a:buFont typeface="Wingdings" panose="05000000000000000000" pitchFamily="2" charset="2"/>
                        <a:buChar char="§"/>
                      </a:pPr>
                      <a:r>
                        <a:rPr lang="en-US" sz="900" b="0" i="0" u="none" strike="noStrike">
                          <a:solidFill>
                            <a:srgbClr val="000000"/>
                          </a:solidFill>
                          <a:effectLst/>
                          <a:latin typeface="Calibri" panose="020F0502020204030204" pitchFamily="34" charset="0"/>
                        </a:rPr>
                        <a:t>Focuses on the discovery, development, and commercialization of medicines to children and adults living with rare disorders in the United States and internationally</a:t>
                      </a:r>
                    </a:p>
                    <a:p>
                      <a:pPr marL="171450" indent="-171450" algn="l" fontAlgn="b">
                        <a:buFont typeface="Wingdings" panose="05000000000000000000" pitchFamily="2" charset="2"/>
                        <a:buChar char="§"/>
                      </a:pPr>
                      <a:r>
                        <a:rPr lang="en-US" sz="900" b="0" i="0" u="none" strike="noStrike">
                          <a:solidFill>
                            <a:srgbClr val="000000"/>
                          </a:solidFill>
                          <a:effectLst/>
                          <a:latin typeface="Calibri" panose="020F0502020204030204" pitchFamily="34" charset="0"/>
                        </a:rPr>
                        <a:t>Provides </a:t>
                      </a:r>
                      <a:r>
                        <a:rPr lang="en-US" sz="900" b="0" i="0" u="none" strike="noStrike" err="1">
                          <a:solidFill>
                            <a:srgbClr val="000000"/>
                          </a:solidFill>
                          <a:effectLst/>
                          <a:latin typeface="Calibri" panose="020F0502020204030204" pitchFamily="34" charset="0"/>
                        </a:rPr>
                        <a:t>Translarna</a:t>
                      </a:r>
                      <a:r>
                        <a:rPr lang="en-US" sz="900" b="0" i="0" u="none" strike="noStrike">
                          <a:solidFill>
                            <a:srgbClr val="000000"/>
                          </a:solidFill>
                          <a:effectLst/>
                          <a:latin typeface="Calibri" panose="020F0502020204030204" pitchFamily="34" charset="0"/>
                        </a:rPr>
                        <a:t> and </a:t>
                      </a:r>
                      <a:r>
                        <a:rPr lang="en-US" sz="900" b="0" i="0" u="none" strike="noStrike" err="1">
                          <a:solidFill>
                            <a:srgbClr val="000000"/>
                          </a:solidFill>
                          <a:effectLst/>
                          <a:latin typeface="Calibri" panose="020F0502020204030204" pitchFamily="34" charset="0"/>
                        </a:rPr>
                        <a:t>Emflaza</a:t>
                      </a:r>
                      <a:r>
                        <a:rPr lang="en-US" sz="900" b="0" i="0" u="none" strike="noStrike">
                          <a:solidFill>
                            <a:srgbClr val="000000"/>
                          </a:solidFill>
                          <a:effectLst/>
                          <a:latin typeface="Calibri" panose="020F0502020204030204" pitchFamily="34" charset="0"/>
                        </a:rPr>
                        <a:t> for the treatment of Duchenne muscular dystrophy; </a:t>
                      </a:r>
                      <a:r>
                        <a:rPr lang="en-US" sz="900" b="0" i="0" u="none" strike="noStrike" err="1">
                          <a:solidFill>
                            <a:srgbClr val="000000"/>
                          </a:solidFill>
                          <a:effectLst/>
                          <a:latin typeface="Calibri" panose="020F0502020204030204" pitchFamily="34" charset="0"/>
                        </a:rPr>
                        <a:t>Upstaza</a:t>
                      </a:r>
                      <a:r>
                        <a:rPr lang="en-US" sz="900" b="0" i="0" u="none" strike="noStrike">
                          <a:solidFill>
                            <a:srgbClr val="000000"/>
                          </a:solidFill>
                          <a:effectLst/>
                          <a:latin typeface="Calibri" panose="020F0502020204030204" pitchFamily="34" charset="0"/>
                        </a:rPr>
                        <a:t> to treat aromatic l-amino acid </a:t>
                      </a:r>
                      <a:r>
                        <a:rPr lang="en-US" sz="900" b="0" i="0" u="none" strike="noStrike" err="1">
                          <a:solidFill>
                            <a:srgbClr val="000000"/>
                          </a:solidFill>
                          <a:effectLst/>
                          <a:latin typeface="Calibri" panose="020F0502020204030204" pitchFamily="34" charset="0"/>
                        </a:rPr>
                        <a:t>decarboxylas</a:t>
                      </a:r>
                      <a:r>
                        <a:rPr lang="en-US" sz="900" b="0" i="0" u="none" strike="noStrike">
                          <a:solidFill>
                            <a:srgbClr val="000000"/>
                          </a:solidFill>
                          <a:effectLst/>
                          <a:latin typeface="Calibri" panose="020F0502020204030204" pitchFamily="34" charset="0"/>
                        </a:rPr>
                        <a:t> (AADC) deficiency, a central nervous system disorder; </a:t>
                      </a:r>
                      <a:r>
                        <a:rPr lang="en-US" sz="900" b="0" i="0" u="none" strike="noStrike" err="1">
                          <a:solidFill>
                            <a:srgbClr val="000000"/>
                          </a:solidFill>
                          <a:effectLst/>
                          <a:latin typeface="Calibri" panose="020F0502020204030204" pitchFamily="34" charset="0"/>
                        </a:rPr>
                        <a:t>Tegsedi</a:t>
                      </a:r>
                      <a:r>
                        <a:rPr lang="en-US" sz="900" b="0" i="0" u="none" strike="noStrike">
                          <a:solidFill>
                            <a:srgbClr val="000000"/>
                          </a:solidFill>
                          <a:effectLst/>
                          <a:latin typeface="Calibri" panose="020F0502020204030204" pitchFamily="34" charset="0"/>
                        </a:rPr>
                        <a:t> and </a:t>
                      </a:r>
                      <a:r>
                        <a:rPr lang="en-US" sz="900" b="0" i="0" u="none" strike="noStrike" err="1">
                          <a:solidFill>
                            <a:srgbClr val="000000"/>
                          </a:solidFill>
                          <a:effectLst/>
                          <a:latin typeface="Calibri" panose="020F0502020204030204" pitchFamily="34" charset="0"/>
                        </a:rPr>
                        <a:t>Waylivra</a:t>
                      </a:r>
                      <a:r>
                        <a:rPr lang="en-US" sz="900" b="0" i="0" u="none" strike="noStrike">
                          <a:solidFill>
                            <a:srgbClr val="000000"/>
                          </a:solidFill>
                          <a:effectLst/>
                          <a:latin typeface="Calibri" panose="020F0502020204030204" pitchFamily="34" charset="0"/>
                        </a:rPr>
                        <a:t> for the treatment of rare diseases; and </a:t>
                      </a:r>
                      <a:r>
                        <a:rPr lang="en-US" sz="900" b="0" i="0" u="none" strike="noStrike" err="1">
                          <a:solidFill>
                            <a:srgbClr val="000000"/>
                          </a:solidFill>
                          <a:effectLst/>
                          <a:latin typeface="Calibri" panose="020F0502020204030204" pitchFamily="34" charset="0"/>
                        </a:rPr>
                        <a:t>Evrysdi</a:t>
                      </a:r>
                      <a:r>
                        <a:rPr lang="en-US" sz="900" b="0" i="0" u="none" strike="noStrike">
                          <a:solidFill>
                            <a:srgbClr val="000000"/>
                          </a:solidFill>
                          <a:effectLst/>
                          <a:latin typeface="Calibri" panose="020F0502020204030204" pitchFamily="34" charset="0"/>
                        </a:rPr>
                        <a:t> to treat spinal muscular atrophy (SMA) in adults and children</a:t>
                      </a:r>
                    </a:p>
                    <a:p>
                      <a:pPr marL="171450" indent="-171450" algn="l" fontAlgn="b">
                        <a:buFont typeface="Wingdings" panose="05000000000000000000" pitchFamily="2" charset="2"/>
                        <a:buChar char="§"/>
                      </a:pPr>
                      <a:r>
                        <a:rPr lang="en-US" sz="900" b="0" i="0" u="none" strike="noStrike">
                          <a:solidFill>
                            <a:srgbClr val="000000"/>
                          </a:solidFill>
                          <a:effectLst/>
                          <a:latin typeface="Calibri" panose="020F0502020204030204" pitchFamily="34" charset="0"/>
                        </a:rPr>
                        <a:t>Development pipeline products include </a:t>
                      </a:r>
                      <a:r>
                        <a:rPr lang="en-US" sz="900" b="0" i="0" u="none" strike="noStrike" err="1">
                          <a:solidFill>
                            <a:srgbClr val="000000"/>
                          </a:solidFill>
                          <a:effectLst/>
                          <a:latin typeface="Calibri" panose="020F0502020204030204" pitchFamily="34" charset="0"/>
                        </a:rPr>
                        <a:t>Sepiapterin</a:t>
                      </a:r>
                      <a:r>
                        <a:rPr lang="en-US" sz="900" b="0" i="0" u="none" strike="noStrike">
                          <a:solidFill>
                            <a:srgbClr val="000000"/>
                          </a:solidFill>
                          <a:effectLst/>
                          <a:latin typeface="Calibri" panose="020F0502020204030204" pitchFamily="34" charset="0"/>
                        </a:rPr>
                        <a:t> for the treatment of phenylketonuria; PTC518 splicing platform, which is being developed for the treatment of Huntington’s disease; and inflammation and ferroptosis platforms, including </a:t>
                      </a:r>
                      <a:r>
                        <a:rPr lang="en-US" sz="900" b="0" i="0" u="none" strike="noStrike" err="1">
                          <a:solidFill>
                            <a:srgbClr val="000000"/>
                          </a:solidFill>
                          <a:effectLst/>
                          <a:latin typeface="Calibri" panose="020F0502020204030204" pitchFamily="34" charset="0"/>
                        </a:rPr>
                        <a:t>vatiquinone</a:t>
                      </a:r>
                      <a:r>
                        <a:rPr lang="en-US" sz="900" b="0" i="0" u="none" strike="noStrike">
                          <a:solidFill>
                            <a:srgbClr val="000000"/>
                          </a:solidFill>
                          <a:effectLst/>
                          <a:latin typeface="Calibri" panose="020F0502020204030204" pitchFamily="34" charset="0"/>
                        </a:rPr>
                        <a:t> to treat Friedreich’s ataxia</a:t>
                      </a:r>
                    </a:p>
                    <a:p>
                      <a:pPr marL="171450" indent="-171450" algn="l" fontAlgn="b">
                        <a:buFont typeface="Wingdings" panose="05000000000000000000" pitchFamily="2" charset="2"/>
                        <a:buChar char="§"/>
                      </a:pPr>
                      <a:r>
                        <a:rPr lang="en-US" sz="900" b="0" i="0" u="none" strike="noStrike">
                          <a:solidFill>
                            <a:srgbClr val="000000"/>
                          </a:solidFill>
                          <a:effectLst/>
                          <a:latin typeface="Calibri" panose="020F0502020204030204" pitchFamily="34" charset="0"/>
                        </a:rPr>
                        <a:t>Distributes its products through third-party distributors</a:t>
                      </a:r>
                    </a:p>
                    <a:p>
                      <a:pPr marL="171450" indent="-171450" algn="l" fontAlgn="b">
                        <a:buFont typeface="Wingdings" panose="05000000000000000000" pitchFamily="2" charset="2"/>
                        <a:buChar char="§"/>
                      </a:pPr>
                      <a:r>
                        <a:rPr lang="en-US" sz="900" b="0" i="0" u="none" strike="noStrike">
                          <a:solidFill>
                            <a:srgbClr val="000000"/>
                          </a:solidFill>
                          <a:effectLst/>
                          <a:latin typeface="Calibri" panose="020F0502020204030204" pitchFamily="34" charset="0"/>
                        </a:rPr>
                        <a:t>Has license and collaboration agreements with Novartis Pharmaceuticals Corporation to develop PTC518 Huntington's disease program</a:t>
                      </a:r>
                    </a:p>
                    <a:p>
                      <a:pPr marL="171450" indent="-171450" algn="l" fontAlgn="b">
                        <a:buFont typeface="Wingdings" panose="05000000000000000000" pitchFamily="2" charset="2"/>
                        <a:buChar char="§"/>
                      </a:pPr>
                      <a:r>
                        <a:rPr lang="en-US" sz="900" b="0" i="0" u="none" strike="noStrike">
                          <a:solidFill>
                            <a:srgbClr val="000000"/>
                          </a:solidFill>
                          <a:effectLst/>
                          <a:latin typeface="Calibri" panose="020F0502020204030204" pitchFamily="34" charset="0"/>
                        </a:rPr>
                        <a:t>Markets </a:t>
                      </a:r>
                      <a:r>
                        <a:rPr lang="en-US" sz="900" b="0" i="0" u="none" strike="noStrike" err="1">
                          <a:solidFill>
                            <a:srgbClr val="000000"/>
                          </a:solidFill>
                          <a:effectLst/>
                          <a:latin typeface="Calibri" panose="020F0502020204030204" pitchFamily="34" charset="0"/>
                        </a:rPr>
                        <a:t>Upstaza</a:t>
                      </a:r>
                      <a:r>
                        <a:rPr lang="en-US" sz="900" b="0" i="0" u="none" strike="noStrike">
                          <a:solidFill>
                            <a:srgbClr val="000000"/>
                          </a:solidFill>
                          <a:effectLst/>
                          <a:latin typeface="Calibri" panose="020F0502020204030204" pitchFamily="34" charset="0"/>
                        </a:rPr>
                        <a:t>, a gene therapy with the brand name </a:t>
                      </a:r>
                      <a:r>
                        <a:rPr lang="en-US" sz="900" b="0" i="0" u="none" strike="noStrike" err="1">
                          <a:solidFill>
                            <a:srgbClr val="000000"/>
                          </a:solidFill>
                          <a:effectLst/>
                          <a:latin typeface="Calibri" panose="020F0502020204030204" pitchFamily="34" charset="0"/>
                        </a:rPr>
                        <a:t>Kebilidi</a:t>
                      </a:r>
                      <a:r>
                        <a:rPr lang="en-US" sz="900" b="0" i="0" u="none" strike="noStrike">
                          <a:solidFill>
                            <a:srgbClr val="000000"/>
                          </a:solidFill>
                          <a:effectLst/>
                          <a:latin typeface="Calibri" panose="020F0502020204030204" pitchFamily="34" charset="0"/>
                        </a:rPr>
                        <a:t> in the United States</a:t>
                      </a:r>
                    </a:p>
                  </a:txBody>
                  <a:tcPr marL="0" marR="0" marT="0" marB="0" anchor="b">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45841235"/>
                  </a:ext>
                </a:extLst>
              </a:tr>
              <a:tr h="0">
                <a:tc>
                  <a:txBody>
                    <a:bodyPr/>
                    <a:lstStyle/>
                    <a:p>
                      <a:pPr algn="l" fontAlgn="ctr"/>
                      <a:r>
                        <a:rPr lang="en-US" sz="900" b="1" i="0" u="none" strike="noStrike">
                          <a:effectLst/>
                          <a:latin typeface="+mn-lt"/>
                        </a:rPr>
                        <a:t>Masimo</a:t>
                      </a:r>
                    </a:p>
                  </a:txBody>
                  <a:tcPr marL="27432" marR="27432" marT="0" marB="0" anchor="ctr">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a:effectLst/>
                          <a:latin typeface="+mn-lt"/>
                        </a:rPr>
                        <a:t>$1,527</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lgn="l" fontAlgn="ctr">
                        <a:buFont typeface="Wingdings" panose="05000000000000000000" pitchFamily="2" charset="2"/>
                        <a:buChar char="§"/>
                      </a:pPr>
                      <a:r>
                        <a:rPr lang="en-US" sz="900" b="0" i="0" u="none" strike="noStrike">
                          <a:solidFill>
                            <a:srgbClr val="000000"/>
                          </a:solidFill>
                          <a:effectLst/>
                          <a:latin typeface="Calibri" panose="020F0502020204030204" pitchFamily="34" charset="0"/>
                        </a:rPr>
                        <a:t>Engages in the development, manufacture, and marketing of various patient monitoring technologies, and automation and connectivity solutions worldwide</a:t>
                      </a:r>
                    </a:p>
                    <a:p>
                      <a:pPr marL="171450" indent="-171450" algn="l" fontAlgn="ctr">
                        <a:buFont typeface="Wingdings" panose="05000000000000000000" pitchFamily="2" charset="2"/>
                        <a:buChar char="§"/>
                      </a:pPr>
                      <a:r>
                        <a:rPr lang="en-US" sz="900" b="0" i="0" u="none" strike="noStrike">
                          <a:solidFill>
                            <a:srgbClr val="000000"/>
                          </a:solidFill>
                          <a:effectLst/>
                          <a:latin typeface="Calibri" panose="020F0502020204030204" pitchFamily="34" charset="0"/>
                        </a:rPr>
                        <a:t>Offers Masimo Signal Extraction Technology (SET) pulse oximetry with measure-through motion and low perfusion pulse oximetry monitoring to address the primary limitations of conventional pulse oximetry; Masimo Rainbow SET platform, including rainbow SET Pulse CO-Oximetry products that allows noninvasive monitoring of oxygen, carboxyhemoglobin, and methemoglobin </a:t>
                      </a:r>
                    </a:p>
                    <a:p>
                      <a:pPr marL="171450" indent="-171450" algn="l" fontAlgn="ctr">
                        <a:buFont typeface="Wingdings" panose="05000000000000000000" pitchFamily="2" charset="2"/>
                        <a:buChar char="§"/>
                      </a:pPr>
                      <a:r>
                        <a:rPr lang="en-US" sz="900" b="0" i="0" u="none" strike="noStrike">
                          <a:solidFill>
                            <a:srgbClr val="000000"/>
                          </a:solidFill>
                          <a:effectLst/>
                          <a:latin typeface="Calibri" panose="020F0502020204030204" pitchFamily="34" charset="0"/>
                        </a:rPr>
                        <a:t>Provides brain function and hemodynamic monitoring solutions; patient position and activity tracking, and neuromodulation technology solutions; and Masimo Hospital Automation platform, including hospital automation solutions, including Patient SafetyNet, Iris, iSirona, Replica, and </a:t>
                      </a:r>
                      <a:r>
                        <a:rPr lang="en-US" sz="900" b="0" i="0" u="none" strike="noStrike" err="1">
                          <a:solidFill>
                            <a:srgbClr val="000000"/>
                          </a:solidFill>
                          <a:effectLst/>
                          <a:latin typeface="Calibri" panose="020F0502020204030204" pitchFamily="34" charset="0"/>
                        </a:rPr>
                        <a:t>UniView</a:t>
                      </a:r>
                      <a:r>
                        <a:rPr lang="en-US" sz="900" b="0" i="0" u="none" strike="noStrike">
                          <a:solidFill>
                            <a:srgbClr val="000000"/>
                          </a:solidFill>
                          <a:effectLst/>
                          <a:latin typeface="Calibri" panose="020F0502020204030204" pitchFamily="34" charset="0"/>
                        </a:rPr>
                        <a:t>; and brain function monitoring, hemodynamic monitoring, regional oximetry, acoustic respiration rate monitoring, capnography and gas monitoring, and telehealth solutions</a:t>
                      </a:r>
                    </a:p>
                    <a:p>
                      <a:pPr marL="171450" indent="-171450" algn="l" fontAlgn="ctr">
                        <a:buFont typeface="Wingdings" panose="05000000000000000000" pitchFamily="2" charset="2"/>
                        <a:buChar char="§"/>
                      </a:pPr>
                      <a:r>
                        <a:rPr lang="en-US" sz="900" b="0" i="0" u="none" strike="noStrike">
                          <a:solidFill>
                            <a:srgbClr val="000000"/>
                          </a:solidFill>
                          <a:effectLst/>
                          <a:latin typeface="Calibri" panose="020F0502020204030204" pitchFamily="34" charset="0"/>
                        </a:rPr>
                        <a:t>Provides its products through direct sales force, distributors, and original equipment manufacturers partners to hospitals, emergency medical service and home care providers, long-term care facilities, physician offices, veterinarians, and consumers</a:t>
                      </a:r>
                    </a:p>
                  </a:txBody>
                  <a:tcPr marL="0" marR="0" marT="0" marB="0" anchor="ctr">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672179374"/>
                  </a:ext>
                </a:extLst>
              </a:tr>
            </a:tbl>
          </a:graphicData>
        </a:graphic>
      </p:graphicFrame>
    </p:spTree>
    <p:extLst>
      <p:ext uri="{BB962C8B-B14F-4D97-AF65-F5344CB8AC3E}">
        <p14:creationId xmlns:p14="http://schemas.microsoft.com/office/powerpoint/2010/main" val="3984563920"/>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A80DD6-3B4F-9EDB-8878-8C73530367F1}"/>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DFEFB303-6125-E021-9F39-05F678448407}"/>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5" name="Title 4">
            <a:extLst>
              <a:ext uri="{FF2B5EF4-FFF2-40B4-BE49-F238E27FC236}">
                <a16:creationId xmlns:a16="http://schemas.microsoft.com/office/drawing/2014/main" id="{64F6D4AC-C841-C175-47BA-E02288741015}"/>
              </a:ext>
            </a:extLst>
          </p:cNvPr>
          <p:cNvSpPr>
            <a:spLocks noGrp="1"/>
          </p:cNvSpPr>
          <p:nvPr>
            <p:ph type="title"/>
          </p:nvPr>
        </p:nvSpPr>
        <p:spPr>
          <a:xfrm>
            <a:off x="882797" y="44215"/>
            <a:ext cx="8074152" cy="1292899"/>
          </a:xfrm>
        </p:spPr>
        <p:txBody>
          <a:bodyPr/>
          <a:lstStyle/>
          <a:p>
            <a:r>
              <a:rPr lang="en-US" dirty="0"/>
              <a:t>ACME also evaluated companies considered last year, but none warrant inclusion at this time:</a:t>
            </a:r>
          </a:p>
        </p:txBody>
      </p:sp>
      <p:sp>
        <p:nvSpPr>
          <p:cNvPr id="4" name="Slide Number Placeholder 3">
            <a:extLst>
              <a:ext uri="{FF2B5EF4-FFF2-40B4-BE49-F238E27FC236}">
                <a16:creationId xmlns:a16="http://schemas.microsoft.com/office/drawing/2014/main" id="{D3A0EAC4-0864-738B-B62F-A19486D3267B}"/>
              </a:ext>
            </a:extLst>
          </p:cNvPr>
          <p:cNvSpPr>
            <a:spLocks noGrp="1"/>
          </p:cNvSpPr>
          <p:nvPr>
            <p:ph type="sldNum" sz="quarter" idx="12"/>
          </p:nvPr>
        </p:nvSpPr>
        <p:spPr>
          <a:xfrm>
            <a:off x="8581802" y="6577909"/>
            <a:ext cx="352260" cy="211339"/>
          </a:xfrm>
        </p:spPr>
        <p:txBody>
          <a:bodyPr/>
          <a:lstStyle/>
          <a:p>
            <a:fld id="{91690BAF-E217-4185-92FD-0CEA06F2B7C8}" type="slidenum">
              <a:rPr lang="en-US" smtClean="0"/>
              <a:pPr/>
              <a:t>22</a:t>
            </a:fld>
            <a:endParaRPr lang="en-US"/>
          </a:p>
        </p:txBody>
      </p:sp>
      <p:graphicFrame>
        <p:nvGraphicFramePr>
          <p:cNvPr id="6" name="Table 5">
            <a:extLst>
              <a:ext uri="{FF2B5EF4-FFF2-40B4-BE49-F238E27FC236}">
                <a16:creationId xmlns:a16="http://schemas.microsoft.com/office/drawing/2014/main" id="{62B1CA07-BAAC-E0ED-209C-30ADAB3FD782}"/>
              </a:ext>
            </a:extLst>
          </p:cNvPr>
          <p:cNvGraphicFramePr>
            <a:graphicFrameLocks noGrp="1"/>
          </p:cNvGraphicFramePr>
          <p:nvPr>
            <p:extLst>
              <p:ext uri="{D42A27DB-BD31-4B8C-83A1-F6EECF244321}">
                <p14:modId xmlns:p14="http://schemas.microsoft.com/office/powerpoint/2010/main" val="3617803339"/>
              </p:ext>
            </p:extLst>
          </p:nvPr>
        </p:nvGraphicFramePr>
        <p:xfrm>
          <a:off x="86592" y="1529977"/>
          <a:ext cx="8970816" cy="4581144"/>
        </p:xfrm>
        <a:graphic>
          <a:graphicData uri="http://schemas.openxmlformats.org/drawingml/2006/table">
            <a:tbl>
              <a:tblPr/>
              <a:tblGrid>
                <a:gridCol w="739861">
                  <a:extLst>
                    <a:ext uri="{9D8B030D-6E8A-4147-A177-3AD203B41FA5}">
                      <a16:colId xmlns:a16="http://schemas.microsoft.com/office/drawing/2014/main" val="2847594257"/>
                    </a:ext>
                  </a:extLst>
                </a:gridCol>
                <a:gridCol w="739861">
                  <a:extLst>
                    <a:ext uri="{9D8B030D-6E8A-4147-A177-3AD203B41FA5}">
                      <a16:colId xmlns:a16="http://schemas.microsoft.com/office/drawing/2014/main" val="2325195630"/>
                    </a:ext>
                  </a:extLst>
                </a:gridCol>
                <a:gridCol w="7491094">
                  <a:extLst>
                    <a:ext uri="{9D8B030D-6E8A-4147-A177-3AD203B41FA5}">
                      <a16:colId xmlns:a16="http://schemas.microsoft.com/office/drawing/2014/main" val="2715828596"/>
                    </a:ext>
                  </a:extLst>
                </a:gridCol>
              </a:tblGrid>
              <a:tr h="0">
                <a:tc>
                  <a:txBody>
                    <a:bodyPr/>
                    <a:lstStyle/>
                    <a:p>
                      <a:pPr algn="ctr" fontAlgn="b"/>
                      <a:r>
                        <a:rPr lang="en-US" sz="900" b="1" i="0" u="none" strike="noStrike">
                          <a:solidFill>
                            <a:srgbClr val="FFFFFF"/>
                          </a:solidFill>
                          <a:effectLst/>
                          <a:latin typeface="+mn-lt"/>
                        </a:rPr>
                        <a:t>Company</a:t>
                      </a:r>
                    </a:p>
                  </a:txBody>
                  <a:tcPr marL="27432" marR="27432" marT="27432" marB="27432" anchor="b">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r>
                        <a:rPr lang="en-US" sz="900" b="1" i="0" u="none" strike="noStrike">
                          <a:solidFill>
                            <a:srgbClr val="FFFFFF"/>
                          </a:solidFill>
                          <a:effectLst/>
                          <a:latin typeface="+mn-lt"/>
                        </a:rPr>
                        <a:t>FYE Revenue ($MM)</a:t>
                      </a:r>
                    </a:p>
                  </a:txBody>
                  <a:tcPr marL="27432" marR="27432" marT="27432" marB="27432" anchor="b">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r>
                        <a:rPr lang="en-US" sz="900" b="1" i="0" u="none" strike="noStrike">
                          <a:solidFill>
                            <a:srgbClr val="FFFFFF"/>
                          </a:solidFill>
                          <a:effectLst/>
                          <a:latin typeface="+mn-lt"/>
                        </a:rPr>
                        <a:t>Business Description</a:t>
                      </a:r>
                    </a:p>
                  </a:txBody>
                  <a:tcPr marL="27432" marR="27432" marT="27432" marB="27432" anchor="b">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extLst>
                  <a:ext uri="{0D108BD9-81ED-4DB2-BD59-A6C34878D82A}">
                    <a16:rowId xmlns:a16="http://schemas.microsoft.com/office/drawing/2014/main" val="3632874250"/>
                  </a:ext>
                </a:extLst>
              </a:tr>
              <a:tr h="0">
                <a:tc>
                  <a:txBody>
                    <a:bodyPr/>
                    <a:lstStyle/>
                    <a:p>
                      <a:pPr algn="l" fontAlgn="ctr"/>
                      <a:r>
                        <a:rPr lang="en-US" sz="900" b="1" i="0" u="none" strike="noStrike">
                          <a:effectLst/>
                          <a:latin typeface="+mn-lt"/>
                        </a:rPr>
                        <a:t>Baxter International </a:t>
                      </a:r>
                    </a:p>
                  </a:txBody>
                  <a:tcPr marL="27432" marR="27432" marT="0" marB="0" anchor="ctr">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a:effectLst/>
                          <a:latin typeface="+mn-lt"/>
                        </a:rPr>
                        <a:t>$11,244</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l" fontAlgn="ctr">
                        <a:buFont typeface="Wingdings" panose="05000000000000000000" pitchFamily="2" charset="2"/>
                        <a:buChar char="§"/>
                      </a:pPr>
                      <a:r>
                        <a:rPr lang="en-US" sz="900" b="0" i="0" u="none" strike="noStrike">
                          <a:effectLst/>
                          <a:latin typeface="+mn-lt"/>
                        </a:rPr>
                        <a:t>Provides a portfolio of healthcare products in the United States and internationally</a:t>
                      </a:r>
                    </a:p>
                    <a:p>
                      <a:pPr marL="171450" indent="-171450" algn="l" fontAlgn="ctr">
                        <a:buFont typeface="Wingdings" panose="05000000000000000000" pitchFamily="2" charset="2"/>
                        <a:buChar char="§"/>
                      </a:pPr>
                      <a:r>
                        <a:rPr lang="en-US" sz="900" b="0" i="0" u="none" strike="noStrike">
                          <a:effectLst/>
                          <a:latin typeface="+mn-lt"/>
                        </a:rPr>
                        <a:t>Operates through three segments: Medical Products and Therapies, Healthcare Systems and Technologies, and Pharmaceuticals</a:t>
                      </a:r>
                    </a:p>
                    <a:p>
                      <a:pPr marL="171450" indent="-171450" algn="l" fontAlgn="ctr">
                        <a:buFont typeface="Wingdings" panose="05000000000000000000" pitchFamily="2" charset="2"/>
                        <a:buChar char="§"/>
                      </a:pPr>
                      <a:r>
                        <a:rPr lang="en-US" sz="900" b="0" i="0" u="none" strike="noStrike">
                          <a:effectLst/>
                          <a:latin typeface="+mn-lt"/>
                        </a:rPr>
                        <a:t>Offers sterile intravenous (IV) solutions; infusion systems and devices; parenteral nutrition therapies; administrative sets; generic injectable pharmaceuticals; surgical hemostat and sealant products; advanced surgical equipment; smart bed systems; patient monitoring and diagnostic technologies; and respiratory health devices, as well as advanced equipment for the surgical space comprising operating room integration technologies, precision positioning devices, and other accessories</a:t>
                      </a:r>
                    </a:p>
                    <a:p>
                      <a:pPr marL="171450" indent="-171450" algn="l" fontAlgn="ctr">
                        <a:buFont typeface="Wingdings" panose="05000000000000000000" pitchFamily="2" charset="2"/>
                        <a:buChar char="§"/>
                      </a:pPr>
                      <a:r>
                        <a:rPr lang="en-US" sz="900" b="0" i="0" u="none" strike="noStrike">
                          <a:effectLst/>
                          <a:latin typeface="+mn-lt"/>
                        </a:rPr>
                        <a:t>Provides specialty injectable pharmaceuticals, inhaled anesthetics, and drug compounding services. Its products are used in hospitals, nursing homes, rehabilitation centers, ambulatory surgery centers, doctors’ offices, kidney dialysis centers, and patients at home under physician supervision</a:t>
                      </a:r>
                    </a:p>
                    <a:p>
                      <a:pPr marL="171450" indent="-171450" algn="l" fontAlgn="ctr">
                        <a:buFont typeface="Wingdings" panose="05000000000000000000" pitchFamily="2" charset="2"/>
                        <a:buChar char="§"/>
                      </a:pPr>
                      <a:r>
                        <a:rPr lang="en-US" sz="900" b="0" i="0" u="none" strike="noStrike">
                          <a:effectLst/>
                          <a:latin typeface="+mn-lt"/>
                        </a:rPr>
                        <a:t>Sells its products through independent distributors, drug wholesalers, and specialty pharmacy or other alternate site providers</a:t>
                      </a:r>
                    </a:p>
                  </a:txBody>
                  <a:tcPr marL="0" marR="0" marT="0" marB="0" anchor="ctr">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45841235"/>
                  </a:ext>
                </a:extLst>
              </a:tr>
              <a:tr h="0">
                <a:tc>
                  <a:txBody>
                    <a:bodyPr/>
                    <a:lstStyle/>
                    <a:p>
                      <a:pPr algn="l" fontAlgn="ctr"/>
                      <a:r>
                        <a:rPr lang="en-US" sz="900" b="1" i="0" u="none" strike="noStrike">
                          <a:effectLst/>
                          <a:latin typeface="+mn-lt"/>
                        </a:rPr>
                        <a:t>Solventum</a:t>
                      </a:r>
                    </a:p>
                  </a:txBody>
                  <a:tcPr marL="27432" marR="27432" marT="0" marB="0" anchor="ctr">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a:effectLst/>
                          <a:latin typeface="+mn-lt"/>
                        </a:rPr>
                        <a:t>$8,325</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lgn="l" fontAlgn="ctr">
                        <a:buFont typeface="Wingdings" panose="05000000000000000000" pitchFamily="2" charset="2"/>
                        <a:buChar char="§"/>
                      </a:pPr>
                      <a:r>
                        <a:rPr lang="en-US" sz="900" b="0" i="0" u="none" strike="noStrike">
                          <a:solidFill>
                            <a:srgbClr val="000000"/>
                          </a:solidFill>
                          <a:effectLst/>
                          <a:latin typeface="Calibri" panose="020F0502020204030204" pitchFamily="34" charset="0"/>
                        </a:rPr>
                        <a:t>Develops, manufactures, and commercializes a portfolio of solutions to address critical customer and patient needs in the United States and internationally </a:t>
                      </a:r>
                    </a:p>
                    <a:p>
                      <a:pPr marL="171450" indent="-171450" algn="l" fontAlgn="ctr">
                        <a:buFont typeface="Wingdings" panose="05000000000000000000" pitchFamily="2" charset="2"/>
                        <a:buChar char="§"/>
                      </a:pPr>
                      <a:r>
                        <a:rPr lang="en-US" sz="900" b="0" i="0" u="none" strike="noStrike">
                          <a:solidFill>
                            <a:srgbClr val="000000"/>
                          </a:solidFill>
                          <a:effectLst/>
                          <a:latin typeface="Calibri" panose="020F0502020204030204" pitchFamily="34" charset="0"/>
                        </a:rPr>
                        <a:t>Operates through three segments: Medsurg, Dental Solutions, and Health Information Systems</a:t>
                      </a:r>
                    </a:p>
                    <a:p>
                      <a:pPr marL="171450" indent="-171450" algn="l" fontAlgn="ctr">
                        <a:buFont typeface="Wingdings" panose="05000000000000000000" pitchFamily="2" charset="2"/>
                        <a:buChar char="§"/>
                      </a:pPr>
                      <a:r>
                        <a:rPr lang="en-US" sz="900" b="0" i="0" u="none" strike="noStrike">
                          <a:solidFill>
                            <a:srgbClr val="000000"/>
                          </a:solidFill>
                          <a:effectLst/>
                          <a:latin typeface="Calibri" panose="020F0502020204030204" pitchFamily="34" charset="0"/>
                        </a:rPr>
                        <a:t>Medsurg segment offers solutions, such as negative pressure wound therapy, advanced wound dressings, advanced skin care, synthetic tissue matrices, I.V. site management, sterilization assurance, temperature management, surgical supplies, medical tapes and wraps, stethoscopes, medical electrodes, and medical technologies for original equipment manufacturers</a:t>
                      </a:r>
                    </a:p>
                    <a:p>
                      <a:pPr marL="171450" indent="-171450" algn="l" fontAlgn="ctr">
                        <a:buFont typeface="Wingdings" panose="05000000000000000000" pitchFamily="2" charset="2"/>
                        <a:buChar char="§"/>
                      </a:pPr>
                      <a:r>
                        <a:rPr lang="en-US" sz="900" b="0" i="0" u="none" strike="noStrike">
                          <a:solidFill>
                            <a:srgbClr val="000000"/>
                          </a:solidFill>
                          <a:effectLst/>
                          <a:latin typeface="Calibri" panose="020F0502020204030204" pitchFamily="34" charset="0"/>
                        </a:rPr>
                        <a:t>Dental Solutions segment provides dental and orthodontic products, including brackets, aligners, restorative cements, and bonding agents to span the life of the tooth, and products for preventative dental care, direct and indirect restoration, and orthodontic needs</a:t>
                      </a:r>
                    </a:p>
                    <a:p>
                      <a:pPr marL="171450" indent="-171450" algn="l" fontAlgn="ctr">
                        <a:buFont typeface="Wingdings" panose="05000000000000000000" pitchFamily="2" charset="2"/>
                        <a:buChar char="§"/>
                      </a:pPr>
                      <a:r>
                        <a:rPr lang="en-US" sz="900" b="0" i="0" u="none" strike="noStrike">
                          <a:solidFill>
                            <a:srgbClr val="000000"/>
                          </a:solidFill>
                          <a:effectLst/>
                          <a:latin typeface="Calibri" panose="020F0502020204030204" pitchFamily="34" charset="0"/>
                        </a:rPr>
                        <a:t>Health Information Systems segment offers healthcare systems with software solutions comprising computer-assisted physician documentation, direct-to-bill and coding automation, classification methodologies, speech recognition, and data visualization platforms. </a:t>
                      </a:r>
                    </a:p>
                    <a:p>
                      <a:pPr marL="171450" indent="-171450" algn="l" fontAlgn="ctr">
                        <a:buFont typeface="Wingdings" panose="05000000000000000000" pitchFamily="2" charset="2"/>
                        <a:buChar char="§"/>
                      </a:pPr>
                      <a:r>
                        <a:rPr lang="en-US" sz="900" b="0" i="0" u="none" strike="noStrike">
                          <a:solidFill>
                            <a:srgbClr val="000000"/>
                          </a:solidFill>
                          <a:effectLst/>
                          <a:latin typeface="Calibri" panose="020F0502020204030204" pitchFamily="34" charset="0"/>
                        </a:rPr>
                        <a:t>The company sells its products and services through direct-to-consumer, distribution, key account management, inside sales, and e-commerce</a:t>
                      </a:r>
                    </a:p>
                    <a:p>
                      <a:pPr marL="171450" indent="-171450" algn="l" fontAlgn="ctr">
                        <a:buFont typeface="Wingdings" panose="05000000000000000000" pitchFamily="2" charset="2"/>
                        <a:buChar char="§"/>
                      </a:pPr>
                      <a:r>
                        <a:rPr lang="en-US" sz="900" b="0" i="0" u="none" strike="noStrike">
                          <a:solidFill>
                            <a:srgbClr val="000000"/>
                          </a:solidFill>
                          <a:effectLst/>
                          <a:latin typeface="Calibri" panose="020F0502020204030204" pitchFamily="34" charset="0"/>
                        </a:rPr>
                        <a:t>Formed as a result of a spin-off from 3M on April 1, 2024</a:t>
                      </a:r>
                    </a:p>
                  </a:txBody>
                  <a:tcPr marL="0" marR="0" marT="0" marB="0" anchor="ctr">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590539770"/>
                  </a:ext>
                </a:extLst>
              </a:tr>
              <a:tr h="0">
                <a:tc>
                  <a:txBody>
                    <a:bodyPr/>
                    <a:lstStyle/>
                    <a:p>
                      <a:pPr algn="l" fontAlgn="ctr"/>
                      <a:r>
                        <a:rPr lang="en-US" sz="900" b="1" i="0" u="none" strike="noStrike">
                          <a:effectLst/>
                          <a:latin typeface="+mn-lt"/>
                        </a:rPr>
                        <a:t>Avantor</a:t>
                      </a:r>
                    </a:p>
                  </a:txBody>
                  <a:tcPr marL="27432" marR="27432" marT="0" marB="0" anchor="ctr">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a:effectLst/>
                          <a:latin typeface="+mn-lt"/>
                        </a:rPr>
                        <a:t>$6,552</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l" fontAlgn="ctr">
                        <a:buFont typeface="Wingdings" panose="05000000000000000000" pitchFamily="2" charset="2"/>
                        <a:buChar char="§"/>
                      </a:pPr>
                      <a:r>
                        <a:rPr lang="en-US" sz="900" b="0" i="0" u="none" strike="noStrike">
                          <a:effectLst/>
                          <a:latin typeface="+mn-lt"/>
                        </a:rPr>
                        <a:t>Provides  mission-critical products and services to customers in the biopharma, healthcare, education and government, advanced technologies, and applied materials industries in the Americas, Europe, Asia, the Middle East, and Africa</a:t>
                      </a:r>
                    </a:p>
                    <a:p>
                      <a:pPr marL="171450" indent="-171450" algn="l" fontAlgn="ctr">
                        <a:buFont typeface="Wingdings" panose="05000000000000000000" pitchFamily="2" charset="2"/>
                        <a:buChar char="§"/>
                      </a:pPr>
                      <a:r>
                        <a:rPr lang="en-US" sz="900" b="0" i="0" u="none" strike="noStrike">
                          <a:effectLst/>
                          <a:latin typeface="+mn-lt"/>
                        </a:rPr>
                        <a:t>Offers materials and consumables, such as purity chemicals and reagents, lab products and supplies, formulated silicone materials, customized excipients, customized single-use assemblies, process chromatography resins and columns, analytical sample prep kits, education and microbiology products, clinical trial kits, and fluid handling tips</a:t>
                      </a:r>
                    </a:p>
                    <a:p>
                      <a:pPr marL="171450" indent="-171450" algn="l" fontAlgn="ctr">
                        <a:buFont typeface="Wingdings" panose="05000000000000000000" pitchFamily="2" charset="2"/>
                        <a:buChar char="§"/>
                      </a:pPr>
                      <a:r>
                        <a:rPr lang="en-US" sz="900" b="0" i="0" u="none" strike="noStrike">
                          <a:effectLst/>
                          <a:latin typeface="+mn-lt"/>
                        </a:rPr>
                        <a:t>Provides equipment and instrumentation products, including filtration systems, virus inactivation systems, incubators, analytical instruments, evaporators, ultra-low-temperature freezers, biological safety cabinets, peristaltic pumps, and critical environment supplies. </a:t>
                      </a:r>
                    </a:p>
                    <a:p>
                      <a:pPr marL="171450" indent="-171450" algn="l" fontAlgn="ctr">
                        <a:buFont typeface="Wingdings" panose="05000000000000000000" pitchFamily="2" charset="2"/>
                        <a:buChar char="§"/>
                      </a:pPr>
                      <a:r>
                        <a:rPr lang="en-US" sz="900" b="0" i="0" u="none" strike="noStrike">
                          <a:effectLst/>
                          <a:latin typeface="+mn-lt"/>
                        </a:rPr>
                        <a:t>Offers services and specialty procurements comprising onsite lab and production, clinical, equipment, procurement and sourcing, and biopharmaceutical material scale-up and development services</a:t>
                      </a:r>
                    </a:p>
                    <a:p>
                      <a:pPr marL="171450" indent="-171450" algn="l" fontAlgn="ctr">
                        <a:buFont typeface="Wingdings" panose="05000000000000000000" pitchFamily="2" charset="2"/>
                        <a:buChar char="§"/>
                      </a:pPr>
                      <a:r>
                        <a:rPr lang="en-US" sz="900" b="0" i="0" u="none" strike="noStrike">
                          <a:effectLst/>
                          <a:latin typeface="+mn-lt"/>
                        </a:rPr>
                        <a:t>Provides scientific research support services such as DNA extraction, bioreactor servicing, clinical and biorepository, compound management, cleanroom control, monitoring, maintenance, and sanitization services</a:t>
                      </a:r>
                    </a:p>
                  </a:txBody>
                  <a:tcPr marL="0" marR="0" marT="0" marB="0" anchor="ctr">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8849602"/>
                  </a:ext>
                </a:extLst>
              </a:tr>
            </a:tbl>
          </a:graphicData>
        </a:graphic>
      </p:graphicFrame>
      <p:sp>
        <p:nvSpPr>
          <p:cNvPr id="9" name="TextBox 8">
            <a:extLst>
              <a:ext uri="{FF2B5EF4-FFF2-40B4-BE49-F238E27FC236}">
                <a16:creationId xmlns:a16="http://schemas.microsoft.com/office/drawing/2014/main" id="{EBF06E77-1380-BA01-FDFE-CE50DE9D711D}"/>
              </a:ext>
            </a:extLst>
          </p:cNvPr>
          <p:cNvSpPr txBox="1"/>
          <p:nvPr/>
        </p:nvSpPr>
        <p:spPr>
          <a:xfrm>
            <a:off x="1593273" y="1206811"/>
            <a:ext cx="5957455" cy="307777"/>
          </a:xfrm>
          <a:prstGeom prst="rect">
            <a:avLst/>
          </a:prstGeom>
          <a:noFill/>
        </p:spPr>
        <p:txBody>
          <a:bodyPr wrap="square" lIns="45720" tIns="45720" rIns="45720" bIns="45720" rtlCol="0" anchor="ctr">
            <a:spAutoFit/>
          </a:bodyPr>
          <a:lstStyle/>
          <a:p>
            <a:pPr algn="ctr"/>
            <a:r>
              <a:rPr lang="en-US" sz="1400" b="1"/>
              <a:t>Business Descriptions for Companies Considered Last Year</a:t>
            </a:r>
            <a:endParaRPr lang="en-US" sz="1400" b="1" baseline="30000"/>
          </a:p>
        </p:txBody>
      </p:sp>
    </p:spTree>
    <p:extLst>
      <p:ext uri="{BB962C8B-B14F-4D97-AF65-F5344CB8AC3E}">
        <p14:creationId xmlns:p14="http://schemas.microsoft.com/office/powerpoint/2010/main" val="3962573608"/>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134377-0BA3-50BE-5127-63E7608D78D5}"/>
            </a:ext>
          </a:extLst>
        </p:cNvPr>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B7389D1E-E68C-F811-C8D9-E5BC26B75FF8}"/>
              </a:ext>
            </a:extLst>
          </p:cNvPr>
          <p:cNvGraphicFramePr>
            <a:graphicFrameLocks noGrp="1"/>
          </p:cNvGraphicFramePr>
          <p:nvPr>
            <p:extLst>
              <p:ext uri="{D42A27DB-BD31-4B8C-83A1-F6EECF244321}">
                <p14:modId xmlns:p14="http://schemas.microsoft.com/office/powerpoint/2010/main" val="2960064958"/>
              </p:ext>
            </p:extLst>
          </p:nvPr>
        </p:nvGraphicFramePr>
        <p:xfrm>
          <a:off x="86592" y="1491877"/>
          <a:ext cx="8970816" cy="4169664"/>
        </p:xfrm>
        <a:graphic>
          <a:graphicData uri="http://schemas.openxmlformats.org/drawingml/2006/table">
            <a:tbl>
              <a:tblPr/>
              <a:tblGrid>
                <a:gridCol w="739861">
                  <a:extLst>
                    <a:ext uri="{9D8B030D-6E8A-4147-A177-3AD203B41FA5}">
                      <a16:colId xmlns:a16="http://schemas.microsoft.com/office/drawing/2014/main" val="2847594257"/>
                    </a:ext>
                  </a:extLst>
                </a:gridCol>
                <a:gridCol w="739861">
                  <a:extLst>
                    <a:ext uri="{9D8B030D-6E8A-4147-A177-3AD203B41FA5}">
                      <a16:colId xmlns:a16="http://schemas.microsoft.com/office/drawing/2014/main" val="2325195630"/>
                    </a:ext>
                  </a:extLst>
                </a:gridCol>
                <a:gridCol w="7491094">
                  <a:extLst>
                    <a:ext uri="{9D8B030D-6E8A-4147-A177-3AD203B41FA5}">
                      <a16:colId xmlns:a16="http://schemas.microsoft.com/office/drawing/2014/main" val="2715828596"/>
                    </a:ext>
                  </a:extLst>
                </a:gridCol>
              </a:tblGrid>
              <a:tr h="0">
                <a:tc>
                  <a:txBody>
                    <a:bodyPr/>
                    <a:lstStyle/>
                    <a:p>
                      <a:pPr algn="ctr" fontAlgn="b"/>
                      <a:r>
                        <a:rPr lang="en-US" sz="900" b="1" i="0" u="none" strike="noStrike">
                          <a:solidFill>
                            <a:srgbClr val="FFFFFF"/>
                          </a:solidFill>
                          <a:effectLst/>
                          <a:latin typeface="+mn-lt"/>
                        </a:rPr>
                        <a:t>Company</a:t>
                      </a:r>
                    </a:p>
                  </a:txBody>
                  <a:tcPr marL="27432" marR="27432" marT="27432" marB="27432" anchor="b">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r>
                        <a:rPr lang="en-US" sz="900" b="1" i="0" u="none" strike="noStrike">
                          <a:solidFill>
                            <a:srgbClr val="FFFFFF"/>
                          </a:solidFill>
                          <a:effectLst/>
                          <a:latin typeface="+mn-lt"/>
                        </a:rPr>
                        <a:t>FYE Revenue ($MM)</a:t>
                      </a:r>
                    </a:p>
                  </a:txBody>
                  <a:tcPr marL="27432" marR="27432" marT="27432" marB="27432" anchor="b">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r>
                        <a:rPr lang="en-US" sz="900" b="1" i="0" u="none" strike="noStrike">
                          <a:solidFill>
                            <a:srgbClr val="FFFFFF"/>
                          </a:solidFill>
                          <a:effectLst/>
                          <a:latin typeface="+mn-lt"/>
                        </a:rPr>
                        <a:t>Business Description</a:t>
                      </a:r>
                    </a:p>
                  </a:txBody>
                  <a:tcPr marL="27432" marR="27432" marT="27432" marB="27432" anchor="b">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extLst>
                  <a:ext uri="{0D108BD9-81ED-4DB2-BD59-A6C34878D82A}">
                    <a16:rowId xmlns:a16="http://schemas.microsoft.com/office/drawing/2014/main" val="3632874250"/>
                  </a:ext>
                </a:extLst>
              </a:tr>
              <a:tr h="153366">
                <a:tc>
                  <a:txBody>
                    <a:bodyPr/>
                    <a:lstStyle/>
                    <a:p>
                      <a:pPr algn="l" fontAlgn="ctr"/>
                      <a:r>
                        <a:rPr lang="en-US" sz="900" b="1" i="0" u="none" strike="noStrike">
                          <a:effectLst/>
                          <a:latin typeface="+mn-lt"/>
                        </a:rPr>
                        <a:t>DENTSPLY SIRONA</a:t>
                      </a:r>
                    </a:p>
                  </a:txBody>
                  <a:tcPr marL="27432" marR="27432" marT="0" marB="0" anchor="ctr">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a:effectLst/>
                          <a:latin typeface="+mn-lt"/>
                        </a:rPr>
                        <a:t>$3,680</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l" fontAlgn="ctr">
                        <a:buFont typeface="Wingdings" panose="05000000000000000000" pitchFamily="2" charset="2"/>
                        <a:buChar char="§"/>
                      </a:pPr>
                      <a:r>
                        <a:rPr lang="en-US" sz="900" b="0" i="0" u="none" strike="noStrike">
                          <a:solidFill>
                            <a:srgbClr val="000000"/>
                          </a:solidFill>
                          <a:effectLst/>
                          <a:latin typeface="Calibri" panose="020F0502020204030204" pitchFamily="34" charset="0"/>
                        </a:rPr>
                        <a:t>Develops, manufactures, and markets dental equipment supported by cloud-enabled solutions, dental products, and healthcare consumable products in urology and enterology worldwide</a:t>
                      </a:r>
                    </a:p>
                    <a:p>
                      <a:pPr marL="171450" indent="-171450" algn="l" fontAlgn="ctr">
                        <a:buFont typeface="Wingdings" panose="05000000000000000000" pitchFamily="2" charset="2"/>
                        <a:buChar char="§"/>
                      </a:pPr>
                      <a:r>
                        <a:rPr lang="en-US" sz="900" b="0" i="0" u="none" strike="noStrike">
                          <a:solidFill>
                            <a:srgbClr val="000000"/>
                          </a:solidFill>
                          <a:effectLst/>
                          <a:latin typeface="Calibri" panose="020F0502020204030204" pitchFamily="34" charset="0"/>
                        </a:rPr>
                        <a:t>Operates through four segments: Connected Technology Solutions, Essential Dental Solutions, Orthodontic and Implant Solutions, and Wellspect Healthcare</a:t>
                      </a:r>
                    </a:p>
                    <a:p>
                      <a:pPr marL="171450" indent="-171450" algn="l" fontAlgn="ctr">
                        <a:buFont typeface="Wingdings" panose="05000000000000000000" pitchFamily="2" charset="2"/>
                        <a:buChar char="§"/>
                      </a:pPr>
                      <a:r>
                        <a:rPr lang="en-US" sz="900" b="0" i="0" u="none" strike="noStrike">
                          <a:solidFill>
                            <a:srgbClr val="000000"/>
                          </a:solidFill>
                          <a:effectLst/>
                          <a:latin typeface="Calibri" panose="020F0502020204030204" pitchFamily="34" charset="0"/>
                        </a:rPr>
                        <a:t>Connected Technology Solutions segment offers imaging equipment, motorized dental handpieces, treatment centers, and other instruments; and intraoral scanners, 3-D printers, and mills, as well as CEREC, a full-chairside economical restoration of esthetic ceramic dentistry offering</a:t>
                      </a:r>
                    </a:p>
                    <a:p>
                      <a:pPr marL="171450" indent="-171450" algn="l" fontAlgn="ctr">
                        <a:buFont typeface="Wingdings" panose="05000000000000000000" pitchFamily="2" charset="2"/>
                        <a:buChar char="§"/>
                      </a:pPr>
                      <a:r>
                        <a:rPr lang="en-US" sz="900" b="0" i="0" u="none" strike="noStrike">
                          <a:solidFill>
                            <a:srgbClr val="000000"/>
                          </a:solidFill>
                          <a:effectLst/>
                          <a:latin typeface="Calibri" panose="020F0502020204030204" pitchFamily="34" charset="0"/>
                        </a:rPr>
                        <a:t>Essential Dental Solutions segment provides motorized endodontic handpieces, files, sealers, irrigation needles, and other tools for root canal procedures; restorative products; curing light and dental diagnostic systems; ultrasonic scalers and polishers; and dental anesthetics, prophylaxis paste, dental sealants, and impression materials</a:t>
                      </a:r>
                    </a:p>
                    <a:p>
                      <a:pPr marL="171450" indent="-171450" algn="l" fontAlgn="ctr">
                        <a:buFont typeface="Wingdings" panose="05000000000000000000" pitchFamily="2" charset="2"/>
                        <a:buChar char="§"/>
                      </a:pPr>
                      <a:r>
                        <a:rPr lang="en-US" sz="900" b="0" i="0" u="none" strike="noStrike">
                          <a:solidFill>
                            <a:srgbClr val="000000"/>
                          </a:solidFill>
                          <a:effectLst/>
                          <a:latin typeface="Calibri" panose="020F0502020204030204" pitchFamily="34" charset="0"/>
                        </a:rPr>
                        <a:t>Orthodontic and Implant Solutions segment offers SureSmile, a clear aligner solution that includes whitening kits and retainers; VPro, a high frequency vibration technology device; SureSmile Simulator; DS Core platform, which creates 3D visualization of patient outcomes; dental implant products; digital dentures; crown and bridge porcelain products; bone regenerative and restorative solutions; treatment planning software; educational programs; custom abutments; tapered immediate load screws; regenerative bone growth factor; artificial teeth; and precious metal dental alloys</a:t>
                      </a:r>
                    </a:p>
                    <a:p>
                      <a:pPr marL="171450" indent="-171450" algn="l" fontAlgn="ctr">
                        <a:buFont typeface="Wingdings" panose="05000000000000000000" pitchFamily="2" charset="2"/>
                        <a:buChar char="§"/>
                      </a:pPr>
                      <a:r>
                        <a:rPr lang="en-US" sz="900" b="0" i="0" u="none" strike="noStrike">
                          <a:solidFill>
                            <a:srgbClr val="000000"/>
                          </a:solidFill>
                          <a:effectLst/>
                          <a:latin typeface="Calibri" panose="020F0502020204030204" pitchFamily="34" charset="0"/>
                        </a:rPr>
                        <a:t>Wellspect Healthcare segment offers medical devices, including catheters for urinary retention and advanced irrigation systems to help people suffering from chronic or severe constipation</a:t>
                      </a:r>
                    </a:p>
                  </a:txBody>
                  <a:tcPr marL="0" marR="0" marT="0" marB="0" anchor="ctr">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45841235"/>
                  </a:ext>
                </a:extLst>
              </a:tr>
              <a:tr h="0">
                <a:tc>
                  <a:txBody>
                    <a:bodyPr/>
                    <a:lstStyle/>
                    <a:p>
                      <a:pPr algn="l" fontAlgn="ctr"/>
                      <a:r>
                        <a:rPr lang="en-US" sz="900" b="1" i="0" u="none" strike="noStrike">
                          <a:effectLst/>
                          <a:latin typeface="+mn-lt"/>
                        </a:rPr>
                        <a:t>Bruker Corporation</a:t>
                      </a:r>
                    </a:p>
                  </a:txBody>
                  <a:tcPr marL="27432" marR="27432" marT="0" marB="0" anchor="ctr">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a:effectLst/>
                          <a:latin typeface="+mn-lt"/>
                        </a:rPr>
                        <a:t>$3,437</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lgn="l" fontAlgn="ctr">
                        <a:buFont typeface="Wingdings" panose="05000000000000000000" pitchFamily="2" charset="2"/>
                        <a:buChar char="§"/>
                      </a:pPr>
                      <a:r>
                        <a:rPr lang="en-US" sz="900" b="0" i="0" u="none" strike="noStrike">
                          <a:solidFill>
                            <a:srgbClr val="000000"/>
                          </a:solidFill>
                          <a:effectLst/>
                          <a:latin typeface="Calibri" panose="020F0502020204030204" pitchFamily="34" charset="0"/>
                        </a:rPr>
                        <a:t>Develops, manufactures, and distributes scientific instruments, and analytical and diagnostic solutions</a:t>
                      </a:r>
                    </a:p>
                    <a:p>
                      <a:pPr marL="171450" indent="-171450" algn="l" fontAlgn="ctr">
                        <a:buFont typeface="Wingdings" panose="05000000000000000000" pitchFamily="2" charset="2"/>
                        <a:buChar char="§"/>
                      </a:pPr>
                      <a:r>
                        <a:rPr lang="en-US" sz="900" b="0" i="0" u="none" strike="noStrike">
                          <a:solidFill>
                            <a:srgbClr val="000000"/>
                          </a:solidFill>
                          <a:effectLst/>
                          <a:latin typeface="Calibri" panose="020F0502020204030204" pitchFamily="34" charset="0"/>
                        </a:rPr>
                        <a:t>Operates through four segments: Bruker Scientific Instruments (BSI) BioSpin, BSI CALID, BSI Nano, and Bruker Energy &amp; Supercon Technologies </a:t>
                      </a:r>
                    </a:p>
                    <a:p>
                      <a:pPr marL="171450" indent="-171450" algn="l" fontAlgn="ctr">
                        <a:buFont typeface="Wingdings" panose="05000000000000000000" pitchFamily="2" charset="2"/>
                        <a:buChar char="§"/>
                      </a:pPr>
                      <a:r>
                        <a:rPr lang="en-US" sz="900" b="0" i="0" u="none" strike="noStrike">
                          <a:solidFill>
                            <a:srgbClr val="000000"/>
                          </a:solidFill>
                          <a:effectLst/>
                          <a:latin typeface="Calibri" panose="020F0502020204030204" pitchFamily="34" charset="0"/>
                        </a:rPr>
                        <a:t>Offers magnetic resonance spectroscop, preclinical imaging, biopharma and applied, services and lifecycle support, integrated data solution, and automation; life science tools; innovative nuclear magnetic resonance (NMR) and electron paramagnetic resonance (EPR) products; solutions for in-vivo processes and drug discovery; aftermarket solutions; solutions for lab automation and digitalization; mass spectrometry solution and test kits, DNA test strips, and fluorescence-based PCR technologies; genotype and fluorotype molecular diagnostics kits; and research, analytical, and process analysis instruments and solutions</a:t>
                      </a:r>
                    </a:p>
                    <a:p>
                      <a:pPr marL="171450" indent="-171450" algn="l" fontAlgn="ctr">
                        <a:buFont typeface="Wingdings" panose="05000000000000000000" pitchFamily="2" charset="2"/>
                        <a:buChar char="§"/>
                      </a:pPr>
                      <a:r>
                        <a:rPr lang="en-US" sz="900" b="0" i="0" u="none" strike="noStrike">
                          <a:solidFill>
                            <a:srgbClr val="000000"/>
                          </a:solidFill>
                          <a:effectLst/>
                          <a:latin typeface="Calibri" panose="020F0502020204030204" pitchFamily="34" charset="0"/>
                        </a:rPr>
                        <a:t>Provides range of portable analytical and bioanalytical detection systems, and related products; X-ray instruments; analytical tools for electron microscopes, as well as handheld, portable, and mobile X-ray fluorescence spectrometry instruments; atomic force microscopy instrumentation; non-contact nanometer resolution solution topography; and automated X-ray metrology, automated AFM defect-detection, and photomask repair and cleaning equipment </a:t>
                      </a:r>
                    </a:p>
                    <a:p>
                      <a:pPr marL="171450" indent="-171450" algn="l" fontAlgn="ctr">
                        <a:buFont typeface="Wingdings" panose="05000000000000000000" pitchFamily="2" charset="2"/>
                        <a:buChar char="§"/>
                      </a:pPr>
                      <a:r>
                        <a:rPr lang="en-US" sz="900" b="0" i="0" u="none" strike="noStrike">
                          <a:solidFill>
                            <a:srgbClr val="000000"/>
                          </a:solidFill>
                          <a:effectLst/>
                          <a:latin typeface="Calibri" panose="020F0502020204030204" pitchFamily="34" charset="0"/>
                        </a:rPr>
                        <a:t>Offers advanced optical fluorescence microscopy instruments; services for transcriptional profiling and multiomic analysis; superconducting materials, such as metallic low temperature superconductors; multifilament round and rectangular LTS wires in both monolithic and wire-in-channel formats; designs and manufactures Cuponal; metallic low temperature superconductors; and non-superconducting high technology tools, such as synchrotron and beamline instrumentation. </a:t>
                      </a:r>
                    </a:p>
                  </a:txBody>
                  <a:tcPr marL="0" marR="0" marT="0" marB="0" anchor="ctr">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590539770"/>
                  </a:ext>
                </a:extLst>
              </a:tr>
            </a:tbl>
          </a:graphicData>
        </a:graphic>
      </p:graphicFrame>
      <p:sp>
        <p:nvSpPr>
          <p:cNvPr id="5" name="Title 4">
            <a:extLst>
              <a:ext uri="{FF2B5EF4-FFF2-40B4-BE49-F238E27FC236}">
                <a16:creationId xmlns:a16="http://schemas.microsoft.com/office/drawing/2014/main" id="{7648A6B8-0903-6E4C-7D6F-25007E4F2DBC}"/>
              </a:ext>
            </a:extLst>
          </p:cNvPr>
          <p:cNvSpPr>
            <a:spLocks noGrp="1"/>
          </p:cNvSpPr>
          <p:nvPr>
            <p:ph type="title"/>
          </p:nvPr>
        </p:nvSpPr>
        <p:spPr>
          <a:xfrm>
            <a:off x="882797" y="44215"/>
            <a:ext cx="8074152" cy="1292899"/>
          </a:xfrm>
        </p:spPr>
        <p:txBody>
          <a:bodyPr/>
          <a:lstStyle/>
          <a:p>
            <a:r>
              <a:rPr lang="en-US" dirty="0"/>
              <a:t>ACME also evaluated companies considered last year, but none warrant inclusion at this time: </a:t>
            </a:r>
            <a:r>
              <a:rPr lang="en-US" i="1" dirty="0"/>
              <a:t>(continued)</a:t>
            </a:r>
            <a:endParaRPr lang="en-US" dirty="0"/>
          </a:p>
        </p:txBody>
      </p:sp>
      <p:sp>
        <p:nvSpPr>
          <p:cNvPr id="4" name="Slide Number Placeholder 3">
            <a:extLst>
              <a:ext uri="{FF2B5EF4-FFF2-40B4-BE49-F238E27FC236}">
                <a16:creationId xmlns:a16="http://schemas.microsoft.com/office/drawing/2014/main" id="{7AB0B77C-41D0-F665-DF76-F2FD77D53E73}"/>
              </a:ext>
            </a:extLst>
          </p:cNvPr>
          <p:cNvSpPr>
            <a:spLocks noGrp="1"/>
          </p:cNvSpPr>
          <p:nvPr>
            <p:ph type="sldNum" sz="quarter" idx="12"/>
          </p:nvPr>
        </p:nvSpPr>
        <p:spPr>
          <a:xfrm>
            <a:off x="8581802" y="6577909"/>
            <a:ext cx="352260" cy="211339"/>
          </a:xfrm>
        </p:spPr>
        <p:txBody>
          <a:bodyPr/>
          <a:lstStyle/>
          <a:p>
            <a:fld id="{91690BAF-E217-4185-92FD-0CEA06F2B7C8}" type="slidenum">
              <a:rPr lang="en-US" smtClean="0"/>
              <a:pPr/>
              <a:t>23</a:t>
            </a:fld>
            <a:endParaRPr lang="en-US"/>
          </a:p>
        </p:txBody>
      </p:sp>
      <p:sp>
        <p:nvSpPr>
          <p:cNvPr id="10" name="TextBox 9">
            <a:extLst>
              <a:ext uri="{FF2B5EF4-FFF2-40B4-BE49-F238E27FC236}">
                <a16:creationId xmlns:a16="http://schemas.microsoft.com/office/drawing/2014/main" id="{C214A704-EF4A-6146-C004-42B90B1311BC}"/>
              </a:ext>
            </a:extLst>
          </p:cNvPr>
          <p:cNvSpPr txBox="1"/>
          <p:nvPr/>
        </p:nvSpPr>
        <p:spPr>
          <a:xfrm>
            <a:off x="1593273" y="1206811"/>
            <a:ext cx="5957455" cy="307777"/>
          </a:xfrm>
          <a:prstGeom prst="rect">
            <a:avLst/>
          </a:prstGeom>
          <a:noFill/>
        </p:spPr>
        <p:txBody>
          <a:bodyPr wrap="square" lIns="45720" tIns="45720" rIns="45720" bIns="45720" rtlCol="0" anchor="ctr">
            <a:spAutoFit/>
          </a:bodyPr>
          <a:lstStyle/>
          <a:p>
            <a:pPr algn="ctr"/>
            <a:r>
              <a:rPr lang="en-US" sz="1400" b="1"/>
              <a:t>Business Descriptions for Companies Considered Last Year</a:t>
            </a:r>
            <a:r>
              <a:rPr lang="en-US" sz="1400" b="1" i="1"/>
              <a:t> (continued)</a:t>
            </a:r>
            <a:endParaRPr lang="en-US" sz="1400" b="1" baseline="30000"/>
          </a:p>
        </p:txBody>
      </p:sp>
      <p:sp>
        <p:nvSpPr>
          <p:cNvPr id="11" name="Footer Placeholder 11"/>
          <p:cNvSpPr>
            <a:spLocks noGrp="1"/>
          </p:cNvSpPr>
          <p:nvPr>
            <p:ph type="ftr" sz="quarter" idx="16"/>
          </p:nvPr>
        </p:nvSpPr>
        <p:spPr>
          <a:xfrm>
            <a:off x="863745" y="6591503"/>
            <a:ext cx="7416510" cy="184151"/>
          </a:xfrm>
        </p:spPr>
        <p:txBody>
          <a:bodyPr/>
          <a:lstStyle/>
          <a:p>
            <a:r>
              <a:rPr lang="en-US" sz="800"/>
              <a:t>These materials are confidential and to be used only by the client to whom they are addressed</a:t>
            </a:r>
          </a:p>
        </p:txBody>
      </p:sp>
    </p:spTree>
    <p:extLst>
      <p:ext uri="{BB962C8B-B14F-4D97-AF65-F5344CB8AC3E}">
        <p14:creationId xmlns:p14="http://schemas.microsoft.com/office/powerpoint/2010/main" val="2461702204"/>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FEAA06-A9F5-77C9-DA7E-CF4CF280CAA4}"/>
            </a:ext>
          </a:extLst>
        </p:cNvPr>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94CA177A-F40E-CF17-763C-7999C01869FA}"/>
              </a:ext>
            </a:extLst>
          </p:cNvPr>
          <p:cNvGraphicFramePr>
            <a:graphicFrameLocks noGrp="1"/>
          </p:cNvGraphicFramePr>
          <p:nvPr>
            <p:extLst>
              <p:ext uri="{D42A27DB-BD31-4B8C-83A1-F6EECF244321}">
                <p14:modId xmlns:p14="http://schemas.microsoft.com/office/powerpoint/2010/main" val="2385236042"/>
              </p:ext>
            </p:extLst>
          </p:nvPr>
        </p:nvGraphicFramePr>
        <p:xfrm>
          <a:off x="86592" y="1491877"/>
          <a:ext cx="8970816" cy="4169664"/>
        </p:xfrm>
        <a:graphic>
          <a:graphicData uri="http://schemas.openxmlformats.org/drawingml/2006/table">
            <a:tbl>
              <a:tblPr/>
              <a:tblGrid>
                <a:gridCol w="739861">
                  <a:extLst>
                    <a:ext uri="{9D8B030D-6E8A-4147-A177-3AD203B41FA5}">
                      <a16:colId xmlns:a16="http://schemas.microsoft.com/office/drawing/2014/main" val="2847594257"/>
                    </a:ext>
                  </a:extLst>
                </a:gridCol>
                <a:gridCol w="739861">
                  <a:extLst>
                    <a:ext uri="{9D8B030D-6E8A-4147-A177-3AD203B41FA5}">
                      <a16:colId xmlns:a16="http://schemas.microsoft.com/office/drawing/2014/main" val="2325195630"/>
                    </a:ext>
                  </a:extLst>
                </a:gridCol>
                <a:gridCol w="7491094">
                  <a:extLst>
                    <a:ext uri="{9D8B030D-6E8A-4147-A177-3AD203B41FA5}">
                      <a16:colId xmlns:a16="http://schemas.microsoft.com/office/drawing/2014/main" val="2715828596"/>
                    </a:ext>
                  </a:extLst>
                </a:gridCol>
              </a:tblGrid>
              <a:tr h="0">
                <a:tc>
                  <a:txBody>
                    <a:bodyPr/>
                    <a:lstStyle/>
                    <a:p>
                      <a:pPr algn="ctr" fontAlgn="b"/>
                      <a:r>
                        <a:rPr lang="en-US" sz="900" b="1" i="0" u="none" strike="noStrike">
                          <a:solidFill>
                            <a:srgbClr val="FFFFFF"/>
                          </a:solidFill>
                          <a:effectLst/>
                          <a:latin typeface="+mn-lt"/>
                        </a:rPr>
                        <a:t>Company</a:t>
                      </a:r>
                    </a:p>
                  </a:txBody>
                  <a:tcPr marL="27432" marR="27432" marT="27432" marB="27432" anchor="b">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r>
                        <a:rPr lang="en-US" sz="900" b="1" i="0" u="none" strike="noStrike">
                          <a:solidFill>
                            <a:srgbClr val="FFFFFF"/>
                          </a:solidFill>
                          <a:effectLst/>
                          <a:latin typeface="+mn-lt"/>
                        </a:rPr>
                        <a:t>FYE Revenue ($MM)</a:t>
                      </a:r>
                    </a:p>
                  </a:txBody>
                  <a:tcPr marL="27432" marR="27432" marT="27432" marB="27432" anchor="b">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r>
                        <a:rPr lang="en-US" sz="900" b="1" i="0" u="none" strike="noStrike">
                          <a:solidFill>
                            <a:srgbClr val="FFFFFF"/>
                          </a:solidFill>
                          <a:effectLst/>
                          <a:latin typeface="+mn-lt"/>
                        </a:rPr>
                        <a:t>Business Description</a:t>
                      </a:r>
                    </a:p>
                  </a:txBody>
                  <a:tcPr marL="27432" marR="27432" marT="27432" marB="27432" anchor="b">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extLst>
                  <a:ext uri="{0D108BD9-81ED-4DB2-BD59-A6C34878D82A}">
                    <a16:rowId xmlns:a16="http://schemas.microsoft.com/office/drawing/2014/main" val="3632874250"/>
                  </a:ext>
                </a:extLst>
              </a:tr>
              <a:tr h="1280160">
                <a:tc>
                  <a:txBody>
                    <a:bodyPr/>
                    <a:lstStyle/>
                    <a:p>
                      <a:pPr algn="l" fontAlgn="ctr"/>
                      <a:r>
                        <a:rPr lang="en-US" sz="900" b="1" i="0" u="none" strike="noStrike">
                          <a:effectLst/>
                          <a:latin typeface="+mn-lt"/>
                        </a:rPr>
                        <a:t>Exact Sciences</a:t>
                      </a:r>
                    </a:p>
                  </a:txBody>
                  <a:tcPr marL="27432" marR="27432" marT="0" marB="0" anchor="ctr">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378" rtl="0" eaLnBrk="1" fontAlgn="ctr" latinLnBrk="0" hangingPunct="1">
                        <a:lnSpc>
                          <a:spcPct val="100000"/>
                        </a:lnSpc>
                        <a:spcBef>
                          <a:spcPts val="0"/>
                        </a:spcBef>
                        <a:spcAft>
                          <a:spcPts val="0"/>
                        </a:spcAft>
                        <a:buClrTx/>
                        <a:buSzTx/>
                        <a:buFontTx/>
                        <a:buNone/>
                        <a:tabLst/>
                        <a:defRPr/>
                      </a:pPr>
                      <a:r>
                        <a:rPr lang="en-US" sz="900" b="0" i="0" u="none" strike="noStrike" kern="1200">
                          <a:solidFill>
                            <a:srgbClr val="000000"/>
                          </a:solidFill>
                          <a:effectLst/>
                          <a:latin typeface="+mn-lt"/>
                          <a:ea typeface="+mn-ea"/>
                          <a:cs typeface="+mn-cs"/>
                        </a:rPr>
                        <a:t>$3,247 </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lang="en-US" sz="900" b="0" i="0" u="none" strike="noStrike">
                          <a:solidFill>
                            <a:srgbClr val="000000"/>
                          </a:solidFill>
                          <a:effectLst/>
                          <a:latin typeface="Calibri" panose="020F0502020204030204" pitchFamily="34" charset="0"/>
                        </a:rPr>
                        <a:t>Provides cancer screening and diagnostic test products in the United States and internationally</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lang="en-US" sz="900" b="0" i="0" u="none" strike="noStrike">
                          <a:solidFill>
                            <a:srgbClr val="000000"/>
                          </a:solidFill>
                          <a:effectLst/>
                          <a:latin typeface="Calibri" panose="020F0502020204030204" pitchFamily="34" charset="0"/>
                        </a:rPr>
                        <a:t>Offers Cologuard, a non-invasive stool-based DNA screening test to detect DNA and hemoglobin biomarkers associated with colorectal cancer and pre-cancer; Cologuard Plus Tests; </a:t>
                      </a:r>
                      <a:r>
                        <a:rPr lang="en-US" sz="900" b="0" i="0" u="none" strike="noStrike" err="1">
                          <a:solidFill>
                            <a:srgbClr val="000000"/>
                          </a:solidFill>
                          <a:effectLst/>
                          <a:latin typeface="Calibri" panose="020F0502020204030204" pitchFamily="34" charset="0"/>
                        </a:rPr>
                        <a:t>Cancerguard</a:t>
                      </a:r>
                      <a:r>
                        <a:rPr lang="en-US" sz="900" b="0" i="0" u="none" strike="noStrike">
                          <a:solidFill>
                            <a:srgbClr val="000000"/>
                          </a:solidFill>
                          <a:effectLst/>
                          <a:latin typeface="Calibri" panose="020F0502020204030204" pitchFamily="34" charset="0"/>
                        </a:rPr>
                        <a:t> Test; and Genetic Testing</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lang="en-US" sz="900" b="0" i="0" u="none" strike="noStrike">
                          <a:solidFill>
                            <a:srgbClr val="000000"/>
                          </a:solidFill>
                          <a:effectLst/>
                          <a:latin typeface="Calibri" panose="020F0502020204030204" pitchFamily="34" charset="0"/>
                        </a:rPr>
                        <a:t>Provides Oncotype DX Breast Recurrence Score Test; Oncotype DX Breast DCIS Score Test; Oncotype DX Colon Recurrence Score Test; </a:t>
                      </a:r>
                      <a:r>
                        <a:rPr lang="en-US" sz="900" b="0" i="0" u="none" strike="noStrike" err="1">
                          <a:solidFill>
                            <a:srgbClr val="000000"/>
                          </a:solidFill>
                          <a:effectLst/>
                          <a:latin typeface="Calibri" panose="020F0502020204030204" pitchFamily="34" charset="0"/>
                        </a:rPr>
                        <a:t>Oncodetect</a:t>
                      </a:r>
                      <a:r>
                        <a:rPr lang="en-US" sz="900" b="0" i="0" u="none" strike="noStrike">
                          <a:solidFill>
                            <a:srgbClr val="000000"/>
                          </a:solidFill>
                          <a:effectLst/>
                          <a:latin typeface="Calibri" panose="020F0502020204030204" pitchFamily="34" charset="0"/>
                        </a:rPr>
                        <a:t> </a:t>
                      </a:r>
                      <a:r>
                        <a:rPr lang="en-US" sz="900" b="0" i="0" u="none" strike="noStrike" err="1">
                          <a:solidFill>
                            <a:srgbClr val="000000"/>
                          </a:solidFill>
                          <a:effectLst/>
                          <a:latin typeface="Calibri" panose="020F0502020204030204" pitchFamily="34" charset="0"/>
                        </a:rPr>
                        <a:t>Test;OncoExTra</a:t>
                      </a:r>
                      <a:r>
                        <a:rPr lang="en-US" sz="900" b="0" i="0" u="none" strike="noStrike">
                          <a:solidFill>
                            <a:srgbClr val="000000"/>
                          </a:solidFill>
                          <a:effectLst/>
                          <a:latin typeface="Calibri" panose="020F0502020204030204" pitchFamily="34" charset="0"/>
                        </a:rPr>
                        <a:t> Test for tumor profiling for patients with advanced, metastatic, refractory, relapsed, or recurrent cancer; and </a:t>
                      </a:r>
                      <a:r>
                        <a:rPr lang="en-US" sz="900" b="0" i="0" u="none" strike="noStrike" err="1">
                          <a:solidFill>
                            <a:srgbClr val="000000"/>
                          </a:solidFill>
                          <a:effectLst/>
                          <a:latin typeface="Calibri" panose="020F0502020204030204" pitchFamily="34" charset="0"/>
                        </a:rPr>
                        <a:t>Riskguard</a:t>
                      </a:r>
                      <a:r>
                        <a:rPr lang="en-US" sz="900" b="0" i="0" u="none" strike="noStrike">
                          <a:solidFill>
                            <a:srgbClr val="000000"/>
                          </a:solidFill>
                          <a:effectLst/>
                          <a:latin typeface="Calibri" panose="020F0502020204030204" pitchFamily="34" charset="0"/>
                        </a:rPr>
                        <a:t> Test, a hereditary cancer test to understand their inherited risk of cancer</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lang="en-US" sz="900" b="0" i="0" u="none" strike="noStrike">
                          <a:solidFill>
                            <a:srgbClr val="000000"/>
                          </a:solidFill>
                          <a:effectLst/>
                          <a:latin typeface="Calibri" panose="020F0502020204030204" pitchFamily="34" charset="0"/>
                        </a:rPr>
                        <a:t>Pipeline is focused on advancing screening and diagnostic products, including risk assessment, screening and prevention, early disease diagnosis, adjuvant and/or neoadjuvant disease treatment, metastatic disease treatment selection, and recurrence monitoring</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lang="en-US" sz="900" b="0" i="0" u="none" strike="noStrike">
                          <a:solidFill>
                            <a:srgbClr val="000000"/>
                          </a:solidFill>
                          <a:effectLst/>
                          <a:latin typeface="Calibri" panose="020F0502020204030204" pitchFamily="34" charset="0"/>
                        </a:rPr>
                        <a:t>The company has license agreements with MAYO Foundation for Medical Education and Research, and Johns Hopkins University, as well as </a:t>
                      </a:r>
                      <a:r>
                        <a:rPr lang="en-US" sz="900" b="0" i="0" u="none" strike="noStrike" err="1">
                          <a:solidFill>
                            <a:srgbClr val="000000"/>
                          </a:solidFill>
                          <a:effectLst/>
                          <a:latin typeface="Calibri" panose="020F0502020204030204" pitchFamily="34" charset="0"/>
                        </a:rPr>
                        <a:t>Freenome</a:t>
                      </a:r>
                      <a:r>
                        <a:rPr lang="en-US" sz="900" b="0" i="0" u="none" strike="noStrike">
                          <a:solidFill>
                            <a:srgbClr val="000000"/>
                          </a:solidFill>
                          <a:effectLst/>
                          <a:latin typeface="Calibri" panose="020F0502020204030204" pitchFamily="34" charset="0"/>
                        </a:rPr>
                        <a:t> Holdings, Inc</a:t>
                      </a:r>
                    </a:p>
                  </a:txBody>
                  <a:tcPr marL="0" marR="0" marT="0" marB="0" anchor="ctr">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8437794"/>
                  </a:ext>
                </a:extLst>
              </a:tr>
              <a:tr h="0">
                <a:tc>
                  <a:txBody>
                    <a:bodyPr/>
                    <a:lstStyle/>
                    <a:p>
                      <a:pPr algn="l" fontAlgn="ctr"/>
                      <a:r>
                        <a:rPr lang="en-US" sz="900" b="1" i="0" u="none" strike="noStrike" err="1">
                          <a:effectLst/>
                          <a:latin typeface="+mn-lt"/>
                        </a:rPr>
                        <a:t>QuidelOrtho</a:t>
                      </a:r>
                      <a:endParaRPr lang="en-US" sz="900" b="1" i="0" u="none" strike="noStrike">
                        <a:effectLst/>
                        <a:latin typeface="+mn-lt"/>
                      </a:endParaRPr>
                    </a:p>
                  </a:txBody>
                  <a:tcPr marL="27432" marR="27432" marT="0" marB="0" anchor="ctr">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a:effectLst/>
                          <a:latin typeface="+mn-lt"/>
                        </a:rPr>
                        <a:t>$2,730</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kumimoji="0" lang="en-US" sz="900" b="0" i="0" u="none" strike="noStrike" kern="1200" cap="none" spc="0" normalizeH="0" baseline="0" noProof="0">
                          <a:ln>
                            <a:noFill/>
                          </a:ln>
                          <a:solidFill>
                            <a:srgbClr val="000000"/>
                          </a:solidFill>
                          <a:effectLst/>
                          <a:uLnTx/>
                          <a:uFillTx/>
                          <a:latin typeface="+mn-lt"/>
                          <a:ea typeface="+mn-ea"/>
                          <a:cs typeface="+mn-cs"/>
                        </a:rPr>
                        <a:t>Provides clinical chemistry laboratory instruments and tests that measure target chemicals in bodily fluids for the evaluation of health and the clinical management of patients; immunoassay laboratory instruments and tests, which measure proteins as they act as antigens in the spread of disease, antibodies in the immune response spurred by disease, or markers of proper organ function and health; testing products to detect and monitor disease progression across a spectrum of therapeutic areas; and specialized diagnostic solutions</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kumimoji="0" lang="en-US" sz="900" b="0" i="0" u="none" strike="noStrike" kern="1200" cap="none" spc="0" normalizeH="0" baseline="0" noProof="0">
                          <a:ln>
                            <a:noFill/>
                          </a:ln>
                          <a:solidFill>
                            <a:srgbClr val="000000"/>
                          </a:solidFill>
                          <a:effectLst/>
                          <a:uLnTx/>
                          <a:uFillTx/>
                          <a:latin typeface="+mn-lt"/>
                          <a:ea typeface="+mn-ea"/>
                          <a:cs typeface="+mn-cs"/>
                        </a:rPr>
                        <a:t>Operates through Labs, Transfusion Medicine, Point-of-Care, and Molecular Diagnostics business units</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kumimoji="0" lang="en-US" sz="900" b="0" i="0" u="none" strike="noStrike" kern="1200" cap="none" spc="0" normalizeH="0" baseline="0" noProof="0">
                          <a:ln>
                            <a:noFill/>
                          </a:ln>
                          <a:solidFill>
                            <a:srgbClr val="000000"/>
                          </a:solidFill>
                          <a:effectLst/>
                          <a:uLnTx/>
                          <a:uFillTx/>
                          <a:latin typeface="+mn-lt"/>
                          <a:ea typeface="+mn-ea"/>
                          <a:cs typeface="+mn-cs"/>
                        </a:rPr>
                        <a:t>Offers immunohematology instruments and tests used for blood typing to ensure patient-donor compatibility in blood transfusions; and donor screening instruments and tests used for blood and plasma screening for infectious diseases. The Point-of-Care business unit provides instruments and tests to provide rapid results across a continuum of point-of-care settings</a:t>
                      </a:r>
                    </a:p>
                  </a:txBody>
                  <a:tcPr marL="0" marR="0" marT="0" marB="0" anchor="ctr">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75593046"/>
                  </a:ext>
                </a:extLst>
              </a:tr>
              <a:tr h="0">
                <a:tc>
                  <a:txBody>
                    <a:bodyPr/>
                    <a:lstStyle/>
                    <a:p>
                      <a:pPr algn="l" fontAlgn="ctr"/>
                      <a:r>
                        <a:rPr lang="en-US" sz="900" b="1" i="0" u="none" strike="noStrike">
                          <a:effectLst/>
                          <a:latin typeface="+mn-lt"/>
                        </a:rPr>
                        <a:t>Phibro Animal Health </a:t>
                      </a:r>
                    </a:p>
                  </a:txBody>
                  <a:tcPr marL="27432" marR="27432" marT="0" marB="0" anchor="ctr">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a:effectLst/>
                          <a:latin typeface="+mn-lt"/>
                        </a:rPr>
                        <a:t>$1,296</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l" fontAlgn="ctr">
                        <a:buFont typeface="Wingdings" panose="05000000000000000000" pitchFamily="2" charset="2"/>
                        <a:buChar char="§"/>
                      </a:pPr>
                      <a:r>
                        <a:rPr lang="en-US" sz="900" b="0" i="0" u="none" strike="noStrike">
                          <a:effectLst/>
                          <a:latin typeface="+mn-lt"/>
                        </a:rPr>
                        <a:t>Operates as an animal health and mineral nutrition company in the United States and internationally</a:t>
                      </a:r>
                    </a:p>
                    <a:p>
                      <a:pPr marL="171450" indent="-171450" algn="l" fontAlgn="ctr">
                        <a:buFont typeface="Wingdings" panose="05000000000000000000" pitchFamily="2" charset="2"/>
                        <a:buChar char="§"/>
                      </a:pPr>
                      <a:r>
                        <a:rPr lang="en-US" sz="900" b="0" i="0" u="none" strike="noStrike">
                          <a:effectLst/>
                          <a:latin typeface="+mn-lt"/>
                        </a:rPr>
                        <a:t>Operates through three segments: Animal Health, Mineral Nutrition, and Performance Products</a:t>
                      </a:r>
                    </a:p>
                    <a:p>
                      <a:pPr marL="171450" indent="-171450" algn="l" fontAlgn="ctr">
                        <a:buFont typeface="Wingdings" panose="05000000000000000000" pitchFamily="2" charset="2"/>
                        <a:buChar char="§"/>
                      </a:pPr>
                      <a:r>
                        <a:rPr lang="en-US" sz="900" b="0" i="0" u="none" strike="noStrike">
                          <a:effectLst/>
                          <a:latin typeface="+mn-lt"/>
                        </a:rPr>
                        <a:t>Develops, manufactures, and markets products for food and companion animals including poultry, swine, beef and dairy cattle, aquaculture, and dogs</a:t>
                      </a:r>
                    </a:p>
                    <a:p>
                      <a:pPr marL="171450" indent="-171450" algn="l" fontAlgn="ctr">
                        <a:buFont typeface="Wingdings" panose="05000000000000000000" pitchFamily="2" charset="2"/>
                        <a:buChar char="§"/>
                      </a:pPr>
                      <a:r>
                        <a:rPr lang="en-US" sz="900" b="0" i="0" u="none" strike="noStrike">
                          <a:effectLst/>
                          <a:latin typeface="+mn-lt"/>
                        </a:rPr>
                        <a:t>Offers animal health products, such as antibacterials, anticoccidials, nutritional specialty, and vaccines and vaccine adjuvants for animal’s health and performance, food safety, and animal welfare; and engages in development, manufacturing, and marketing of microbial and bioproducts for various applications serving animal health and nutrition, industrial, environmental, and agricultural customers</a:t>
                      </a:r>
                    </a:p>
                    <a:p>
                      <a:pPr marL="171450" indent="-171450" algn="l" fontAlgn="ctr">
                        <a:buFont typeface="Wingdings" panose="05000000000000000000" pitchFamily="2" charset="2"/>
                        <a:buChar char="§"/>
                      </a:pPr>
                      <a:r>
                        <a:rPr lang="en-US" sz="900" b="0" i="0" u="none" strike="noStrike">
                          <a:effectLst/>
                          <a:latin typeface="+mn-lt"/>
                        </a:rPr>
                        <a:t>Develops, manufactures, and markets conventionally licensed and autogenous vaccine products, as well as adjuvants for animal vaccine manufacturers</a:t>
                      </a:r>
                    </a:p>
                    <a:p>
                      <a:pPr marL="171450" indent="-171450" algn="l" fontAlgn="ctr">
                        <a:buFont typeface="Wingdings" panose="05000000000000000000" pitchFamily="2" charset="2"/>
                        <a:buChar char="§"/>
                      </a:pPr>
                      <a:r>
                        <a:rPr lang="en-US" sz="900" b="0" i="0" u="none" strike="noStrike">
                          <a:effectLst/>
                          <a:latin typeface="+mn-lt"/>
                        </a:rPr>
                        <a:t>Provides formulations and concentrations of trace minerals, such as zinc, manganese, copper, iron, and other compounds to fortify the daily feed requirements of their livestock’s diets and maintain optimal balance of trace elements in animals</a:t>
                      </a:r>
                    </a:p>
                    <a:p>
                      <a:pPr marL="171450" indent="-171450" algn="l" fontAlgn="ctr">
                        <a:buFont typeface="Wingdings" panose="05000000000000000000" pitchFamily="2" charset="2"/>
                        <a:buChar char="§"/>
                      </a:pPr>
                      <a:r>
                        <a:rPr lang="en-US" sz="900" b="0" i="0" u="none" strike="noStrike">
                          <a:effectLst/>
                          <a:latin typeface="+mn-lt"/>
                        </a:rPr>
                        <a:t>Offers specialty ingredients for personal care, industrial chemical, and chemical catalyst industries</a:t>
                      </a:r>
                    </a:p>
                  </a:txBody>
                  <a:tcPr marL="0" marR="0" marT="0" marB="0" anchor="ctr">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90539770"/>
                  </a:ext>
                </a:extLst>
              </a:tr>
            </a:tbl>
          </a:graphicData>
        </a:graphic>
      </p:graphicFrame>
      <p:sp>
        <p:nvSpPr>
          <p:cNvPr id="5" name="Title 4">
            <a:extLst>
              <a:ext uri="{FF2B5EF4-FFF2-40B4-BE49-F238E27FC236}">
                <a16:creationId xmlns:a16="http://schemas.microsoft.com/office/drawing/2014/main" id="{CBB43E26-22D3-374A-851A-85246836934B}"/>
              </a:ext>
            </a:extLst>
          </p:cNvPr>
          <p:cNvSpPr>
            <a:spLocks noGrp="1"/>
          </p:cNvSpPr>
          <p:nvPr>
            <p:ph type="title"/>
          </p:nvPr>
        </p:nvSpPr>
        <p:spPr>
          <a:xfrm>
            <a:off x="882797" y="44215"/>
            <a:ext cx="8074152" cy="1292899"/>
          </a:xfrm>
        </p:spPr>
        <p:txBody>
          <a:bodyPr/>
          <a:lstStyle/>
          <a:p>
            <a:r>
              <a:rPr lang="en-US" dirty="0"/>
              <a:t>ACME also evaluated companies considered last year, but none warrant inclusion at this time: </a:t>
            </a:r>
            <a:r>
              <a:rPr lang="en-US" i="1" dirty="0"/>
              <a:t>(continued)</a:t>
            </a:r>
            <a:endParaRPr lang="en-US" dirty="0"/>
          </a:p>
        </p:txBody>
      </p:sp>
      <p:sp>
        <p:nvSpPr>
          <p:cNvPr id="4" name="Slide Number Placeholder 3">
            <a:extLst>
              <a:ext uri="{FF2B5EF4-FFF2-40B4-BE49-F238E27FC236}">
                <a16:creationId xmlns:a16="http://schemas.microsoft.com/office/drawing/2014/main" id="{252478B4-B790-4F69-BDE3-F0EB365EC7D1}"/>
              </a:ext>
            </a:extLst>
          </p:cNvPr>
          <p:cNvSpPr>
            <a:spLocks noGrp="1"/>
          </p:cNvSpPr>
          <p:nvPr>
            <p:ph type="sldNum" sz="quarter" idx="12"/>
          </p:nvPr>
        </p:nvSpPr>
        <p:spPr>
          <a:xfrm>
            <a:off x="8581802" y="6577909"/>
            <a:ext cx="352260" cy="211339"/>
          </a:xfrm>
        </p:spPr>
        <p:txBody>
          <a:bodyPr/>
          <a:lstStyle/>
          <a:p>
            <a:fld id="{91690BAF-E217-4185-92FD-0CEA06F2B7C8}" type="slidenum">
              <a:rPr lang="en-US" smtClean="0"/>
              <a:pPr/>
              <a:t>24</a:t>
            </a:fld>
            <a:endParaRPr lang="en-US"/>
          </a:p>
        </p:txBody>
      </p:sp>
      <p:sp>
        <p:nvSpPr>
          <p:cNvPr id="7" name="Footer Placeholder 2">
            <a:extLst>
              <a:ext uri="{FF2B5EF4-FFF2-40B4-BE49-F238E27FC236}">
                <a16:creationId xmlns:a16="http://schemas.microsoft.com/office/drawing/2014/main" id="{3C24958D-0C91-9047-45AB-04DD4DA4EFB8}"/>
              </a:ext>
            </a:extLst>
          </p:cNvPr>
          <p:cNvSpPr>
            <a:spLocks noGrp="1"/>
          </p:cNvSpPr>
          <p:nvPr>
            <p:ph type="ftr" sz="quarter" idx="11"/>
          </p:nvPr>
        </p:nvSpPr>
        <p:spPr>
          <a:xfrm>
            <a:off x="863745" y="6696278"/>
            <a:ext cx="7416510" cy="184151"/>
          </a:xfrm>
        </p:spPr>
        <p:txBody>
          <a:bodyPr/>
          <a:lstStyle/>
          <a:p>
            <a:r>
              <a:rPr lang="en-US"/>
              <a:t>These materials are confidential and to be used only by the client to whom they are addressed</a:t>
            </a:r>
          </a:p>
        </p:txBody>
      </p:sp>
      <p:sp>
        <p:nvSpPr>
          <p:cNvPr id="9" name="TextBox 8">
            <a:extLst>
              <a:ext uri="{FF2B5EF4-FFF2-40B4-BE49-F238E27FC236}">
                <a16:creationId xmlns:a16="http://schemas.microsoft.com/office/drawing/2014/main" id="{4A068782-EC83-2C6F-5A0F-B1A863AC509B}"/>
              </a:ext>
            </a:extLst>
          </p:cNvPr>
          <p:cNvSpPr txBox="1"/>
          <p:nvPr/>
        </p:nvSpPr>
        <p:spPr>
          <a:xfrm>
            <a:off x="1593273" y="1206811"/>
            <a:ext cx="5957455" cy="307777"/>
          </a:xfrm>
          <a:prstGeom prst="rect">
            <a:avLst/>
          </a:prstGeom>
          <a:noFill/>
        </p:spPr>
        <p:txBody>
          <a:bodyPr wrap="square" lIns="45720" tIns="45720" rIns="45720" bIns="45720" rtlCol="0" anchor="ctr">
            <a:spAutoFit/>
          </a:bodyPr>
          <a:lstStyle/>
          <a:p>
            <a:pPr algn="ctr"/>
            <a:r>
              <a:rPr lang="en-US" sz="1400" b="1"/>
              <a:t>Business Descriptions for Companies Considered Last Year </a:t>
            </a:r>
            <a:r>
              <a:rPr lang="en-US" sz="1400" b="1" i="1"/>
              <a:t>(continued)</a:t>
            </a:r>
            <a:endParaRPr lang="en-US" sz="1400" b="1" baseline="30000"/>
          </a:p>
        </p:txBody>
      </p:sp>
    </p:spTree>
    <p:extLst>
      <p:ext uri="{BB962C8B-B14F-4D97-AF65-F5344CB8AC3E}">
        <p14:creationId xmlns:p14="http://schemas.microsoft.com/office/powerpoint/2010/main" val="1383698508"/>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2024 Farient Advisors_Rev 3 TEST ONLY">
  <a:themeElements>
    <a:clrScheme name="Yellow Orange">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lumMod val="20000"/>
            <a:lumOff val="80000"/>
          </a:schemeClr>
        </a:solidFill>
        <a:ln w="6350">
          <a:solidFill>
            <a:schemeClr val="tx1"/>
          </a:solidFill>
        </a:ln>
      </a:spPr>
      <a:bodyPr vert="horz" wrap="none" lIns="45720" tIns="45720" rIns="45720" bIns="45720" rtlCol="0" anchor="ctr">
        <a:spAutoFit/>
      </a:bodyPr>
      <a:lstStyle>
        <a:defPPr algn="ctr">
          <a:lnSpc>
            <a:spcPct val="85000"/>
          </a:lnSpc>
          <a:defRPr sz="1400" i="1" dirty="0">
            <a:solidFill>
              <a:schemeClr val="tx1"/>
            </a:solidFill>
          </a:defRPr>
        </a:defPPr>
      </a:lstStyle>
      <a:style>
        <a:lnRef idx="2">
          <a:schemeClr val="accent2">
            <a:shade val="50000"/>
          </a:schemeClr>
        </a:lnRef>
        <a:fillRef idx="1">
          <a:schemeClr val="accent2"/>
        </a:fillRef>
        <a:effectRef idx="0">
          <a:schemeClr val="accent2"/>
        </a:effectRef>
        <a:fontRef idx="minor">
          <a:schemeClr val="lt1"/>
        </a:fontRef>
      </a:style>
    </a:spDef>
    <a:lnDef>
      <a:spPr>
        <a:ln w="6350"/>
      </a:spPr>
      <a:bodyPr/>
      <a:lstStyle/>
      <a:style>
        <a:lnRef idx="1">
          <a:schemeClr val="dk1"/>
        </a:lnRef>
        <a:fillRef idx="0">
          <a:schemeClr val="dk1"/>
        </a:fillRef>
        <a:effectRef idx="0">
          <a:schemeClr val="dk1"/>
        </a:effectRef>
        <a:fontRef idx="minor">
          <a:schemeClr val="tx1"/>
        </a:fontRef>
      </a:style>
    </a:lnDef>
    <a:txDef>
      <a:spPr>
        <a:noFill/>
      </a:spPr>
      <a:bodyPr vert="horz" wrap="square" lIns="45720" tIns="45720" rIns="45720" bIns="45720" rtlCol="0" anchor="ctr">
        <a:spAutoFit/>
      </a:bodyPr>
      <a:lstStyle>
        <a:defPPr algn="ctr">
          <a:lnSpc>
            <a:spcPct val="85000"/>
          </a:lnSpc>
          <a:defRPr sz="1400" dirty="0"/>
        </a:defPPr>
      </a:lstStyle>
    </a:txDef>
  </a:objectDefaults>
  <a:extraClrSchemeLst/>
  <a:extLst>
    <a:ext uri="{05A4C25C-085E-4340-85A3-A5531E510DB2}">
      <thm15:themeFamily xmlns:thm15="http://schemas.microsoft.com/office/thememl/2012/main" name="20240510 Farient Advisors PPT Template v.7.1 (002)  -  Read-Only" id="{4A862E4B-7047-48CC-B005-54C053602D56}" vid="{BB602DFA-2148-4036-B61F-D03CBE3E58E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6D365A76239BD548B8BDAF6C346F9511" ma:contentTypeVersion="12" ma:contentTypeDescription="Create a new document." ma:contentTypeScope="" ma:versionID="a67fa99a18e384210e6a8f40809ee959">
  <xsd:schema xmlns:xsd="http://www.w3.org/2001/XMLSchema" xmlns:xs="http://www.w3.org/2001/XMLSchema" xmlns:p="http://schemas.microsoft.com/office/2006/metadata/properties" xmlns:ns2="435d66b3-56a2-4d50-b7eb-de68e7e3c561" xmlns:ns3="543c82a0-0b70-4824-a8e4-c5e050a09ddb" targetNamespace="http://schemas.microsoft.com/office/2006/metadata/properties" ma:root="true" ma:fieldsID="a5b907e4ddd31801e64041dac96c7278" ns2:_="" ns3:_="">
    <xsd:import namespace="435d66b3-56a2-4d50-b7eb-de68e7e3c561"/>
    <xsd:import namespace="543c82a0-0b70-4824-a8e4-c5e050a09ddb"/>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MediaServiceObjectDetectorVersions" minOccurs="0"/>
                <xsd:element ref="ns3:SharedWithUsers" minOccurs="0"/>
                <xsd:element ref="ns3:SharedWithDetail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35d66b3-56a2-4d50-b7eb-de68e7e3c56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43c82a0-0b70-4824-a8e4-c5e050a09ddb"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700C7E3-4356-4EFE-B7AB-B6AF087C0D2A}">
  <ds:schemaRefs>
    <ds:schemaRef ds:uri="435d66b3-56a2-4d50-b7eb-de68e7e3c561"/>
    <ds:schemaRef ds:uri="543c82a0-0b70-4824-a8e4-c5e050a09dd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B1C5CD68-6BFE-44B9-98DE-D8B3611294A8}">
  <ds:schemaRefs>
    <ds:schemaRef ds:uri="http://schemas.microsoft.com/sharepoint/v3/contenttype/forms"/>
  </ds:schemaRefs>
</ds:datastoreItem>
</file>

<file path=customXml/itemProps3.xml><?xml version="1.0" encoding="utf-8"?>
<ds:datastoreItem xmlns:ds="http://schemas.openxmlformats.org/officeDocument/2006/customXml" ds:itemID="{8FB5FCA4-9B1D-4947-A58F-281C1211B016}">
  <ds:schemaRefs>
    <ds:schemaRef ds:uri="435d66b3-56a2-4d50-b7eb-de68e7e3c561"/>
    <ds:schemaRef ds:uri="543c82a0-0b70-4824-a8e4-c5e050a09dd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Farient Advisors</Template>
  <TotalTime>49</TotalTime>
  <Words>10082</Words>
  <Application>Microsoft Macintosh PowerPoint</Application>
  <PresentationFormat>On-screen Show (4:3)</PresentationFormat>
  <Paragraphs>2064</Paragraphs>
  <Slides>24</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Calibri</vt:lpstr>
      <vt:lpstr>Tw Cen MT</vt:lpstr>
      <vt:lpstr>Wingdings</vt:lpstr>
      <vt:lpstr>Wingdings 2</vt:lpstr>
      <vt:lpstr>2024 Farient Advisors_Rev 3 TEST ONLY</vt:lpstr>
      <vt:lpstr>Peer Group Assessment</vt:lpstr>
      <vt:lpstr>Executive Summary: ACME recommends no changes to Goofy’s peer group at this time. Hologic removal is expected next year due to their acquisition by Blackstone/TPG</vt:lpstr>
      <vt:lpstr>Each year, ACME reviews Goofy’s Compensation Peer Group to ensure the best size, business, and strategic fit possible. Given the analytic work conducted by ACME in prior years, we took a more cursory approach this year, leveraging AI</vt:lpstr>
      <vt:lpstr>ACME suggests modest refinements to Goofy’s peer screening criteria given Goofy’s growth and strategic developments</vt:lpstr>
      <vt:lpstr>Goofy’s current peers continue to meet most of the screening criteria</vt:lpstr>
      <vt:lpstr>ACME evaluated five new-to-the-screen companies this year and eight from last year. Dentsply Sirona’s business model is converging with Goofy, but it still serves as a distributor of other companies’ products and uses distributors to sell its products</vt:lpstr>
      <vt:lpstr>Appendix</vt:lpstr>
      <vt:lpstr>Goofy’s peer group is used for evaluating the strength of pay levels, pay practices, and performance</vt:lpstr>
      <vt:lpstr>Two significant M&amp;A transactions occurred or are anticipated to close in 2026. Hologic’s planned acquisition may lead to its removal from the peer group next year, although no immediate action is needed</vt:lpstr>
      <vt:lpstr>ACME screens for potential peer companies for Goofy within the Health Care Sector</vt:lpstr>
      <vt:lpstr>Goofy’s peer group has been stable for the past three years</vt:lpstr>
      <vt:lpstr>ISS’ 2025 peer group for Goofy comprises 24 companies and heavily overlaps with Goofy’s current compensation peers</vt:lpstr>
      <vt:lpstr>ISS added one new company to its Goofy peer group and removed one company from the group for 2025</vt:lpstr>
      <vt:lpstr>Glass Lewis removed two peers and added two peers to Goofy’s 2025 peer group</vt:lpstr>
      <vt:lpstr>Business descriptions for Goofy’s current compensation peers are as follows:</vt:lpstr>
      <vt:lpstr>Business descriptions for Goofy’s current compensation peers are as follows: (continued)</vt:lpstr>
      <vt:lpstr>Business descriptions for Goofy’s current compensation peers are as follows: (continued)</vt:lpstr>
      <vt:lpstr>Business descriptions for Goofy’s current compensation peers are as follows: (continued)</vt:lpstr>
      <vt:lpstr>Business descriptions for Goofy’s current compensation peers are as follows: (continued)</vt:lpstr>
      <vt:lpstr>ACME evaluated five additional companies new to the screen this year, but none warrant inclusion at this time:</vt:lpstr>
      <vt:lpstr>ACME evaluated five additional companies new to the screen this year, but none warrant inclusion at this time (continued):</vt:lpstr>
      <vt:lpstr>ACME also evaluated companies considered last year, but none warrant inclusion at this time:</vt:lpstr>
      <vt:lpstr>ACME also evaluated companies considered last year, but none warrant inclusion at this time: (continued)</vt:lpstr>
      <vt:lpstr>ACME also evaluated companies considered last year, but none warrant inclusion at this time: (continued)</vt:lpstr>
    </vt:vector>
  </TitlesOfParts>
  <Manager/>
  <Company/>
  <LinksUpToDate>false</LinksUpToDate>
  <SharedDoc>false</SharedDoc>
  <HyperlinkBase>https://farient.com/</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Eric Hoffmann</dc:creator>
  <dc:description>PowerPoint Template Design By:
TLC Creative Services, Inc.
www.tlccreative.com</dc:description>
  <cp:lastModifiedBy>Pete Enestrom</cp:lastModifiedBy>
  <cp:revision>13</cp:revision>
  <cp:lastPrinted>2026-03-20T15:09:23Z</cp:lastPrinted>
  <dcterms:created xsi:type="dcterms:W3CDTF">2024-07-26T14:33:00Z</dcterms:created>
  <dcterms:modified xsi:type="dcterms:W3CDTF">2026-05-13T13:06:44Z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0x0101006D365A76239BD548B8BDAF6C346F9511</vt:lpwstr>
  </property>
  <property fmtid="{D5CDD505-2E9C-101B-9397-08002B2CF9AE}" pid="3" name="MediaServiceImageTags">
    <vt:lpwstr/>
  </property>
  <property fmtid="{D5CDD505-2E9C-101B-9397-08002B2CF9AE}" pid="4" name="xd_ProgID">
    <vt:lpwstr/>
  </property>
  <property fmtid="{D5CDD505-2E9C-101B-9397-08002B2CF9AE}" pid="5" name="ComplianceAssetId">
    <vt:lpwstr/>
  </property>
  <property fmtid="{D5CDD505-2E9C-101B-9397-08002B2CF9AE}" pid="6" name="TemplateUrl">
    <vt:lpwstr/>
  </property>
  <property fmtid="{D5CDD505-2E9C-101B-9397-08002B2CF9AE}" pid="7" name="_ExtendedDescription">
    <vt:lpwstr/>
  </property>
  <property fmtid="{D5CDD505-2E9C-101B-9397-08002B2CF9AE}" pid="8" name="TriggerFlowInfo">
    <vt:lpwstr/>
  </property>
  <property fmtid="{D5CDD505-2E9C-101B-9397-08002B2CF9AE}" pid="9" name="xd_Signature">
    <vt:bool>false</vt:bool>
  </property>
</Properties>
</file>